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60" r:id="rId5"/>
    <p:sldId id="268" r:id="rId6"/>
    <p:sldId id="269" r:id="rId7"/>
    <p:sldId id="270" r:id="rId8"/>
    <p:sldId id="274" r:id="rId9"/>
    <p:sldId id="275" r:id="rId10"/>
    <p:sldId id="276" r:id="rId11"/>
    <p:sldId id="277" r:id="rId12"/>
    <p:sldId id="278" r:id="rId13"/>
    <p:sldId id="279" r:id="rId14"/>
    <p:sldId id="259" r:id="rId15"/>
    <p:sldId id="262" r:id="rId16"/>
    <p:sldId id="263" r:id="rId17"/>
    <p:sldId id="271" r:id="rId18"/>
    <p:sldId id="264" r:id="rId19"/>
    <p:sldId id="272" r:id="rId20"/>
    <p:sldId id="267" r:id="rId21"/>
    <p:sldId id="273" r:id="rId22"/>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2525"/>
    <a:srgbClr val="EBDC44"/>
    <a:srgbClr val="8BA6E8"/>
    <a:srgbClr val="E8C884"/>
    <a:srgbClr val="BDD4FA"/>
    <a:srgbClr val="9AACDA"/>
    <a:srgbClr val="FDF29B"/>
    <a:srgbClr val="B0CDF9"/>
    <a:srgbClr val="9AA6CA"/>
    <a:srgbClr val="FFD01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544" autoAdjust="0"/>
    <p:restoredTop sz="95407" autoAdjust="0"/>
  </p:normalViewPr>
  <p:slideViewPr>
    <p:cSldViewPr snapToGrid="0" snapToObjects="1">
      <p:cViewPr varScale="1">
        <p:scale>
          <a:sx n="62" d="100"/>
          <a:sy n="62" d="100"/>
        </p:scale>
        <p:origin x="114"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9331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2789540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0670931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1375929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7085848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7740320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image" Target="../media/image12.png"/><Relationship Id="rId12"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7.png"/><Relationship Id="rId5" Type="http://schemas.openxmlformats.org/officeDocument/2006/relationships/image" Target="../media/image10.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7.png"/><Relationship Id="rId7"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1.png"/><Relationship Id="rId4" Type="http://schemas.openxmlformats.org/officeDocument/2006/relationships/image" Target="../media/image14.png"/><Relationship Id="rId9"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4.png"/><Relationship Id="rId7"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6.png"/><Relationship Id="rId10" Type="http://schemas.openxmlformats.org/officeDocument/2006/relationships/image" Target="../media/image22.png"/><Relationship Id="rId4" Type="http://schemas.openxmlformats.org/officeDocument/2006/relationships/image" Target="../media/image15.png"/><Relationship Id="rId9"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4.png"/><Relationship Id="rId7" Type="http://schemas.openxmlformats.org/officeDocument/2006/relationships/image" Target="../media/image19.png"/><Relationship Id="rId12"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4.png"/><Relationship Id="rId5" Type="http://schemas.openxmlformats.org/officeDocument/2006/relationships/image" Target="../media/image16.png"/><Relationship Id="rId10" Type="http://schemas.openxmlformats.org/officeDocument/2006/relationships/image" Target="../media/image23.png"/><Relationship Id="rId4" Type="http://schemas.openxmlformats.org/officeDocument/2006/relationships/image" Target="../media/image15.png"/><Relationship Id="rId9" Type="http://schemas.openxmlformats.org/officeDocument/2006/relationships/image" Target="../media/image17.png"/></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4.png"/><Relationship Id="rId7" Type="http://schemas.openxmlformats.org/officeDocument/2006/relationships/image" Target="../media/image19.png"/><Relationship Id="rId12"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6.png"/><Relationship Id="rId10" Type="http://schemas.openxmlformats.org/officeDocument/2006/relationships/image" Target="../media/image24.png"/><Relationship Id="rId4" Type="http://schemas.openxmlformats.org/officeDocument/2006/relationships/image" Target="../media/image15.png"/><Relationship Id="rId9" Type="http://schemas.openxmlformats.org/officeDocument/2006/relationships/image" Target="../media/image17.png"/></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4.png"/><Relationship Id="rId7"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6.png"/><Relationship Id="rId10" Type="http://schemas.openxmlformats.org/officeDocument/2006/relationships/image" Target="../media/image26.png"/><Relationship Id="rId4" Type="http://schemas.openxmlformats.org/officeDocument/2006/relationships/image" Target="../media/image15.png"/><Relationship Id="rId9" Type="http://schemas.openxmlformats.org/officeDocument/2006/relationships/image" Target="../media/image17.png"/></Relationships>
</file>

<file path=ppt/slides/_rels/slide1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4.png"/><Relationship Id="rId7"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6.png"/><Relationship Id="rId10" Type="http://schemas.openxmlformats.org/officeDocument/2006/relationships/image" Target="../media/image27.png"/><Relationship Id="rId4" Type="http://schemas.openxmlformats.org/officeDocument/2006/relationships/image" Target="../media/image15.png"/><Relationship Id="rId9" Type="http://schemas.openxmlformats.org/officeDocument/2006/relationships/image" Target="../media/image17.png"/></Relationships>
</file>

<file path=ppt/slides/_rels/slide14.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2.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18.png"/><Relationship Id="rId5" Type="http://schemas.openxmlformats.org/officeDocument/2006/relationships/image" Target="../media/image29.png"/><Relationship Id="rId10" Type="http://schemas.openxmlformats.org/officeDocument/2006/relationships/image" Target="../media/image17.png"/><Relationship Id="rId4" Type="http://schemas.openxmlformats.org/officeDocument/2006/relationships/image" Target="../media/image28.png"/><Relationship Id="rId9" Type="http://schemas.openxmlformats.org/officeDocument/2006/relationships/image" Target="../media/image16.png"/></Relationships>
</file>

<file path=ppt/slides/_rels/slide1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pn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30.png"/></Relationships>
</file>

<file path=ppt/slides/_rels/slide16.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1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1.png"/><Relationship Id="rId7"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40.png"/></Relationships>
</file>

<file path=ppt/slides/_rels/slide18.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44.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2.png"/><Relationship Id="rId7"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5.png"/><Relationship Id="rId5" Type="http://schemas.microsoft.com/office/2007/relationships/hdphoto" Target="../media/hdphoto1.wdp"/><Relationship Id="rId4" Type="http://schemas.openxmlformats.org/officeDocument/2006/relationships/image" Target="../media/image44.png"/><Relationship Id="rId9" Type="http://schemas.openxmlformats.org/officeDocument/2006/relationships/image" Target="../media/image4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5.png"/><Relationship Id="rId5" Type="http://schemas.microsoft.com/office/2007/relationships/hdphoto" Target="../media/hdphoto1.wdp"/><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13063" y="3919"/>
            <a:ext cx="4974336" cy="8238744"/>
          </a:xfrm>
          <a:prstGeom prst="rect">
            <a:avLst/>
          </a:prstGeom>
        </p:spPr>
      </p:pic>
      <p:sp>
        <p:nvSpPr>
          <p:cNvPr id="5" name="Text 1"/>
          <p:cNvSpPr/>
          <p:nvPr/>
        </p:nvSpPr>
        <p:spPr>
          <a:xfrm>
            <a:off x="5186796" y="2441371"/>
            <a:ext cx="7988658" cy="2039112"/>
          </a:xfrm>
          <a:prstGeom prst="rect">
            <a:avLst/>
          </a:prstGeom>
          <a:noFill/>
          <a:ln/>
        </p:spPr>
        <p:txBody>
          <a:bodyPr wrap="square" lIns="0" tIns="0" rIns="0" bIns="0" rtlCol="0" anchor="ctr"/>
          <a:lstStyle/>
          <a:p>
            <a:pPr marL="0" indent="0" algn="l">
              <a:lnSpc>
                <a:spcPts val="8010"/>
              </a:lnSpc>
              <a:buNone/>
            </a:pPr>
            <a:r>
              <a:rPr lang="en-US" sz="6410" dirty="0">
                <a:solidFill>
                  <a:srgbClr val="0C266F"/>
                </a:solidFill>
                <a:latin typeface="Bernard MT Condensed" panose="02050806060905020404" pitchFamily="18" charset="0"/>
                <a:ea typeface="思源宋体-思源宋体-SemiBold" pitchFamily="34" charset="-122"/>
                <a:cs typeface="思源宋体-思源宋体-SemiBold" pitchFamily="34" charset="-120"/>
              </a:rPr>
              <a:t>Arrays of Objects in C++</a:t>
            </a:r>
            <a:endParaRPr lang="en-US" sz="6410" dirty="0">
              <a:latin typeface="Bernard MT Condensed" panose="02050806060905020404" pitchFamily="18" charset="0"/>
            </a:endParaRPr>
          </a:p>
        </p:txBody>
      </p:sp>
      <p:sp>
        <p:nvSpPr>
          <p:cNvPr id="6" name="TextBox 5">
            <a:extLst>
              <a:ext uri="{FF2B5EF4-FFF2-40B4-BE49-F238E27FC236}">
                <a16:creationId xmlns:a16="http://schemas.microsoft.com/office/drawing/2014/main" id="{A7B1AAB0-0949-438F-9384-070411BFEF06}"/>
              </a:ext>
            </a:extLst>
          </p:cNvPr>
          <p:cNvSpPr txBox="1"/>
          <p:nvPr/>
        </p:nvSpPr>
        <p:spPr>
          <a:xfrm>
            <a:off x="11663475" y="4119372"/>
            <a:ext cx="1997663" cy="1015663"/>
          </a:xfrm>
          <a:prstGeom prst="rect">
            <a:avLst/>
          </a:prstGeom>
          <a:noFill/>
        </p:spPr>
        <p:txBody>
          <a:bodyPr wrap="none" rtlCol="0">
            <a:spAutoFit/>
          </a:bodyPr>
          <a:lstStyle/>
          <a:p>
            <a:pPr algn="r"/>
            <a:r>
              <a:rPr lang="en-US" sz="2000" b="1" dirty="0">
                <a:solidFill>
                  <a:schemeClr val="accent1">
                    <a:lumMod val="50000"/>
                  </a:schemeClr>
                </a:solidFill>
                <a:latin typeface="Bodoni MT" panose="02070603080606020203" pitchFamily="18" charset="0"/>
              </a:rPr>
              <a:t>Presented By:</a:t>
            </a:r>
          </a:p>
          <a:p>
            <a:pPr algn="r"/>
            <a:r>
              <a:rPr lang="en-US" sz="2000" b="1" dirty="0" err="1">
                <a:solidFill>
                  <a:schemeClr val="accent1">
                    <a:lumMod val="50000"/>
                  </a:schemeClr>
                </a:solidFill>
                <a:latin typeface="Bodoni MT" panose="02070603080606020203" pitchFamily="18" charset="0"/>
              </a:rPr>
              <a:t>Haani</a:t>
            </a:r>
            <a:r>
              <a:rPr lang="en-US" sz="2000" b="1" dirty="0">
                <a:solidFill>
                  <a:schemeClr val="accent1">
                    <a:lumMod val="50000"/>
                  </a:schemeClr>
                </a:solidFill>
                <a:latin typeface="Bodoni MT" panose="02070603080606020203" pitchFamily="18" charset="0"/>
              </a:rPr>
              <a:t> Bin </a:t>
            </a:r>
            <a:r>
              <a:rPr lang="en-US" sz="2000" b="1" dirty="0" err="1">
                <a:solidFill>
                  <a:schemeClr val="accent1">
                    <a:lumMod val="50000"/>
                  </a:schemeClr>
                </a:solidFill>
                <a:latin typeface="Bodoni MT" panose="02070603080606020203" pitchFamily="18" charset="0"/>
              </a:rPr>
              <a:t>Qaiser</a:t>
            </a:r>
            <a:endParaRPr lang="en-US" sz="2000" b="1" dirty="0">
              <a:solidFill>
                <a:schemeClr val="accent1">
                  <a:lumMod val="50000"/>
                </a:schemeClr>
              </a:solidFill>
              <a:latin typeface="Bodoni MT" panose="02070603080606020203" pitchFamily="18" charset="0"/>
            </a:endParaRPr>
          </a:p>
          <a:p>
            <a:pPr algn="r"/>
            <a:r>
              <a:rPr lang="en-US" sz="2000" b="1" dirty="0">
                <a:solidFill>
                  <a:schemeClr val="accent1">
                    <a:lumMod val="50000"/>
                  </a:schemeClr>
                </a:solidFill>
                <a:latin typeface="Bodoni MT" panose="02070603080606020203" pitchFamily="18" charset="0"/>
              </a:rPr>
              <a:t>M. Rizwan</a:t>
            </a:r>
          </a:p>
        </p:txBody>
      </p:sp>
      <p:cxnSp>
        <p:nvCxnSpPr>
          <p:cNvPr id="8" name="Straight Connector 7">
            <a:extLst>
              <a:ext uri="{FF2B5EF4-FFF2-40B4-BE49-F238E27FC236}">
                <a16:creationId xmlns:a16="http://schemas.microsoft.com/office/drawing/2014/main" id="{12519649-846C-4233-BF2C-4105A2A10F00}"/>
              </a:ext>
            </a:extLst>
          </p:cNvPr>
          <p:cNvCxnSpPr/>
          <p:nvPr/>
        </p:nvCxnSpPr>
        <p:spPr>
          <a:xfrm>
            <a:off x="13860448" y="2950007"/>
            <a:ext cx="0" cy="2546944"/>
          </a:xfrm>
          <a:prstGeom prst="line">
            <a:avLst/>
          </a:prstGeom>
          <a:ln w="57150">
            <a:solidFill>
              <a:srgbClr val="0C266F"/>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32DB467-655E-4563-88E7-BCBB76C25B91}"/>
              </a:ext>
            </a:extLst>
          </p:cNvPr>
          <p:cNvSpPr txBox="1"/>
          <p:nvPr/>
        </p:nvSpPr>
        <p:spPr>
          <a:xfrm>
            <a:off x="5156566" y="4108860"/>
            <a:ext cx="3129190" cy="646331"/>
          </a:xfrm>
          <a:prstGeom prst="rect">
            <a:avLst/>
          </a:prstGeom>
          <a:noFill/>
        </p:spPr>
        <p:txBody>
          <a:bodyPr wrap="none" rtlCol="0">
            <a:spAutoFit/>
          </a:bodyPr>
          <a:lstStyle/>
          <a:p>
            <a:r>
              <a:rPr lang="en-US" dirty="0">
                <a:solidFill>
                  <a:schemeClr val="accent1">
                    <a:lumMod val="50000"/>
                  </a:schemeClr>
                </a:solidFill>
                <a:latin typeface="Bodoni MT" panose="02070603080606020203" pitchFamily="18" charset="0"/>
              </a:rPr>
              <a:t>Object Oriented Programming</a:t>
            </a:r>
          </a:p>
          <a:p>
            <a:r>
              <a:rPr lang="en-US" dirty="0">
                <a:solidFill>
                  <a:schemeClr val="accent1">
                    <a:lumMod val="50000"/>
                  </a:schemeClr>
                </a:solidFill>
                <a:latin typeface="Bodoni MT" panose="02070603080606020203" pitchFamily="18" charset="0"/>
              </a:rPr>
              <a:t>BSCYS-F24B</a:t>
            </a:r>
          </a:p>
        </p:txBody>
      </p:sp>
      <p:sp>
        <p:nvSpPr>
          <p:cNvPr id="10" name="Text 1">
            <a:extLst>
              <a:ext uri="{FF2B5EF4-FFF2-40B4-BE49-F238E27FC236}">
                <a16:creationId xmlns:a16="http://schemas.microsoft.com/office/drawing/2014/main" id="{B9E5BE10-6B08-4671-B1D7-9F3F558F07C4}"/>
              </a:ext>
            </a:extLst>
          </p:cNvPr>
          <p:cNvSpPr/>
          <p:nvPr/>
        </p:nvSpPr>
        <p:spPr>
          <a:xfrm>
            <a:off x="840961" y="12665158"/>
            <a:ext cx="8631210" cy="1481328"/>
          </a:xfrm>
          <a:prstGeom prst="rect">
            <a:avLst/>
          </a:prstGeom>
          <a:noFill/>
          <a:ln/>
        </p:spPr>
        <p:txBody>
          <a:bodyPr wrap="square" lIns="0" tIns="0" rIns="0" bIns="0" rtlCol="0" anchor="ctr"/>
          <a:lstStyle/>
          <a:p>
            <a:pPr marL="0" indent="0" algn="l">
              <a:lnSpc>
                <a:spcPts val="5800"/>
              </a:lnSpc>
              <a:buNone/>
            </a:pPr>
            <a:r>
              <a:rPr lang="en-US" sz="4640" dirty="0">
                <a:solidFill>
                  <a:srgbClr val="0C266F"/>
                </a:solidFill>
                <a:latin typeface="思源宋体-思源宋体-SemiBold" pitchFamily="34" charset="0"/>
                <a:ea typeface="思源宋体-思源宋体-SemiBold" pitchFamily="34" charset="-122"/>
                <a:cs typeface="思源宋体-思源宋体-SemiBold" pitchFamily="34" charset="-120"/>
              </a:rPr>
              <a:t>Understanding Arrays of Objects</a:t>
            </a:r>
            <a:endParaRPr lang="en-US" sz="4640" dirty="0"/>
          </a:p>
        </p:txBody>
      </p:sp>
      <p:sp>
        <p:nvSpPr>
          <p:cNvPr id="11" name="Text 1">
            <a:extLst>
              <a:ext uri="{FF2B5EF4-FFF2-40B4-BE49-F238E27FC236}">
                <a16:creationId xmlns:a16="http://schemas.microsoft.com/office/drawing/2014/main" id="{2B004C61-2FAC-4CE8-AFBC-7C79B8244C46}"/>
              </a:ext>
            </a:extLst>
          </p:cNvPr>
          <p:cNvSpPr/>
          <p:nvPr/>
        </p:nvSpPr>
        <p:spPr>
          <a:xfrm>
            <a:off x="1156285" y="13405822"/>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Petrona Bold" pitchFamily="34" charset="0"/>
                <a:ea typeface="Petrona Bold" pitchFamily="34" charset="-122"/>
                <a:cs typeface="Petrona Bold" pitchFamily="34" charset="-120"/>
              </a:rPr>
              <a:t>Array:</a:t>
            </a:r>
            <a:endParaRPr lang="en-US" sz="2300" dirty="0"/>
          </a:p>
        </p:txBody>
      </p:sp>
      <p:sp>
        <p:nvSpPr>
          <p:cNvPr id="12" name="Text 2">
            <a:extLst>
              <a:ext uri="{FF2B5EF4-FFF2-40B4-BE49-F238E27FC236}">
                <a16:creationId xmlns:a16="http://schemas.microsoft.com/office/drawing/2014/main" id="{B5596D1C-9D5F-40FA-AE23-A62EC7768A62}"/>
              </a:ext>
            </a:extLst>
          </p:cNvPr>
          <p:cNvSpPr/>
          <p:nvPr/>
        </p:nvSpPr>
        <p:spPr>
          <a:xfrm>
            <a:off x="828278" y="13577965"/>
            <a:ext cx="397811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An array where each element is an instance of a class.</a:t>
            </a:r>
            <a:endParaRPr lang="en-US" sz="1750" dirty="0"/>
          </a:p>
        </p:txBody>
      </p:sp>
      <p:sp>
        <p:nvSpPr>
          <p:cNvPr id="13" name="Text 3">
            <a:extLst>
              <a:ext uri="{FF2B5EF4-FFF2-40B4-BE49-F238E27FC236}">
                <a16:creationId xmlns:a16="http://schemas.microsoft.com/office/drawing/2014/main" id="{92561831-2CEE-423B-8CC9-03DC651FA076}"/>
              </a:ext>
            </a:extLst>
          </p:cNvPr>
          <p:cNvSpPr/>
          <p:nvPr/>
        </p:nvSpPr>
        <p:spPr>
          <a:xfrm>
            <a:off x="5695423" y="13405822"/>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Petrona Bold" pitchFamily="34" charset="0"/>
                <a:ea typeface="Petrona Bold" pitchFamily="34" charset="-122"/>
                <a:cs typeface="Petrona Bold" pitchFamily="34" charset="-120"/>
              </a:rPr>
              <a:t>Array Of Objects:</a:t>
            </a:r>
            <a:endParaRPr lang="en-US" sz="2300" dirty="0"/>
          </a:p>
        </p:txBody>
      </p:sp>
      <p:sp>
        <p:nvSpPr>
          <p:cNvPr id="14" name="Text 4">
            <a:extLst>
              <a:ext uri="{FF2B5EF4-FFF2-40B4-BE49-F238E27FC236}">
                <a16:creationId xmlns:a16="http://schemas.microsoft.com/office/drawing/2014/main" id="{AB48EE4D-6B3B-4DD3-B0D6-0643CEC1EE5E}"/>
              </a:ext>
            </a:extLst>
          </p:cNvPr>
          <p:cNvSpPr/>
          <p:nvPr/>
        </p:nvSpPr>
        <p:spPr>
          <a:xfrm>
            <a:off x="5665376" y="13884846"/>
            <a:ext cx="3978116"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Think of it as an array, but instead of numbers, it holds complex class instances.</a:t>
            </a:r>
            <a:endParaRPr lang="en-US" sz="1750" dirty="0"/>
          </a:p>
        </p:txBody>
      </p:sp>
      <p:sp>
        <p:nvSpPr>
          <p:cNvPr id="15" name="Text 5">
            <a:extLst>
              <a:ext uri="{FF2B5EF4-FFF2-40B4-BE49-F238E27FC236}">
                <a16:creationId xmlns:a16="http://schemas.microsoft.com/office/drawing/2014/main" id="{11A57DB1-4834-4244-B9E3-EDBBFA9D52B8}"/>
              </a:ext>
            </a:extLst>
          </p:cNvPr>
          <p:cNvSpPr/>
          <p:nvPr/>
        </p:nvSpPr>
        <p:spPr>
          <a:xfrm>
            <a:off x="967600" y="14515987"/>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Petrona Bold" pitchFamily="34" charset="0"/>
                <a:ea typeface="Petrona Bold" pitchFamily="34" charset="-122"/>
                <a:cs typeface="Petrona Bold" pitchFamily="34" charset="-120"/>
              </a:rPr>
              <a:t>Example:</a:t>
            </a:r>
            <a:endParaRPr lang="en-US" sz="2300" dirty="0"/>
          </a:p>
        </p:txBody>
      </p:sp>
      <p:sp>
        <p:nvSpPr>
          <p:cNvPr id="16" name="Text 6">
            <a:extLst>
              <a:ext uri="{FF2B5EF4-FFF2-40B4-BE49-F238E27FC236}">
                <a16:creationId xmlns:a16="http://schemas.microsoft.com/office/drawing/2014/main" id="{6162C151-C90B-432B-A11E-E679957E8AEB}"/>
              </a:ext>
            </a:extLst>
          </p:cNvPr>
          <p:cNvSpPr/>
          <p:nvPr/>
        </p:nvSpPr>
        <p:spPr>
          <a:xfrm>
            <a:off x="647658" y="14817357"/>
            <a:ext cx="3978116"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An array of 'Car' objects, each representing a unique car with its own state.</a:t>
            </a:r>
            <a:endParaRPr lang="en-US" sz="1750" dirty="0"/>
          </a:p>
        </p:txBody>
      </p:sp>
      <p:sp>
        <p:nvSpPr>
          <p:cNvPr id="17" name="Text 5">
            <a:extLst>
              <a:ext uri="{FF2B5EF4-FFF2-40B4-BE49-F238E27FC236}">
                <a16:creationId xmlns:a16="http://schemas.microsoft.com/office/drawing/2014/main" id="{AAE916C7-760C-4DD1-8E45-72FA53C8230B}"/>
              </a:ext>
            </a:extLst>
          </p:cNvPr>
          <p:cNvSpPr/>
          <p:nvPr/>
        </p:nvSpPr>
        <p:spPr>
          <a:xfrm>
            <a:off x="5506738" y="14575124"/>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Petrona Bold" pitchFamily="34" charset="0"/>
                <a:ea typeface="Petrona Bold" pitchFamily="34" charset="-122"/>
                <a:cs typeface="Petrona Bold" pitchFamily="34" charset="-120"/>
              </a:rPr>
              <a:t>Advantages:</a:t>
            </a:r>
            <a:endParaRPr lang="en-US" sz="2300" dirty="0"/>
          </a:p>
        </p:txBody>
      </p:sp>
      <p:sp>
        <p:nvSpPr>
          <p:cNvPr id="18" name="Text 6">
            <a:extLst>
              <a:ext uri="{FF2B5EF4-FFF2-40B4-BE49-F238E27FC236}">
                <a16:creationId xmlns:a16="http://schemas.microsoft.com/office/drawing/2014/main" id="{AACF6231-C5EA-4008-9544-039403286F37}"/>
              </a:ext>
            </a:extLst>
          </p:cNvPr>
          <p:cNvSpPr/>
          <p:nvPr/>
        </p:nvSpPr>
        <p:spPr>
          <a:xfrm>
            <a:off x="5186796" y="14876494"/>
            <a:ext cx="3978116" cy="1088708"/>
          </a:xfrm>
          <a:prstGeom prst="rect">
            <a:avLst/>
          </a:prstGeom>
          <a:noFill/>
          <a:ln/>
        </p:spPr>
        <p:txBody>
          <a:bodyPr wrap="square" lIns="0" tIns="0" rIns="0" bIns="0" rtlCol="0" anchor="t"/>
          <a:lstStyle/>
          <a:p>
            <a:pPr>
              <a:lnSpc>
                <a:spcPts val="2780"/>
              </a:lnSpc>
            </a:pPr>
            <a:r>
              <a:rPr lang="en-US" dirty="0">
                <a:solidFill>
                  <a:srgbClr val="050B14"/>
                </a:solidFill>
                <a:latin typeface="思源宋体-思源宋体-Regular" pitchFamily="34" charset="0"/>
                <a:ea typeface="思源宋体-思源宋体-Regular" pitchFamily="34" charset="-122"/>
                <a:cs typeface="思源宋体-思源宋体-Regular" pitchFamily="34" charset="-120"/>
              </a:rPr>
              <a:t>Enables systematic iteration through elements, reduces code redundancy.</a:t>
            </a:r>
            <a:endParaRPr lang="en-US" dirty="0"/>
          </a:p>
        </p:txBody>
      </p:sp>
      <p:pic>
        <p:nvPicPr>
          <p:cNvPr id="19" name="Image 1" descr="preencoded.png">
            <a:extLst>
              <a:ext uri="{FF2B5EF4-FFF2-40B4-BE49-F238E27FC236}">
                <a16:creationId xmlns:a16="http://schemas.microsoft.com/office/drawing/2014/main" id="{A30A91B2-8B52-4A32-BDA2-2D6D48498B1E}"/>
              </a:ext>
            </a:extLst>
          </p:cNvPr>
          <p:cNvPicPr>
            <a:picLocks noChangeAspect="1"/>
          </p:cNvPicPr>
          <p:nvPr/>
        </p:nvPicPr>
        <p:blipFill>
          <a:blip r:embed="rId5"/>
          <a:stretch>
            <a:fillRect/>
          </a:stretch>
        </p:blipFill>
        <p:spPr>
          <a:xfrm>
            <a:off x="9962132" y="7641843"/>
            <a:ext cx="442930" cy="347663"/>
          </a:xfrm>
          <a:prstGeom prst="rect">
            <a:avLst/>
          </a:prstGeom>
        </p:spPr>
      </p:pic>
      <p:sp>
        <p:nvSpPr>
          <p:cNvPr id="20" name="Text 5">
            <a:extLst>
              <a:ext uri="{FF2B5EF4-FFF2-40B4-BE49-F238E27FC236}">
                <a16:creationId xmlns:a16="http://schemas.microsoft.com/office/drawing/2014/main" id="{8E39401E-439C-479C-9FC9-A6829247337E}"/>
              </a:ext>
            </a:extLst>
          </p:cNvPr>
          <p:cNvSpPr/>
          <p:nvPr/>
        </p:nvSpPr>
        <p:spPr>
          <a:xfrm>
            <a:off x="10443824" y="7630379"/>
            <a:ext cx="3537219" cy="396835"/>
          </a:xfrm>
          <a:prstGeom prst="rect">
            <a:avLst/>
          </a:prstGeom>
          <a:noFill/>
          <a:ln/>
        </p:spPr>
        <p:txBody>
          <a:bodyPr wrap="none" lIns="0" tIns="0" rIns="0" bIns="0" rtlCol="0" anchor="t"/>
          <a:lstStyle/>
          <a:p>
            <a:pPr marL="0" indent="0" algn="l">
              <a:lnSpc>
                <a:spcPts val="3100"/>
              </a:lnSpc>
              <a:buNone/>
            </a:pPr>
            <a:r>
              <a:rPr lang="en-US" sz="2200" b="1" dirty="0">
                <a:solidFill>
                  <a:srgbClr val="272525"/>
                </a:solidFill>
                <a:latin typeface="Open Sans Bold" pitchFamily="34" charset="0"/>
                <a:ea typeface="Open Sans Bold" pitchFamily="34" charset="-122"/>
                <a:cs typeface="Open Sans Bold" pitchFamily="34" charset="-120"/>
              </a:rPr>
              <a:t>Made by Haani Bin Qaiser</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9948659" y="0"/>
            <a:ext cx="4974336" cy="8238744"/>
          </a:xfrm>
          <a:prstGeom prst="rect">
            <a:avLst/>
          </a:prstGeom>
        </p:spPr>
      </p:pic>
      <p:sp>
        <p:nvSpPr>
          <p:cNvPr id="5" name="Text 1"/>
          <p:cNvSpPr/>
          <p:nvPr/>
        </p:nvSpPr>
        <p:spPr>
          <a:xfrm>
            <a:off x="832104" y="896112"/>
            <a:ext cx="8631210" cy="1481328"/>
          </a:xfrm>
          <a:prstGeom prst="rect">
            <a:avLst/>
          </a:prstGeom>
          <a:noFill/>
          <a:ln/>
        </p:spPr>
        <p:txBody>
          <a:bodyPr wrap="square" lIns="0" tIns="0" rIns="0" bIns="0" rtlCol="0" anchor="ctr"/>
          <a:lstStyle/>
          <a:p>
            <a:pPr marL="0" indent="0" algn="l">
              <a:lnSpc>
                <a:spcPts val="5800"/>
              </a:lnSpc>
              <a:buNone/>
            </a:pPr>
            <a:r>
              <a:rPr lang="en-US" sz="4640" dirty="0">
                <a:solidFill>
                  <a:srgbClr val="0C266F"/>
                </a:solidFill>
                <a:latin typeface="Berlin Sans FB Demi" panose="020E0802020502020306" pitchFamily="34" charset="0"/>
                <a:ea typeface="思源宋体-思源宋体-SemiBold" pitchFamily="34" charset="-122"/>
                <a:cs typeface="思源宋体-思源宋体-SemiBold" pitchFamily="34" charset="-120"/>
              </a:rPr>
              <a:t>Understanding Arrays of Objects</a:t>
            </a:r>
            <a:endParaRPr lang="en-US" sz="4640" dirty="0">
              <a:latin typeface="Berlin Sans FB Demi" panose="020E0802020502020306" pitchFamily="34" charset="0"/>
            </a:endParaRPr>
          </a:p>
        </p:txBody>
      </p:sp>
      <p:sp>
        <p:nvSpPr>
          <p:cNvPr id="16" name="Text 1">
            <a:extLst>
              <a:ext uri="{FF2B5EF4-FFF2-40B4-BE49-F238E27FC236}">
                <a16:creationId xmlns:a16="http://schemas.microsoft.com/office/drawing/2014/main" id="{4CA935AB-7C59-48E1-A6A1-C56AE8EB6C2F}"/>
              </a:ext>
            </a:extLst>
          </p:cNvPr>
          <p:cNvSpPr/>
          <p:nvPr/>
        </p:nvSpPr>
        <p:spPr>
          <a:xfrm>
            <a:off x="832104" y="2377440"/>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Berlin Sans FB Demi" panose="020E0802020502020306" pitchFamily="34" charset="0"/>
                <a:ea typeface="Petrona Bold" pitchFamily="34" charset="-122"/>
                <a:cs typeface="Petrona Bold" pitchFamily="34" charset="-120"/>
              </a:rPr>
              <a:t>Array:</a:t>
            </a:r>
            <a:endParaRPr lang="en-US" sz="2300" dirty="0">
              <a:latin typeface="Berlin Sans FB Demi" panose="020E0802020502020306" pitchFamily="34" charset="0"/>
            </a:endParaRPr>
          </a:p>
        </p:txBody>
      </p:sp>
      <p:sp>
        <p:nvSpPr>
          <p:cNvPr id="17" name="Text 2">
            <a:extLst>
              <a:ext uri="{FF2B5EF4-FFF2-40B4-BE49-F238E27FC236}">
                <a16:creationId xmlns:a16="http://schemas.microsoft.com/office/drawing/2014/main" id="{B54DEC39-6B8C-4D94-9BEB-7B6B488D6FCC}"/>
              </a:ext>
            </a:extLst>
          </p:cNvPr>
          <p:cNvSpPr/>
          <p:nvPr/>
        </p:nvSpPr>
        <p:spPr>
          <a:xfrm>
            <a:off x="832104" y="2976324"/>
            <a:ext cx="397811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Bodoni MT" panose="02070603080606020203" pitchFamily="18" charset="0"/>
                <a:ea typeface="Inter" pitchFamily="34" charset="-122"/>
                <a:cs typeface="Inter" pitchFamily="34" charset="-120"/>
              </a:rPr>
              <a:t>An array where each element is an instance of a class.</a:t>
            </a:r>
            <a:endParaRPr lang="en-US" sz="1750" dirty="0">
              <a:latin typeface="Bodoni MT" panose="02070603080606020203" pitchFamily="18" charset="0"/>
            </a:endParaRPr>
          </a:p>
        </p:txBody>
      </p:sp>
      <p:sp>
        <p:nvSpPr>
          <p:cNvPr id="18" name="Text 3">
            <a:extLst>
              <a:ext uri="{FF2B5EF4-FFF2-40B4-BE49-F238E27FC236}">
                <a16:creationId xmlns:a16="http://schemas.microsoft.com/office/drawing/2014/main" id="{11A222AE-3E9B-46EF-81C4-0EA4D698E73C}"/>
              </a:ext>
            </a:extLst>
          </p:cNvPr>
          <p:cNvSpPr/>
          <p:nvPr/>
        </p:nvSpPr>
        <p:spPr>
          <a:xfrm>
            <a:off x="5371242" y="2377440"/>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Berlin Sans FB Demi" panose="020E0802020502020306" pitchFamily="34" charset="0"/>
                <a:ea typeface="Petrona Bold" pitchFamily="34" charset="-122"/>
                <a:cs typeface="Petrona Bold" pitchFamily="34" charset="-120"/>
              </a:rPr>
              <a:t>Array Of Objects:</a:t>
            </a:r>
            <a:endParaRPr lang="en-US" sz="2300" dirty="0">
              <a:latin typeface="Berlin Sans FB Demi" panose="020E0802020502020306" pitchFamily="34" charset="0"/>
            </a:endParaRPr>
          </a:p>
        </p:txBody>
      </p:sp>
      <p:sp>
        <p:nvSpPr>
          <p:cNvPr id="19" name="Text 4">
            <a:extLst>
              <a:ext uri="{FF2B5EF4-FFF2-40B4-BE49-F238E27FC236}">
                <a16:creationId xmlns:a16="http://schemas.microsoft.com/office/drawing/2014/main" id="{2D237F13-5FCB-413B-BB3B-3BC394E61792}"/>
              </a:ext>
            </a:extLst>
          </p:cNvPr>
          <p:cNvSpPr/>
          <p:nvPr/>
        </p:nvSpPr>
        <p:spPr>
          <a:xfrm>
            <a:off x="5371242" y="2976324"/>
            <a:ext cx="3978116"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Bodoni MT" panose="02070603080606020203" pitchFamily="18" charset="0"/>
                <a:ea typeface="Inter" pitchFamily="34" charset="-122"/>
                <a:cs typeface="Inter" pitchFamily="34" charset="-120"/>
              </a:rPr>
              <a:t>Think of it as an array, but instead of numbers, it holds complex class instances.</a:t>
            </a:r>
            <a:endParaRPr lang="en-US" sz="1750" dirty="0">
              <a:latin typeface="Bodoni MT" panose="02070603080606020203" pitchFamily="18" charset="0"/>
            </a:endParaRPr>
          </a:p>
        </p:txBody>
      </p:sp>
      <p:sp>
        <p:nvSpPr>
          <p:cNvPr id="20" name="Text 5">
            <a:extLst>
              <a:ext uri="{FF2B5EF4-FFF2-40B4-BE49-F238E27FC236}">
                <a16:creationId xmlns:a16="http://schemas.microsoft.com/office/drawing/2014/main" id="{A308E7D9-12E3-4436-92C4-66F3574B8B63}"/>
              </a:ext>
            </a:extLst>
          </p:cNvPr>
          <p:cNvSpPr/>
          <p:nvPr/>
        </p:nvSpPr>
        <p:spPr>
          <a:xfrm>
            <a:off x="832104" y="4527472"/>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Berlin Sans FB Demi" panose="020E0802020502020306" pitchFamily="34" charset="0"/>
                <a:ea typeface="Petrona Bold" pitchFamily="34" charset="-122"/>
                <a:cs typeface="Petrona Bold" pitchFamily="34" charset="-120"/>
              </a:rPr>
              <a:t>Example:</a:t>
            </a:r>
            <a:endParaRPr lang="en-US" sz="2300" dirty="0">
              <a:latin typeface="Berlin Sans FB Demi" panose="020E0802020502020306" pitchFamily="34" charset="0"/>
            </a:endParaRPr>
          </a:p>
        </p:txBody>
      </p:sp>
      <p:sp>
        <p:nvSpPr>
          <p:cNvPr id="21" name="Text 6">
            <a:extLst>
              <a:ext uri="{FF2B5EF4-FFF2-40B4-BE49-F238E27FC236}">
                <a16:creationId xmlns:a16="http://schemas.microsoft.com/office/drawing/2014/main" id="{BCF9B4AE-D1CC-4A08-AC38-FD5B88C4B672}"/>
              </a:ext>
            </a:extLst>
          </p:cNvPr>
          <p:cNvSpPr/>
          <p:nvPr/>
        </p:nvSpPr>
        <p:spPr>
          <a:xfrm>
            <a:off x="832104" y="5180531"/>
            <a:ext cx="3978116"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Bodoni MT" panose="02070603080606020203" pitchFamily="18" charset="0"/>
                <a:ea typeface="Inter" pitchFamily="34" charset="-122"/>
                <a:cs typeface="Inter" pitchFamily="34" charset="-120"/>
              </a:rPr>
              <a:t>An array of 'Car' objects, each representing a unique car with its own state.</a:t>
            </a:r>
            <a:endParaRPr lang="en-US" sz="1750" dirty="0">
              <a:latin typeface="Bodoni MT" panose="02070603080606020203" pitchFamily="18" charset="0"/>
            </a:endParaRPr>
          </a:p>
        </p:txBody>
      </p:sp>
      <p:sp>
        <p:nvSpPr>
          <p:cNvPr id="22" name="Text 5">
            <a:extLst>
              <a:ext uri="{FF2B5EF4-FFF2-40B4-BE49-F238E27FC236}">
                <a16:creationId xmlns:a16="http://schemas.microsoft.com/office/drawing/2014/main" id="{5FC56FF3-EC8E-4F0E-9855-AF87B4483445}"/>
              </a:ext>
            </a:extLst>
          </p:cNvPr>
          <p:cNvSpPr/>
          <p:nvPr/>
        </p:nvSpPr>
        <p:spPr>
          <a:xfrm>
            <a:off x="5371242" y="4586609"/>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Berlin Sans FB Demi" panose="020E0802020502020306" pitchFamily="34" charset="0"/>
                <a:ea typeface="Petrona Bold" pitchFamily="34" charset="-122"/>
                <a:cs typeface="Petrona Bold" pitchFamily="34" charset="-120"/>
              </a:rPr>
              <a:t>Advantages:</a:t>
            </a:r>
            <a:endParaRPr lang="en-US" sz="2300" dirty="0">
              <a:latin typeface="Berlin Sans FB Demi" panose="020E0802020502020306" pitchFamily="34" charset="0"/>
            </a:endParaRPr>
          </a:p>
        </p:txBody>
      </p:sp>
      <p:sp>
        <p:nvSpPr>
          <p:cNvPr id="23" name="Text 6">
            <a:extLst>
              <a:ext uri="{FF2B5EF4-FFF2-40B4-BE49-F238E27FC236}">
                <a16:creationId xmlns:a16="http://schemas.microsoft.com/office/drawing/2014/main" id="{01A4E0C4-A9B1-40F4-9CDA-E94433FE6DE7}"/>
              </a:ext>
            </a:extLst>
          </p:cNvPr>
          <p:cNvSpPr/>
          <p:nvPr/>
        </p:nvSpPr>
        <p:spPr>
          <a:xfrm>
            <a:off x="5371242" y="5239668"/>
            <a:ext cx="3978116" cy="1088708"/>
          </a:xfrm>
          <a:prstGeom prst="rect">
            <a:avLst/>
          </a:prstGeom>
          <a:noFill/>
          <a:ln/>
        </p:spPr>
        <p:txBody>
          <a:bodyPr wrap="square" lIns="0" tIns="0" rIns="0" bIns="0" rtlCol="0" anchor="t"/>
          <a:lstStyle/>
          <a:p>
            <a:pPr>
              <a:lnSpc>
                <a:spcPts val="2780"/>
              </a:lnSpc>
            </a:pPr>
            <a:r>
              <a:rPr lang="en-US" dirty="0">
                <a:solidFill>
                  <a:srgbClr val="272525"/>
                </a:solidFill>
                <a:latin typeface="Bodoni MT" panose="02070603080606020203" pitchFamily="18" charset="0"/>
                <a:ea typeface="思源宋体-思源宋体-Regular" pitchFamily="34" charset="-122"/>
                <a:cs typeface="思源宋体-思源宋体-Regular" pitchFamily="34" charset="-120"/>
              </a:rPr>
              <a:t>Enables systematic iteration through elements, reduces code redundancy.</a:t>
            </a:r>
            <a:endParaRPr lang="en-US" dirty="0">
              <a:solidFill>
                <a:srgbClr val="272525"/>
              </a:solidFill>
              <a:latin typeface="Bodoni MT" panose="02070603080606020203" pitchFamily="18" charset="0"/>
            </a:endParaRPr>
          </a:p>
        </p:txBody>
      </p:sp>
      <p:sp>
        <p:nvSpPr>
          <p:cNvPr id="28" name="Text 1">
            <a:extLst>
              <a:ext uri="{FF2B5EF4-FFF2-40B4-BE49-F238E27FC236}">
                <a16:creationId xmlns:a16="http://schemas.microsoft.com/office/drawing/2014/main" id="{22B0FEA1-97BA-42C4-9C43-C289E1D6E8FF}"/>
              </a:ext>
            </a:extLst>
          </p:cNvPr>
          <p:cNvSpPr/>
          <p:nvPr/>
        </p:nvSpPr>
        <p:spPr>
          <a:xfrm>
            <a:off x="22250409" y="2919567"/>
            <a:ext cx="8018442" cy="2039112"/>
          </a:xfrm>
          <a:prstGeom prst="rect">
            <a:avLst/>
          </a:prstGeom>
          <a:noFill/>
          <a:ln/>
        </p:spPr>
        <p:txBody>
          <a:bodyPr wrap="square" lIns="0" tIns="0" rIns="0" bIns="0" rtlCol="0" anchor="ctr"/>
          <a:lstStyle/>
          <a:p>
            <a:pPr marL="0" indent="0" algn="l">
              <a:lnSpc>
                <a:spcPts val="8010"/>
              </a:lnSpc>
              <a:buNone/>
            </a:pPr>
            <a:r>
              <a:rPr lang="en-US" sz="6410" dirty="0">
                <a:solidFill>
                  <a:srgbClr val="0C266F"/>
                </a:solidFill>
                <a:latin typeface="思源宋体-思源宋体-SemiBold" pitchFamily="34" charset="0"/>
                <a:ea typeface="思源宋体-思源宋体-SemiBold" pitchFamily="34" charset="-122"/>
                <a:cs typeface="思源宋体-思源宋体-SemiBold" pitchFamily="34" charset="-120"/>
              </a:rPr>
              <a:t>Arrays of Objects in C++</a:t>
            </a:r>
            <a:endParaRPr lang="en-US" sz="6410" dirty="0"/>
          </a:p>
        </p:txBody>
      </p:sp>
      <p:sp>
        <p:nvSpPr>
          <p:cNvPr id="29" name="TextBox 28">
            <a:extLst>
              <a:ext uri="{FF2B5EF4-FFF2-40B4-BE49-F238E27FC236}">
                <a16:creationId xmlns:a16="http://schemas.microsoft.com/office/drawing/2014/main" id="{9F544AE3-6BF3-44BD-847B-6031655284EC}"/>
              </a:ext>
            </a:extLst>
          </p:cNvPr>
          <p:cNvSpPr txBox="1"/>
          <p:nvPr/>
        </p:nvSpPr>
        <p:spPr>
          <a:xfrm>
            <a:off x="22470968" y="3883879"/>
            <a:ext cx="2223686" cy="1015663"/>
          </a:xfrm>
          <a:prstGeom prst="rect">
            <a:avLst/>
          </a:prstGeom>
          <a:noFill/>
        </p:spPr>
        <p:txBody>
          <a:bodyPr wrap="none" rtlCol="0">
            <a:spAutoFit/>
          </a:bodyPr>
          <a:lstStyle/>
          <a:p>
            <a:r>
              <a:rPr lang="en-US" sz="2000" b="1" dirty="0">
                <a:solidFill>
                  <a:schemeClr val="accent1">
                    <a:lumMod val="50000"/>
                  </a:schemeClr>
                </a:solidFill>
                <a:latin typeface="思源宋体-思源宋体-SemiBold"/>
              </a:rPr>
              <a:t>Presented By:</a:t>
            </a:r>
          </a:p>
          <a:p>
            <a:r>
              <a:rPr lang="en-US" sz="2000" b="1" dirty="0" err="1">
                <a:solidFill>
                  <a:schemeClr val="accent1">
                    <a:lumMod val="50000"/>
                  </a:schemeClr>
                </a:solidFill>
                <a:latin typeface="思源宋体-思源宋体-SemiBold"/>
              </a:rPr>
              <a:t>Haani</a:t>
            </a:r>
            <a:r>
              <a:rPr lang="en-US" sz="2000" b="1" dirty="0">
                <a:solidFill>
                  <a:schemeClr val="accent1">
                    <a:lumMod val="50000"/>
                  </a:schemeClr>
                </a:solidFill>
                <a:latin typeface="思源宋体-思源宋体-SemiBold"/>
              </a:rPr>
              <a:t> Bin </a:t>
            </a:r>
            <a:r>
              <a:rPr lang="en-US" sz="2000" b="1" dirty="0" err="1">
                <a:solidFill>
                  <a:schemeClr val="accent1">
                    <a:lumMod val="50000"/>
                  </a:schemeClr>
                </a:solidFill>
                <a:latin typeface="思源宋体-思源宋体-SemiBold"/>
              </a:rPr>
              <a:t>Qaiser</a:t>
            </a:r>
            <a:endParaRPr lang="en-US" sz="2000" b="1" dirty="0">
              <a:solidFill>
                <a:schemeClr val="accent1">
                  <a:lumMod val="50000"/>
                </a:schemeClr>
              </a:solidFill>
              <a:latin typeface="思源宋体-思源宋体-SemiBold"/>
            </a:endParaRPr>
          </a:p>
          <a:p>
            <a:r>
              <a:rPr lang="en-US" sz="2000" b="1" dirty="0">
                <a:solidFill>
                  <a:schemeClr val="accent1">
                    <a:lumMod val="50000"/>
                  </a:schemeClr>
                </a:solidFill>
                <a:latin typeface="思源宋体-思源宋体-SemiBold"/>
              </a:rPr>
              <a:t>M. Rizwan</a:t>
            </a:r>
          </a:p>
        </p:txBody>
      </p:sp>
      <p:cxnSp>
        <p:nvCxnSpPr>
          <p:cNvPr id="30" name="Straight Connector 29">
            <a:extLst>
              <a:ext uri="{FF2B5EF4-FFF2-40B4-BE49-F238E27FC236}">
                <a16:creationId xmlns:a16="http://schemas.microsoft.com/office/drawing/2014/main" id="{4BABB51B-525D-49DB-A520-7E2E14502664}"/>
              </a:ext>
            </a:extLst>
          </p:cNvPr>
          <p:cNvCxnSpPr/>
          <p:nvPr/>
        </p:nvCxnSpPr>
        <p:spPr>
          <a:xfrm>
            <a:off x="17638403" y="2791560"/>
            <a:ext cx="0" cy="2546944"/>
          </a:xfrm>
          <a:prstGeom prst="line">
            <a:avLst/>
          </a:prstGeom>
          <a:ln w="57150">
            <a:solidFill>
              <a:srgbClr val="0C266F"/>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B1AEAB3-F39F-42B3-A8A1-F66A0BF65815}"/>
              </a:ext>
            </a:extLst>
          </p:cNvPr>
          <p:cNvSpPr txBox="1"/>
          <p:nvPr/>
        </p:nvSpPr>
        <p:spPr>
          <a:xfrm>
            <a:off x="23315902" y="3939123"/>
            <a:ext cx="3182025" cy="646331"/>
          </a:xfrm>
          <a:prstGeom prst="rect">
            <a:avLst/>
          </a:prstGeom>
          <a:noFill/>
        </p:spPr>
        <p:txBody>
          <a:bodyPr wrap="none" rtlCol="0">
            <a:spAutoFit/>
          </a:bodyPr>
          <a:lstStyle/>
          <a:p>
            <a:r>
              <a:rPr lang="en-US" dirty="0">
                <a:solidFill>
                  <a:schemeClr val="accent1">
                    <a:lumMod val="50000"/>
                  </a:schemeClr>
                </a:solidFill>
                <a:latin typeface="思源宋体-思源宋体-SemiBold"/>
              </a:rPr>
              <a:t>Object Oriented Programming</a:t>
            </a:r>
          </a:p>
          <a:p>
            <a:r>
              <a:rPr lang="en-US" dirty="0">
                <a:solidFill>
                  <a:schemeClr val="accent1">
                    <a:lumMod val="50000"/>
                  </a:schemeClr>
                </a:solidFill>
                <a:latin typeface="思源宋体-思源宋体-SemiBold"/>
              </a:rPr>
              <a:t>BSCYS-F24B</a:t>
            </a:r>
          </a:p>
        </p:txBody>
      </p:sp>
      <p:pic>
        <p:nvPicPr>
          <p:cNvPr id="33" name="Image 1" descr="preencoded.png">
            <a:extLst>
              <a:ext uri="{FF2B5EF4-FFF2-40B4-BE49-F238E27FC236}">
                <a16:creationId xmlns:a16="http://schemas.microsoft.com/office/drawing/2014/main" id="{42C0396D-BCF3-4137-B609-5BE095877F4B}"/>
              </a:ext>
            </a:extLst>
          </p:cNvPr>
          <p:cNvPicPr>
            <a:picLocks noChangeAspect="1"/>
          </p:cNvPicPr>
          <p:nvPr/>
        </p:nvPicPr>
        <p:blipFill>
          <a:blip r:embed="rId5"/>
          <a:stretch>
            <a:fillRect/>
          </a:stretch>
        </p:blipFill>
        <p:spPr>
          <a:xfrm>
            <a:off x="-265043" y="-3472501"/>
            <a:ext cx="15107478" cy="3005991"/>
          </a:xfrm>
          <a:prstGeom prst="rect">
            <a:avLst/>
          </a:prstGeom>
          <a:ln>
            <a:noFill/>
          </a:ln>
          <a:effectLst>
            <a:softEdge rad="112500"/>
          </a:effectLst>
        </p:spPr>
      </p:pic>
      <p:sp>
        <p:nvSpPr>
          <p:cNvPr id="34" name="Text 3">
            <a:extLst>
              <a:ext uri="{FF2B5EF4-FFF2-40B4-BE49-F238E27FC236}">
                <a16:creationId xmlns:a16="http://schemas.microsoft.com/office/drawing/2014/main" id="{9056893D-3BCF-4164-813D-3F255802FEEE}"/>
              </a:ext>
            </a:extLst>
          </p:cNvPr>
          <p:cNvSpPr/>
          <p:nvPr/>
        </p:nvSpPr>
        <p:spPr>
          <a:xfrm>
            <a:off x="-11324657" y="3374721"/>
            <a:ext cx="12984480" cy="740664"/>
          </a:xfrm>
          <a:prstGeom prst="rect">
            <a:avLst/>
          </a:prstGeom>
          <a:noFill/>
          <a:ln/>
        </p:spPr>
        <p:txBody>
          <a:bodyPr wrap="none" lIns="0" tIns="0" rIns="0" bIns="0" rtlCol="0" anchor="ctr"/>
          <a:lstStyle/>
          <a:p>
            <a:pPr marL="0" indent="0" algn="l">
              <a:lnSpc>
                <a:spcPts val="5800"/>
              </a:lnSpc>
              <a:buNone/>
            </a:pPr>
            <a:r>
              <a:rPr lang="en-US" sz="4640" dirty="0">
                <a:solidFill>
                  <a:srgbClr val="0C266F"/>
                </a:solidFill>
                <a:latin typeface="思源宋体-思源宋体-SemiBold" pitchFamily="34" charset="0"/>
                <a:ea typeface="思源宋体-思源宋体-SemiBold" pitchFamily="34" charset="-122"/>
                <a:cs typeface="思源宋体-思源宋体-SemiBold" pitchFamily="34" charset="-120"/>
              </a:rPr>
              <a:t>Declaring Arrays of Objects</a:t>
            </a:r>
            <a:endParaRPr lang="en-US" sz="4640" dirty="0"/>
          </a:p>
        </p:txBody>
      </p:sp>
      <p:sp>
        <p:nvSpPr>
          <p:cNvPr id="35" name="Shape 1">
            <a:extLst>
              <a:ext uri="{FF2B5EF4-FFF2-40B4-BE49-F238E27FC236}">
                <a16:creationId xmlns:a16="http://schemas.microsoft.com/office/drawing/2014/main" id="{93E0E665-1A3F-42D3-83C7-428EF8B51DFD}"/>
              </a:ext>
            </a:extLst>
          </p:cNvPr>
          <p:cNvSpPr/>
          <p:nvPr/>
        </p:nvSpPr>
        <p:spPr>
          <a:xfrm>
            <a:off x="-11324657" y="4639515"/>
            <a:ext cx="510302" cy="510302"/>
          </a:xfrm>
          <a:prstGeom prst="roundRect">
            <a:avLst>
              <a:gd name="adj" fmla="val 18669"/>
            </a:avLst>
          </a:prstGeom>
          <a:solidFill>
            <a:srgbClr val="FFC000"/>
          </a:solidFill>
          <a:ln w="7620">
            <a:noFill/>
            <a:prstDash val="solid"/>
          </a:ln>
          <a:effectLst>
            <a:innerShdw blurRad="63500" dist="50800">
              <a:prstClr val="black">
                <a:alpha val="50000"/>
              </a:prstClr>
            </a:innerShdw>
          </a:effectLst>
        </p:spPr>
      </p:sp>
      <p:sp>
        <p:nvSpPr>
          <p:cNvPr id="36" name="Text 2">
            <a:extLst>
              <a:ext uri="{FF2B5EF4-FFF2-40B4-BE49-F238E27FC236}">
                <a16:creationId xmlns:a16="http://schemas.microsoft.com/office/drawing/2014/main" id="{379A1653-89F3-43CA-95C5-82F41F1E1AA8}"/>
              </a:ext>
            </a:extLst>
          </p:cNvPr>
          <p:cNvSpPr/>
          <p:nvPr/>
        </p:nvSpPr>
        <p:spPr>
          <a:xfrm>
            <a:off x="-11248100" y="4696738"/>
            <a:ext cx="357188" cy="446484"/>
          </a:xfrm>
          <a:prstGeom prst="rect">
            <a:avLst/>
          </a:prstGeom>
          <a:noFill/>
          <a:ln/>
          <a:effectLst>
            <a:innerShdw blurRad="63500" dist="50800" dir="18900000">
              <a:prstClr val="black">
                <a:alpha val="50000"/>
              </a:prstClr>
            </a:innerShdw>
          </a:effectLst>
        </p:spPr>
        <p:txBody>
          <a:bodyPr wrap="none" lIns="0" tIns="0" rIns="0" bIns="0" rtlCol="0" anchor="t"/>
          <a:lstStyle/>
          <a:p>
            <a:pPr marL="0" indent="0" algn="ctr">
              <a:lnSpc>
                <a:spcPts val="2800"/>
              </a:lnSpc>
              <a:buNone/>
            </a:pPr>
            <a:r>
              <a:rPr lang="en-US" sz="2800" b="1" dirty="0">
                <a:solidFill>
                  <a:srgbClr val="272525"/>
                </a:solidFill>
                <a:latin typeface="Petrona Bold" pitchFamily="34" charset="0"/>
                <a:ea typeface="Petrona Bold" pitchFamily="34" charset="-122"/>
                <a:cs typeface="Petrona Bold" pitchFamily="34" charset="-120"/>
              </a:rPr>
              <a:t>1</a:t>
            </a:r>
            <a:endParaRPr lang="en-US" sz="2800" dirty="0"/>
          </a:p>
        </p:txBody>
      </p:sp>
      <p:sp>
        <p:nvSpPr>
          <p:cNvPr id="37" name="Text 3">
            <a:extLst>
              <a:ext uri="{FF2B5EF4-FFF2-40B4-BE49-F238E27FC236}">
                <a16:creationId xmlns:a16="http://schemas.microsoft.com/office/drawing/2014/main" id="{B716FB8D-1DBE-4DBB-B451-C6866E7FF69D}"/>
              </a:ext>
            </a:extLst>
          </p:cNvPr>
          <p:cNvSpPr/>
          <p:nvPr/>
        </p:nvSpPr>
        <p:spPr>
          <a:xfrm>
            <a:off x="-10587541" y="4717382"/>
            <a:ext cx="2899410"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Syntax</a:t>
            </a:r>
            <a:endParaRPr lang="en-US" sz="2300" dirty="0"/>
          </a:p>
        </p:txBody>
      </p:sp>
      <p:sp>
        <p:nvSpPr>
          <p:cNvPr id="38" name="Shape 5">
            <a:extLst>
              <a:ext uri="{FF2B5EF4-FFF2-40B4-BE49-F238E27FC236}">
                <a16:creationId xmlns:a16="http://schemas.microsoft.com/office/drawing/2014/main" id="{AC915B1D-6BC7-4D9F-9F8D-065B51ADBA16}"/>
              </a:ext>
            </a:extLst>
          </p:cNvPr>
          <p:cNvSpPr/>
          <p:nvPr/>
        </p:nvSpPr>
        <p:spPr>
          <a:xfrm>
            <a:off x="-10587541" y="5344603"/>
            <a:ext cx="2922032" cy="1320999"/>
          </a:xfrm>
          <a:prstGeom prst="roundRect">
            <a:avLst>
              <a:gd name="adj" fmla="val 15230"/>
            </a:avLst>
          </a:prstGeom>
          <a:solidFill>
            <a:srgbClr val="BDD4FA"/>
          </a:solidFill>
          <a:ln/>
          <a:effectLst>
            <a:outerShdw blurRad="50800" dist="38100" dir="8100000" algn="tr" rotWithShape="0">
              <a:prstClr val="black">
                <a:alpha val="40000"/>
              </a:prstClr>
            </a:outerShdw>
          </a:effectLst>
        </p:spPr>
      </p:sp>
      <p:sp>
        <p:nvSpPr>
          <p:cNvPr id="39" name="Text 6">
            <a:extLst>
              <a:ext uri="{FF2B5EF4-FFF2-40B4-BE49-F238E27FC236}">
                <a16:creationId xmlns:a16="http://schemas.microsoft.com/office/drawing/2014/main" id="{8F890BDC-D2CD-436D-858A-9519A5184D49}"/>
              </a:ext>
            </a:extLst>
          </p:cNvPr>
          <p:cNvSpPr/>
          <p:nvPr/>
        </p:nvSpPr>
        <p:spPr>
          <a:xfrm>
            <a:off x="-10372038" y="5514625"/>
            <a:ext cx="2468404"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Consolas" pitchFamily="34" charset="0"/>
                <a:ea typeface="Consolas" pitchFamily="34" charset="-122"/>
                <a:cs typeface="Consolas" pitchFamily="34" charset="-120"/>
              </a:rPr>
              <a:t>ClassName objectArray[arraySize];</a:t>
            </a:r>
            <a:endParaRPr lang="en-US" sz="1750" dirty="0"/>
          </a:p>
        </p:txBody>
      </p:sp>
      <p:sp>
        <p:nvSpPr>
          <p:cNvPr id="40" name="Text 7">
            <a:extLst>
              <a:ext uri="{FF2B5EF4-FFF2-40B4-BE49-F238E27FC236}">
                <a16:creationId xmlns:a16="http://schemas.microsoft.com/office/drawing/2014/main" id="{18F0FAD4-BFCF-4D21-83BF-CF89D76677CB}"/>
              </a:ext>
            </a:extLst>
          </p:cNvPr>
          <p:cNvSpPr/>
          <p:nvPr/>
        </p:nvSpPr>
        <p:spPr>
          <a:xfrm>
            <a:off x="-10587541" y="6665602"/>
            <a:ext cx="2899410"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 This is the basic structure.</a:t>
            </a:r>
            <a:endParaRPr lang="en-US" sz="1750" dirty="0"/>
          </a:p>
        </p:txBody>
      </p:sp>
      <p:sp>
        <p:nvSpPr>
          <p:cNvPr id="41" name="Shape 8">
            <a:extLst>
              <a:ext uri="{FF2B5EF4-FFF2-40B4-BE49-F238E27FC236}">
                <a16:creationId xmlns:a16="http://schemas.microsoft.com/office/drawing/2014/main" id="{7B221003-C8E6-4185-8E1D-E82BB2788720}"/>
              </a:ext>
            </a:extLst>
          </p:cNvPr>
          <p:cNvSpPr/>
          <p:nvPr/>
        </p:nvSpPr>
        <p:spPr>
          <a:xfrm>
            <a:off x="-11315221" y="4622972"/>
            <a:ext cx="510302" cy="510302"/>
          </a:xfrm>
          <a:prstGeom prst="roundRect">
            <a:avLst>
              <a:gd name="adj" fmla="val 18669"/>
            </a:avLst>
          </a:prstGeom>
          <a:solidFill>
            <a:srgbClr val="FFC000"/>
          </a:solidFill>
          <a:ln w="7620">
            <a:noFill/>
            <a:prstDash val="solid"/>
          </a:ln>
          <a:effectLst>
            <a:innerShdw blurRad="63500" dist="50800">
              <a:prstClr val="black">
                <a:alpha val="50000"/>
              </a:prstClr>
            </a:innerShdw>
          </a:effectLst>
        </p:spPr>
      </p:sp>
      <p:sp>
        <p:nvSpPr>
          <p:cNvPr id="42" name="Text 9">
            <a:extLst>
              <a:ext uri="{FF2B5EF4-FFF2-40B4-BE49-F238E27FC236}">
                <a16:creationId xmlns:a16="http://schemas.microsoft.com/office/drawing/2014/main" id="{F2E51BC1-AC2C-4C16-92B5-DAFFE94FA70D}"/>
              </a:ext>
            </a:extLst>
          </p:cNvPr>
          <p:cNvSpPr/>
          <p:nvPr/>
        </p:nvSpPr>
        <p:spPr>
          <a:xfrm>
            <a:off x="-11225923" y="4740560"/>
            <a:ext cx="357188" cy="446484"/>
          </a:xfrm>
          <a:prstGeom prst="rect">
            <a:avLst/>
          </a:prstGeom>
          <a:noFill/>
          <a:ln/>
        </p:spPr>
        <p:txBody>
          <a:bodyPr wrap="none" lIns="0" tIns="0" rIns="0" bIns="0" rtlCol="0" anchor="t"/>
          <a:lstStyle/>
          <a:p>
            <a:pPr marL="0" indent="0" algn="ctr">
              <a:lnSpc>
                <a:spcPts val="2800"/>
              </a:lnSpc>
              <a:buNone/>
            </a:pPr>
            <a:r>
              <a:rPr lang="en-US" sz="2800" b="1" dirty="0">
                <a:solidFill>
                  <a:srgbClr val="272525"/>
                </a:solidFill>
                <a:latin typeface="Petrona Bold" pitchFamily="34" charset="0"/>
                <a:ea typeface="Petrona Bold" pitchFamily="34" charset="-122"/>
                <a:cs typeface="Petrona Bold" pitchFamily="34" charset="-120"/>
              </a:rPr>
              <a:t>2</a:t>
            </a:r>
            <a:endParaRPr lang="en-US" sz="2800" dirty="0"/>
          </a:p>
        </p:txBody>
      </p:sp>
      <p:sp>
        <p:nvSpPr>
          <p:cNvPr id="43" name="Text 10">
            <a:extLst>
              <a:ext uri="{FF2B5EF4-FFF2-40B4-BE49-F238E27FC236}">
                <a16:creationId xmlns:a16="http://schemas.microsoft.com/office/drawing/2014/main" id="{41A05330-BF40-414A-B77E-E002B0E74B02}"/>
              </a:ext>
            </a:extLst>
          </p:cNvPr>
          <p:cNvSpPr/>
          <p:nvPr/>
        </p:nvSpPr>
        <p:spPr>
          <a:xfrm>
            <a:off x="-10565365" y="4761204"/>
            <a:ext cx="2899410"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Example</a:t>
            </a:r>
            <a:endParaRPr lang="en-US" sz="2300" dirty="0"/>
          </a:p>
        </p:txBody>
      </p:sp>
      <p:sp>
        <p:nvSpPr>
          <p:cNvPr id="44" name="Shape 12">
            <a:extLst>
              <a:ext uri="{FF2B5EF4-FFF2-40B4-BE49-F238E27FC236}">
                <a16:creationId xmlns:a16="http://schemas.microsoft.com/office/drawing/2014/main" id="{7E7F6B18-EC4C-488E-ADD3-60ED75AA6237}"/>
              </a:ext>
            </a:extLst>
          </p:cNvPr>
          <p:cNvSpPr/>
          <p:nvPr/>
        </p:nvSpPr>
        <p:spPr>
          <a:xfrm>
            <a:off x="-10576676" y="5388425"/>
            <a:ext cx="2922032" cy="702945"/>
          </a:xfrm>
          <a:prstGeom prst="roundRect">
            <a:avLst>
              <a:gd name="adj" fmla="val 25578"/>
            </a:avLst>
          </a:prstGeom>
          <a:solidFill>
            <a:srgbClr val="BDD4FA"/>
          </a:solidFill>
          <a:ln/>
          <a:effectLst>
            <a:outerShdw blurRad="50800" dist="38100" dir="8100000" algn="tr" rotWithShape="0">
              <a:prstClr val="black">
                <a:alpha val="40000"/>
              </a:prstClr>
            </a:outerShdw>
          </a:effectLst>
        </p:spPr>
      </p:sp>
      <p:sp>
        <p:nvSpPr>
          <p:cNvPr id="45" name="Text 13">
            <a:extLst>
              <a:ext uri="{FF2B5EF4-FFF2-40B4-BE49-F238E27FC236}">
                <a16:creationId xmlns:a16="http://schemas.microsoft.com/office/drawing/2014/main" id="{A83E98A5-3063-4457-8848-B48FF31AB26D}"/>
              </a:ext>
            </a:extLst>
          </p:cNvPr>
          <p:cNvSpPr/>
          <p:nvPr/>
        </p:nvSpPr>
        <p:spPr>
          <a:xfrm>
            <a:off x="-10349861" y="5558447"/>
            <a:ext cx="2468404"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Consolas" pitchFamily="34" charset="0"/>
                <a:ea typeface="Consolas" pitchFamily="34" charset="-122"/>
                <a:cs typeface="Consolas" pitchFamily="34" charset="-120"/>
              </a:rPr>
              <a:t>Car myCars[5];</a:t>
            </a:r>
            <a:endParaRPr lang="en-US" sz="1750" dirty="0"/>
          </a:p>
        </p:txBody>
      </p:sp>
      <p:sp>
        <p:nvSpPr>
          <p:cNvPr id="46" name="Text 14">
            <a:extLst>
              <a:ext uri="{FF2B5EF4-FFF2-40B4-BE49-F238E27FC236}">
                <a16:creationId xmlns:a16="http://schemas.microsoft.com/office/drawing/2014/main" id="{B8C49277-C9A3-46D1-9F1B-B7E7CC1970E6}"/>
              </a:ext>
            </a:extLst>
          </p:cNvPr>
          <p:cNvSpPr/>
          <p:nvPr/>
        </p:nvSpPr>
        <p:spPr>
          <a:xfrm>
            <a:off x="-6667528" y="6302699"/>
            <a:ext cx="2899410"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 Declares an array named </a:t>
            </a:r>
            <a:r>
              <a:rPr lang="en-US" sz="1750" b="1" dirty="0">
                <a:solidFill>
                  <a:srgbClr val="272525"/>
                </a:solidFill>
                <a:latin typeface="Inter" pitchFamily="34" charset="0"/>
                <a:ea typeface="Inter" pitchFamily="34" charset="-122"/>
                <a:cs typeface="Inter" pitchFamily="34" charset="-120"/>
              </a:rPr>
              <a:t>myCars</a:t>
            </a:r>
            <a:r>
              <a:rPr lang="en-US" sz="1750" dirty="0">
                <a:solidFill>
                  <a:srgbClr val="272525"/>
                </a:solidFill>
                <a:latin typeface="Inter" pitchFamily="34" charset="0"/>
                <a:ea typeface="Inter" pitchFamily="34" charset="-122"/>
                <a:cs typeface="Inter" pitchFamily="34" charset="-120"/>
              </a:rPr>
              <a:t> for 5 Car objects.</a:t>
            </a:r>
            <a:endParaRPr lang="en-US" sz="1750" dirty="0"/>
          </a:p>
        </p:txBody>
      </p:sp>
      <p:sp>
        <p:nvSpPr>
          <p:cNvPr id="47" name="Shape 15">
            <a:extLst>
              <a:ext uri="{FF2B5EF4-FFF2-40B4-BE49-F238E27FC236}">
                <a16:creationId xmlns:a16="http://schemas.microsoft.com/office/drawing/2014/main" id="{B3B80E9E-693B-4A51-A6CB-1D5B5CD755F4}"/>
              </a:ext>
            </a:extLst>
          </p:cNvPr>
          <p:cNvSpPr/>
          <p:nvPr/>
        </p:nvSpPr>
        <p:spPr>
          <a:xfrm>
            <a:off x="-11347279" y="4653350"/>
            <a:ext cx="510302" cy="510302"/>
          </a:xfrm>
          <a:prstGeom prst="roundRect">
            <a:avLst>
              <a:gd name="adj" fmla="val 18669"/>
            </a:avLst>
          </a:prstGeom>
          <a:solidFill>
            <a:srgbClr val="FFC000"/>
          </a:solidFill>
          <a:ln w="7620">
            <a:noFill/>
            <a:prstDash val="solid"/>
          </a:ln>
          <a:effectLst>
            <a:innerShdw blurRad="63500" dist="50800">
              <a:prstClr val="black">
                <a:alpha val="50000"/>
              </a:prstClr>
            </a:innerShdw>
          </a:effectLst>
        </p:spPr>
      </p:sp>
      <p:sp>
        <p:nvSpPr>
          <p:cNvPr id="48" name="Text 16">
            <a:extLst>
              <a:ext uri="{FF2B5EF4-FFF2-40B4-BE49-F238E27FC236}">
                <a16:creationId xmlns:a16="http://schemas.microsoft.com/office/drawing/2014/main" id="{6413737D-759F-4525-B9C5-19776C70DF5B}"/>
              </a:ext>
            </a:extLst>
          </p:cNvPr>
          <p:cNvSpPr/>
          <p:nvPr/>
        </p:nvSpPr>
        <p:spPr>
          <a:xfrm>
            <a:off x="-11270722" y="4731217"/>
            <a:ext cx="357188" cy="446484"/>
          </a:xfrm>
          <a:prstGeom prst="rect">
            <a:avLst/>
          </a:prstGeom>
          <a:noFill/>
          <a:ln/>
        </p:spPr>
        <p:txBody>
          <a:bodyPr wrap="none" lIns="0" tIns="0" rIns="0" bIns="0" rtlCol="0" anchor="t"/>
          <a:lstStyle/>
          <a:p>
            <a:pPr marL="0" indent="0" algn="ctr">
              <a:lnSpc>
                <a:spcPts val="2800"/>
              </a:lnSpc>
              <a:buNone/>
            </a:pPr>
            <a:r>
              <a:rPr lang="en-US" sz="2800" b="1" dirty="0">
                <a:solidFill>
                  <a:srgbClr val="272525"/>
                </a:solidFill>
                <a:latin typeface="Petrona Bold" pitchFamily="34" charset="0"/>
                <a:ea typeface="Petrona Bold" pitchFamily="34" charset="-122"/>
                <a:cs typeface="Petrona Bold" pitchFamily="34" charset="-120"/>
              </a:rPr>
              <a:t>3</a:t>
            </a:r>
            <a:endParaRPr lang="en-US" sz="2800" dirty="0"/>
          </a:p>
        </p:txBody>
      </p:sp>
      <p:sp>
        <p:nvSpPr>
          <p:cNvPr id="49" name="Text 17">
            <a:extLst>
              <a:ext uri="{FF2B5EF4-FFF2-40B4-BE49-F238E27FC236}">
                <a16:creationId xmlns:a16="http://schemas.microsoft.com/office/drawing/2014/main" id="{392F2BEB-A87A-46EB-968A-2E24DB4DED2E}"/>
              </a:ext>
            </a:extLst>
          </p:cNvPr>
          <p:cNvSpPr/>
          <p:nvPr/>
        </p:nvSpPr>
        <p:spPr>
          <a:xfrm>
            <a:off x="-10610163" y="4731217"/>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Note</a:t>
            </a:r>
            <a:endParaRPr lang="en-US" sz="2300" dirty="0"/>
          </a:p>
        </p:txBody>
      </p:sp>
      <p:sp>
        <p:nvSpPr>
          <p:cNvPr id="50" name="Shape 12">
            <a:extLst>
              <a:ext uri="{FF2B5EF4-FFF2-40B4-BE49-F238E27FC236}">
                <a16:creationId xmlns:a16="http://schemas.microsoft.com/office/drawing/2014/main" id="{F413D8FA-F948-4818-9136-2D8F752FCCED}"/>
              </a:ext>
            </a:extLst>
          </p:cNvPr>
          <p:cNvSpPr/>
          <p:nvPr/>
        </p:nvSpPr>
        <p:spPr>
          <a:xfrm>
            <a:off x="-10610163" y="5404396"/>
            <a:ext cx="2922032" cy="958096"/>
          </a:xfrm>
          <a:prstGeom prst="roundRect">
            <a:avLst>
              <a:gd name="adj" fmla="val 16675"/>
            </a:avLst>
          </a:prstGeom>
          <a:solidFill>
            <a:srgbClr val="BDD4FA"/>
          </a:solidFill>
          <a:ln/>
          <a:effectLst>
            <a:outerShdw blurRad="50800" dist="38100" dir="8100000" algn="tr" rotWithShape="0">
              <a:prstClr val="black">
                <a:alpha val="40000"/>
              </a:prstClr>
            </a:outerShdw>
          </a:effectLst>
        </p:spPr>
        <p:txBody>
          <a:bodyPr/>
          <a:lstStyle/>
          <a:p>
            <a:r>
              <a:rPr lang="en-US" dirty="0">
                <a:solidFill>
                  <a:srgbClr val="272525"/>
                </a:solidFill>
                <a:latin typeface="Inter" pitchFamily="34" charset="0"/>
                <a:ea typeface="Inter" pitchFamily="34" charset="-122"/>
                <a:cs typeface="Inter" pitchFamily="34" charset="-120"/>
              </a:rPr>
              <a:t>The default constructor is automatically called for every object in the array.</a:t>
            </a:r>
            <a:endParaRPr lang="en-US" dirty="0"/>
          </a:p>
          <a:p>
            <a:endParaRPr lang="en-US" dirty="0"/>
          </a:p>
        </p:txBody>
      </p:sp>
      <p:pic>
        <p:nvPicPr>
          <p:cNvPr id="51" name="Image 1" descr="preencoded.png">
            <a:extLst>
              <a:ext uri="{FF2B5EF4-FFF2-40B4-BE49-F238E27FC236}">
                <a16:creationId xmlns:a16="http://schemas.microsoft.com/office/drawing/2014/main" id="{7122ABAC-2359-4478-A065-CF17A08D4430}"/>
              </a:ext>
            </a:extLst>
          </p:cNvPr>
          <p:cNvPicPr>
            <a:picLocks noChangeAspect="1"/>
          </p:cNvPicPr>
          <p:nvPr/>
        </p:nvPicPr>
        <p:blipFill>
          <a:blip r:embed="rId6"/>
          <a:stretch>
            <a:fillRect/>
          </a:stretch>
        </p:blipFill>
        <p:spPr>
          <a:xfrm>
            <a:off x="-7967880" y="-9144"/>
            <a:ext cx="4974336" cy="823874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265043" y="-198783"/>
            <a:ext cx="15107478" cy="3005991"/>
          </a:xfrm>
          <a:prstGeom prst="rect">
            <a:avLst/>
          </a:prstGeom>
          <a:ln>
            <a:noFill/>
          </a:ln>
          <a:effectLst>
            <a:softEdge rad="112500"/>
          </a:effectLst>
        </p:spPr>
      </p:pic>
      <p:sp>
        <p:nvSpPr>
          <p:cNvPr id="10" name="Text 3"/>
          <p:cNvSpPr/>
          <p:nvPr/>
        </p:nvSpPr>
        <p:spPr>
          <a:xfrm>
            <a:off x="832104" y="3456432"/>
            <a:ext cx="12984480" cy="740664"/>
          </a:xfrm>
          <a:prstGeom prst="rect">
            <a:avLst/>
          </a:prstGeom>
          <a:noFill/>
          <a:ln/>
        </p:spPr>
        <p:txBody>
          <a:bodyPr wrap="none" lIns="0" tIns="0" rIns="0" bIns="0" rtlCol="0" anchor="ctr"/>
          <a:lstStyle/>
          <a:p>
            <a:pPr marL="0" indent="0" algn="l">
              <a:lnSpc>
                <a:spcPts val="5800"/>
              </a:lnSpc>
              <a:buNone/>
            </a:pPr>
            <a:r>
              <a:rPr lang="en-US" sz="4640" dirty="0">
                <a:solidFill>
                  <a:srgbClr val="0C266F"/>
                </a:solidFill>
                <a:latin typeface="Berlin Sans FB Demi" panose="020E0802020502020306" pitchFamily="34" charset="0"/>
                <a:ea typeface="思源宋体-思源宋体-SemiBold" pitchFamily="34" charset="-122"/>
                <a:cs typeface="思源宋体-思源宋体-SemiBold" pitchFamily="34" charset="-120"/>
              </a:rPr>
              <a:t>Declaring Arrays of Objects</a:t>
            </a:r>
            <a:endParaRPr lang="en-US" sz="4640" dirty="0">
              <a:latin typeface="Berlin Sans FB Demi" panose="020E0802020502020306" pitchFamily="34" charset="0"/>
            </a:endParaRPr>
          </a:p>
        </p:txBody>
      </p:sp>
      <p:sp>
        <p:nvSpPr>
          <p:cNvPr id="17" name="Shape 1">
            <a:extLst>
              <a:ext uri="{FF2B5EF4-FFF2-40B4-BE49-F238E27FC236}">
                <a16:creationId xmlns:a16="http://schemas.microsoft.com/office/drawing/2014/main" id="{8A685A9B-3D6E-4E46-B463-25468065DCE7}"/>
              </a:ext>
            </a:extLst>
          </p:cNvPr>
          <p:cNvSpPr/>
          <p:nvPr/>
        </p:nvSpPr>
        <p:spPr>
          <a:xfrm>
            <a:off x="832104" y="4721226"/>
            <a:ext cx="510302" cy="510302"/>
          </a:xfrm>
          <a:prstGeom prst="roundRect">
            <a:avLst>
              <a:gd name="adj" fmla="val 18669"/>
            </a:avLst>
          </a:prstGeom>
          <a:solidFill>
            <a:srgbClr val="FFC000"/>
          </a:solidFill>
          <a:ln w="7620">
            <a:noFill/>
            <a:prstDash val="solid"/>
          </a:ln>
          <a:effectLst>
            <a:innerShdw blurRad="63500" dist="50800">
              <a:prstClr val="black">
                <a:alpha val="50000"/>
              </a:prstClr>
            </a:innerShdw>
          </a:effectLst>
        </p:spPr>
      </p:sp>
      <p:sp>
        <p:nvSpPr>
          <p:cNvPr id="18" name="Text 2">
            <a:extLst>
              <a:ext uri="{FF2B5EF4-FFF2-40B4-BE49-F238E27FC236}">
                <a16:creationId xmlns:a16="http://schemas.microsoft.com/office/drawing/2014/main" id="{72C671F6-3648-4E52-8098-10476EA954E6}"/>
              </a:ext>
            </a:extLst>
          </p:cNvPr>
          <p:cNvSpPr/>
          <p:nvPr/>
        </p:nvSpPr>
        <p:spPr>
          <a:xfrm>
            <a:off x="908661" y="4778449"/>
            <a:ext cx="357188" cy="446484"/>
          </a:xfrm>
          <a:prstGeom prst="rect">
            <a:avLst/>
          </a:prstGeom>
          <a:noFill/>
          <a:ln/>
          <a:effectLst>
            <a:innerShdw blurRad="63500" dist="50800" dir="18900000">
              <a:prstClr val="black">
                <a:alpha val="50000"/>
              </a:prstClr>
            </a:innerShdw>
          </a:effectLst>
        </p:spPr>
        <p:txBody>
          <a:bodyPr wrap="none" lIns="0" tIns="0" rIns="0" bIns="0" rtlCol="0" anchor="t"/>
          <a:lstStyle/>
          <a:p>
            <a:pPr marL="0" indent="0" algn="ctr">
              <a:lnSpc>
                <a:spcPts val="2800"/>
              </a:lnSpc>
              <a:buNone/>
            </a:pPr>
            <a:r>
              <a:rPr lang="en-US" sz="2800" b="1" dirty="0">
                <a:solidFill>
                  <a:srgbClr val="272525"/>
                </a:solidFill>
                <a:latin typeface="Petrona Bold" pitchFamily="34" charset="0"/>
                <a:ea typeface="Petrona Bold" pitchFamily="34" charset="-122"/>
                <a:cs typeface="Petrona Bold" pitchFamily="34" charset="-120"/>
              </a:rPr>
              <a:t>1</a:t>
            </a:r>
            <a:endParaRPr lang="en-US" sz="2800" dirty="0"/>
          </a:p>
        </p:txBody>
      </p:sp>
      <p:sp>
        <p:nvSpPr>
          <p:cNvPr id="19" name="Text 3">
            <a:extLst>
              <a:ext uri="{FF2B5EF4-FFF2-40B4-BE49-F238E27FC236}">
                <a16:creationId xmlns:a16="http://schemas.microsoft.com/office/drawing/2014/main" id="{0AC9D5C5-FC17-4EAC-84B4-6138E345C68A}"/>
              </a:ext>
            </a:extLst>
          </p:cNvPr>
          <p:cNvSpPr/>
          <p:nvPr/>
        </p:nvSpPr>
        <p:spPr>
          <a:xfrm>
            <a:off x="1569220" y="4799093"/>
            <a:ext cx="2899410"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Berlin Sans FB Demi" panose="020E0802020502020306" pitchFamily="34" charset="0"/>
                <a:ea typeface="Petrona Bold" pitchFamily="34" charset="-122"/>
                <a:cs typeface="Petrona Bold" pitchFamily="34" charset="-120"/>
              </a:rPr>
              <a:t>Syntax</a:t>
            </a:r>
            <a:endParaRPr lang="en-US" sz="2300" dirty="0">
              <a:latin typeface="Berlin Sans FB Demi" panose="020E0802020502020306" pitchFamily="34" charset="0"/>
            </a:endParaRPr>
          </a:p>
        </p:txBody>
      </p:sp>
      <p:sp>
        <p:nvSpPr>
          <p:cNvPr id="21" name="Shape 5">
            <a:extLst>
              <a:ext uri="{FF2B5EF4-FFF2-40B4-BE49-F238E27FC236}">
                <a16:creationId xmlns:a16="http://schemas.microsoft.com/office/drawing/2014/main" id="{6ED63128-33E1-45D4-B8E4-5357C4DE7A57}"/>
              </a:ext>
            </a:extLst>
          </p:cNvPr>
          <p:cNvSpPr/>
          <p:nvPr/>
        </p:nvSpPr>
        <p:spPr>
          <a:xfrm>
            <a:off x="1569220" y="5426314"/>
            <a:ext cx="2922032" cy="1320999"/>
          </a:xfrm>
          <a:prstGeom prst="roundRect">
            <a:avLst>
              <a:gd name="adj" fmla="val 15230"/>
            </a:avLst>
          </a:prstGeom>
          <a:solidFill>
            <a:srgbClr val="BDD4FA"/>
          </a:solidFill>
          <a:ln/>
          <a:effectLst>
            <a:outerShdw blurRad="50800" dist="38100" dir="8100000" algn="tr" rotWithShape="0">
              <a:prstClr val="black">
                <a:alpha val="40000"/>
              </a:prstClr>
            </a:outerShdw>
          </a:effectLst>
        </p:spPr>
      </p:sp>
      <p:sp>
        <p:nvSpPr>
          <p:cNvPr id="22" name="Text 6">
            <a:extLst>
              <a:ext uri="{FF2B5EF4-FFF2-40B4-BE49-F238E27FC236}">
                <a16:creationId xmlns:a16="http://schemas.microsoft.com/office/drawing/2014/main" id="{5A2DBE89-5D33-43CA-A85A-B5275BE6FE27}"/>
              </a:ext>
            </a:extLst>
          </p:cNvPr>
          <p:cNvSpPr/>
          <p:nvPr/>
        </p:nvSpPr>
        <p:spPr>
          <a:xfrm>
            <a:off x="1784723" y="5596336"/>
            <a:ext cx="2468404"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Consolas" pitchFamily="34" charset="0"/>
                <a:ea typeface="Consolas" pitchFamily="34" charset="-122"/>
                <a:cs typeface="Consolas" pitchFamily="34" charset="-120"/>
              </a:rPr>
              <a:t>ClassName objectArray[arraySize];</a:t>
            </a:r>
            <a:endParaRPr lang="en-US" sz="1750" dirty="0"/>
          </a:p>
        </p:txBody>
      </p:sp>
      <p:sp>
        <p:nvSpPr>
          <p:cNvPr id="23" name="Text 7">
            <a:extLst>
              <a:ext uri="{FF2B5EF4-FFF2-40B4-BE49-F238E27FC236}">
                <a16:creationId xmlns:a16="http://schemas.microsoft.com/office/drawing/2014/main" id="{D1364A3C-1F20-44C3-BF61-E450947C4EF9}"/>
              </a:ext>
            </a:extLst>
          </p:cNvPr>
          <p:cNvSpPr/>
          <p:nvPr/>
        </p:nvSpPr>
        <p:spPr>
          <a:xfrm>
            <a:off x="1569220" y="6747313"/>
            <a:ext cx="2899410"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Bodoni MT" panose="02070603080606020203" pitchFamily="18" charset="0"/>
                <a:ea typeface="Inter" pitchFamily="34" charset="-122"/>
                <a:cs typeface="Inter" pitchFamily="34" charset="-120"/>
              </a:rPr>
              <a:t> This is the basic structure.</a:t>
            </a:r>
            <a:endParaRPr lang="en-US" sz="1750" dirty="0">
              <a:latin typeface="Bodoni MT" panose="02070603080606020203" pitchFamily="18" charset="0"/>
            </a:endParaRPr>
          </a:p>
        </p:txBody>
      </p:sp>
      <p:sp>
        <p:nvSpPr>
          <p:cNvPr id="24" name="Shape 8">
            <a:extLst>
              <a:ext uri="{FF2B5EF4-FFF2-40B4-BE49-F238E27FC236}">
                <a16:creationId xmlns:a16="http://schemas.microsoft.com/office/drawing/2014/main" id="{29A35234-61CC-4318-ADC7-974DC4EF2D9A}"/>
              </a:ext>
            </a:extLst>
          </p:cNvPr>
          <p:cNvSpPr/>
          <p:nvPr/>
        </p:nvSpPr>
        <p:spPr>
          <a:xfrm>
            <a:off x="4752117" y="4721226"/>
            <a:ext cx="510302" cy="510302"/>
          </a:xfrm>
          <a:prstGeom prst="roundRect">
            <a:avLst>
              <a:gd name="adj" fmla="val 18669"/>
            </a:avLst>
          </a:prstGeom>
          <a:solidFill>
            <a:srgbClr val="FFC000"/>
          </a:solidFill>
          <a:ln w="7620">
            <a:noFill/>
            <a:prstDash val="solid"/>
          </a:ln>
          <a:effectLst>
            <a:innerShdw blurRad="63500" dist="50800">
              <a:prstClr val="black">
                <a:alpha val="50000"/>
              </a:prstClr>
            </a:innerShdw>
          </a:effectLst>
        </p:spPr>
      </p:sp>
      <p:sp>
        <p:nvSpPr>
          <p:cNvPr id="25" name="Text 9">
            <a:extLst>
              <a:ext uri="{FF2B5EF4-FFF2-40B4-BE49-F238E27FC236}">
                <a16:creationId xmlns:a16="http://schemas.microsoft.com/office/drawing/2014/main" id="{A38D9BDD-9988-407F-815F-315A9263426C}"/>
              </a:ext>
            </a:extLst>
          </p:cNvPr>
          <p:cNvSpPr/>
          <p:nvPr/>
        </p:nvSpPr>
        <p:spPr>
          <a:xfrm>
            <a:off x="4828675" y="4778449"/>
            <a:ext cx="357188" cy="446484"/>
          </a:xfrm>
          <a:prstGeom prst="rect">
            <a:avLst/>
          </a:prstGeom>
          <a:noFill/>
          <a:ln/>
        </p:spPr>
        <p:txBody>
          <a:bodyPr wrap="none" lIns="0" tIns="0" rIns="0" bIns="0" rtlCol="0" anchor="t"/>
          <a:lstStyle/>
          <a:p>
            <a:pPr marL="0" indent="0" algn="ctr">
              <a:lnSpc>
                <a:spcPts val="2800"/>
              </a:lnSpc>
              <a:buNone/>
            </a:pPr>
            <a:r>
              <a:rPr lang="en-US" sz="2800" b="1" dirty="0">
                <a:solidFill>
                  <a:srgbClr val="272525"/>
                </a:solidFill>
                <a:latin typeface="Petrona Bold" pitchFamily="34" charset="0"/>
                <a:ea typeface="Petrona Bold" pitchFamily="34" charset="-122"/>
                <a:cs typeface="Petrona Bold" pitchFamily="34" charset="-120"/>
              </a:rPr>
              <a:t>2</a:t>
            </a:r>
            <a:endParaRPr lang="en-US" sz="2800" dirty="0"/>
          </a:p>
        </p:txBody>
      </p:sp>
      <p:sp>
        <p:nvSpPr>
          <p:cNvPr id="26" name="Text 10">
            <a:extLst>
              <a:ext uri="{FF2B5EF4-FFF2-40B4-BE49-F238E27FC236}">
                <a16:creationId xmlns:a16="http://schemas.microsoft.com/office/drawing/2014/main" id="{2530F177-1449-419C-84B4-DD68C022962E}"/>
              </a:ext>
            </a:extLst>
          </p:cNvPr>
          <p:cNvSpPr/>
          <p:nvPr/>
        </p:nvSpPr>
        <p:spPr>
          <a:xfrm>
            <a:off x="5489233" y="4799093"/>
            <a:ext cx="2899410"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Berlin Sans FB Demi" panose="020E0802020502020306" pitchFamily="34" charset="0"/>
                <a:ea typeface="Petrona Bold" pitchFamily="34" charset="-122"/>
                <a:cs typeface="Petrona Bold" pitchFamily="34" charset="-120"/>
              </a:rPr>
              <a:t>Example</a:t>
            </a:r>
            <a:endParaRPr lang="en-US" sz="2300" dirty="0">
              <a:latin typeface="Berlin Sans FB Demi" panose="020E0802020502020306" pitchFamily="34" charset="0"/>
            </a:endParaRPr>
          </a:p>
        </p:txBody>
      </p:sp>
      <p:sp>
        <p:nvSpPr>
          <p:cNvPr id="28" name="Shape 12">
            <a:extLst>
              <a:ext uri="{FF2B5EF4-FFF2-40B4-BE49-F238E27FC236}">
                <a16:creationId xmlns:a16="http://schemas.microsoft.com/office/drawing/2014/main" id="{9EA83C85-AC45-42E9-A9AC-9977076527AD}"/>
              </a:ext>
            </a:extLst>
          </p:cNvPr>
          <p:cNvSpPr/>
          <p:nvPr/>
        </p:nvSpPr>
        <p:spPr>
          <a:xfrm>
            <a:off x="5477922" y="5426314"/>
            <a:ext cx="2922032" cy="702945"/>
          </a:xfrm>
          <a:prstGeom prst="roundRect">
            <a:avLst>
              <a:gd name="adj" fmla="val 25578"/>
            </a:avLst>
          </a:prstGeom>
          <a:solidFill>
            <a:srgbClr val="BDD4FA"/>
          </a:solidFill>
          <a:ln/>
          <a:effectLst>
            <a:outerShdw blurRad="50800" dist="38100" dir="8100000" algn="tr" rotWithShape="0">
              <a:prstClr val="black">
                <a:alpha val="40000"/>
              </a:prstClr>
            </a:outerShdw>
          </a:effectLst>
        </p:spPr>
      </p:sp>
      <p:sp>
        <p:nvSpPr>
          <p:cNvPr id="29" name="Text 13">
            <a:extLst>
              <a:ext uri="{FF2B5EF4-FFF2-40B4-BE49-F238E27FC236}">
                <a16:creationId xmlns:a16="http://schemas.microsoft.com/office/drawing/2014/main" id="{7F9476D3-9E60-4AA6-B70D-9D9D24DACDA7}"/>
              </a:ext>
            </a:extLst>
          </p:cNvPr>
          <p:cNvSpPr/>
          <p:nvPr/>
        </p:nvSpPr>
        <p:spPr>
          <a:xfrm>
            <a:off x="5704737" y="5596336"/>
            <a:ext cx="2468404"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Consolas" pitchFamily="34" charset="0"/>
                <a:ea typeface="Consolas" pitchFamily="34" charset="-122"/>
                <a:cs typeface="Consolas" pitchFamily="34" charset="-120"/>
              </a:rPr>
              <a:t>Car myCars[5];</a:t>
            </a:r>
            <a:endParaRPr lang="en-US" sz="1750" dirty="0"/>
          </a:p>
        </p:txBody>
      </p:sp>
      <p:sp>
        <p:nvSpPr>
          <p:cNvPr id="30" name="Text 14">
            <a:extLst>
              <a:ext uri="{FF2B5EF4-FFF2-40B4-BE49-F238E27FC236}">
                <a16:creationId xmlns:a16="http://schemas.microsoft.com/office/drawing/2014/main" id="{7F2D81CF-8EEA-459A-B5A1-09E457A31060}"/>
              </a:ext>
            </a:extLst>
          </p:cNvPr>
          <p:cNvSpPr/>
          <p:nvPr/>
        </p:nvSpPr>
        <p:spPr>
          <a:xfrm>
            <a:off x="5489233" y="6128840"/>
            <a:ext cx="2899410"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Bodoni MT" panose="02070603080606020203" pitchFamily="18" charset="0"/>
                <a:ea typeface="Inter" pitchFamily="34" charset="-122"/>
                <a:cs typeface="Inter" pitchFamily="34" charset="-120"/>
              </a:rPr>
              <a:t> Declares an array named </a:t>
            </a:r>
            <a:r>
              <a:rPr lang="en-US" sz="1750" b="1" dirty="0">
                <a:solidFill>
                  <a:srgbClr val="272525"/>
                </a:solidFill>
                <a:latin typeface="Bodoni MT" panose="02070603080606020203" pitchFamily="18" charset="0"/>
                <a:ea typeface="Inter" pitchFamily="34" charset="-122"/>
                <a:cs typeface="Inter" pitchFamily="34" charset="-120"/>
              </a:rPr>
              <a:t>myCars</a:t>
            </a:r>
            <a:r>
              <a:rPr lang="en-US" sz="1750" dirty="0">
                <a:solidFill>
                  <a:srgbClr val="272525"/>
                </a:solidFill>
                <a:latin typeface="Bodoni MT" panose="02070603080606020203" pitchFamily="18" charset="0"/>
                <a:ea typeface="Inter" pitchFamily="34" charset="-122"/>
                <a:cs typeface="Inter" pitchFamily="34" charset="-120"/>
              </a:rPr>
              <a:t> for 5 Car objects.</a:t>
            </a:r>
            <a:endParaRPr lang="en-US" sz="1750" dirty="0">
              <a:latin typeface="Bodoni MT" panose="02070603080606020203" pitchFamily="18" charset="0"/>
            </a:endParaRPr>
          </a:p>
        </p:txBody>
      </p:sp>
      <p:sp>
        <p:nvSpPr>
          <p:cNvPr id="31" name="Shape 15">
            <a:extLst>
              <a:ext uri="{FF2B5EF4-FFF2-40B4-BE49-F238E27FC236}">
                <a16:creationId xmlns:a16="http://schemas.microsoft.com/office/drawing/2014/main" id="{EBDB4EB1-3DBD-46A9-8A4C-DBD7CC4AD1F4}"/>
              </a:ext>
            </a:extLst>
          </p:cNvPr>
          <p:cNvSpPr/>
          <p:nvPr/>
        </p:nvSpPr>
        <p:spPr>
          <a:xfrm>
            <a:off x="8672130" y="4675268"/>
            <a:ext cx="510302" cy="510302"/>
          </a:xfrm>
          <a:prstGeom prst="roundRect">
            <a:avLst>
              <a:gd name="adj" fmla="val 18669"/>
            </a:avLst>
          </a:prstGeom>
          <a:solidFill>
            <a:srgbClr val="FFC000"/>
          </a:solidFill>
          <a:ln w="7620">
            <a:noFill/>
            <a:prstDash val="solid"/>
          </a:ln>
          <a:effectLst>
            <a:innerShdw blurRad="63500" dist="50800">
              <a:prstClr val="black">
                <a:alpha val="50000"/>
              </a:prstClr>
            </a:innerShdw>
          </a:effectLst>
        </p:spPr>
      </p:sp>
      <p:sp>
        <p:nvSpPr>
          <p:cNvPr id="32" name="Text 16">
            <a:extLst>
              <a:ext uri="{FF2B5EF4-FFF2-40B4-BE49-F238E27FC236}">
                <a16:creationId xmlns:a16="http://schemas.microsoft.com/office/drawing/2014/main" id="{96A25EB6-03CF-4246-86CB-82BE247E9FB3}"/>
              </a:ext>
            </a:extLst>
          </p:cNvPr>
          <p:cNvSpPr/>
          <p:nvPr/>
        </p:nvSpPr>
        <p:spPr>
          <a:xfrm>
            <a:off x="8748687" y="4753135"/>
            <a:ext cx="357188" cy="446484"/>
          </a:xfrm>
          <a:prstGeom prst="rect">
            <a:avLst/>
          </a:prstGeom>
          <a:noFill/>
          <a:ln/>
        </p:spPr>
        <p:txBody>
          <a:bodyPr wrap="none" lIns="0" tIns="0" rIns="0" bIns="0" rtlCol="0" anchor="t"/>
          <a:lstStyle/>
          <a:p>
            <a:pPr marL="0" indent="0" algn="ctr">
              <a:lnSpc>
                <a:spcPts val="2800"/>
              </a:lnSpc>
              <a:buNone/>
            </a:pPr>
            <a:r>
              <a:rPr lang="en-US" sz="2800" b="1" dirty="0">
                <a:solidFill>
                  <a:srgbClr val="272525"/>
                </a:solidFill>
                <a:latin typeface="Petrona Bold" pitchFamily="34" charset="0"/>
                <a:ea typeface="Petrona Bold" pitchFamily="34" charset="-122"/>
                <a:cs typeface="Petrona Bold" pitchFamily="34" charset="-120"/>
              </a:rPr>
              <a:t>3</a:t>
            </a:r>
            <a:endParaRPr lang="en-US" sz="2800" dirty="0"/>
          </a:p>
        </p:txBody>
      </p:sp>
      <p:sp>
        <p:nvSpPr>
          <p:cNvPr id="33" name="Text 17">
            <a:extLst>
              <a:ext uri="{FF2B5EF4-FFF2-40B4-BE49-F238E27FC236}">
                <a16:creationId xmlns:a16="http://schemas.microsoft.com/office/drawing/2014/main" id="{B6051AA3-7123-4D7C-9765-A68D5F02D2D0}"/>
              </a:ext>
            </a:extLst>
          </p:cNvPr>
          <p:cNvSpPr/>
          <p:nvPr/>
        </p:nvSpPr>
        <p:spPr>
          <a:xfrm>
            <a:off x="9409246" y="4753135"/>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Berlin Sans FB Demi" panose="020E0802020502020306" pitchFamily="34" charset="0"/>
                <a:ea typeface="Petrona Bold" pitchFamily="34" charset="-122"/>
                <a:cs typeface="Petrona Bold" pitchFamily="34" charset="-120"/>
              </a:rPr>
              <a:t>Note</a:t>
            </a:r>
            <a:endParaRPr lang="en-US" sz="2300" dirty="0">
              <a:latin typeface="Berlin Sans FB Demi" panose="020E0802020502020306" pitchFamily="34" charset="0"/>
            </a:endParaRPr>
          </a:p>
        </p:txBody>
      </p:sp>
      <p:sp>
        <p:nvSpPr>
          <p:cNvPr id="35" name="Shape 12">
            <a:extLst>
              <a:ext uri="{FF2B5EF4-FFF2-40B4-BE49-F238E27FC236}">
                <a16:creationId xmlns:a16="http://schemas.microsoft.com/office/drawing/2014/main" id="{6407B26E-F008-4CE6-8AE8-D9295EBA4669}"/>
              </a:ext>
            </a:extLst>
          </p:cNvPr>
          <p:cNvSpPr/>
          <p:nvPr/>
        </p:nvSpPr>
        <p:spPr>
          <a:xfrm>
            <a:off x="9409246" y="5426314"/>
            <a:ext cx="2922032" cy="958096"/>
          </a:xfrm>
          <a:prstGeom prst="roundRect">
            <a:avLst>
              <a:gd name="adj" fmla="val 16675"/>
            </a:avLst>
          </a:prstGeom>
          <a:solidFill>
            <a:srgbClr val="BDD4FA"/>
          </a:solidFill>
          <a:ln/>
          <a:effectLst>
            <a:outerShdw blurRad="50800" dist="38100" dir="8100000" algn="tr" rotWithShape="0">
              <a:prstClr val="black">
                <a:alpha val="40000"/>
              </a:prstClr>
            </a:outerShdw>
          </a:effectLst>
        </p:spPr>
        <p:txBody>
          <a:bodyPr/>
          <a:lstStyle/>
          <a:p>
            <a:r>
              <a:rPr lang="en-US" dirty="0">
                <a:solidFill>
                  <a:srgbClr val="272525"/>
                </a:solidFill>
                <a:latin typeface="Inter" pitchFamily="34" charset="0"/>
                <a:ea typeface="Inter" pitchFamily="34" charset="-122"/>
                <a:cs typeface="Inter" pitchFamily="34" charset="-120"/>
              </a:rPr>
              <a:t>The default constructor is automatically called for every object in the array.</a:t>
            </a:r>
            <a:endParaRPr lang="en-US" dirty="0"/>
          </a:p>
          <a:p>
            <a:endParaRPr lang="en-US" dirty="0"/>
          </a:p>
        </p:txBody>
      </p:sp>
      <p:pic>
        <p:nvPicPr>
          <p:cNvPr id="39" name="Image 1" descr="preencoded.png">
            <a:extLst>
              <a:ext uri="{FF2B5EF4-FFF2-40B4-BE49-F238E27FC236}">
                <a16:creationId xmlns:a16="http://schemas.microsoft.com/office/drawing/2014/main" id="{BC8758EF-A4FE-49F7-90B8-C8125BE06F0D}"/>
              </a:ext>
            </a:extLst>
          </p:cNvPr>
          <p:cNvPicPr>
            <a:picLocks noChangeAspect="1"/>
          </p:cNvPicPr>
          <p:nvPr/>
        </p:nvPicPr>
        <p:blipFill>
          <a:blip r:embed="rId5"/>
          <a:stretch>
            <a:fillRect/>
          </a:stretch>
        </p:blipFill>
        <p:spPr>
          <a:xfrm>
            <a:off x="16439028" y="0"/>
            <a:ext cx="4974336" cy="823874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4974336" cy="8238744"/>
          </a:xfrm>
          <a:prstGeom prst="rect">
            <a:avLst/>
          </a:prstGeom>
        </p:spPr>
      </p:pic>
      <p:sp>
        <p:nvSpPr>
          <p:cNvPr id="13" name="Text 6"/>
          <p:cNvSpPr/>
          <p:nvPr/>
        </p:nvSpPr>
        <p:spPr>
          <a:xfrm>
            <a:off x="5975652" y="231250"/>
            <a:ext cx="8010144" cy="1481328"/>
          </a:xfrm>
          <a:prstGeom prst="rect">
            <a:avLst/>
          </a:prstGeom>
          <a:noFill/>
          <a:ln/>
        </p:spPr>
        <p:txBody>
          <a:bodyPr wrap="square" lIns="0" tIns="0" rIns="0" bIns="0" rtlCol="0" anchor="ctr"/>
          <a:lstStyle/>
          <a:p>
            <a:pPr marL="0" indent="0" algn="l">
              <a:lnSpc>
                <a:spcPts val="5800"/>
              </a:lnSpc>
              <a:buNone/>
            </a:pPr>
            <a:r>
              <a:rPr lang="en-US" sz="4640" dirty="0">
                <a:solidFill>
                  <a:srgbClr val="0C266F"/>
                </a:solidFill>
                <a:latin typeface="Berlin Sans FB Demi" panose="020E0802020502020306" pitchFamily="34" charset="0"/>
                <a:ea typeface="思源宋体-思源宋体-SemiBold" pitchFamily="34" charset="-122"/>
                <a:cs typeface="思源宋体-思源宋体-SemiBold" pitchFamily="34" charset="-120"/>
              </a:rPr>
              <a:t>Creating Arrays of Objects</a:t>
            </a:r>
            <a:endParaRPr lang="en-US" sz="4640" dirty="0">
              <a:latin typeface="Berlin Sans FB Demi" panose="020E0802020502020306" pitchFamily="34" charset="0"/>
            </a:endParaRPr>
          </a:p>
        </p:txBody>
      </p:sp>
      <p:sp>
        <p:nvSpPr>
          <p:cNvPr id="14" name="Shape 1">
            <a:extLst>
              <a:ext uri="{FF2B5EF4-FFF2-40B4-BE49-F238E27FC236}">
                <a16:creationId xmlns:a16="http://schemas.microsoft.com/office/drawing/2014/main" id="{67081F99-3A3A-468E-B239-529EAE9FD27F}"/>
              </a:ext>
            </a:extLst>
          </p:cNvPr>
          <p:cNvSpPr/>
          <p:nvPr/>
        </p:nvSpPr>
        <p:spPr>
          <a:xfrm>
            <a:off x="5947243" y="1558916"/>
            <a:ext cx="7710249" cy="4385548"/>
          </a:xfrm>
          <a:prstGeom prst="roundRect">
            <a:avLst>
              <a:gd name="adj" fmla="val 7099"/>
            </a:avLst>
          </a:prstGeom>
          <a:solidFill>
            <a:srgbClr val="BDD4FA"/>
          </a:solidFill>
          <a:ln w="7620">
            <a:solidFill>
              <a:srgbClr val="B2D4E5"/>
            </a:solidFill>
            <a:prstDash val="solid"/>
          </a:ln>
          <a:effectLst>
            <a:outerShdw blurRad="50800" dist="38100" dir="8100000" algn="tr" rotWithShape="0">
              <a:prstClr val="black">
                <a:alpha val="40000"/>
              </a:prstClr>
            </a:outerShdw>
          </a:effectLst>
        </p:spPr>
      </p:sp>
      <p:sp>
        <p:nvSpPr>
          <p:cNvPr id="15" name="Text 2">
            <a:extLst>
              <a:ext uri="{FF2B5EF4-FFF2-40B4-BE49-F238E27FC236}">
                <a16:creationId xmlns:a16="http://schemas.microsoft.com/office/drawing/2014/main" id="{1D28D839-C9F7-4C80-B5CB-A0D2EAE01B6A}"/>
              </a:ext>
            </a:extLst>
          </p:cNvPr>
          <p:cNvSpPr/>
          <p:nvPr/>
        </p:nvSpPr>
        <p:spPr>
          <a:xfrm>
            <a:off x="6159651" y="1771323"/>
            <a:ext cx="2688312" cy="335994"/>
          </a:xfrm>
          <a:prstGeom prst="rect">
            <a:avLst/>
          </a:prstGeom>
          <a:noFill/>
          <a:ln/>
        </p:spPr>
        <p:txBody>
          <a:bodyPr wrap="none" lIns="0" tIns="0" rIns="0" bIns="0" rtlCol="0" anchor="t"/>
          <a:lstStyle/>
          <a:p>
            <a:pPr marL="0" indent="0" algn="l">
              <a:lnSpc>
                <a:spcPts val="2600"/>
              </a:lnSpc>
              <a:buNone/>
            </a:pPr>
            <a:r>
              <a:rPr lang="en-US" sz="2100" b="1" dirty="0">
                <a:solidFill>
                  <a:srgbClr val="272525"/>
                </a:solidFill>
                <a:latin typeface="Berlin Sans FB Demi" panose="020E0802020502020306" pitchFamily="34" charset="0"/>
                <a:ea typeface="Petrona Bold" pitchFamily="34" charset="-122"/>
                <a:cs typeface="Petrona Bold" pitchFamily="34" charset="-120"/>
              </a:rPr>
              <a:t>Implicit Creation</a:t>
            </a:r>
            <a:endParaRPr lang="en-US" sz="2100" dirty="0">
              <a:latin typeface="Berlin Sans FB Demi" panose="020E0802020502020306" pitchFamily="34" charset="0"/>
            </a:endParaRPr>
          </a:p>
        </p:txBody>
      </p:sp>
      <p:sp>
        <p:nvSpPr>
          <p:cNvPr id="16" name="Text 3">
            <a:extLst>
              <a:ext uri="{FF2B5EF4-FFF2-40B4-BE49-F238E27FC236}">
                <a16:creationId xmlns:a16="http://schemas.microsoft.com/office/drawing/2014/main" id="{3D03F88F-94DE-42CC-A9D9-016C4CC28B88}"/>
              </a:ext>
            </a:extLst>
          </p:cNvPr>
          <p:cNvSpPr/>
          <p:nvPr/>
        </p:nvSpPr>
        <p:spPr>
          <a:xfrm>
            <a:off x="6159651" y="2230190"/>
            <a:ext cx="7285434" cy="655320"/>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Bodoni MT" panose="02070603080606020203" pitchFamily="18" charset="0"/>
                <a:ea typeface="Inter" pitchFamily="34" charset="-122"/>
                <a:cs typeface="Inter" pitchFamily="34" charset="-120"/>
              </a:rPr>
              <a:t>If a default constructor exists, objects are created automatically. For example,</a:t>
            </a:r>
            <a:endParaRPr lang="en-US" sz="1600" dirty="0">
              <a:latin typeface="Bodoni MT" panose="02070603080606020203" pitchFamily="18" charset="0"/>
            </a:endParaRPr>
          </a:p>
        </p:txBody>
      </p:sp>
      <p:sp>
        <p:nvSpPr>
          <p:cNvPr id="19" name="Text 6">
            <a:extLst>
              <a:ext uri="{FF2B5EF4-FFF2-40B4-BE49-F238E27FC236}">
                <a16:creationId xmlns:a16="http://schemas.microsoft.com/office/drawing/2014/main" id="{D061B38C-94F2-4B09-B736-316D35C463EA}"/>
              </a:ext>
            </a:extLst>
          </p:cNvPr>
          <p:cNvSpPr/>
          <p:nvPr/>
        </p:nvSpPr>
        <p:spPr>
          <a:xfrm>
            <a:off x="6354199" y="3269487"/>
            <a:ext cx="6896338" cy="327660"/>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Consolas" pitchFamily="34" charset="0"/>
                <a:ea typeface="Consolas" pitchFamily="34" charset="-122"/>
                <a:cs typeface="Consolas" pitchFamily="34" charset="-120"/>
              </a:rPr>
              <a:t>Car myCars[3];</a:t>
            </a:r>
            <a:endParaRPr lang="en-US" sz="1600" dirty="0"/>
          </a:p>
        </p:txBody>
      </p:sp>
      <p:sp>
        <p:nvSpPr>
          <p:cNvPr id="20" name="Text 7">
            <a:extLst>
              <a:ext uri="{FF2B5EF4-FFF2-40B4-BE49-F238E27FC236}">
                <a16:creationId xmlns:a16="http://schemas.microsoft.com/office/drawing/2014/main" id="{0B2B7100-1680-410B-B441-BF7430CFFEE6}"/>
              </a:ext>
            </a:extLst>
          </p:cNvPr>
          <p:cNvSpPr/>
          <p:nvPr/>
        </p:nvSpPr>
        <p:spPr>
          <a:xfrm>
            <a:off x="6159651" y="3981123"/>
            <a:ext cx="7285434" cy="327660"/>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Bodoni MT" panose="02070603080606020203" pitchFamily="18" charset="0"/>
                <a:ea typeface="Inter" pitchFamily="34" charset="-122"/>
                <a:cs typeface="Inter" pitchFamily="34" charset="-120"/>
              </a:rPr>
              <a:t> calls </a:t>
            </a:r>
            <a:endParaRPr lang="en-US" sz="1600" dirty="0">
              <a:latin typeface="Bodoni MT" panose="02070603080606020203" pitchFamily="18" charset="0"/>
            </a:endParaRPr>
          </a:p>
        </p:txBody>
      </p:sp>
      <p:sp>
        <p:nvSpPr>
          <p:cNvPr id="23" name="Text 10">
            <a:extLst>
              <a:ext uri="{FF2B5EF4-FFF2-40B4-BE49-F238E27FC236}">
                <a16:creationId xmlns:a16="http://schemas.microsoft.com/office/drawing/2014/main" id="{41182412-A344-484F-AE95-B250E74B9EDB}"/>
              </a:ext>
            </a:extLst>
          </p:cNvPr>
          <p:cNvSpPr/>
          <p:nvPr/>
        </p:nvSpPr>
        <p:spPr>
          <a:xfrm>
            <a:off x="6354199" y="4692760"/>
            <a:ext cx="6896338" cy="327660"/>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Consolas" pitchFamily="34" charset="0"/>
                <a:ea typeface="Consolas" pitchFamily="34" charset="-122"/>
                <a:cs typeface="Consolas" pitchFamily="34" charset="-120"/>
              </a:rPr>
              <a:t>Car::Car()</a:t>
            </a:r>
            <a:endParaRPr lang="en-US" sz="1600" dirty="0"/>
          </a:p>
        </p:txBody>
      </p:sp>
      <p:sp>
        <p:nvSpPr>
          <p:cNvPr id="24" name="Text 11">
            <a:extLst>
              <a:ext uri="{FF2B5EF4-FFF2-40B4-BE49-F238E27FC236}">
                <a16:creationId xmlns:a16="http://schemas.microsoft.com/office/drawing/2014/main" id="{847828BF-B81A-48C2-87FC-1476E1FD82D0}"/>
              </a:ext>
            </a:extLst>
          </p:cNvPr>
          <p:cNvSpPr/>
          <p:nvPr/>
        </p:nvSpPr>
        <p:spPr>
          <a:xfrm>
            <a:off x="6159651" y="5404396"/>
            <a:ext cx="7285434" cy="327660"/>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Bodoni MT" panose="02070603080606020203" pitchFamily="18" charset="0"/>
                <a:ea typeface="Inter" pitchFamily="34" charset="-122"/>
                <a:cs typeface="Inter" pitchFamily="34" charset="-120"/>
              </a:rPr>
              <a:t> three times.</a:t>
            </a:r>
            <a:endParaRPr lang="en-US" sz="1600" dirty="0">
              <a:latin typeface="Bodoni MT" panose="02070603080606020203" pitchFamily="18" charset="0"/>
            </a:endParaRPr>
          </a:p>
        </p:txBody>
      </p:sp>
      <p:sp>
        <p:nvSpPr>
          <p:cNvPr id="25" name="Shape 12">
            <a:extLst>
              <a:ext uri="{FF2B5EF4-FFF2-40B4-BE49-F238E27FC236}">
                <a16:creationId xmlns:a16="http://schemas.microsoft.com/office/drawing/2014/main" id="{002142C8-6BA6-4B9F-A915-2C2CAF8C62BC}"/>
              </a:ext>
            </a:extLst>
          </p:cNvPr>
          <p:cNvSpPr/>
          <p:nvPr/>
        </p:nvSpPr>
        <p:spPr>
          <a:xfrm>
            <a:off x="5947243" y="6149251"/>
            <a:ext cx="7710249" cy="1539002"/>
          </a:xfrm>
          <a:prstGeom prst="roundRect">
            <a:avLst>
              <a:gd name="adj" fmla="val 21951"/>
            </a:avLst>
          </a:prstGeom>
          <a:solidFill>
            <a:srgbClr val="BDD4FA"/>
          </a:solidFill>
          <a:ln w="7620">
            <a:solidFill>
              <a:srgbClr val="B2D4E5"/>
            </a:solidFill>
            <a:prstDash val="solid"/>
          </a:ln>
          <a:effectLst>
            <a:outerShdw blurRad="50800" dist="38100" dir="8100000" algn="tr" rotWithShape="0">
              <a:prstClr val="black">
                <a:alpha val="40000"/>
              </a:prstClr>
            </a:outerShdw>
          </a:effectLst>
        </p:spPr>
      </p:sp>
      <p:sp>
        <p:nvSpPr>
          <p:cNvPr id="26" name="Text 13">
            <a:extLst>
              <a:ext uri="{FF2B5EF4-FFF2-40B4-BE49-F238E27FC236}">
                <a16:creationId xmlns:a16="http://schemas.microsoft.com/office/drawing/2014/main" id="{B1DE7092-607E-40DA-8A1F-D2F8E2D758BC}"/>
              </a:ext>
            </a:extLst>
          </p:cNvPr>
          <p:cNvSpPr/>
          <p:nvPr/>
        </p:nvSpPr>
        <p:spPr>
          <a:xfrm>
            <a:off x="6159651" y="6361659"/>
            <a:ext cx="2688312" cy="335994"/>
          </a:xfrm>
          <a:prstGeom prst="rect">
            <a:avLst/>
          </a:prstGeom>
          <a:noFill/>
          <a:ln/>
        </p:spPr>
        <p:txBody>
          <a:bodyPr wrap="none" lIns="0" tIns="0" rIns="0" bIns="0" rtlCol="0" anchor="t"/>
          <a:lstStyle/>
          <a:p>
            <a:pPr marL="0" indent="0" algn="l">
              <a:lnSpc>
                <a:spcPts val="2600"/>
              </a:lnSpc>
              <a:buNone/>
            </a:pPr>
            <a:r>
              <a:rPr lang="en-US" sz="2100" b="1" dirty="0">
                <a:solidFill>
                  <a:srgbClr val="272525"/>
                </a:solidFill>
                <a:latin typeface="Berlin Sans FB Demi" panose="020E0802020502020306" pitchFamily="34" charset="0"/>
                <a:ea typeface="Petrona Bold" pitchFamily="34" charset="-122"/>
                <a:cs typeface="Petrona Bold" pitchFamily="34" charset="-120"/>
              </a:rPr>
              <a:t>Explicit Creation</a:t>
            </a:r>
            <a:endParaRPr lang="en-US" sz="2100" dirty="0">
              <a:latin typeface="Berlin Sans FB Demi" panose="020E0802020502020306" pitchFamily="34" charset="0"/>
            </a:endParaRPr>
          </a:p>
        </p:txBody>
      </p:sp>
      <p:sp>
        <p:nvSpPr>
          <p:cNvPr id="27" name="Text 14">
            <a:extLst>
              <a:ext uri="{FF2B5EF4-FFF2-40B4-BE49-F238E27FC236}">
                <a16:creationId xmlns:a16="http://schemas.microsoft.com/office/drawing/2014/main" id="{37156AE6-FA49-4DEF-B5DB-9146773C19BC}"/>
              </a:ext>
            </a:extLst>
          </p:cNvPr>
          <p:cNvSpPr/>
          <p:nvPr/>
        </p:nvSpPr>
        <p:spPr>
          <a:xfrm>
            <a:off x="6159651" y="6820526"/>
            <a:ext cx="7285434" cy="655320"/>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Bodoni MT" panose="02070603080606020203" pitchFamily="18" charset="0"/>
                <a:ea typeface="Inter" pitchFamily="34" charset="-122"/>
                <a:cs typeface="Inter" pitchFamily="34" charset="-120"/>
              </a:rPr>
              <a:t>For parameterized constructors, more advanced techniques are needed. This allows custom initialization for each object.</a:t>
            </a:r>
            <a:endParaRPr lang="en-US" sz="1600" dirty="0">
              <a:latin typeface="Bodoni MT" panose="02070603080606020203" pitchFamily="18" charset="0"/>
            </a:endParaRPr>
          </a:p>
        </p:txBody>
      </p:sp>
      <p:sp>
        <p:nvSpPr>
          <p:cNvPr id="28" name="Text 6">
            <a:extLst>
              <a:ext uri="{FF2B5EF4-FFF2-40B4-BE49-F238E27FC236}">
                <a16:creationId xmlns:a16="http://schemas.microsoft.com/office/drawing/2014/main" id="{B6B2095A-01E6-4609-9CD6-6F94A922700C}"/>
              </a:ext>
            </a:extLst>
          </p:cNvPr>
          <p:cNvSpPr/>
          <p:nvPr/>
        </p:nvSpPr>
        <p:spPr>
          <a:xfrm>
            <a:off x="5975652" y="8771972"/>
            <a:ext cx="8010144" cy="1481328"/>
          </a:xfrm>
          <a:prstGeom prst="rect">
            <a:avLst/>
          </a:prstGeom>
          <a:noFill/>
          <a:ln/>
        </p:spPr>
        <p:txBody>
          <a:bodyPr wrap="square" lIns="0" tIns="0" rIns="0" bIns="0" rtlCol="0" anchor="ctr"/>
          <a:lstStyle/>
          <a:p>
            <a:pPr>
              <a:lnSpc>
                <a:spcPts val="5800"/>
              </a:lnSpc>
            </a:pPr>
            <a:r>
              <a:rPr lang="en-US" sz="4640" dirty="0">
                <a:solidFill>
                  <a:srgbClr val="0C266F"/>
                </a:solidFill>
                <a:latin typeface="思源宋体-思源宋体-SemiBold" pitchFamily="34" charset="0"/>
                <a:ea typeface="思源宋体-思源宋体-SemiBold" pitchFamily="34" charset="-122"/>
                <a:cs typeface="思源宋体-思源宋体-SemiBold" pitchFamily="34" charset="-120"/>
              </a:rPr>
              <a:t>Initializing Arrays with Constructors</a:t>
            </a:r>
          </a:p>
        </p:txBody>
      </p:sp>
      <p:pic>
        <p:nvPicPr>
          <p:cNvPr id="29" name="Image 1" descr="preencoded.png">
            <a:extLst>
              <a:ext uri="{FF2B5EF4-FFF2-40B4-BE49-F238E27FC236}">
                <a16:creationId xmlns:a16="http://schemas.microsoft.com/office/drawing/2014/main" id="{325DBFB7-B5C6-4052-9214-DDE7CA1250B6}"/>
              </a:ext>
            </a:extLst>
          </p:cNvPr>
          <p:cNvPicPr>
            <a:picLocks noChangeAspect="1"/>
          </p:cNvPicPr>
          <p:nvPr/>
        </p:nvPicPr>
        <p:blipFill>
          <a:blip r:embed="rId5"/>
          <a:stretch>
            <a:fillRect/>
          </a:stretch>
        </p:blipFill>
        <p:spPr>
          <a:xfrm>
            <a:off x="5975652" y="10348859"/>
            <a:ext cx="566976" cy="566976"/>
          </a:xfrm>
          <a:prstGeom prst="rect">
            <a:avLst/>
          </a:prstGeom>
        </p:spPr>
      </p:pic>
      <p:sp>
        <p:nvSpPr>
          <p:cNvPr id="30" name="Text 1">
            <a:extLst>
              <a:ext uri="{FF2B5EF4-FFF2-40B4-BE49-F238E27FC236}">
                <a16:creationId xmlns:a16="http://schemas.microsoft.com/office/drawing/2014/main" id="{50633083-649E-4FA8-B2DC-823DEF25B63D}"/>
              </a:ext>
            </a:extLst>
          </p:cNvPr>
          <p:cNvSpPr/>
          <p:nvPr/>
        </p:nvSpPr>
        <p:spPr>
          <a:xfrm>
            <a:off x="6769441" y="10443871"/>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Loop and Assign</a:t>
            </a:r>
            <a:endParaRPr lang="en-US" sz="2300" dirty="0"/>
          </a:p>
        </p:txBody>
      </p:sp>
      <p:sp>
        <p:nvSpPr>
          <p:cNvPr id="31" name="Text 2">
            <a:extLst>
              <a:ext uri="{FF2B5EF4-FFF2-40B4-BE49-F238E27FC236}">
                <a16:creationId xmlns:a16="http://schemas.microsoft.com/office/drawing/2014/main" id="{E529E39E-E4D7-4A42-B945-6ED069464BD0}"/>
              </a:ext>
            </a:extLst>
          </p:cNvPr>
          <p:cNvSpPr/>
          <p:nvPr/>
        </p:nvSpPr>
        <p:spPr>
          <a:xfrm>
            <a:off x="6769441" y="10952029"/>
            <a:ext cx="5585817"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Iterate through the array, constructing and assigning each object individually.</a:t>
            </a:r>
            <a:endParaRPr lang="en-US" sz="1750" dirty="0"/>
          </a:p>
        </p:txBody>
      </p:sp>
      <p:sp>
        <p:nvSpPr>
          <p:cNvPr id="32" name="Shape 4">
            <a:extLst>
              <a:ext uri="{FF2B5EF4-FFF2-40B4-BE49-F238E27FC236}">
                <a16:creationId xmlns:a16="http://schemas.microsoft.com/office/drawing/2014/main" id="{DF85CD70-7C8A-4B03-B84D-F646D719EEC0}"/>
              </a:ext>
            </a:extLst>
          </p:cNvPr>
          <p:cNvSpPr/>
          <p:nvPr/>
        </p:nvSpPr>
        <p:spPr>
          <a:xfrm>
            <a:off x="6758130" y="12004403"/>
            <a:ext cx="6575497" cy="1065848"/>
          </a:xfrm>
          <a:prstGeom prst="roundRect">
            <a:avLst>
              <a:gd name="adj" fmla="val 21842"/>
            </a:avLst>
          </a:prstGeom>
          <a:solidFill>
            <a:srgbClr val="CCEEFF"/>
          </a:solidFill>
          <a:ln/>
          <a:effectLst>
            <a:outerShdw blurRad="50800" dist="38100" dir="8100000" algn="tr" rotWithShape="0">
              <a:prstClr val="black">
                <a:alpha val="40000"/>
              </a:prstClr>
            </a:outerShdw>
          </a:effectLst>
        </p:spPr>
      </p:sp>
      <p:sp>
        <p:nvSpPr>
          <p:cNvPr id="33" name="Text 5">
            <a:extLst>
              <a:ext uri="{FF2B5EF4-FFF2-40B4-BE49-F238E27FC236}">
                <a16:creationId xmlns:a16="http://schemas.microsoft.com/office/drawing/2014/main" id="{8FE2D0EE-F91F-44E1-9284-E160517E9B93}"/>
              </a:ext>
            </a:extLst>
          </p:cNvPr>
          <p:cNvSpPr/>
          <p:nvPr/>
        </p:nvSpPr>
        <p:spPr>
          <a:xfrm>
            <a:off x="6984945" y="12103006"/>
            <a:ext cx="6200968"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highlight>
                  <a:srgbClr val="CCEEFF"/>
                </a:highlight>
                <a:latin typeface="Consolas" pitchFamily="34" charset="0"/>
                <a:ea typeface="Consolas" pitchFamily="34" charset="-122"/>
                <a:cs typeface="Consolas" pitchFamily="34" charset="-120"/>
              </a:rPr>
              <a:t>for (int i=0; i&lt;3; ++i) { myCars[</a:t>
            </a:r>
            <a:r>
              <a:rPr lang="en-US" sz="1750" dirty="0" err="1">
                <a:solidFill>
                  <a:srgbClr val="272525"/>
                </a:solidFill>
                <a:highlight>
                  <a:srgbClr val="CCEEFF"/>
                </a:highlight>
                <a:latin typeface="Consolas" pitchFamily="34" charset="0"/>
                <a:ea typeface="Consolas" pitchFamily="34" charset="-122"/>
                <a:cs typeface="Consolas" pitchFamily="34" charset="-120"/>
              </a:rPr>
              <a:t>i</a:t>
            </a:r>
            <a:r>
              <a:rPr lang="en-US" sz="1750" dirty="0">
                <a:solidFill>
                  <a:srgbClr val="272525"/>
                </a:solidFill>
                <a:highlight>
                  <a:srgbClr val="CCEEFF"/>
                </a:highlight>
                <a:latin typeface="Consolas" pitchFamily="34" charset="0"/>
                <a:ea typeface="Consolas" pitchFamily="34" charset="-122"/>
                <a:cs typeface="Consolas" pitchFamily="34" charset="-120"/>
              </a:rPr>
              <a:t>] Car(color[i], speed[i]); }</a:t>
            </a:r>
            <a:endParaRPr lang="en-US" sz="1750" dirty="0"/>
          </a:p>
        </p:txBody>
      </p:sp>
      <p:pic>
        <p:nvPicPr>
          <p:cNvPr id="34" name="Image 2" descr="preencoded.png">
            <a:extLst>
              <a:ext uri="{FF2B5EF4-FFF2-40B4-BE49-F238E27FC236}">
                <a16:creationId xmlns:a16="http://schemas.microsoft.com/office/drawing/2014/main" id="{4192C898-6301-467C-9499-3D07FB3468B5}"/>
              </a:ext>
            </a:extLst>
          </p:cNvPr>
          <p:cNvPicPr>
            <a:picLocks noChangeAspect="1"/>
          </p:cNvPicPr>
          <p:nvPr/>
        </p:nvPicPr>
        <p:blipFill>
          <a:blip r:embed="rId6"/>
          <a:stretch>
            <a:fillRect/>
          </a:stretch>
        </p:blipFill>
        <p:spPr>
          <a:xfrm>
            <a:off x="5975652" y="13444968"/>
            <a:ext cx="566976" cy="566976"/>
          </a:xfrm>
          <a:prstGeom prst="rect">
            <a:avLst/>
          </a:prstGeom>
        </p:spPr>
      </p:pic>
      <p:sp>
        <p:nvSpPr>
          <p:cNvPr id="35" name="Text 6">
            <a:extLst>
              <a:ext uri="{FF2B5EF4-FFF2-40B4-BE49-F238E27FC236}">
                <a16:creationId xmlns:a16="http://schemas.microsoft.com/office/drawing/2014/main" id="{F8FD52A2-0A79-4BE0-A6B3-407B77370DE9}"/>
              </a:ext>
            </a:extLst>
          </p:cNvPr>
          <p:cNvSpPr/>
          <p:nvPr/>
        </p:nvSpPr>
        <p:spPr>
          <a:xfrm>
            <a:off x="6769442" y="13539980"/>
            <a:ext cx="3899535" cy="372070"/>
          </a:xfrm>
          <a:prstGeom prst="rect">
            <a:avLst/>
          </a:prstGeom>
          <a:noFill/>
          <a:ln/>
        </p:spPr>
        <p:txBody>
          <a:bodyPr wrap="none" lIns="0" tIns="0" rIns="0" bIns="0" rtlCol="0" anchor="t"/>
          <a:lstStyle/>
          <a:p>
            <a:pPr>
              <a:lnSpc>
                <a:spcPts val="2900"/>
              </a:lnSpc>
            </a:pPr>
            <a:r>
              <a:rPr lang="en-US" sz="2300" b="1" dirty="0">
                <a:solidFill>
                  <a:srgbClr val="272525"/>
                </a:solidFill>
                <a:latin typeface="Petrona Bold" pitchFamily="34" charset="0"/>
                <a:ea typeface="Petrona Bold" pitchFamily="34" charset="-122"/>
                <a:cs typeface="Petrona Bold" pitchFamily="34" charset="-120"/>
              </a:rPr>
              <a:t>Uniform Initialization(C++11)</a:t>
            </a:r>
            <a:endParaRPr lang="en-US" sz="2300" dirty="0"/>
          </a:p>
        </p:txBody>
      </p:sp>
      <p:sp>
        <p:nvSpPr>
          <p:cNvPr id="36" name="Text 7">
            <a:extLst>
              <a:ext uri="{FF2B5EF4-FFF2-40B4-BE49-F238E27FC236}">
                <a16:creationId xmlns:a16="http://schemas.microsoft.com/office/drawing/2014/main" id="{30A4FA30-590E-4A9C-AF04-E9B590EB09B7}"/>
              </a:ext>
            </a:extLst>
          </p:cNvPr>
          <p:cNvSpPr/>
          <p:nvPr/>
        </p:nvSpPr>
        <p:spPr>
          <a:xfrm>
            <a:off x="6769442" y="14048138"/>
            <a:ext cx="558593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A more concise way to initialize arrays with specific constructor calls.</a:t>
            </a:r>
            <a:endParaRPr lang="en-US" sz="1750" dirty="0"/>
          </a:p>
        </p:txBody>
      </p:sp>
      <p:sp>
        <p:nvSpPr>
          <p:cNvPr id="37" name="Shape 8">
            <a:extLst>
              <a:ext uri="{FF2B5EF4-FFF2-40B4-BE49-F238E27FC236}">
                <a16:creationId xmlns:a16="http://schemas.microsoft.com/office/drawing/2014/main" id="{69547CD7-652A-4163-92E1-487EB6B6B7B3}"/>
              </a:ext>
            </a:extLst>
          </p:cNvPr>
          <p:cNvSpPr/>
          <p:nvPr/>
        </p:nvSpPr>
        <p:spPr>
          <a:xfrm>
            <a:off x="6769441" y="15029094"/>
            <a:ext cx="6575497" cy="702945"/>
          </a:xfrm>
          <a:prstGeom prst="roundRect">
            <a:avLst>
              <a:gd name="adj" fmla="val 32405"/>
            </a:avLst>
          </a:prstGeom>
          <a:solidFill>
            <a:srgbClr val="CCEEFF"/>
          </a:solidFill>
          <a:ln/>
          <a:effectLst>
            <a:outerShdw blurRad="50800" dist="38100" dir="8100000" algn="tr" rotWithShape="0">
              <a:prstClr val="black">
                <a:alpha val="40000"/>
              </a:prstClr>
            </a:outerShdw>
          </a:effectLst>
        </p:spPr>
      </p:sp>
      <p:sp>
        <p:nvSpPr>
          <p:cNvPr id="38" name="Text 10">
            <a:extLst>
              <a:ext uri="{FF2B5EF4-FFF2-40B4-BE49-F238E27FC236}">
                <a16:creationId xmlns:a16="http://schemas.microsoft.com/office/drawing/2014/main" id="{07E14A9B-3F0A-40AA-AFD5-AE5F3B2F77EC}"/>
              </a:ext>
            </a:extLst>
          </p:cNvPr>
          <p:cNvSpPr/>
          <p:nvPr/>
        </p:nvSpPr>
        <p:spPr>
          <a:xfrm>
            <a:off x="6984945" y="15199115"/>
            <a:ext cx="5154930"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highlight>
                  <a:srgbClr val="CCEEFF"/>
                </a:highlight>
                <a:latin typeface="Consolas" pitchFamily="34" charset="0"/>
                <a:ea typeface="Consolas" pitchFamily="34" charset="-122"/>
                <a:cs typeface="Consolas" pitchFamily="34" charset="-120"/>
              </a:rPr>
              <a:t>Car myCars[] = { Car("Red", 60), Car("Blue", 70) };</a:t>
            </a:r>
            <a:endParaRPr lang="en-US" sz="1750" dirty="0"/>
          </a:p>
        </p:txBody>
      </p:sp>
      <p:sp>
        <p:nvSpPr>
          <p:cNvPr id="39" name="Shape 4">
            <a:extLst>
              <a:ext uri="{FF2B5EF4-FFF2-40B4-BE49-F238E27FC236}">
                <a16:creationId xmlns:a16="http://schemas.microsoft.com/office/drawing/2014/main" id="{CFCD743A-71BD-4850-8546-2DD1EA7C8F5C}"/>
              </a:ext>
            </a:extLst>
          </p:cNvPr>
          <p:cNvSpPr/>
          <p:nvPr/>
        </p:nvSpPr>
        <p:spPr>
          <a:xfrm>
            <a:off x="6756094" y="12024194"/>
            <a:ext cx="6815930" cy="1065848"/>
          </a:xfrm>
          <a:prstGeom prst="roundRect">
            <a:avLst>
              <a:gd name="adj" fmla="val 21842"/>
            </a:avLst>
          </a:prstGeom>
          <a:solidFill>
            <a:srgbClr val="CCEEFF"/>
          </a:solidFill>
          <a:ln/>
          <a:effectLst>
            <a:outerShdw blurRad="50800" dist="38100" dir="8100000" algn="tr" rotWithShape="0">
              <a:prstClr val="black">
                <a:alpha val="40000"/>
              </a:prstClr>
            </a:outerShdw>
          </a:effectLst>
        </p:spPr>
        <p:txBody>
          <a:bodyPr/>
          <a:lstStyle/>
          <a:p>
            <a:r>
              <a:rPr lang="en-US" dirty="0">
                <a:solidFill>
                  <a:srgbClr val="272525"/>
                </a:solidFill>
                <a:highlight>
                  <a:srgbClr val="CCEEFF"/>
                </a:highlight>
                <a:latin typeface="Consolas" pitchFamily="34" charset="0"/>
                <a:ea typeface="Consolas" pitchFamily="34" charset="-122"/>
                <a:cs typeface="Consolas" pitchFamily="34" charset="-120"/>
              </a:rPr>
              <a:t>for (int </a:t>
            </a:r>
            <a:r>
              <a:rPr lang="en-US" dirty="0" err="1">
                <a:solidFill>
                  <a:srgbClr val="272525"/>
                </a:solidFill>
                <a:highlight>
                  <a:srgbClr val="CCEEFF"/>
                </a:highlight>
                <a:latin typeface="Consolas" pitchFamily="34" charset="0"/>
                <a:ea typeface="Consolas" pitchFamily="34" charset="-122"/>
                <a:cs typeface="Consolas" pitchFamily="34" charset="-120"/>
              </a:rPr>
              <a:t>i</a:t>
            </a:r>
            <a:r>
              <a:rPr lang="en-US" dirty="0">
                <a:solidFill>
                  <a:srgbClr val="272525"/>
                </a:solidFill>
                <a:highlight>
                  <a:srgbClr val="CCEEFF"/>
                </a:highlight>
                <a:latin typeface="Consolas" pitchFamily="34" charset="0"/>
                <a:ea typeface="Consolas" pitchFamily="34" charset="-122"/>
                <a:cs typeface="Consolas" pitchFamily="34" charset="-120"/>
              </a:rPr>
              <a:t>=0; </a:t>
            </a:r>
            <a:r>
              <a:rPr lang="en-US" dirty="0" err="1">
                <a:solidFill>
                  <a:srgbClr val="272525"/>
                </a:solidFill>
                <a:highlight>
                  <a:srgbClr val="CCEEFF"/>
                </a:highlight>
                <a:latin typeface="Consolas" pitchFamily="34" charset="0"/>
                <a:ea typeface="Consolas" pitchFamily="34" charset="-122"/>
                <a:cs typeface="Consolas" pitchFamily="34" charset="-120"/>
              </a:rPr>
              <a:t>i</a:t>
            </a:r>
            <a:r>
              <a:rPr lang="en-US" dirty="0">
                <a:solidFill>
                  <a:srgbClr val="272525"/>
                </a:solidFill>
                <a:highlight>
                  <a:srgbClr val="CCEEFF"/>
                </a:highlight>
                <a:latin typeface="Consolas" pitchFamily="34" charset="0"/>
                <a:ea typeface="Consolas" pitchFamily="34" charset="-122"/>
                <a:cs typeface="Consolas" pitchFamily="34" charset="-120"/>
              </a:rPr>
              <a:t>&lt;3; ++</a:t>
            </a:r>
            <a:r>
              <a:rPr lang="en-US" dirty="0" err="1">
                <a:solidFill>
                  <a:srgbClr val="272525"/>
                </a:solidFill>
                <a:highlight>
                  <a:srgbClr val="CCEEFF"/>
                </a:highlight>
                <a:latin typeface="Consolas" pitchFamily="34" charset="0"/>
                <a:ea typeface="Consolas" pitchFamily="34" charset="-122"/>
                <a:cs typeface="Consolas" pitchFamily="34" charset="-120"/>
              </a:rPr>
              <a:t>i</a:t>
            </a:r>
            <a:r>
              <a:rPr lang="en-US" dirty="0">
                <a:solidFill>
                  <a:srgbClr val="272525"/>
                </a:solidFill>
                <a:highlight>
                  <a:srgbClr val="CCEEFF"/>
                </a:highlight>
                <a:latin typeface="Consolas" pitchFamily="34" charset="0"/>
                <a:ea typeface="Consolas" pitchFamily="34" charset="-122"/>
                <a:cs typeface="Consolas" pitchFamily="34" charset="-120"/>
              </a:rPr>
              <a:t>) { </a:t>
            </a:r>
            <a:r>
              <a:rPr lang="en-US" dirty="0" err="1">
                <a:solidFill>
                  <a:srgbClr val="272525"/>
                </a:solidFill>
                <a:highlight>
                  <a:srgbClr val="CCEEFF"/>
                </a:highlight>
                <a:latin typeface="Consolas" pitchFamily="34" charset="0"/>
                <a:ea typeface="Consolas" pitchFamily="34" charset="-122"/>
                <a:cs typeface="Consolas" pitchFamily="34" charset="-120"/>
              </a:rPr>
              <a:t>myCars</a:t>
            </a:r>
            <a:r>
              <a:rPr lang="en-US" dirty="0">
                <a:solidFill>
                  <a:srgbClr val="272525"/>
                </a:solidFill>
                <a:highlight>
                  <a:srgbClr val="CCEEFF"/>
                </a:highlight>
                <a:latin typeface="Consolas" pitchFamily="34" charset="0"/>
                <a:ea typeface="Consolas" pitchFamily="34" charset="-122"/>
                <a:cs typeface="Consolas" pitchFamily="34" charset="-120"/>
              </a:rPr>
              <a:t>[</a:t>
            </a:r>
            <a:r>
              <a:rPr lang="en-US" dirty="0" err="1">
                <a:solidFill>
                  <a:srgbClr val="272525"/>
                </a:solidFill>
                <a:highlight>
                  <a:srgbClr val="CCEEFF"/>
                </a:highlight>
                <a:latin typeface="Consolas" pitchFamily="34" charset="0"/>
                <a:ea typeface="Consolas" pitchFamily="34" charset="-122"/>
                <a:cs typeface="Consolas" pitchFamily="34" charset="-120"/>
              </a:rPr>
              <a:t>i</a:t>
            </a:r>
            <a:r>
              <a:rPr lang="en-US" dirty="0">
                <a:solidFill>
                  <a:srgbClr val="272525"/>
                </a:solidFill>
                <a:highlight>
                  <a:srgbClr val="CCEEFF"/>
                </a:highlight>
                <a:latin typeface="Consolas" pitchFamily="34" charset="0"/>
                <a:ea typeface="Consolas" pitchFamily="34" charset="-122"/>
                <a:cs typeface="Consolas" pitchFamily="34" charset="-120"/>
              </a:rPr>
              <a:t>] Car(color[</a:t>
            </a:r>
            <a:r>
              <a:rPr lang="en-US" dirty="0" err="1">
                <a:solidFill>
                  <a:srgbClr val="272525"/>
                </a:solidFill>
                <a:highlight>
                  <a:srgbClr val="CCEEFF"/>
                </a:highlight>
                <a:latin typeface="Consolas" pitchFamily="34" charset="0"/>
                <a:ea typeface="Consolas" pitchFamily="34" charset="-122"/>
                <a:cs typeface="Consolas" pitchFamily="34" charset="-120"/>
              </a:rPr>
              <a:t>i</a:t>
            </a:r>
            <a:r>
              <a:rPr lang="en-US" dirty="0">
                <a:solidFill>
                  <a:srgbClr val="272525"/>
                </a:solidFill>
                <a:highlight>
                  <a:srgbClr val="CCEEFF"/>
                </a:highlight>
                <a:latin typeface="Consolas" pitchFamily="34" charset="0"/>
                <a:ea typeface="Consolas" pitchFamily="34" charset="-122"/>
                <a:cs typeface="Consolas" pitchFamily="34" charset="-120"/>
              </a:rPr>
              <a:t>], speed[</a:t>
            </a:r>
            <a:r>
              <a:rPr lang="en-US" dirty="0" err="1">
                <a:solidFill>
                  <a:srgbClr val="272525"/>
                </a:solidFill>
                <a:highlight>
                  <a:srgbClr val="CCEEFF"/>
                </a:highlight>
                <a:latin typeface="Consolas" pitchFamily="34" charset="0"/>
                <a:ea typeface="Consolas" pitchFamily="34" charset="-122"/>
                <a:cs typeface="Consolas" pitchFamily="34" charset="-120"/>
              </a:rPr>
              <a:t>i</a:t>
            </a:r>
            <a:r>
              <a:rPr lang="en-US" dirty="0">
                <a:solidFill>
                  <a:srgbClr val="272525"/>
                </a:solidFill>
                <a:highlight>
                  <a:srgbClr val="CCEEFF"/>
                </a:highlight>
                <a:latin typeface="Consolas" pitchFamily="34" charset="0"/>
                <a:ea typeface="Consolas" pitchFamily="34" charset="-122"/>
                <a:cs typeface="Consolas" pitchFamily="34" charset="-120"/>
              </a:rPr>
              <a:t>]); }</a:t>
            </a:r>
            <a:endParaRPr lang="en-US" dirty="0"/>
          </a:p>
          <a:p>
            <a:endParaRPr lang="en-US" dirty="0"/>
          </a:p>
        </p:txBody>
      </p:sp>
      <p:sp>
        <p:nvSpPr>
          <p:cNvPr id="40" name="Shape 8">
            <a:extLst>
              <a:ext uri="{FF2B5EF4-FFF2-40B4-BE49-F238E27FC236}">
                <a16:creationId xmlns:a16="http://schemas.microsoft.com/office/drawing/2014/main" id="{F7C5B7B6-469F-4B05-92DB-E238319C4BBD}"/>
              </a:ext>
            </a:extLst>
          </p:cNvPr>
          <p:cNvSpPr/>
          <p:nvPr/>
        </p:nvSpPr>
        <p:spPr>
          <a:xfrm>
            <a:off x="6758130" y="15048885"/>
            <a:ext cx="6815930" cy="702945"/>
          </a:xfrm>
          <a:prstGeom prst="roundRect">
            <a:avLst>
              <a:gd name="adj" fmla="val 32405"/>
            </a:avLst>
          </a:prstGeom>
          <a:solidFill>
            <a:srgbClr val="CCEEFF"/>
          </a:solidFill>
          <a:ln/>
          <a:effectLst>
            <a:outerShdw blurRad="50800" dist="38100" dir="8100000" algn="tr" rotWithShape="0">
              <a:prstClr val="black">
                <a:alpha val="40000"/>
              </a:prstClr>
            </a:outerShdw>
          </a:effectLst>
        </p:spPr>
        <p:txBody>
          <a:bodyPr/>
          <a:lstStyle/>
          <a:p>
            <a:r>
              <a:rPr lang="en-US" dirty="0">
                <a:solidFill>
                  <a:srgbClr val="272525"/>
                </a:solidFill>
                <a:highlight>
                  <a:srgbClr val="CCEEFF"/>
                </a:highlight>
                <a:latin typeface="Consolas" pitchFamily="34" charset="0"/>
                <a:ea typeface="Consolas" pitchFamily="34" charset="-122"/>
                <a:cs typeface="Consolas" pitchFamily="34" charset="-120"/>
              </a:rPr>
              <a:t>Car </a:t>
            </a:r>
            <a:r>
              <a:rPr lang="en-US" dirty="0" err="1">
                <a:solidFill>
                  <a:srgbClr val="272525"/>
                </a:solidFill>
                <a:highlight>
                  <a:srgbClr val="CCEEFF"/>
                </a:highlight>
                <a:latin typeface="Consolas" pitchFamily="34" charset="0"/>
                <a:ea typeface="Consolas" pitchFamily="34" charset="-122"/>
                <a:cs typeface="Consolas" pitchFamily="34" charset="-120"/>
              </a:rPr>
              <a:t>myCars</a:t>
            </a:r>
            <a:r>
              <a:rPr lang="en-US" dirty="0">
                <a:solidFill>
                  <a:srgbClr val="272525"/>
                </a:solidFill>
                <a:highlight>
                  <a:srgbClr val="CCEEFF"/>
                </a:highlight>
                <a:latin typeface="Consolas" pitchFamily="34" charset="0"/>
                <a:ea typeface="Consolas" pitchFamily="34" charset="-122"/>
                <a:cs typeface="Consolas" pitchFamily="34" charset="-120"/>
              </a:rPr>
              <a:t>[] = { Car("Red", 60), Car("Blue", 70) };</a:t>
            </a:r>
            <a:endParaRPr lang="en-US" dirty="0"/>
          </a:p>
          <a:p>
            <a:endParaRPr lang="en-US" dirty="0"/>
          </a:p>
        </p:txBody>
      </p:sp>
    </p:spTree>
  </p:cSld>
  <p:clrMapOvr>
    <a:masterClrMapping/>
  </p:clrMapOvr>
  <p:transition spd="med">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4974336" cy="8238744"/>
          </a:xfrm>
          <a:prstGeom prst="rect">
            <a:avLst/>
          </a:prstGeom>
        </p:spPr>
      </p:pic>
      <p:sp>
        <p:nvSpPr>
          <p:cNvPr id="13" name="Text 6"/>
          <p:cNvSpPr/>
          <p:nvPr/>
        </p:nvSpPr>
        <p:spPr>
          <a:xfrm>
            <a:off x="5975652" y="349445"/>
            <a:ext cx="8010144" cy="1481328"/>
          </a:xfrm>
          <a:prstGeom prst="rect">
            <a:avLst/>
          </a:prstGeom>
          <a:noFill/>
          <a:ln/>
        </p:spPr>
        <p:txBody>
          <a:bodyPr wrap="square" lIns="0" tIns="0" rIns="0" bIns="0" rtlCol="0" anchor="ctr"/>
          <a:lstStyle/>
          <a:p>
            <a:pPr>
              <a:lnSpc>
                <a:spcPts val="5800"/>
              </a:lnSpc>
            </a:pPr>
            <a:r>
              <a:rPr lang="en-US" sz="4640" dirty="0">
                <a:solidFill>
                  <a:srgbClr val="0C266F"/>
                </a:solidFill>
                <a:latin typeface="Berlin Sans FB Demi" panose="020E0802020502020306" pitchFamily="34" charset="0"/>
                <a:ea typeface="思源宋体-思源宋体-SemiBold" pitchFamily="34" charset="-122"/>
                <a:cs typeface="思源宋体-思源宋体-SemiBold" pitchFamily="34" charset="-120"/>
              </a:rPr>
              <a:t>Initializing Arrays with Constructors</a:t>
            </a:r>
          </a:p>
        </p:txBody>
      </p:sp>
      <p:pic>
        <p:nvPicPr>
          <p:cNvPr id="28" name="Image 1" descr="preencoded.png">
            <a:extLst>
              <a:ext uri="{FF2B5EF4-FFF2-40B4-BE49-F238E27FC236}">
                <a16:creationId xmlns:a16="http://schemas.microsoft.com/office/drawing/2014/main" id="{D8FD98BE-D66A-41CF-8083-49100F26A380}"/>
              </a:ext>
            </a:extLst>
          </p:cNvPr>
          <p:cNvPicPr>
            <a:picLocks noChangeAspect="1"/>
          </p:cNvPicPr>
          <p:nvPr/>
        </p:nvPicPr>
        <p:blipFill>
          <a:blip r:embed="rId5"/>
          <a:stretch>
            <a:fillRect/>
          </a:stretch>
        </p:blipFill>
        <p:spPr>
          <a:xfrm>
            <a:off x="5975652" y="1926332"/>
            <a:ext cx="566976" cy="566976"/>
          </a:xfrm>
          <a:prstGeom prst="rect">
            <a:avLst/>
          </a:prstGeom>
        </p:spPr>
      </p:pic>
      <p:sp>
        <p:nvSpPr>
          <p:cNvPr id="29" name="Text 1">
            <a:extLst>
              <a:ext uri="{FF2B5EF4-FFF2-40B4-BE49-F238E27FC236}">
                <a16:creationId xmlns:a16="http://schemas.microsoft.com/office/drawing/2014/main" id="{19C6269A-99AE-404A-B825-367B353F9543}"/>
              </a:ext>
            </a:extLst>
          </p:cNvPr>
          <p:cNvSpPr/>
          <p:nvPr/>
        </p:nvSpPr>
        <p:spPr>
          <a:xfrm>
            <a:off x="6769441" y="2021344"/>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Berlin Sans FB Demi" panose="020E0802020502020306" pitchFamily="34" charset="0"/>
                <a:ea typeface="Petrona Bold" pitchFamily="34" charset="-122"/>
                <a:cs typeface="Petrona Bold" pitchFamily="34" charset="-120"/>
              </a:rPr>
              <a:t>Loop and Assign</a:t>
            </a:r>
            <a:endParaRPr lang="en-US" sz="2300" dirty="0">
              <a:latin typeface="Berlin Sans FB Demi" panose="020E0802020502020306" pitchFamily="34" charset="0"/>
            </a:endParaRPr>
          </a:p>
        </p:txBody>
      </p:sp>
      <p:sp>
        <p:nvSpPr>
          <p:cNvPr id="30" name="Text 2">
            <a:extLst>
              <a:ext uri="{FF2B5EF4-FFF2-40B4-BE49-F238E27FC236}">
                <a16:creationId xmlns:a16="http://schemas.microsoft.com/office/drawing/2014/main" id="{ED595EBC-82AB-481D-A4A3-B9049C1367B5}"/>
              </a:ext>
            </a:extLst>
          </p:cNvPr>
          <p:cNvSpPr/>
          <p:nvPr/>
        </p:nvSpPr>
        <p:spPr>
          <a:xfrm>
            <a:off x="6769441" y="2529502"/>
            <a:ext cx="5585817"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Bodoni MT" panose="02070603080606020203" pitchFamily="18" charset="0"/>
                <a:ea typeface="Inter" pitchFamily="34" charset="-122"/>
                <a:cs typeface="Inter" pitchFamily="34" charset="-120"/>
              </a:rPr>
              <a:t>Iterate through the array, constructing and assigning each object individually.</a:t>
            </a:r>
            <a:endParaRPr lang="en-US" sz="1750" dirty="0">
              <a:latin typeface="Bodoni MT" panose="02070603080606020203" pitchFamily="18" charset="0"/>
            </a:endParaRPr>
          </a:p>
        </p:txBody>
      </p:sp>
      <p:sp>
        <p:nvSpPr>
          <p:cNvPr id="32" name="Shape 4">
            <a:extLst>
              <a:ext uri="{FF2B5EF4-FFF2-40B4-BE49-F238E27FC236}">
                <a16:creationId xmlns:a16="http://schemas.microsoft.com/office/drawing/2014/main" id="{CDD7FEB3-E8DB-48D6-8ECA-0197EDB877AA}"/>
              </a:ext>
            </a:extLst>
          </p:cNvPr>
          <p:cNvSpPr/>
          <p:nvPr/>
        </p:nvSpPr>
        <p:spPr>
          <a:xfrm>
            <a:off x="6758130" y="3581876"/>
            <a:ext cx="6815930" cy="1065848"/>
          </a:xfrm>
          <a:prstGeom prst="roundRect">
            <a:avLst>
              <a:gd name="adj" fmla="val 21842"/>
            </a:avLst>
          </a:prstGeom>
          <a:solidFill>
            <a:srgbClr val="CCEEFF"/>
          </a:solidFill>
          <a:ln/>
          <a:effectLst>
            <a:outerShdw blurRad="50800" dist="38100" dir="8100000" algn="tr" rotWithShape="0">
              <a:prstClr val="black">
                <a:alpha val="40000"/>
              </a:prstClr>
            </a:outerShdw>
          </a:effectLst>
        </p:spPr>
        <p:txBody>
          <a:bodyPr/>
          <a:lstStyle/>
          <a:p>
            <a:r>
              <a:rPr lang="en-US" dirty="0">
                <a:solidFill>
                  <a:srgbClr val="272525"/>
                </a:solidFill>
                <a:highlight>
                  <a:srgbClr val="CCEEFF"/>
                </a:highlight>
                <a:latin typeface="Consolas" pitchFamily="34" charset="0"/>
                <a:ea typeface="Consolas" pitchFamily="34" charset="-122"/>
                <a:cs typeface="Consolas" pitchFamily="34" charset="-120"/>
              </a:rPr>
              <a:t>for (int </a:t>
            </a:r>
            <a:r>
              <a:rPr lang="en-US" dirty="0" err="1">
                <a:solidFill>
                  <a:srgbClr val="272525"/>
                </a:solidFill>
                <a:highlight>
                  <a:srgbClr val="CCEEFF"/>
                </a:highlight>
                <a:latin typeface="Consolas" pitchFamily="34" charset="0"/>
                <a:ea typeface="Consolas" pitchFamily="34" charset="-122"/>
                <a:cs typeface="Consolas" pitchFamily="34" charset="-120"/>
              </a:rPr>
              <a:t>i</a:t>
            </a:r>
            <a:r>
              <a:rPr lang="en-US" dirty="0">
                <a:solidFill>
                  <a:srgbClr val="272525"/>
                </a:solidFill>
                <a:highlight>
                  <a:srgbClr val="CCEEFF"/>
                </a:highlight>
                <a:latin typeface="Consolas" pitchFamily="34" charset="0"/>
                <a:ea typeface="Consolas" pitchFamily="34" charset="-122"/>
                <a:cs typeface="Consolas" pitchFamily="34" charset="-120"/>
              </a:rPr>
              <a:t>=0; </a:t>
            </a:r>
            <a:r>
              <a:rPr lang="en-US" dirty="0" err="1">
                <a:solidFill>
                  <a:srgbClr val="272525"/>
                </a:solidFill>
                <a:highlight>
                  <a:srgbClr val="CCEEFF"/>
                </a:highlight>
                <a:latin typeface="Consolas" pitchFamily="34" charset="0"/>
                <a:ea typeface="Consolas" pitchFamily="34" charset="-122"/>
                <a:cs typeface="Consolas" pitchFamily="34" charset="-120"/>
              </a:rPr>
              <a:t>i</a:t>
            </a:r>
            <a:r>
              <a:rPr lang="en-US" dirty="0">
                <a:solidFill>
                  <a:srgbClr val="272525"/>
                </a:solidFill>
                <a:highlight>
                  <a:srgbClr val="CCEEFF"/>
                </a:highlight>
                <a:latin typeface="Consolas" pitchFamily="34" charset="0"/>
                <a:ea typeface="Consolas" pitchFamily="34" charset="-122"/>
                <a:cs typeface="Consolas" pitchFamily="34" charset="-120"/>
              </a:rPr>
              <a:t>&lt;3; ++</a:t>
            </a:r>
            <a:r>
              <a:rPr lang="en-US" dirty="0" err="1">
                <a:solidFill>
                  <a:srgbClr val="272525"/>
                </a:solidFill>
                <a:highlight>
                  <a:srgbClr val="CCEEFF"/>
                </a:highlight>
                <a:latin typeface="Consolas" pitchFamily="34" charset="0"/>
                <a:ea typeface="Consolas" pitchFamily="34" charset="-122"/>
                <a:cs typeface="Consolas" pitchFamily="34" charset="-120"/>
              </a:rPr>
              <a:t>i</a:t>
            </a:r>
            <a:r>
              <a:rPr lang="en-US" dirty="0">
                <a:solidFill>
                  <a:srgbClr val="272525"/>
                </a:solidFill>
                <a:highlight>
                  <a:srgbClr val="CCEEFF"/>
                </a:highlight>
                <a:latin typeface="Consolas" pitchFamily="34" charset="0"/>
                <a:ea typeface="Consolas" pitchFamily="34" charset="-122"/>
                <a:cs typeface="Consolas" pitchFamily="34" charset="-120"/>
              </a:rPr>
              <a:t>) { 	</a:t>
            </a:r>
            <a:r>
              <a:rPr lang="en-US" dirty="0" err="1">
                <a:solidFill>
                  <a:srgbClr val="272525"/>
                </a:solidFill>
                <a:highlight>
                  <a:srgbClr val="CCEEFF"/>
                </a:highlight>
                <a:latin typeface="Consolas" pitchFamily="34" charset="0"/>
                <a:ea typeface="Consolas" pitchFamily="34" charset="-122"/>
                <a:cs typeface="Consolas" pitchFamily="34" charset="-120"/>
              </a:rPr>
              <a:t>myCars</a:t>
            </a:r>
            <a:r>
              <a:rPr lang="en-US" dirty="0">
                <a:solidFill>
                  <a:srgbClr val="272525"/>
                </a:solidFill>
                <a:highlight>
                  <a:srgbClr val="CCEEFF"/>
                </a:highlight>
                <a:latin typeface="Consolas" pitchFamily="34" charset="0"/>
                <a:ea typeface="Consolas" pitchFamily="34" charset="-122"/>
                <a:cs typeface="Consolas" pitchFamily="34" charset="-120"/>
              </a:rPr>
              <a:t>[</a:t>
            </a:r>
            <a:r>
              <a:rPr lang="en-US" dirty="0" err="1">
                <a:solidFill>
                  <a:srgbClr val="272525"/>
                </a:solidFill>
                <a:highlight>
                  <a:srgbClr val="CCEEFF"/>
                </a:highlight>
                <a:latin typeface="Consolas" pitchFamily="34" charset="0"/>
                <a:ea typeface="Consolas" pitchFamily="34" charset="-122"/>
                <a:cs typeface="Consolas" pitchFamily="34" charset="-120"/>
              </a:rPr>
              <a:t>i</a:t>
            </a:r>
            <a:r>
              <a:rPr lang="en-US" dirty="0">
                <a:solidFill>
                  <a:srgbClr val="272525"/>
                </a:solidFill>
                <a:highlight>
                  <a:srgbClr val="CCEEFF"/>
                </a:highlight>
                <a:latin typeface="Consolas" pitchFamily="34" charset="0"/>
                <a:ea typeface="Consolas" pitchFamily="34" charset="-122"/>
                <a:cs typeface="Consolas" pitchFamily="34" charset="-120"/>
              </a:rPr>
              <a:t>].</a:t>
            </a:r>
            <a:r>
              <a:rPr lang="en-US" dirty="0" err="1">
                <a:solidFill>
                  <a:srgbClr val="272525"/>
                </a:solidFill>
                <a:highlight>
                  <a:srgbClr val="CCEEFF"/>
                </a:highlight>
                <a:latin typeface="Consolas" pitchFamily="34" charset="0"/>
                <a:ea typeface="Consolas" pitchFamily="34" charset="-122"/>
                <a:cs typeface="Consolas" pitchFamily="34" charset="-120"/>
              </a:rPr>
              <a:t>set_Car</a:t>
            </a:r>
            <a:r>
              <a:rPr lang="en-US" dirty="0">
                <a:solidFill>
                  <a:srgbClr val="272525"/>
                </a:solidFill>
                <a:highlight>
                  <a:srgbClr val="CCEEFF"/>
                </a:highlight>
                <a:latin typeface="Consolas" pitchFamily="34" charset="0"/>
                <a:ea typeface="Consolas" pitchFamily="34" charset="-122"/>
                <a:cs typeface="Consolas" pitchFamily="34" charset="-120"/>
              </a:rPr>
              <a:t>(color[</a:t>
            </a:r>
            <a:r>
              <a:rPr lang="en-US" dirty="0" err="1">
                <a:solidFill>
                  <a:srgbClr val="272525"/>
                </a:solidFill>
                <a:highlight>
                  <a:srgbClr val="CCEEFF"/>
                </a:highlight>
                <a:latin typeface="Consolas" pitchFamily="34" charset="0"/>
                <a:ea typeface="Consolas" pitchFamily="34" charset="-122"/>
                <a:cs typeface="Consolas" pitchFamily="34" charset="-120"/>
              </a:rPr>
              <a:t>i</a:t>
            </a:r>
            <a:r>
              <a:rPr lang="en-US" dirty="0">
                <a:solidFill>
                  <a:srgbClr val="272525"/>
                </a:solidFill>
                <a:highlight>
                  <a:srgbClr val="CCEEFF"/>
                </a:highlight>
                <a:latin typeface="Consolas" pitchFamily="34" charset="0"/>
                <a:ea typeface="Consolas" pitchFamily="34" charset="-122"/>
                <a:cs typeface="Consolas" pitchFamily="34" charset="-120"/>
              </a:rPr>
              <a:t>], speed[</a:t>
            </a:r>
            <a:r>
              <a:rPr lang="en-US" dirty="0" err="1">
                <a:solidFill>
                  <a:srgbClr val="272525"/>
                </a:solidFill>
                <a:highlight>
                  <a:srgbClr val="CCEEFF"/>
                </a:highlight>
                <a:latin typeface="Consolas" pitchFamily="34" charset="0"/>
                <a:ea typeface="Consolas" pitchFamily="34" charset="-122"/>
                <a:cs typeface="Consolas" pitchFamily="34" charset="-120"/>
              </a:rPr>
              <a:t>i</a:t>
            </a:r>
            <a:r>
              <a:rPr lang="en-US" dirty="0">
                <a:solidFill>
                  <a:srgbClr val="272525"/>
                </a:solidFill>
                <a:highlight>
                  <a:srgbClr val="CCEEFF"/>
                </a:highlight>
                <a:latin typeface="Consolas" pitchFamily="34" charset="0"/>
                <a:ea typeface="Consolas" pitchFamily="34" charset="-122"/>
                <a:cs typeface="Consolas" pitchFamily="34" charset="-120"/>
              </a:rPr>
              <a:t>]);</a:t>
            </a:r>
          </a:p>
          <a:p>
            <a:r>
              <a:rPr lang="en-US" dirty="0">
                <a:solidFill>
                  <a:srgbClr val="272525"/>
                </a:solidFill>
                <a:highlight>
                  <a:srgbClr val="CCEEFF"/>
                </a:highlight>
                <a:latin typeface="Consolas" pitchFamily="34" charset="0"/>
                <a:ea typeface="Consolas" pitchFamily="34" charset="-122"/>
                <a:cs typeface="Consolas" pitchFamily="34" charset="-120"/>
              </a:rPr>
              <a:t>}</a:t>
            </a:r>
            <a:endParaRPr lang="en-US" dirty="0"/>
          </a:p>
          <a:p>
            <a:endParaRPr lang="en-US" dirty="0"/>
          </a:p>
        </p:txBody>
      </p:sp>
      <p:pic>
        <p:nvPicPr>
          <p:cNvPr id="34" name="Image 2" descr="preencoded.png">
            <a:extLst>
              <a:ext uri="{FF2B5EF4-FFF2-40B4-BE49-F238E27FC236}">
                <a16:creationId xmlns:a16="http://schemas.microsoft.com/office/drawing/2014/main" id="{86613282-2338-4DE8-B29D-81048121163F}"/>
              </a:ext>
            </a:extLst>
          </p:cNvPr>
          <p:cNvPicPr>
            <a:picLocks noChangeAspect="1"/>
          </p:cNvPicPr>
          <p:nvPr/>
        </p:nvPicPr>
        <p:blipFill>
          <a:blip r:embed="rId6"/>
          <a:stretch>
            <a:fillRect/>
          </a:stretch>
        </p:blipFill>
        <p:spPr>
          <a:xfrm>
            <a:off x="5975652" y="5022441"/>
            <a:ext cx="566976" cy="566976"/>
          </a:xfrm>
          <a:prstGeom prst="rect">
            <a:avLst/>
          </a:prstGeom>
        </p:spPr>
      </p:pic>
      <p:sp>
        <p:nvSpPr>
          <p:cNvPr id="35" name="Text 6">
            <a:extLst>
              <a:ext uri="{FF2B5EF4-FFF2-40B4-BE49-F238E27FC236}">
                <a16:creationId xmlns:a16="http://schemas.microsoft.com/office/drawing/2014/main" id="{C944CA6C-E0F3-4160-B48F-5789A61986EE}"/>
              </a:ext>
            </a:extLst>
          </p:cNvPr>
          <p:cNvSpPr/>
          <p:nvPr/>
        </p:nvSpPr>
        <p:spPr>
          <a:xfrm>
            <a:off x="6769442" y="5117453"/>
            <a:ext cx="4174329" cy="372070"/>
          </a:xfrm>
          <a:prstGeom prst="rect">
            <a:avLst/>
          </a:prstGeom>
          <a:noFill/>
          <a:ln/>
        </p:spPr>
        <p:txBody>
          <a:bodyPr wrap="none" lIns="0" tIns="0" rIns="0" bIns="0" rtlCol="0" anchor="t"/>
          <a:lstStyle/>
          <a:p>
            <a:pPr>
              <a:lnSpc>
                <a:spcPts val="2900"/>
              </a:lnSpc>
            </a:pPr>
            <a:r>
              <a:rPr lang="en-US" sz="2300" b="1" dirty="0">
                <a:solidFill>
                  <a:srgbClr val="272525"/>
                </a:solidFill>
                <a:latin typeface="Berlin Sans FB Demi" panose="020E0802020502020306" pitchFamily="34" charset="0"/>
                <a:ea typeface="Petrona Bold" pitchFamily="34" charset="-122"/>
                <a:cs typeface="Petrona Bold" pitchFamily="34" charset="-120"/>
              </a:rPr>
              <a:t>Uniform Initialization(C++11)</a:t>
            </a:r>
            <a:endParaRPr lang="en-US" sz="2300" dirty="0">
              <a:latin typeface="Berlin Sans FB Demi" panose="020E0802020502020306" pitchFamily="34" charset="0"/>
            </a:endParaRPr>
          </a:p>
        </p:txBody>
      </p:sp>
      <p:sp>
        <p:nvSpPr>
          <p:cNvPr id="36" name="Text 7">
            <a:extLst>
              <a:ext uri="{FF2B5EF4-FFF2-40B4-BE49-F238E27FC236}">
                <a16:creationId xmlns:a16="http://schemas.microsoft.com/office/drawing/2014/main" id="{3CD278B8-F7A7-427D-BFFC-6A427BB4827E}"/>
              </a:ext>
            </a:extLst>
          </p:cNvPr>
          <p:cNvSpPr/>
          <p:nvPr/>
        </p:nvSpPr>
        <p:spPr>
          <a:xfrm>
            <a:off x="6769442" y="5625611"/>
            <a:ext cx="558593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Bodoni MT" panose="02070603080606020203" pitchFamily="18" charset="0"/>
                <a:ea typeface="Inter" pitchFamily="34" charset="-122"/>
                <a:cs typeface="Inter" pitchFamily="34" charset="-120"/>
              </a:rPr>
              <a:t>A more concise way to initialize arrays with specific constructor calls.</a:t>
            </a:r>
            <a:endParaRPr lang="en-US" sz="1750" dirty="0">
              <a:latin typeface="Bodoni MT" panose="02070603080606020203" pitchFamily="18" charset="0"/>
            </a:endParaRPr>
          </a:p>
        </p:txBody>
      </p:sp>
      <p:sp>
        <p:nvSpPr>
          <p:cNvPr id="37" name="Shape 8">
            <a:extLst>
              <a:ext uri="{FF2B5EF4-FFF2-40B4-BE49-F238E27FC236}">
                <a16:creationId xmlns:a16="http://schemas.microsoft.com/office/drawing/2014/main" id="{15F3BBDC-A0EE-48C1-BBFB-CABE61D87B83}"/>
              </a:ext>
            </a:extLst>
          </p:cNvPr>
          <p:cNvSpPr/>
          <p:nvPr/>
        </p:nvSpPr>
        <p:spPr>
          <a:xfrm>
            <a:off x="6769441" y="6606567"/>
            <a:ext cx="6815930" cy="702945"/>
          </a:xfrm>
          <a:prstGeom prst="roundRect">
            <a:avLst>
              <a:gd name="adj" fmla="val 32405"/>
            </a:avLst>
          </a:prstGeom>
          <a:solidFill>
            <a:srgbClr val="CCEEFF"/>
          </a:solidFill>
          <a:ln/>
          <a:effectLst>
            <a:outerShdw blurRad="50800" dist="38100" dir="8100000" algn="tr" rotWithShape="0">
              <a:prstClr val="black">
                <a:alpha val="40000"/>
              </a:prstClr>
            </a:outerShdw>
          </a:effectLst>
        </p:spPr>
        <p:txBody>
          <a:bodyPr/>
          <a:lstStyle/>
          <a:p>
            <a:r>
              <a:rPr lang="en-US" dirty="0">
                <a:solidFill>
                  <a:srgbClr val="272525"/>
                </a:solidFill>
                <a:highlight>
                  <a:srgbClr val="CCEEFF"/>
                </a:highlight>
                <a:latin typeface="Consolas" pitchFamily="34" charset="0"/>
                <a:ea typeface="Consolas" pitchFamily="34" charset="-122"/>
                <a:cs typeface="Consolas" pitchFamily="34" charset="-120"/>
              </a:rPr>
              <a:t>Car </a:t>
            </a:r>
            <a:r>
              <a:rPr lang="en-US" dirty="0" err="1">
                <a:solidFill>
                  <a:srgbClr val="272525"/>
                </a:solidFill>
                <a:highlight>
                  <a:srgbClr val="CCEEFF"/>
                </a:highlight>
                <a:latin typeface="Consolas" pitchFamily="34" charset="0"/>
                <a:ea typeface="Consolas" pitchFamily="34" charset="-122"/>
                <a:cs typeface="Consolas" pitchFamily="34" charset="-120"/>
              </a:rPr>
              <a:t>myCars</a:t>
            </a:r>
            <a:r>
              <a:rPr lang="en-US" dirty="0">
                <a:solidFill>
                  <a:srgbClr val="272525"/>
                </a:solidFill>
                <a:highlight>
                  <a:srgbClr val="CCEEFF"/>
                </a:highlight>
                <a:latin typeface="Consolas" pitchFamily="34" charset="0"/>
                <a:ea typeface="Consolas" pitchFamily="34" charset="-122"/>
                <a:cs typeface="Consolas" pitchFamily="34" charset="-120"/>
              </a:rPr>
              <a:t>[] = { Car("Red", 60), Car("Blue", 70) };</a:t>
            </a:r>
            <a:endParaRPr lang="en-US" dirty="0"/>
          </a:p>
          <a:p>
            <a:endParaRPr lang="en-US" dirty="0"/>
          </a:p>
        </p:txBody>
      </p:sp>
      <p:sp>
        <p:nvSpPr>
          <p:cNvPr id="40" name="Text 6">
            <a:extLst>
              <a:ext uri="{FF2B5EF4-FFF2-40B4-BE49-F238E27FC236}">
                <a16:creationId xmlns:a16="http://schemas.microsoft.com/office/drawing/2014/main" id="{C555A56B-C992-4F58-99FA-8EA82430FCAC}"/>
              </a:ext>
            </a:extLst>
          </p:cNvPr>
          <p:cNvSpPr/>
          <p:nvPr/>
        </p:nvSpPr>
        <p:spPr>
          <a:xfrm>
            <a:off x="5763245" y="-7925716"/>
            <a:ext cx="8010144" cy="1481328"/>
          </a:xfrm>
          <a:prstGeom prst="rect">
            <a:avLst/>
          </a:prstGeom>
          <a:noFill/>
          <a:ln/>
        </p:spPr>
        <p:txBody>
          <a:bodyPr wrap="square" lIns="0" tIns="0" rIns="0" bIns="0" rtlCol="0" anchor="ctr"/>
          <a:lstStyle/>
          <a:p>
            <a:pPr marL="0" indent="0" algn="l">
              <a:lnSpc>
                <a:spcPts val="5800"/>
              </a:lnSpc>
              <a:buNone/>
            </a:pPr>
            <a:r>
              <a:rPr lang="en-US" sz="4640" dirty="0">
                <a:solidFill>
                  <a:srgbClr val="0C266F"/>
                </a:solidFill>
                <a:latin typeface="思源宋体-思源宋体-SemiBold" pitchFamily="34" charset="0"/>
                <a:ea typeface="思源宋体-思源宋体-SemiBold" pitchFamily="34" charset="-122"/>
                <a:cs typeface="思源宋体-思源宋体-SemiBold" pitchFamily="34" charset="-120"/>
              </a:rPr>
              <a:t>Creating Arrays of Objects</a:t>
            </a:r>
            <a:endParaRPr lang="en-US" sz="4640" dirty="0"/>
          </a:p>
        </p:txBody>
      </p:sp>
      <p:sp>
        <p:nvSpPr>
          <p:cNvPr id="41" name="Shape 1">
            <a:extLst>
              <a:ext uri="{FF2B5EF4-FFF2-40B4-BE49-F238E27FC236}">
                <a16:creationId xmlns:a16="http://schemas.microsoft.com/office/drawing/2014/main" id="{C3B9DF03-4DEE-4266-A6CB-ECD85D9E7082}"/>
              </a:ext>
            </a:extLst>
          </p:cNvPr>
          <p:cNvSpPr/>
          <p:nvPr/>
        </p:nvSpPr>
        <p:spPr>
          <a:xfrm>
            <a:off x="5734836" y="-6598050"/>
            <a:ext cx="7710249" cy="4385548"/>
          </a:xfrm>
          <a:prstGeom prst="roundRect">
            <a:avLst>
              <a:gd name="adj" fmla="val 7099"/>
            </a:avLst>
          </a:prstGeom>
          <a:solidFill>
            <a:srgbClr val="BDD4FA"/>
          </a:solidFill>
          <a:ln w="7620">
            <a:solidFill>
              <a:srgbClr val="B2D4E5"/>
            </a:solidFill>
            <a:prstDash val="solid"/>
          </a:ln>
          <a:effectLst>
            <a:outerShdw blurRad="50800" dist="38100" dir="8100000" algn="tr" rotWithShape="0">
              <a:prstClr val="black">
                <a:alpha val="40000"/>
              </a:prstClr>
            </a:outerShdw>
          </a:effectLst>
        </p:spPr>
      </p:sp>
      <p:sp>
        <p:nvSpPr>
          <p:cNvPr id="42" name="Text 2">
            <a:extLst>
              <a:ext uri="{FF2B5EF4-FFF2-40B4-BE49-F238E27FC236}">
                <a16:creationId xmlns:a16="http://schemas.microsoft.com/office/drawing/2014/main" id="{32E1E94E-CC10-4B61-A1FC-F83128615037}"/>
              </a:ext>
            </a:extLst>
          </p:cNvPr>
          <p:cNvSpPr/>
          <p:nvPr/>
        </p:nvSpPr>
        <p:spPr>
          <a:xfrm>
            <a:off x="5947244" y="-6385643"/>
            <a:ext cx="2688312" cy="335994"/>
          </a:xfrm>
          <a:prstGeom prst="rect">
            <a:avLst/>
          </a:prstGeom>
          <a:noFill/>
          <a:ln/>
        </p:spPr>
        <p:txBody>
          <a:bodyPr wrap="none" lIns="0" tIns="0" rIns="0" bIns="0" rtlCol="0" anchor="t"/>
          <a:lstStyle/>
          <a:p>
            <a:pPr marL="0" indent="0" algn="l">
              <a:lnSpc>
                <a:spcPts val="2600"/>
              </a:lnSpc>
              <a:buNone/>
            </a:pPr>
            <a:r>
              <a:rPr lang="en-US" sz="2100" b="1" dirty="0">
                <a:solidFill>
                  <a:srgbClr val="272525"/>
                </a:solidFill>
                <a:latin typeface="Petrona Bold" pitchFamily="34" charset="0"/>
                <a:ea typeface="Petrona Bold" pitchFamily="34" charset="-122"/>
                <a:cs typeface="Petrona Bold" pitchFamily="34" charset="-120"/>
              </a:rPr>
              <a:t>Implicit Creation</a:t>
            </a:r>
            <a:endParaRPr lang="en-US" sz="2100" dirty="0"/>
          </a:p>
        </p:txBody>
      </p:sp>
      <p:sp>
        <p:nvSpPr>
          <p:cNvPr id="43" name="Text 3">
            <a:extLst>
              <a:ext uri="{FF2B5EF4-FFF2-40B4-BE49-F238E27FC236}">
                <a16:creationId xmlns:a16="http://schemas.microsoft.com/office/drawing/2014/main" id="{F1CD0CF5-C2A5-4345-8061-C5F1530AB23F}"/>
              </a:ext>
            </a:extLst>
          </p:cNvPr>
          <p:cNvSpPr/>
          <p:nvPr/>
        </p:nvSpPr>
        <p:spPr>
          <a:xfrm>
            <a:off x="5947244" y="-5926776"/>
            <a:ext cx="7285434" cy="655320"/>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If a default constructor exists, objects are created automatically. For example,</a:t>
            </a:r>
            <a:endParaRPr lang="en-US" sz="1600" dirty="0"/>
          </a:p>
        </p:txBody>
      </p:sp>
      <p:sp>
        <p:nvSpPr>
          <p:cNvPr id="44" name="Text 6">
            <a:extLst>
              <a:ext uri="{FF2B5EF4-FFF2-40B4-BE49-F238E27FC236}">
                <a16:creationId xmlns:a16="http://schemas.microsoft.com/office/drawing/2014/main" id="{6A5145B9-43E3-48BB-9B9F-9DB007F94EE3}"/>
              </a:ext>
            </a:extLst>
          </p:cNvPr>
          <p:cNvSpPr/>
          <p:nvPr/>
        </p:nvSpPr>
        <p:spPr>
          <a:xfrm>
            <a:off x="6141792" y="-4887479"/>
            <a:ext cx="6896338" cy="327660"/>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Consolas" pitchFamily="34" charset="0"/>
                <a:ea typeface="Consolas" pitchFamily="34" charset="-122"/>
                <a:cs typeface="Consolas" pitchFamily="34" charset="-120"/>
              </a:rPr>
              <a:t>Car myCars[3];</a:t>
            </a:r>
            <a:endParaRPr lang="en-US" sz="1600" dirty="0"/>
          </a:p>
        </p:txBody>
      </p:sp>
      <p:sp>
        <p:nvSpPr>
          <p:cNvPr id="45" name="Text 7">
            <a:extLst>
              <a:ext uri="{FF2B5EF4-FFF2-40B4-BE49-F238E27FC236}">
                <a16:creationId xmlns:a16="http://schemas.microsoft.com/office/drawing/2014/main" id="{31E66278-EAD0-4B54-B3ED-03DFECB22762}"/>
              </a:ext>
            </a:extLst>
          </p:cNvPr>
          <p:cNvSpPr/>
          <p:nvPr/>
        </p:nvSpPr>
        <p:spPr>
          <a:xfrm>
            <a:off x="5947244" y="-4175843"/>
            <a:ext cx="7285434" cy="327660"/>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 calls </a:t>
            </a:r>
            <a:endParaRPr lang="en-US" sz="1600" dirty="0"/>
          </a:p>
        </p:txBody>
      </p:sp>
      <p:sp>
        <p:nvSpPr>
          <p:cNvPr id="46" name="Text 10">
            <a:extLst>
              <a:ext uri="{FF2B5EF4-FFF2-40B4-BE49-F238E27FC236}">
                <a16:creationId xmlns:a16="http://schemas.microsoft.com/office/drawing/2014/main" id="{C7F0AA03-43A8-4323-B7C1-86607FDEA7AF}"/>
              </a:ext>
            </a:extLst>
          </p:cNvPr>
          <p:cNvSpPr/>
          <p:nvPr/>
        </p:nvSpPr>
        <p:spPr>
          <a:xfrm>
            <a:off x="6141792" y="-3464206"/>
            <a:ext cx="6896338" cy="327660"/>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Consolas" pitchFamily="34" charset="0"/>
                <a:ea typeface="Consolas" pitchFamily="34" charset="-122"/>
                <a:cs typeface="Consolas" pitchFamily="34" charset="-120"/>
              </a:rPr>
              <a:t>Car::Car()</a:t>
            </a:r>
            <a:endParaRPr lang="en-US" sz="1600" dirty="0"/>
          </a:p>
        </p:txBody>
      </p:sp>
      <p:sp>
        <p:nvSpPr>
          <p:cNvPr id="47" name="Text 11">
            <a:extLst>
              <a:ext uri="{FF2B5EF4-FFF2-40B4-BE49-F238E27FC236}">
                <a16:creationId xmlns:a16="http://schemas.microsoft.com/office/drawing/2014/main" id="{C7D8CBDF-A016-44AA-9B18-C2044739EAD4}"/>
              </a:ext>
            </a:extLst>
          </p:cNvPr>
          <p:cNvSpPr/>
          <p:nvPr/>
        </p:nvSpPr>
        <p:spPr>
          <a:xfrm>
            <a:off x="5947244" y="-2752570"/>
            <a:ext cx="7285434" cy="327660"/>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 three times.</a:t>
            </a:r>
            <a:endParaRPr lang="en-US" sz="1600" dirty="0"/>
          </a:p>
        </p:txBody>
      </p:sp>
      <p:sp>
        <p:nvSpPr>
          <p:cNvPr id="48" name="Shape 12">
            <a:extLst>
              <a:ext uri="{FF2B5EF4-FFF2-40B4-BE49-F238E27FC236}">
                <a16:creationId xmlns:a16="http://schemas.microsoft.com/office/drawing/2014/main" id="{C4417227-8992-4A60-ACD0-3644EFC95730}"/>
              </a:ext>
            </a:extLst>
          </p:cNvPr>
          <p:cNvSpPr/>
          <p:nvPr/>
        </p:nvSpPr>
        <p:spPr>
          <a:xfrm>
            <a:off x="5734836" y="-2007715"/>
            <a:ext cx="7710249" cy="1539002"/>
          </a:xfrm>
          <a:prstGeom prst="roundRect">
            <a:avLst>
              <a:gd name="adj" fmla="val 21951"/>
            </a:avLst>
          </a:prstGeom>
          <a:solidFill>
            <a:srgbClr val="BDD4FA"/>
          </a:solidFill>
          <a:ln w="7620">
            <a:solidFill>
              <a:srgbClr val="B2D4E5"/>
            </a:solidFill>
            <a:prstDash val="solid"/>
          </a:ln>
          <a:effectLst>
            <a:outerShdw blurRad="50800" dist="38100" dir="8100000" algn="tr" rotWithShape="0">
              <a:prstClr val="black">
                <a:alpha val="40000"/>
              </a:prstClr>
            </a:outerShdw>
          </a:effectLst>
        </p:spPr>
      </p:sp>
      <p:sp>
        <p:nvSpPr>
          <p:cNvPr id="49" name="Text 13">
            <a:extLst>
              <a:ext uri="{FF2B5EF4-FFF2-40B4-BE49-F238E27FC236}">
                <a16:creationId xmlns:a16="http://schemas.microsoft.com/office/drawing/2014/main" id="{B281ECDB-F958-43F8-AE7E-F8A82FA957B9}"/>
              </a:ext>
            </a:extLst>
          </p:cNvPr>
          <p:cNvSpPr/>
          <p:nvPr/>
        </p:nvSpPr>
        <p:spPr>
          <a:xfrm>
            <a:off x="5947244" y="-1795307"/>
            <a:ext cx="2688312" cy="335994"/>
          </a:xfrm>
          <a:prstGeom prst="rect">
            <a:avLst/>
          </a:prstGeom>
          <a:noFill/>
          <a:ln/>
        </p:spPr>
        <p:txBody>
          <a:bodyPr wrap="none" lIns="0" tIns="0" rIns="0" bIns="0" rtlCol="0" anchor="t"/>
          <a:lstStyle/>
          <a:p>
            <a:pPr marL="0" indent="0" algn="l">
              <a:lnSpc>
                <a:spcPts val="2600"/>
              </a:lnSpc>
              <a:buNone/>
            </a:pPr>
            <a:r>
              <a:rPr lang="en-US" sz="2100" b="1" dirty="0">
                <a:solidFill>
                  <a:srgbClr val="272525"/>
                </a:solidFill>
                <a:latin typeface="Petrona Bold" pitchFamily="34" charset="0"/>
                <a:ea typeface="Petrona Bold" pitchFamily="34" charset="-122"/>
                <a:cs typeface="Petrona Bold" pitchFamily="34" charset="-120"/>
              </a:rPr>
              <a:t>Explicit Creation</a:t>
            </a:r>
            <a:endParaRPr lang="en-US" sz="2100" dirty="0"/>
          </a:p>
        </p:txBody>
      </p:sp>
      <p:sp>
        <p:nvSpPr>
          <p:cNvPr id="50" name="Text 14">
            <a:extLst>
              <a:ext uri="{FF2B5EF4-FFF2-40B4-BE49-F238E27FC236}">
                <a16:creationId xmlns:a16="http://schemas.microsoft.com/office/drawing/2014/main" id="{53CD2AF1-D80D-468C-AC8F-D774A4A7A7CC}"/>
              </a:ext>
            </a:extLst>
          </p:cNvPr>
          <p:cNvSpPr/>
          <p:nvPr/>
        </p:nvSpPr>
        <p:spPr>
          <a:xfrm>
            <a:off x="5947244" y="-1336440"/>
            <a:ext cx="7285434" cy="655320"/>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For parameterized constructors, more advanced techniques are needed. This allows custom initialization for each object.</a:t>
            </a:r>
            <a:endParaRPr lang="en-US" sz="1600" dirty="0"/>
          </a:p>
        </p:txBody>
      </p:sp>
      <p:sp>
        <p:nvSpPr>
          <p:cNvPr id="52" name="Text 0">
            <a:extLst>
              <a:ext uri="{FF2B5EF4-FFF2-40B4-BE49-F238E27FC236}">
                <a16:creationId xmlns:a16="http://schemas.microsoft.com/office/drawing/2014/main" id="{1D9F4C94-8F68-4A64-B03D-10A949D85DDC}"/>
              </a:ext>
            </a:extLst>
          </p:cNvPr>
          <p:cNvSpPr/>
          <p:nvPr/>
        </p:nvSpPr>
        <p:spPr>
          <a:xfrm>
            <a:off x="21671107" y="1307864"/>
            <a:ext cx="6619161" cy="672941"/>
          </a:xfrm>
          <a:prstGeom prst="rect">
            <a:avLst/>
          </a:prstGeom>
          <a:noFill/>
          <a:ln/>
        </p:spPr>
        <p:txBody>
          <a:bodyPr wrap="none" lIns="0" tIns="0" rIns="0" bIns="0" rtlCol="0" anchor="t"/>
          <a:lstStyle/>
          <a:p>
            <a:pPr marL="0" indent="0" algn="l">
              <a:lnSpc>
                <a:spcPts val="5250"/>
              </a:lnSpc>
              <a:buNone/>
            </a:pPr>
            <a:r>
              <a:rPr lang="en-US" sz="4200" b="1" dirty="0">
                <a:solidFill>
                  <a:srgbClr val="000000"/>
                </a:solidFill>
                <a:latin typeface="Petrona Bold" pitchFamily="34" charset="0"/>
                <a:ea typeface="Petrona Bold" pitchFamily="34" charset="-122"/>
                <a:cs typeface="Petrona Bold" pitchFamily="34" charset="-120"/>
              </a:rPr>
              <a:t>Accessing Object Members</a:t>
            </a:r>
            <a:endParaRPr lang="en-US" sz="4200" dirty="0"/>
          </a:p>
        </p:txBody>
      </p:sp>
      <p:sp>
        <p:nvSpPr>
          <p:cNvPr id="53" name="Text 1">
            <a:extLst>
              <a:ext uri="{FF2B5EF4-FFF2-40B4-BE49-F238E27FC236}">
                <a16:creationId xmlns:a16="http://schemas.microsoft.com/office/drawing/2014/main" id="{790A85BD-CD3D-4847-BB2D-D7087CF227D8}"/>
              </a:ext>
            </a:extLst>
          </p:cNvPr>
          <p:cNvSpPr/>
          <p:nvPr/>
        </p:nvSpPr>
        <p:spPr>
          <a:xfrm>
            <a:off x="22512956" y="2837711"/>
            <a:ext cx="2692122" cy="336471"/>
          </a:xfrm>
          <a:prstGeom prst="rect">
            <a:avLst/>
          </a:prstGeom>
          <a:noFill/>
          <a:ln/>
        </p:spPr>
        <p:txBody>
          <a:bodyPr wrap="none" lIns="0" tIns="0" rIns="0" bIns="0" rtlCol="0" anchor="t"/>
          <a:lstStyle/>
          <a:p>
            <a:pPr marL="0" indent="0">
              <a:lnSpc>
                <a:spcPts val="2600"/>
              </a:lnSpc>
              <a:buNone/>
            </a:pPr>
            <a:r>
              <a:rPr lang="en-US" sz="2100" b="1" dirty="0">
                <a:solidFill>
                  <a:srgbClr val="272525"/>
                </a:solidFill>
                <a:latin typeface="Petrona Bold" pitchFamily="34" charset="0"/>
                <a:ea typeface="Petrona Bold" pitchFamily="34" charset="-122"/>
                <a:cs typeface="Petrona Bold" pitchFamily="34" charset="-120"/>
              </a:rPr>
              <a:t>Syntax</a:t>
            </a:r>
            <a:endParaRPr lang="en-US" sz="2100" dirty="0"/>
          </a:p>
        </p:txBody>
      </p:sp>
      <p:sp>
        <p:nvSpPr>
          <p:cNvPr id="54" name="Shape 3">
            <a:extLst>
              <a:ext uri="{FF2B5EF4-FFF2-40B4-BE49-F238E27FC236}">
                <a16:creationId xmlns:a16="http://schemas.microsoft.com/office/drawing/2014/main" id="{1CA07F27-2072-4B99-83D3-26B9BB5875ED}"/>
              </a:ext>
            </a:extLst>
          </p:cNvPr>
          <p:cNvSpPr/>
          <p:nvPr/>
        </p:nvSpPr>
        <p:spPr>
          <a:xfrm>
            <a:off x="22512956" y="3442804"/>
            <a:ext cx="4462939" cy="635794"/>
          </a:xfrm>
          <a:prstGeom prst="roundRect">
            <a:avLst>
              <a:gd name="adj" fmla="val 4839"/>
            </a:avLst>
          </a:prstGeom>
          <a:solidFill>
            <a:srgbClr val="CCEEFF"/>
          </a:solidFill>
          <a:ln/>
          <a:effectLst>
            <a:outerShdw blurRad="50800" dist="38100" dir="8100000" algn="tr" rotWithShape="0">
              <a:prstClr val="black">
                <a:alpha val="40000"/>
              </a:prstClr>
            </a:outerShdw>
          </a:effectLst>
        </p:spPr>
      </p:sp>
      <p:sp>
        <p:nvSpPr>
          <p:cNvPr id="55" name="Text 4">
            <a:extLst>
              <a:ext uri="{FF2B5EF4-FFF2-40B4-BE49-F238E27FC236}">
                <a16:creationId xmlns:a16="http://schemas.microsoft.com/office/drawing/2014/main" id="{3E8DB601-C03E-4975-85BB-D8EEAC687423}"/>
              </a:ext>
            </a:extLst>
          </p:cNvPr>
          <p:cNvSpPr/>
          <p:nvPr/>
        </p:nvSpPr>
        <p:spPr>
          <a:xfrm>
            <a:off x="22717982" y="3596633"/>
            <a:ext cx="4052888" cy="328136"/>
          </a:xfrm>
          <a:prstGeom prst="rect">
            <a:avLst/>
          </a:prstGeom>
          <a:noFill/>
          <a:ln/>
        </p:spPr>
        <p:txBody>
          <a:bodyPr wrap="none" lIns="0" tIns="0" rIns="0" bIns="0" rtlCol="0" anchor="t"/>
          <a:lstStyle/>
          <a:p>
            <a:pPr marL="0" indent="0" algn="r">
              <a:lnSpc>
                <a:spcPts val="2550"/>
              </a:lnSpc>
              <a:buNone/>
            </a:pPr>
            <a:r>
              <a:rPr lang="en-US" sz="1600" dirty="0">
                <a:solidFill>
                  <a:srgbClr val="272525"/>
                </a:solidFill>
                <a:highlight>
                  <a:srgbClr val="CCEEFF"/>
                </a:highlight>
                <a:latin typeface="Consolas" pitchFamily="34" charset="0"/>
                <a:ea typeface="Consolas" pitchFamily="34" charset="-122"/>
                <a:cs typeface="Consolas" pitchFamily="34" charset="-120"/>
              </a:rPr>
              <a:t>objectArray[index].memberFunction();</a:t>
            </a:r>
            <a:endParaRPr lang="en-US" sz="1600" dirty="0"/>
          </a:p>
        </p:txBody>
      </p:sp>
      <p:sp>
        <p:nvSpPr>
          <p:cNvPr id="56" name="Shape 6">
            <a:extLst>
              <a:ext uri="{FF2B5EF4-FFF2-40B4-BE49-F238E27FC236}">
                <a16:creationId xmlns:a16="http://schemas.microsoft.com/office/drawing/2014/main" id="{88C87AD4-7367-4F45-823A-557B5BEE6C7B}"/>
              </a:ext>
            </a:extLst>
          </p:cNvPr>
          <p:cNvSpPr/>
          <p:nvPr/>
        </p:nvSpPr>
        <p:spPr>
          <a:xfrm>
            <a:off x="22512956" y="4309341"/>
            <a:ext cx="4462939" cy="635794"/>
          </a:xfrm>
          <a:prstGeom prst="roundRect">
            <a:avLst>
              <a:gd name="adj" fmla="val 4839"/>
            </a:avLst>
          </a:prstGeom>
          <a:solidFill>
            <a:srgbClr val="CCEEFF"/>
          </a:solidFill>
          <a:ln/>
          <a:effectLst>
            <a:outerShdw blurRad="50800" dist="38100" dir="8100000" algn="tr" rotWithShape="0">
              <a:prstClr val="black">
                <a:alpha val="40000"/>
              </a:prstClr>
            </a:outerShdw>
          </a:effectLst>
        </p:spPr>
      </p:sp>
      <p:sp>
        <p:nvSpPr>
          <p:cNvPr id="57" name="Text 7">
            <a:extLst>
              <a:ext uri="{FF2B5EF4-FFF2-40B4-BE49-F238E27FC236}">
                <a16:creationId xmlns:a16="http://schemas.microsoft.com/office/drawing/2014/main" id="{12882623-5070-4A22-8BEF-E2EC806EEEEC}"/>
              </a:ext>
            </a:extLst>
          </p:cNvPr>
          <p:cNvSpPr/>
          <p:nvPr/>
        </p:nvSpPr>
        <p:spPr>
          <a:xfrm>
            <a:off x="22717982" y="4463170"/>
            <a:ext cx="4052888" cy="328136"/>
          </a:xfrm>
          <a:prstGeom prst="rect">
            <a:avLst/>
          </a:prstGeom>
          <a:noFill/>
          <a:ln/>
        </p:spPr>
        <p:txBody>
          <a:bodyPr wrap="none" lIns="0" tIns="0" rIns="0" bIns="0" rtlCol="0" anchor="t"/>
          <a:lstStyle/>
          <a:p>
            <a:pPr marL="0" indent="0" algn="r">
              <a:lnSpc>
                <a:spcPts val="2550"/>
              </a:lnSpc>
              <a:buNone/>
            </a:pPr>
            <a:r>
              <a:rPr lang="en-US" sz="1600" dirty="0">
                <a:solidFill>
                  <a:srgbClr val="272525"/>
                </a:solidFill>
                <a:highlight>
                  <a:srgbClr val="CCEEFF"/>
                </a:highlight>
                <a:latin typeface="Consolas" pitchFamily="34" charset="0"/>
                <a:ea typeface="Consolas" pitchFamily="34" charset="-122"/>
                <a:cs typeface="Consolas" pitchFamily="34" charset="-120"/>
              </a:rPr>
              <a:t>objectArray[index].memberVariable;</a:t>
            </a:r>
            <a:endParaRPr lang="en-US" sz="1600" dirty="0"/>
          </a:p>
        </p:txBody>
      </p:sp>
      <p:sp>
        <p:nvSpPr>
          <p:cNvPr id="58" name="Shape 8">
            <a:extLst>
              <a:ext uri="{FF2B5EF4-FFF2-40B4-BE49-F238E27FC236}">
                <a16:creationId xmlns:a16="http://schemas.microsoft.com/office/drawing/2014/main" id="{6A033A8D-8E6A-4554-BDE6-EA219144627C}"/>
              </a:ext>
            </a:extLst>
          </p:cNvPr>
          <p:cNvSpPr/>
          <p:nvPr/>
        </p:nvSpPr>
        <p:spPr>
          <a:xfrm>
            <a:off x="21858682" y="2742593"/>
            <a:ext cx="512683" cy="512683"/>
          </a:xfrm>
          <a:prstGeom prst="roundRect">
            <a:avLst>
              <a:gd name="adj" fmla="val 1781775"/>
            </a:avLst>
          </a:prstGeom>
          <a:solidFill>
            <a:srgbClr val="CCEEFF"/>
          </a:solidFill>
          <a:ln w="7620">
            <a:solidFill>
              <a:srgbClr val="B2D4E5"/>
            </a:solidFill>
            <a:prstDash val="solid"/>
          </a:ln>
          <a:effectLst>
            <a:innerShdw blurRad="63500" dist="50800">
              <a:prstClr val="black">
                <a:alpha val="50000"/>
              </a:prstClr>
            </a:innerShdw>
          </a:effectLst>
        </p:spPr>
      </p:sp>
      <p:pic>
        <p:nvPicPr>
          <p:cNvPr id="59" name="Image 1" descr="preencoded.png">
            <a:extLst>
              <a:ext uri="{FF2B5EF4-FFF2-40B4-BE49-F238E27FC236}">
                <a16:creationId xmlns:a16="http://schemas.microsoft.com/office/drawing/2014/main" id="{7329C4CB-BFBA-49C5-B14A-789B108D3515}"/>
              </a:ext>
            </a:extLst>
          </p:cNvPr>
          <p:cNvPicPr>
            <a:picLocks noChangeAspect="1"/>
          </p:cNvPicPr>
          <p:nvPr/>
        </p:nvPicPr>
        <p:blipFill>
          <a:blip r:embed="rId7"/>
          <a:stretch>
            <a:fillRect/>
          </a:stretch>
        </p:blipFill>
        <p:spPr>
          <a:xfrm>
            <a:off x="21999652" y="2854750"/>
            <a:ext cx="230743" cy="288369"/>
          </a:xfrm>
          <a:prstGeom prst="rect">
            <a:avLst/>
          </a:prstGeom>
        </p:spPr>
      </p:pic>
      <p:sp>
        <p:nvSpPr>
          <p:cNvPr id="60" name="Text 9">
            <a:extLst>
              <a:ext uri="{FF2B5EF4-FFF2-40B4-BE49-F238E27FC236}">
                <a16:creationId xmlns:a16="http://schemas.microsoft.com/office/drawing/2014/main" id="{88B6F187-A1B6-4C81-AC4C-B7EA93F32B53}"/>
              </a:ext>
            </a:extLst>
          </p:cNvPr>
          <p:cNvSpPr/>
          <p:nvPr/>
        </p:nvSpPr>
        <p:spPr>
          <a:xfrm>
            <a:off x="23474436" y="3317133"/>
            <a:ext cx="2692122" cy="336471"/>
          </a:xfrm>
          <a:prstGeom prst="rect">
            <a:avLst/>
          </a:prstGeom>
          <a:noFill/>
          <a:ln/>
        </p:spPr>
        <p:txBody>
          <a:bodyPr wrap="none" lIns="0" tIns="0" rIns="0" bIns="0" rtlCol="0" anchor="t"/>
          <a:lstStyle/>
          <a:p>
            <a:pPr marL="0" indent="0" algn="l">
              <a:lnSpc>
                <a:spcPts val="2600"/>
              </a:lnSpc>
              <a:buNone/>
            </a:pPr>
            <a:r>
              <a:rPr lang="en-US" sz="2100" b="1" dirty="0">
                <a:solidFill>
                  <a:srgbClr val="272525"/>
                </a:solidFill>
                <a:latin typeface="Petrona Bold" pitchFamily="34" charset="0"/>
                <a:ea typeface="Petrona Bold" pitchFamily="34" charset="-122"/>
                <a:cs typeface="Petrona Bold" pitchFamily="34" charset="-120"/>
              </a:rPr>
              <a:t>Example Functions</a:t>
            </a:r>
            <a:endParaRPr lang="en-US" sz="2100" dirty="0"/>
          </a:p>
        </p:txBody>
      </p:sp>
      <p:sp>
        <p:nvSpPr>
          <p:cNvPr id="61" name="Shape 10">
            <a:extLst>
              <a:ext uri="{FF2B5EF4-FFF2-40B4-BE49-F238E27FC236}">
                <a16:creationId xmlns:a16="http://schemas.microsoft.com/office/drawing/2014/main" id="{8766D803-CBB6-498F-B285-03B479D2FFEF}"/>
              </a:ext>
            </a:extLst>
          </p:cNvPr>
          <p:cNvSpPr/>
          <p:nvPr/>
        </p:nvSpPr>
        <p:spPr>
          <a:xfrm>
            <a:off x="22499269" y="4100597"/>
            <a:ext cx="4442460" cy="635794"/>
          </a:xfrm>
          <a:prstGeom prst="roundRect">
            <a:avLst>
              <a:gd name="adj" fmla="val 13550"/>
            </a:avLst>
          </a:prstGeom>
          <a:solidFill>
            <a:srgbClr val="CCEEFF"/>
          </a:solidFill>
          <a:ln/>
        </p:spPr>
      </p:sp>
      <p:sp>
        <p:nvSpPr>
          <p:cNvPr id="62" name="Shape 11">
            <a:extLst>
              <a:ext uri="{FF2B5EF4-FFF2-40B4-BE49-F238E27FC236}">
                <a16:creationId xmlns:a16="http://schemas.microsoft.com/office/drawing/2014/main" id="{A1D0314E-F561-46B7-8ED4-6391FD6C2B01}"/>
              </a:ext>
            </a:extLst>
          </p:cNvPr>
          <p:cNvSpPr/>
          <p:nvPr/>
        </p:nvSpPr>
        <p:spPr>
          <a:xfrm>
            <a:off x="22489030" y="4100597"/>
            <a:ext cx="4462939" cy="635794"/>
          </a:xfrm>
          <a:prstGeom prst="roundRect">
            <a:avLst>
              <a:gd name="adj" fmla="val 4839"/>
            </a:avLst>
          </a:prstGeom>
          <a:solidFill>
            <a:srgbClr val="CCEEFF"/>
          </a:solidFill>
          <a:ln/>
          <a:effectLst>
            <a:outerShdw blurRad="50800" dist="38100" dir="8100000" algn="tr" rotWithShape="0">
              <a:prstClr val="black">
                <a:alpha val="40000"/>
              </a:prstClr>
            </a:outerShdw>
          </a:effectLst>
        </p:spPr>
      </p:sp>
      <p:sp>
        <p:nvSpPr>
          <p:cNvPr id="63" name="Text 12">
            <a:extLst>
              <a:ext uri="{FF2B5EF4-FFF2-40B4-BE49-F238E27FC236}">
                <a16:creationId xmlns:a16="http://schemas.microsoft.com/office/drawing/2014/main" id="{DEE49CC7-FE06-40BC-875C-E86DEDCDC5A6}"/>
              </a:ext>
            </a:extLst>
          </p:cNvPr>
          <p:cNvSpPr/>
          <p:nvPr/>
        </p:nvSpPr>
        <p:spPr>
          <a:xfrm>
            <a:off x="22694055" y="4254426"/>
            <a:ext cx="4052888" cy="328136"/>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highlight>
                  <a:srgbClr val="CCEEFF"/>
                </a:highlight>
                <a:latin typeface="Consolas" pitchFamily="34" charset="0"/>
                <a:ea typeface="Consolas" pitchFamily="34" charset="-122"/>
                <a:cs typeface="Consolas" pitchFamily="34" charset="-120"/>
              </a:rPr>
              <a:t>myCars[0].accelerate();</a:t>
            </a:r>
            <a:endParaRPr lang="en-US" sz="1600" dirty="0"/>
          </a:p>
        </p:txBody>
      </p:sp>
      <p:sp>
        <p:nvSpPr>
          <p:cNvPr id="64" name="Text 13">
            <a:extLst>
              <a:ext uri="{FF2B5EF4-FFF2-40B4-BE49-F238E27FC236}">
                <a16:creationId xmlns:a16="http://schemas.microsoft.com/office/drawing/2014/main" id="{AF086F9E-A351-4C44-8CF7-15173D2F939D}"/>
              </a:ext>
            </a:extLst>
          </p:cNvPr>
          <p:cNvSpPr/>
          <p:nvPr/>
        </p:nvSpPr>
        <p:spPr>
          <a:xfrm>
            <a:off x="22230066" y="5262911"/>
            <a:ext cx="4442460" cy="328136"/>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 Invokes a method on the first object.</a:t>
            </a:r>
            <a:endParaRPr lang="en-US" sz="1600" dirty="0"/>
          </a:p>
        </p:txBody>
      </p:sp>
      <p:sp>
        <p:nvSpPr>
          <p:cNvPr id="65" name="Shape 14">
            <a:extLst>
              <a:ext uri="{FF2B5EF4-FFF2-40B4-BE49-F238E27FC236}">
                <a16:creationId xmlns:a16="http://schemas.microsoft.com/office/drawing/2014/main" id="{6B20A9BB-7388-404E-8E69-4950DAA38809}"/>
              </a:ext>
            </a:extLst>
          </p:cNvPr>
          <p:cNvSpPr/>
          <p:nvPr/>
        </p:nvSpPr>
        <p:spPr>
          <a:xfrm>
            <a:off x="21886359" y="2773656"/>
            <a:ext cx="512683" cy="512683"/>
          </a:xfrm>
          <a:prstGeom prst="roundRect">
            <a:avLst>
              <a:gd name="adj" fmla="val 1781775"/>
            </a:avLst>
          </a:prstGeom>
          <a:solidFill>
            <a:srgbClr val="CCEEFF"/>
          </a:solidFill>
          <a:ln w="7620">
            <a:solidFill>
              <a:srgbClr val="B2D4E5"/>
            </a:solidFill>
            <a:prstDash val="solid"/>
          </a:ln>
          <a:effectLst>
            <a:innerShdw blurRad="63500" dist="50800">
              <a:prstClr val="black">
                <a:alpha val="50000"/>
              </a:prstClr>
            </a:innerShdw>
          </a:effectLst>
        </p:spPr>
      </p:sp>
      <p:pic>
        <p:nvPicPr>
          <p:cNvPr id="66" name="Image 3" descr="preencoded.png">
            <a:extLst>
              <a:ext uri="{FF2B5EF4-FFF2-40B4-BE49-F238E27FC236}">
                <a16:creationId xmlns:a16="http://schemas.microsoft.com/office/drawing/2014/main" id="{78BE8FF5-2636-4FE8-A36E-4E373913E3C4}"/>
              </a:ext>
            </a:extLst>
          </p:cNvPr>
          <p:cNvPicPr>
            <a:picLocks noChangeAspect="1"/>
          </p:cNvPicPr>
          <p:nvPr/>
        </p:nvPicPr>
        <p:blipFill>
          <a:blip r:embed="rId8"/>
          <a:stretch>
            <a:fillRect/>
          </a:stretch>
        </p:blipFill>
        <p:spPr>
          <a:xfrm>
            <a:off x="22027329" y="2885813"/>
            <a:ext cx="230743" cy="288369"/>
          </a:xfrm>
          <a:prstGeom prst="rect">
            <a:avLst/>
          </a:prstGeom>
        </p:spPr>
      </p:pic>
      <p:sp>
        <p:nvSpPr>
          <p:cNvPr id="67" name="Text 15">
            <a:extLst>
              <a:ext uri="{FF2B5EF4-FFF2-40B4-BE49-F238E27FC236}">
                <a16:creationId xmlns:a16="http://schemas.microsoft.com/office/drawing/2014/main" id="{52FB7904-1F80-4A15-AD1A-A4562BFF2E5B}"/>
              </a:ext>
            </a:extLst>
          </p:cNvPr>
          <p:cNvSpPr/>
          <p:nvPr/>
        </p:nvSpPr>
        <p:spPr>
          <a:xfrm>
            <a:off x="22599267" y="3235388"/>
            <a:ext cx="2692122" cy="336471"/>
          </a:xfrm>
          <a:prstGeom prst="rect">
            <a:avLst/>
          </a:prstGeom>
          <a:noFill/>
          <a:ln/>
        </p:spPr>
        <p:txBody>
          <a:bodyPr wrap="none" lIns="0" tIns="0" rIns="0" bIns="0" rtlCol="0" anchor="t"/>
          <a:lstStyle/>
          <a:p>
            <a:pPr marL="0" indent="0" algn="l">
              <a:lnSpc>
                <a:spcPts val="2600"/>
              </a:lnSpc>
              <a:buNone/>
            </a:pPr>
            <a:r>
              <a:rPr lang="en-US" sz="2100" b="1" dirty="0">
                <a:solidFill>
                  <a:srgbClr val="272525"/>
                </a:solidFill>
                <a:latin typeface="Petrona Bold" pitchFamily="34" charset="0"/>
                <a:ea typeface="Petrona Bold" pitchFamily="34" charset="-122"/>
                <a:cs typeface="Petrona Bold" pitchFamily="34" charset="-120"/>
              </a:rPr>
              <a:t>Example Variables</a:t>
            </a:r>
            <a:endParaRPr lang="en-US" sz="2100" dirty="0"/>
          </a:p>
        </p:txBody>
      </p:sp>
      <p:sp>
        <p:nvSpPr>
          <p:cNvPr id="68" name="Shape 16">
            <a:extLst>
              <a:ext uri="{FF2B5EF4-FFF2-40B4-BE49-F238E27FC236}">
                <a16:creationId xmlns:a16="http://schemas.microsoft.com/office/drawing/2014/main" id="{F904C82E-4D70-4E66-AD68-B8F69D99310E}"/>
              </a:ext>
            </a:extLst>
          </p:cNvPr>
          <p:cNvSpPr/>
          <p:nvPr/>
        </p:nvSpPr>
        <p:spPr>
          <a:xfrm>
            <a:off x="22599267" y="3802602"/>
            <a:ext cx="4442460" cy="635794"/>
          </a:xfrm>
          <a:prstGeom prst="roundRect">
            <a:avLst>
              <a:gd name="adj" fmla="val 13550"/>
            </a:avLst>
          </a:prstGeom>
          <a:solidFill>
            <a:srgbClr val="CCEEFF"/>
          </a:solidFill>
          <a:ln/>
        </p:spPr>
      </p:sp>
      <p:sp>
        <p:nvSpPr>
          <p:cNvPr id="69" name="Shape 17">
            <a:extLst>
              <a:ext uri="{FF2B5EF4-FFF2-40B4-BE49-F238E27FC236}">
                <a16:creationId xmlns:a16="http://schemas.microsoft.com/office/drawing/2014/main" id="{EBC05F05-7F9B-49A5-B57A-EC6E6B7A5A61}"/>
              </a:ext>
            </a:extLst>
          </p:cNvPr>
          <p:cNvSpPr/>
          <p:nvPr/>
        </p:nvSpPr>
        <p:spPr>
          <a:xfrm>
            <a:off x="22589028" y="3802602"/>
            <a:ext cx="4462939" cy="635794"/>
          </a:xfrm>
          <a:prstGeom prst="roundRect">
            <a:avLst>
              <a:gd name="adj" fmla="val 4839"/>
            </a:avLst>
          </a:prstGeom>
          <a:solidFill>
            <a:srgbClr val="CCEEFF"/>
          </a:solidFill>
          <a:ln/>
          <a:effectLst>
            <a:outerShdw blurRad="50800" dist="38100" dir="8100000" algn="tr" rotWithShape="0">
              <a:prstClr val="black">
                <a:alpha val="40000"/>
              </a:prstClr>
            </a:outerShdw>
          </a:effectLst>
        </p:spPr>
      </p:sp>
      <p:sp>
        <p:nvSpPr>
          <p:cNvPr id="70" name="Text 18">
            <a:extLst>
              <a:ext uri="{FF2B5EF4-FFF2-40B4-BE49-F238E27FC236}">
                <a16:creationId xmlns:a16="http://schemas.microsoft.com/office/drawing/2014/main" id="{0EE5CA74-7BCB-4854-96EE-A603675396DD}"/>
              </a:ext>
            </a:extLst>
          </p:cNvPr>
          <p:cNvSpPr/>
          <p:nvPr/>
        </p:nvSpPr>
        <p:spPr>
          <a:xfrm>
            <a:off x="22794053" y="3956430"/>
            <a:ext cx="4052888" cy="328136"/>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highlight>
                  <a:srgbClr val="CCEEFF"/>
                </a:highlight>
                <a:latin typeface="Consolas" pitchFamily="34" charset="0"/>
                <a:ea typeface="Consolas" pitchFamily="34" charset="-122"/>
                <a:cs typeface="Consolas" pitchFamily="34" charset="-120"/>
              </a:rPr>
              <a:t>cout &lt;&lt; myCars[1].color;</a:t>
            </a:r>
            <a:endParaRPr lang="en-US" sz="1600" dirty="0"/>
          </a:p>
        </p:txBody>
      </p:sp>
      <p:sp>
        <p:nvSpPr>
          <p:cNvPr id="71" name="Text 19">
            <a:extLst>
              <a:ext uri="{FF2B5EF4-FFF2-40B4-BE49-F238E27FC236}">
                <a16:creationId xmlns:a16="http://schemas.microsoft.com/office/drawing/2014/main" id="{04C4FFA0-F973-4FF5-B792-3BBBAD355DEF}"/>
              </a:ext>
            </a:extLst>
          </p:cNvPr>
          <p:cNvSpPr/>
          <p:nvPr/>
        </p:nvSpPr>
        <p:spPr>
          <a:xfrm>
            <a:off x="22599267" y="4669138"/>
            <a:ext cx="4442460" cy="328136"/>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 Accesses a property of the second object.</a:t>
            </a:r>
            <a:endParaRPr lang="en-US" sz="1600" dirty="0"/>
          </a:p>
        </p:txBody>
      </p:sp>
      <p:sp>
        <p:nvSpPr>
          <p:cNvPr id="72" name="Shape 20">
            <a:extLst>
              <a:ext uri="{FF2B5EF4-FFF2-40B4-BE49-F238E27FC236}">
                <a16:creationId xmlns:a16="http://schemas.microsoft.com/office/drawing/2014/main" id="{85F35BED-180A-4921-A73A-937EE24094BA}"/>
              </a:ext>
            </a:extLst>
          </p:cNvPr>
          <p:cNvSpPr/>
          <p:nvPr/>
        </p:nvSpPr>
        <p:spPr>
          <a:xfrm>
            <a:off x="21881070" y="2698633"/>
            <a:ext cx="512683" cy="512683"/>
          </a:xfrm>
          <a:prstGeom prst="roundRect">
            <a:avLst>
              <a:gd name="adj" fmla="val 1781775"/>
            </a:avLst>
          </a:prstGeom>
          <a:solidFill>
            <a:srgbClr val="CCEEFF"/>
          </a:solidFill>
          <a:ln w="7620">
            <a:solidFill>
              <a:srgbClr val="B2D4E5"/>
            </a:solidFill>
            <a:prstDash val="solid"/>
          </a:ln>
          <a:effectLst>
            <a:innerShdw blurRad="63500" dist="50800">
              <a:prstClr val="black">
                <a:alpha val="50000"/>
              </a:prstClr>
            </a:innerShdw>
          </a:effectLst>
        </p:spPr>
      </p:sp>
      <p:pic>
        <p:nvPicPr>
          <p:cNvPr id="73" name="Image 5" descr="preencoded.png">
            <a:extLst>
              <a:ext uri="{FF2B5EF4-FFF2-40B4-BE49-F238E27FC236}">
                <a16:creationId xmlns:a16="http://schemas.microsoft.com/office/drawing/2014/main" id="{DCAF5A03-22BD-4789-B7E4-AF9E00155E08}"/>
              </a:ext>
            </a:extLst>
          </p:cNvPr>
          <p:cNvPicPr>
            <a:picLocks noChangeAspect="1"/>
          </p:cNvPicPr>
          <p:nvPr/>
        </p:nvPicPr>
        <p:blipFill>
          <a:blip r:embed="rId9"/>
          <a:stretch>
            <a:fillRect/>
          </a:stretch>
        </p:blipFill>
        <p:spPr>
          <a:xfrm>
            <a:off x="22022040" y="2810790"/>
            <a:ext cx="230743" cy="288369"/>
          </a:xfrm>
          <a:prstGeom prst="rect">
            <a:avLst/>
          </a:prstGeom>
        </p:spPr>
      </p:pic>
      <p:sp>
        <p:nvSpPr>
          <p:cNvPr id="74" name="Text 21">
            <a:extLst>
              <a:ext uri="{FF2B5EF4-FFF2-40B4-BE49-F238E27FC236}">
                <a16:creationId xmlns:a16="http://schemas.microsoft.com/office/drawing/2014/main" id="{5030D096-8FC1-4064-8E8A-B0FE62F9E90B}"/>
              </a:ext>
            </a:extLst>
          </p:cNvPr>
          <p:cNvSpPr/>
          <p:nvPr/>
        </p:nvSpPr>
        <p:spPr>
          <a:xfrm>
            <a:off x="23288205" y="3698453"/>
            <a:ext cx="2692122" cy="336471"/>
          </a:xfrm>
          <a:prstGeom prst="rect">
            <a:avLst/>
          </a:prstGeom>
          <a:noFill/>
          <a:ln/>
        </p:spPr>
        <p:txBody>
          <a:bodyPr wrap="none" lIns="0" tIns="0" rIns="0" bIns="0" rtlCol="0" anchor="t"/>
          <a:lstStyle/>
          <a:p>
            <a:pPr marL="0" indent="0">
              <a:lnSpc>
                <a:spcPts val="2600"/>
              </a:lnSpc>
              <a:buNone/>
            </a:pPr>
            <a:r>
              <a:rPr lang="en-US" sz="2100" b="1" dirty="0">
                <a:solidFill>
                  <a:srgbClr val="272525"/>
                </a:solidFill>
                <a:latin typeface="Petrona Bold" pitchFamily="34" charset="0"/>
                <a:ea typeface="Petrona Bold" pitchFamily="34" charset="-122"/>
                <a:cs typeface="Petrona Bold" pitchFamily="34" charset="-120"/>
              </a:rPr>
              <a:t>Indexing</a:t>
            </a:r>
            <a:endParaRPr lang="en-US" sz="2100" dirty="0"/>
          </a:p>
        </p:txBody>
      </p:sp>
      <p:sp>
        <p:nvSpPr>
          <p:cNvPr id="75" name="Text 22">
            <a:extLst>
              <a:ext uri="{FF2B5EF4-FFF2-40B4-BE49-F238E27FC236}">
                <a16:creationId xmlns:a16="http://schemas.microsoft.com/office/drawing/2014/main" id="{1FDC402C-972C-43A4-B972-77DBECD1DB47}"/>
              </a:ext>
            </a:extLst>
          </p:cNvPr>
          <p:cNvSpPr/>
          <p:nvPr/>
        </p:nvSpPr>
        <p:spPr>
          <a:xfrm>
            <a:off x="22569406" y="3047248"/>
            <a:ext cx="4442460" cy="328136"/>
          </a:xfrm>
          <a:prstGeom prst="rect">
            <a:avLst/>
          </a:prstGeom>
          <a:noFill/>
          <a:ln/>
        </p:spPr>
        <p:txBody>
          <a:bodyPr wrap="none" lIns="0" tIns="0" rIns="0" bIns="0" rtlCol="0" anchor="t"/>
          <a:lstStyle/>
          <a:p>
            <a:pPr marL="0" indent="0">
              <a:lnSpc>
                <a:spcPts val="2550"/>
              </a:lnSpc>
              <a:buNone/>
            </a:pPr>
            <a:r>
              <a:rPr lang="en-US" sz="1600" dirty="0">
                <a:solidFill>
                  <a:srgbClr val="272525"/>
                </a:solidFill>
                <a:latin typeface="Inter" pitchFamily="34" charset="0"/>
                <a:ea typeface="Inter" pitchFamily="34" charset="-122"/>
                <a:cs typeface="Inter" pitchFamily="34" charset="-120"/>
              </a:rPr>
              <a:t>Arrays use 0-based indexing, from</a:t>
            </a:r>
            <a:endParaRPr lang="en-US" sz="1600" dirty="0"/>
          </a:p>
        </p:txBody>
      </p:sp>
      <p:sp>
        <p:nvSpPr>
          <p:cNvPr id="76" name="Shape 23">
            <a:extLst>
              <a:ext uri="{FF2B5EF4-FFF2-40B4-BE49-F238E27FC236}">
                <a16:creationId xmlns:a16="http://schemas.microsoft.com/office/drawing/2014/main" id="{8D853ABA-710B-4038-8572-96500C4D3797}"/>
              </a:ext>
            </a:extLst>
          </p:cNvPr>
          <p:cNvSpPr/>
          <p:nvPr/>
        </p:nvSpPr>
        <p:spPr>
          <a:xfrm>
            <a:off x="22502632" y="3472201"/>
            <a:ext cx="4442460" cy="635794"/>
          </a:xfrm>
          <a:prstGeom prst="roundRect">
            <a:avLst>
              <a:gd name="adj" fmla="val 13550"/>
            </a:avLst>
          </a:prstGeom>
          <a:solidFill>
            <a:srgbClr val="CCEEFF"/>
          </a:solidFill>
          <a:ln/>
          <a:effectLst>
            <a:outerShdw blurRad="50800" dist="38100" dir="8100000" algn="tr" rotWithShape="0">
              <a:prstClr val="black">
                <a:alpha val="40000"/>
              </a:prstClr>
            </a:outerShdw>
          </a:effectLst>
        </p:spPr>
      </p:sp>
      <p:sp>
        <p:nvSpPr>
          <p:cNvPr id="77" name="Text 25">
            <a:extLst>
              <a:ext uri="{FF2B5EF4-FFF2-40B4-BE49-F238E27FC236}">
                <a16:creationId xmlns:a16="http://schemas.microsoft.com/office/drawing/2014/main" id="{6CD50CA8-40E0-4781-B9B5-92CA73D2E1C4}"/>
              </a:ext>
            </a:extLst>
          </p:cNvPr>
          <p:cNvSpPr/>
          <p:nvPr/>
        </p:nvSpPr>
        <p:spPr>
          <a:xfrm>
            <a:off x="22652859" y="3626030"/>
            <a:ext cx="4052888" cy="328136"/>
          </a:xfrm>
          <a:prstGeom prst="rect">
            <a:avLst/>
          </a:prstGeom>
          <a:noFill/>
          <a:ln/>
        </p:spPr>
        <p:txBody>
          <a:bodyPr wrap="none" lIns="0" tIns="0" rIns="0" bIns="0" rtlCol="0" anchor="t"/>
          <a:lstStyle/>
          <a:p>
            <a:pPr marL="0" indent="0" algn="r">
              <a:lnSpc>
                <a:spcPts val="2550"/>
              </a:lnSpc>
              <a:buNone/>
            </a:pPr>
            <a:r>
              <a:rPr lang="en-US" sz="1600" dirty="0">
                <a:solidFill>
                  <a:srgbClr val="272525"/>
                </a:solidFill>
                <a:highlight>
                  <a:srgbClr val="CCEEFF"/>
                </a:highlight>
                <a:latin typeface="Consolas" pitchFamily="34" charset="0"/>
                <a:ea typeface="Consolas" pitchFamily="34" charset="-122"/>
                <a:cs typeface="Consolas" pitchFamily="34" charset="-120"/>
              </a:rPr>
              <a:t>0 to (</a:t>
            </a:r>
            <a:r>
              <a:rPr lang="en-US" sz="1600" dirty="0" err="1">
                <a:solidFill>
                  <a:srgbClr val="272525"/>
                </a:solidFill>
                <a:highlight>
                  <a:srgbClr val="CCEEFF"/>
                </a:highlight>
                <a:latin typeface="Consolas" pitchFamily="34" charset="0"/>
                <a:ea typeface="Consolas" pitchFamily="34" charset="-122"/>
                <a:cs typeface="Consolas" pitchFamily="34" charset="-120"/>
              </a:rPr>
              <a:t>arraySize</a:t>
            </a:r>
            <a:r>
              <a:rPr lang="en-US" sz="1600" dirty="0">
                <a:solidFill>
                  <a:srgbClr val="272525"/>
                </a:solidFill>
                <a:highlight>
                  <a:srgbClr val="CCEEFF"/>
                </a:highlight>
                <a:latin typeface="Consolas" pitchFamily="34" charset="0"/>
                <a:ea typeface="Consolas" pitchFamily="34" charset="-122"/>
                <a:cs typeface="Consolas" pitchFamily="34" charset="-120"/>
              </a:rPr>
              <a:t> - 1)</a:t>
            </a:r>
            <a:endParaRPr lang="en-US" sz="1600" dirty="0"/>
          </a:p>
        </p:txBody>
      </p:sp>
      <p:sp>
        <p:nvSpPr>
          <p:cNvPr id="78" name="Shape 31">
            <a:extLst>
              <a:ext uri="{FF2B5EF4-FFF2-40B4-BE49-F238E27FC236}">
                <a16:creationId xmlns:a16="http://schemas.microsoft.com/office/drawing/2014/main" id="{087AAD88-52E1-4698-BBAF-08853E771028}"/>
              </a:ext>
            </a:extLst>
          </p:cNvPr>
          <p:cNvSpPr/>
          <p:nvPr/>
        </p:nvSpPr>
        <p:spPr>
          <a:xfrm>
            <a:off x="21871358" y="2773657"/>
            <a:ext cx="512683" cy="512683"/>
          </a:xfrm>
          <a:prstGeom prst="roundRect">
            <a:avLst>
              <a:gd name="adj" fmla="val 1781775"/>
            </a:avLst>
          </a:prstGeom>
          <a:solidFill>
            <a:srgbClr val="CCEEFF"/>
          </a:solidFill>
          <a:ln w="7620">
            <a:solidFill>
              <a:srgbClr val="B2D4E5"/>
            </a:solidFill>
            <a:prstDash val="solid"/>
          </a:ln>
          <a:effectLst>
            <a:innerShdw blurRad="63500" dist="50800">
              <a:prstClr val="black">
                <a:alpha val="50000"/>
              </a:prstClr>
            </a:innerShdw>
          </a:effectLst>
        </p:spPr>
      </p:sp>
      <p:pic>
        <p:nvPicPr>
          <p:cNvPr id="79" name="Image 7" descr="preencoded.png">
            <a:extLst>
              <a:ext uri="{FF2B5EF4-FFF2-40B4-BE49-F238E27FC236}">
                <a16:creationId xmlns:a16="http://schemas.microsoft.com/office/drawing/2014/main" id="{B8683924-8CFC-4DC5-B7DD-67CB144D0600}"/>
              </a:ext>
            </a:extLst>
          </p:cNvPr>
          <p:cNvPicPr>
            <a:picLocks noChangeAspect="1"/>
          </p:cNvPicPr>
          <p:nvPr/>
        </p:nvPicPr>
        <p:blipFill>
          <a:blip r:embed="rId10"/>
          <a:stretch>
            <a:fillRect/>
          </a:stretch>
        </p:blipFill>
        <p:spPr>
          <a:xfrm>
            <a:off x="21999323" y="2885813"/>
            <a:ext cx="230743" cy="288369"/>
          </a:xfrm>
          <a:prstGeom prst="rect">
            <a:avLst/>
          </a:prstGeom>
        </p:spPr>
      </p:pic>
    </p:spTree>
    <p:extLst>
      <p:ext uri="{BB962C8B-B14F-4D97-AF65-F5344CB8AC3E}">
        <p14:creationId xmlns:p14="http://schemas.microsoft.com/office/powerpoint/2010/main" val="89473455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1355775" y="-9144"/>
            <a:ext cx="4974336" cy="8238744"/>
          </a:xfrm>
          <a:prstGeom prst="rect">
            <a:avLst/>
          </a:prstGeom>
        </p:spPr>
      </p:pic>
      <p:sp>
        <p:nvSpPr>
          <p:cNvPr id="7" name="Text 0">
            <a:extLst>
              <a:ext uri="{FF2B5EF4-FFF2-40B4-BE49-F238E27FC236}">
                <a16:creationId xmlns:a16="http://schemas.microsoft.com/office/drawing/2014/main" id="{E1521397-B36A-447F-8CAE-E1EB5C22C3B3}"/>
              </a:ext>
            </a:extLst>
          </p:cNvPr>
          <p:cNvSpPr/>
          <p:nvPr/>
        </p:nvSpPr>
        <p:spPr>
          <a:xfrm>
            <a:off x="5332160" y="604756"/>
            <a:ext cx="6619161" cy="672941"/>
          </a:xfrm>
          <a:prstGeom prst="rect">
            <a:avLst/>
          </a:prstGeom>
          <a:noFill/>
          <a:ln/>
        </p:spPr>
        <p:txBody>
          <a:bodyPr wrap="none" lIns="0" tIns="0" rIns="0" bIns="0" rtlCol="0" anchor="t"/>
          <a:lstStyle/>
          <a:p>
            <a:pPr marL="0" indent="0" algn="l">
              <a:lnSpc>
                <a:spcPts val="5250"/>
              </a:lnSpc>
              <a:buNone/>
            </a:pPr>
            <a:r>
              <a:rPr lang="en-US" sz="4200" b="1" dirty="0">
                <a:solidFill>
                  <a:srgbClr val="000000"/>
                </a:solidFill>
                <a:latin typeface="Berlin Sans FB Demi" panose="020E0802020502020306" pitchFamily="34" charset="0"/>
                <a:ea typeface="Petrona Bold" pitchFamily="34" charset="-122"/>
                <a:cs typeface="Petrona Bold" pitchFamily="34" charset="-120"/>
              </a:rPr>
              <a:t>Accessing Object Members</a:t>
            </a:r>
            <a:endParaRPr lang="en-US" sz="4200" dirty="0">
              <a:latin typeface="Berlin Sans FB Demi" panose="020E0802020502020306" pitchFamily="34" charset="0"/>
            </a:endParaRPr>
          </a:p>
        </p:txBody>
      </p:sp>
      <p:sp>
        <p:nvSpPr>
          <p:cNvPr id="9" name="Text 1">
            <a:extLst>
              <a:ext uri="{FF2B5EF4-FFF2-40B4-BE49-F238E27FC236}">
                <a16:creationId xmlns:a16="http://schemas.microsoft.com/office/drawing/2014/main" id="{3438F2D8-1A49-4201-82C5-E548220ED869}"/>
              </a:ext>
            </a:extLst>
          </p:cNvPr>
          <p:cNvSpPr/>
          <p:nvPr/>
        </p:nvSpPr>
        <p:spPr>
          <a:xfrm>
            <a:off x="4287151" y="2032609"/>
            <a:ext cx="2692122" cy="336471"/>
          </a:xfrm>
          <a:prstGeom prst="rect">
            <a:avLst/>
          </a:prstGeom>
          <a:noFill/>
          <a:ln/>
        </p:spPr>
        <p:txBody>
          <a:bodyPr wrap="none" lIns="0" tIns="0" rIns="0" bIns="0" rtlCol="0" anchor="t"/>
          <a:lstStyle/>
          <a:p>
            <a:pPr marL="0" indent="0">
              <a:lnSpc>
                <a:spcPts val="2600"/>
              </a:lnSpc>
              <a:buNone/>
            </a:pPr>
            <a:r>
              <a:rPr lang="en-US" sz="2100" b="1" dirty="0">
                <a:solidFill>
                  <a:srgbClr val="272525"/>
                </a:solidFill>
                <a:latin typeface="Berlin Sans FB Demi" panose="020E0802020502020306" pitchFamily="34" charset="0"/>
                <a:ea typeface="Petrona Bold" pitchFamily="34" charset="-122"/>
                <a:cs typeface="Petrona Bold" pitchFamily="34" charset="-120"/>
              </a:rPr>
              <a:t>Syntax</a:t>
            </a:r>
            <a:endParaRPr lang="en-US" sz="2100" dirty="0">
              <a:latin typeface="Berlin Sans FB Demi" panose="020E0802020502020306" pitchFamily="34" charset="0"/>
            </a:endParaRPr>
          </a:p>
        </p:txBody>
      </p:sp>
      <p:sp>
        <p:nvSpPr>
          <p:cNvPr id="11" name="Shape 3">
            <a:extLst>
              <a:ext uri="{FF2B5EF4-FFF2-40B4-BE49-F238E27FC236}">
                <a16:creationId xmlns:a16="http://schemas.microsoft.com/office/drawing/2014/main" id="{68AEDB45-53C9-45D4-AACF-64999A0DE176}"/>
              </a:ext>
            </a:extLst>
          </p:cNvPr>
          <p:cNvSpPr/>
          <p:nvPr/>
        </p:nvSpPr>
        <p:spPr>
          <a:xfrm>
            <a:off x="4287151" y="2637702"/>
            <a:ext cx="4462939" cy="635794"/>
          </a:xfrm>
          <a:prstGeom prst="roundRect">
            <a:avLst>
              <a:gd name="adj" fmla="val 4839"/>
            </a:avLst>
          </a:prstGeom>
          <a:solidFill>
            <a:srgbClr val="CCEEFF"/>
          </a:solidFill>
          <a:ln/>
          <a:effectLst>
            <a:outerShdw blurRad="50800" dist="38100" dir="8100000" algn="tr" rotWithShape="0">
              <a:prstClr val="black">
                <a:alpha val="40000"/>
              </a:prstClr>
            </a:outerShdw>
          </a:effectLst>
        </p:spPr>
      </p:sp>
      <p:sp>
        <p:nvSpPr>
          <p:cNvPr id="12" name="Text 4">
            <a:extLst>
              <a:ext uri="{FF2B5EF4-FFF2-40B4-BE49-F238E27FC236}">
                <a16:creationId xmlns:a16="http://schemas.microsoft.com/office/drawing/2014/main" id="{B21DE39F-C1DD-4DFF-9802-68F66019CFB1}"/>
              </a:ext>
            </a:extLst>
          </p:cNvPr>
          <p:cNvSpPr/>
          <p:nvPr/>
        </p:nvSpPr>
        <p:spPr>
          <a:xfrm>
            <a:off x="4492177" y="2791531"/>
            <a:ext cx="4052888" cy="328136"/>
          </a:xfrm>
          <a:prstGeom prst="rect">
            <a:avLst/>
          </a:prstGeom>
          <a:noFill/>
          <a:ln/>
        </p:spPr>
        <p:txBody>
          <a:bodyPr wrap="none" lIns="0" tIns="0" rIns="0" bIns="0" rtlCol="0" anchor="t"/>
          <a:lstStyle/>
          <a:p>
            <a:pPr marL="0" indent="0" algn="r">
              <a:lnSpc>
                <a:spcPts val="2550"/>
              </a:lnSpc>
              <a:buNone/>
            </a:pPr>
            <a:r>
              <a:rPr lang="en-US" sz="1600" dirty="0">
                <a:solidFill>
                  <a:srgbClr val="272525"/>
                </a:solidFill>
                <a:highlight>
                  <a:srgbClr val="CCEEFF"/>
                </a:highlight>
                <a:latin typeface="Consolas" pitchFamily="34" charset="0"/>
                <a:ea typeface="Consolas" pitchFamily="34" charset="-122"/>
                <a:cs typeface="Consolas" pitchFamily="34" charset="-120"/>
              </a:rPr>
              <a:t>objectArray[index].memberFunction();</a:t>
            </a:r>
            <a:endParaRPr lang="en-US" sz="1600" dirty="0"/>
          </a:p>
        </p:txBody>
      </p:sp>
      <p:sp>
        <p:nvSpPr>
          <p:cNvPr id="14" name="Shape 6">
            <a:extLst>
              <a:ext uri="{FF2B5EF4-FFF2-40B4-BE49-F238E27FC236}">
                <a16:creationId xmlns:a16="http://schemas.microsoft.com/office/drawing/2014/main" id="{B7542263-3B1D-48C8-835F-770703F2F2C6}"/>
              </a:ext>
            </a:extLst>
          </p:cNvPr>
          <p:cNvSpPr/>
          <p:nvPr/>
        </p:nvSpPr>
        <p:spPr>
          <a:xfrm>
            <a:off x="4287151" y="3504239"/>
            <a:ext cx="4462939" cy="635794"/>
          </a:xfrm>
          <a:prstGeom prst="roundRect">
            <a:avLst>
              <a:gd name="adj" fmla="val 4839"/>
            </a:avLst>
          </a:prstGeom>
          <a:solidFill>
            <a:srgbClr val="CCEEFF"/>
          </a:solidFill>
          <a:ln/>
          <a:effectLst>
            <a:outerShdw blurRad="50800" dist="38100" dir="8100000" algn="tr" rotWithShape="0">
              <a:prstClr val="black">
                <a:alpha val="40000"/>
              </a:prstClr>
            </a:outerShdw>
          </a:effectLst>
        </p:spPr>
      </p:sp>
      <p:sp>
        <p:nvSpPr>
          <p:cNvPr id="15" name="Text 7">
            <a:extLst>
              <a:ext uri="{FF2B5EF4-FFF2-40B4-BE49-F238E27FC236}">
                <a16:creationId xmlns:a16="http://schemas.microsoft.com/office/drawing/2014/main" id="{D2AE6C40-44CB-4E03-911B-200F6A849E37}"/>
              </a:ext>
            </a:extLst>
          </p:cNvPr>
          <p:cNvSpPr/>
          <p:nvPr/>
        </p:nvSpPr>
        <p:spPr>
          <a:xfrm>
            <a:off x="4492177" y="3658068"/>
            <a:ext cx="4052888" cy="328136"/>
          </a:xfrm>
          <a:prstGeom prst="rect">
            <a:avLst/>
          </a:prstGeom>
          <a:noFill/>
          <a:ln/>
        </p:spPr>
        <p:txBody>
          <a:bodyPr wrap="none" lIns="0" tIns="0" rIns="0" bIns="0" rtlCol="0" anchor="t"/>
          <a:lstStyle/>
          <a:p>
            <a:pPr marL="0" indent="0" algn="r">
              <a:lnSpc>
                <a:spcPts val="2550"/>
              </a:lnSpc>
              <a:buNone/>
            </a:pPr>
            <a:r>
              <a:rPr lang="en-US" sz="1600" dirty="0">
                <a:solidFill>
                  <a:srgbClr val="272525"/>
                </a:solidFill>
                <a:highlight>
                  <a:srgbClr val="CCEEFF"/>
                </a:highlight>
                <a:latin typeface="Consolas" pitchFamily="34" charset="0"/>
                <a:ea typeface="Consolas" pitchFamily="34" charset="-122"/>
                <a:cs typeface="Consolas" pitchFamily="34" charset="-120"/>
              </a:rPr>
              <a:t>objectArray[index].memberVariable;</a:t>
            </a:r>
            <a:endParaRPr lang="en-US" sz="1600" dirty="0"/>
          </a:p>
        </p:txBody>
      </p:sp>
      <p:sp>
        <p:nvSpPr>
          <p:cNvPr id="17" name="Shape 8">
            <a:extLst>
              <a:ext uri="{FF2B5EF4-FFF2-40B4-BE49-F238E27FC236}">
                <a16:creationId xmlns:a16="http://schemas.microsoft.com/office/drawing/2014/main" id="{FC020A84-8D83-456A-A1AA-2458BBE3FC72}"/>
              </a:ext>
            </a:extLst>
          </p:cNvPr>
          <p:cNvSpPr/>
          <p:nvPr/>
        </p:nvSpPr>
        <p:spPr>
          <a:xfrm>
            <a:off x="3632877" y="1937491"/>
            <a:ext cx="512683" cy="512683"/>
          </a:xfrm>
          <a:prstGeom prst="roundRect">
            <a:avLst>
              <a:gd name="adj" fmla="val 1781775"/>
            </a:avLst>
          </a:prstGeom>
          <a:solidFill>
            <a:srgbClr val="CCEEFF"/>
          </a:solidFill>
          <a:ln w="7620">
            <a:solidFill>
              <a:srgbClr val="B2D4E5"/>
            </a:solidFill>
            <a:prstDash val="solid"/>
          </a:ln>
          <a:effectLst>
            <a:innerShdw blurRad="63500" dist="50800">
              <a:prstClr val="black">
                <a:alpha val="50000"/>
              </a:prstClr>
            </a:innerShdw>
          </a:effectLst>
        </p:spPr>
      </p:sp>
      <p:pic>
        <p:nvPicPr>
          <p:cNvPr id="18" name="Image 1" descr="preencoded.png">
            <a:extLst>
              <a:ext uri="{FF2B5EF4-FFF2-40B4-BE49-F238E27FC236}">
                <a16:creationId xmlns:a16="http://schemas.microsoft.com/office/drawing/2014/main" id="{4DECD877-AD30-4A71-A9DC-9C38720C1AF7}"/>
              </a:ext>
            </a:extLst>
          </p:cNvPr>
          <p:cNvPicPr>
            <a:picLocks noChangeAspect="1"/>
          </p:cNvPicPr>
          <p:nvPr/>
        </p:nvPicPr>
        <p:blipFill>
          <a:blip r:embed="rId5"/>
          <a:stretch>
            <a:fillRect/>
          </a:stretch>
        </p:blipFill>
        <p:spPr>
          <a:xfrm>
            <a:off x="3773847" y="2049648"/>
            <a:ext cx="230743" cy="288369"/>
          </a:xfrm>
          <a:prstGeom prst="rect">
            <a:avLst/>
          </a:prstGeom>
        </p:spPr>
      </p:pic>
      <p:sp>
        <p:nvSpPr>
          <p:cNvPr id="19" name="Text 9">
            <a:extLst>
              <a:ext uri="{FF2B5EF4-FFF2-40B4-BE49-F238E27FC236}">
                <a16:creationId xmlns:a16="http://schemas.microsoft.com/office/drawing/2014/main" id="{6BC2B4D1-FB9E-4E8E-8D1C-622EB5ECCC39}"/>
              </a:ext>
            </a:extLst>
          </p:cNvPr>
          <p:cNvSpPr/>
          <p:nvPr/>
        </p:nvSpPr>
        <p:spPr>
          <a:xfrm>
            <a:off x="4287066" y="4902800"/>
            <a:ext cx="2692122" cy="336471"/>
          </a:xfrm>
          <a:prstGeom prst="rect">
            <a:avLst/>
          </a:prstGeom>
          <a:noFill/>
          <a:ln/>
        </p:spPr>
        <p:txBody>
          <a:bodyPr wrap="none" lIns="0" tIns="0" rIns="0" bIns="0" rtlCol="0" anchor="t"/>
          <a:lstStyle/>
          <a:p>
            <a:pPr marL="0" indent="0" algn="l">
              <a:lnSpc>
                <a:spcPts val="2600"/>
              </a:lnSpc>
              <a:buNone/>
            </a:pPr>
            <a:r>
              <a:rPr lang="en-US" sz="2100" b="1" dirty="0">
                <a:solidFill>
                  <a:srgbClr val="272525"/>
                </a:solidFill>
                <a:latin typeface="Berlin Sans FB Demi" panose="020E0802020502020306" pitchFamily="34" charset="0"/>
                <a:ea typeface="Petrona Bold" pitchFamily="34" charset="-122"/>
                <a:cs typeface="Petrona Bold" pitchFamily="34" charset="-120"/>
              </a:rPr>
              <a:t>Example Functions</a:t>
            </a:r>
            <a:endParaRPr lang="en-US" sz="2100" dirty="0">
              <a:latin typeface="Berlin Sans FB Demi" panose="020E0802020502020306" pitchFamily="34" charset="0"/>
            </a:endParaRPr>
          </a:p>
        </p:txBody>
      </p:sp>
      <p:sp>
        <p:nvSpPr>
          <p:cNvPr id="20" name="Shape 10">
            <a:extLst>
              <a:ext uri="{FF2B5EF4-FFF2-40B4-BE49-F238E27FC236}">
                <a16:creationId xmlns:a16="http://schemas.microsoft.com/office/drawing/2014/main" id="{F6B67271-DA15-4748-8BEA-00A307CE04B7}"/>
              </a:ext>
            </a:extLst>
          </p:cNvPr>
          <p:cNvSpPr/>
          <p:nvPr/>
        </p:nvSpPr>
        <p:spPr>
          <a:xfrm>
            <a:off x="4287066" y="5470014"/>
            <a:ext cx="4442460" cy="635794"/>
          </a:xfrm>
          <a:prstGeom prst="roundRect">
            <a:avLst>
              <a:gd name="adj" fmla="val 13550"/>
            </a:avLst>
          </a:prstGeom>
          <a:solidFill>
            <a:srgbClr val="CCEEFF"/>
          </a:solidFill>
          <a:ln/>
        </p:spPr>
      </p:sp>
      <p:sp>
        <p:nvSpPr>
          <p:cNvPr id="21" name="Shape 11">
            <a:extLst>
              <a:ext uri="{FF2B5EF4-FFF2-40B4-BE49-F238E27FC236}">
                <a16:creationId xmlns:a16="http://schemas.microsoft.com/office/drawing/2014/main" id="{C02CECD1-FB87-4336-A340-15307AB1BEC1}"/>
              </a:ext>
            </a:extLst>
          </p:cNvPr>
          <p:cNvSpPr/>
          <p:nvPr/>
        </p:nvSpPr>
        <p:spPr>
          <a:xfrm>
            <a:off x="4276827" y="5470014"/>
            <a:ext cx="4462939" cy="635794"/>
          </a:xfrm>
          <a:prstGeom prst="roundRect">
            <a:avLst>
              <a:gd name="adj" fmla="val 4839"/>
            </a:avLst>
          </a:prstGeom>
          <a:solidFill>
            <a:srgbClr val="CCEEFF"/>
          </a:solidFill>
          <a:ln/>
          <a:effectLst>
            <a:outerShdw blurRad="50800" dist="38100" dir="8100000" algn="tr" rotWithShape="0">
              <a:prstClr val="black">
                <a:alpha val="40000"/>
              </a:prstClr>
            </a:outerShdw>
          </a:effectLst>
        </p:spPr>
      </p:sp>
      <p:sp>
        <p:nvSpPr>
          <p:cNvPr id="22" name="Text 12">
            <a:extLst>
              <a:ext uri="{FF2B5EF4-FFF2-40B4-BE49-F238E27FC236}">
                <a16:creationId xmlns:a16="http://schemas.microsoft.com/office/drawing/2014/main" id="{E132C942-00C7-47CE-9150-C1E2A45C31BD}"/>
              </a:ext>
            </a:extLst>
          </p:cNvPr>
          <p:cNvSpPr/>
          <p:nvPr/>
        </p:nvSpPr>
        <p:spPr>
          <a:xfrm>
            <a:off x="4481852" y="5623843"/>
            <a:ext cx="4052888" cy="328136"/>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highlight>
                  <a:srgbClr val="CCEEFF"/>
                </a:highlight>
                <a:latin typeface="Consolas" pitchFamily="34" charset="0"/>
                <a:ea typeface="Consolas" pitchFamily="34" charset="-122"/>
                <a:cs typeface="Consolas" pitchFamily="34" charset="-120"/>
              </a:rPr>
              <a:t>myCars[0].accelerate();</a:t>
            </a:r>
            <a:endParaRPr lang="en-US" sz="1600" dirty="0"/>
          </a:p>
        </p:txBody>
      </p:sp>
      <p:sp>
        <p:nvSpPr>
          <p:cNvPr id="23" name="Text 13">
            <a:extLst>
              <a:ext uri="{FF2B5EF4-FFF2-40B4-BE49-F238E27FC236}">
                <a16:creationId xmlns:a16="http://schemas.microsoft.com/office/drawing/2014/main" id="{95137F2E-93D7-4830-AE2A-828824A62398}"/>
              </a:ext>
            </a:extLst>
          </p:cNvPr>
          <p:cNvSpPr/>
          <p:nvPr/>
        </p:nvSpPr>
        <p:spPr>
          <a:xfrm>
            <a:off x="4287066" y="6336551"/>
            <a:ext cx="4442460" cy="328136"/>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Bodoni MT" panose="02070603080606020203" pitchFamily="18" charset="0"/>
                <a:ea typeface="Inter" pitchFamily="34" charset="-122"/>
                <a:cs typeface="Inter" pitchFamily="34" charset="-120"/>
              </a:rPr>
              <a:t> Invokes a method on the first object.</a:t>
            </a:r>
            <a:endParaRPr lang="en-US" sz="1600" dirty="0">
              <a:latin typeface="Bodoni MT" panose="02070603080606020203" pitchFamily="18" charset="0"/>
            </a:endParaRPr>
          </a:p>
        </p:txBody>
      </p:sp>
      <p:sp>
        <p:nvSpPr>
          <p:cNvPr id="25" name="Shape 14">
            <a:extLst>
              <a:ext uri="{FF2B5EF4-FFF2-40B4-BE49-F238E27FC236}">
                <a16:creationId xmlns:a16="http://schemas.microsoft.com/office/drawing/2014/main" id="{88E1B946-97B9-48B5-8D25-44B3B2EA4143}"/>
              </a:ext>
            </a:extLst>
          </p:cNvPr>
          <p:cNvSpPr/>
          <p:nvPr/>
        </p:nvSpPr>
        <p:spPr>
          <a:xfrm>
            <a:off x="3632877" y="4838745"/>
            <a:ext cx="512683" cy="512683"/>
          </a:xfrm>
          <a:prstGeom prst="roundRect">
            <a:avLst>
              <a:gd name="adj" fmla="val 1781775"/>
            </a:avLst>
          </a:prstGeom>
          <a:solidFill>
            <a:srgbClr val="CCEEFF"/>
          </a:solidFill>
          <a:ln w="7620">
            <a:solidFill>
              <a:srgbClr val="B2D4E5"/>
            </a:solidFill>
            <a:prstDash val="solid"/>
          </a:ln>
          <a:effectLst>
            <a:innerShdw blurRad="63500" dist="50800">
              <a:prstClr val="black">
                <a:alpha val="50000"/>
              </a:prstClr>
            </a:innerShdw>
          </a:effectLst>
        </p:spPr>
      </p:sp>
      <p:pic>
        <p:nvPicPr>
          <p:cNvPr id="26" name="Image 3" descr="preencoded.png">
            <a:extLst>
              <a:ext uri="{FF2B5EF4-FFF2-40B4-BE49-F238E27FC236}">
                <a16:creationId xmlns:a16="http://schemas.microsoft.com/office/drawing/2014/main" id="{EC1C83C9-D5B5-43A8-A285-48565B6BAEC0}"/>
              </a:ext>
            </a:extLst>
          </p:cNvPr>
          <p:cNvPicPr>
            <a:picLocks noChangeAspect="1"/>
          </p:cNvPicPr>
          <p:nvPr/>
        </p:nvPicPr>
        <p:blipFill>
          <a:blip r:embed="rId6"/>
          <a:stretch>
            <a:fillRect/>
          </a:stretch>
        </p:blipFill>
        <p:spPr>
          <a:xfrm>
            <a:off x="3773847" y="4950902"/>
            <a:ext cx="230743" cy="288369"/>
          </a:xfrm>
          <a:prstGeom prst="rect">
            <a:avLst/>
          </a:prstGeom>
        </p:spPr>
      </p:pic>
      <p:sp>
        <p:nvSpPr>
          <p:cNvPr id="27" name="Text 15">
            <a:extLst>
              <a:ext uri="{FF2B5EF4-FFF2-40B4-BE49-F238E27FC236}">
                <a16:creationId xmlns:a16="http://schemas.microsoft.com/office/drawing/2014/main" id="{22F1A7DB-D91C-4FA2-BC4B-59055B240F8A}"/>
              </a:ext>
            </a:extLst>
          </p:cNvPr>
          <p:cNvSpPr/>
          <p:nvPr/>
        </p:nvSpPr>
        <p:spPr>
          <a:xfrm>
            <a:off x="9629672" y="4902800"/>
            <a:ext cx="2692122" cy="336471"/>
          </a:xfrm>
          <a:prstGeom prst="rect">
            <a:avLst/>
          </a:prstGeom>
          <a:noFill/>
          <a:ln/>
        </p:spPr>
        <p:txBody>
          <a:bodyPr wrap="none" lIns="0" tIns="0" rIns="0" bIns="0" rtlCol="0" anchor="t"/>
          <a:lstStyle/>
          <a:p>
            <a:pPr marL="0" indent="0" algn="l">
              <a:lnSpc>
                <a:spcPts val="2600"/>
              </a:lnSpc>
              <a:buNone/>
            </a:pPr>
            <a:r>
              <a:rPr lang="en-US" sz="2100" b="1" dirty="0">
                <a:solidFill>
                  <a:srgbClr val="272525"/>
                </a:solidFill>
                <a:latin typeface="Berlin Sans FB Demi" panose="020E0802020502020306" pitchFamily="34" charset="0"/>
                <a:ea typeface="Petrona Bold" pitchFamily="34" charset="-122"/>
                <a:cs typeface="Petrona Bold" pitchFamily="34" charset="-120"/>
              </a:rPr>
              <a:t>Example Variables</a:t>
            </a:r>
            <a:endParaRPr lang="en-US" sz="2100" dirty="0">
              <a:latin typeface="Berlin Sans FB Demi" panose="020E0802020502020306" pitchFamily="34" charset="0"/>
            </a:endParaRPr>
          </a:p>
        </p:txBody>
      </p:sp>
      <p:sp>
        <p:nvSpPr>
          <p:cNvPr id="28" name="Shape 16">
            <a:extLst>
              <a:ext uri="{FF2B5EF4-FFF2-40B4-BE49-F238E27FC236}">
                <a16:creationId xmlns:a16="http://schemas.microsoft.com/office/drawing/2014/main" id="{0322ED09-D6D5-485B-992F-AE920A245A47}"/>
              </a:ext>
            </a:extLst>
          </p:cNvPr>
          <p:cNvSpPr/>
          <p:nvPr/>
        </p:nvSpPr>
        <p:spPr>
          <a:xfrm>
            <a:off x="9629672" y="5470014"/>
            <a:ext cx="4442460" cy="635794"/>
          </a:xfrm>
          <a:prstGeom prst="roundRect">
            <a:avLst>
              <a:gd name="adj" fmla="val 13550"/>
            </a:avLst>
          </a:prstGeom>
          <a:solidFill>
            <a:srgbClr val="CCEEFF"/>
          </a:solidFill>
          <a:ln/>
        </p:spPr>
      </p:sp>
      <p:sp>
        <p:nvSpPr>
          <p:cNvPr id="29" name="Shape 17">
            <a:extLst>
              <a:ext uri="{FF2B5EF4-FFF2-40B4-BE49-F238E27FC236}">
                <a16:creationId xmlns:a16="http://schemas.microsoft.com/office/drawing/2014/main" id="{79108296-07E7-4908-A533-15C9AEE3FE30}"/>
              </a:ext>
            </a:extLst>
          </p:cNvPr>
          <p:cNvSpPr/>
          <p:nvPr/>
        </p:nvSpPr>
        <p:spPr>
          <a:xfrm>
            <a:off x="9619433" y="5470014"/>
            <a:ext cx="4462939" cy="635794"/>
          </a:xfrm>
          <a:prstGeom prst="roundRect">
            <a:avLst>
              <a:gd name="adj" fmla="val 4839"/>
            </a:avLst>
          </a:prstGeom>
          <a:solidFill>
            <a:srgbClr val="CCEEFF"/>
          </a:solidFill>
          <a:ln/>
          <a:effectLst>
            <a:outerShdw blurRad="50800" dist="38100" dir="8100000" algn="tr" rotWithShape="0">
              <a:prstClr val="black">
                <a:alpha val="40000"/>
              </a:prstClr>
            </a:outerShdw>
          </a:effectLst>
        </p:spPr>
      </p:sp>
      <p:sp>
        <p:nvSpPr>
          <p:cNvPr id="30" name="Text 18">
            <a:extLst>
              <a:ext uri="{FF2B5EF4-FFF2-40B4-BE49-F238E27FC236}">
                <a16:creationId xmlns:a16="http://schemas.microsoft.com/office/drawing/2014/main" id="{65811333-C046-42E9-8D97-E5BA83EE6AA5}"/>
              </a:ext>
            </a:extLst>
          </p:cNvPr>
          <p:cNvSpPr/>
          <p:nvPr/>
        </p:nvSpPr>
        <p:spPr>
          <a:xfrm>
            <a:off x="9824458" y="5623842"/>
            <a:ext cx="4052888" cy="328136"/>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highlight>
                  <a:srgbClr val="CCEEFF"/>
                </a:highlight>
                <a:latin typeface="Consolas" pitchFamily="34" charset="0"/>
                <a:ea typeface="Consolas" pitchFamily="34" charset="-122"/>
                <a:cs typeface="Consolas" pitchFamily="34" charset="-120"/>
              </a:rPr>
              <a:t>cout &lt;&lt; myCars[1].color;</a:t>
            </a:r>
            <a:endParaRPr lang="en-US" sz="1600" dirty="0"/>
          </a:p>
        </p:txBody>
      </p:sp>
      <p:sp>
        <p:nvSpPr>
          <p:cNvPr id="31" name="Text 19">
            <a:extLst>
              <a:ext uri="{FF2B5EF4-FFF2-40B4-BE49-F238E27FC236}">
                <a16:creationId xmlns:a16="http://schemas.microsoft.com/office/drawing/2014/main" id="{D1484B59-C94E-4C92-829F-B1CBBD8B3D44}"/>
              </a:ext>
            </a:extLst>
          </p:cNvPr>
          <p:cNvSpPr/>
          <p:nvPr/>
        </p:nvSpPr>
        <p:spPr>
          <a:xfrm>
            <a:off x="9629672" y="6336550"/>
            <a:ext cx="4442460" cy="328136"/>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Bodoni MT" panose="02070603080606020203" pitchFamily="18" charset="0"/>
                <a:ea typeface="Inter" pitchFamily="34" charset="-122"/>
                <a:cs typeface="Inter" pitchFamily="34" charset="-120"/>
              </a:rPr>
              <a:t> Accesses a property of the second object.</a:t>
            </a:r>
            <a:endParaRPr lang="en-US" sz="1600" dirty="0">
              <a:latin typeface="Bodoni MT" panose="02070603080606020203" pitchFamily="18" charset="0"/>
            </a:endParaRPr>
          </a:p>
        </p:txBody>
      </p:sp>
      <p:sp>
        <p:nvSpPr>
          <p:cNvPr id="33" name="Shape 20">
            <a:extLst>
              <a:ext uri="{FF2B5EF4-FFF2-40B4-BE49-F238E27FC236}">
                <a16:creationId xmlns:a16="http://schemas.microsoft.com/office/drawing/2014/main" id="{23BCA0C0-8059-43DC-B45A-0F91C70F0A83}"/>
              </a:ext>
            </a:extLst>
          </p:cNvPr>
          <p:cNvSpPr/>
          <p:nvPr/>
        </p:nvSpPr>
        <p:spPr>
          <a:xfrm>
            <a:off x="8894647" y="4838745"/>
            <a:ext cx="512683" cy="512683"/>
          </a:xfrm>
          <a:prstGeom prst="roundRect">
            <a:avLst>
              <a:gd name="adj" fmla="val 1781775"/>
            </a:avLst>
          </a:prstGeom>
          <a:solidFill>
            <a:srgbClr val="CCEEFF"/>
          </a:solidFill>
          <a:ln w="7620">
            <a:solidFill>
              <a:srgbClr val="B2D4E5"/>
            </a:solidFill>
            <a:prstDash val="solid"/>
          </a:ln>
          <a:effectLst>
            <a:innerShdw blurRad="63500" dist="50800">
              <a:prstClr val="black">
                <a:alpha val="50000"/>
              </a:prstClr>
            </a:innerShdw>
          </a:effectLst>
        </p:spPr>
      </p:sp>
      <p:pic>
        <p:nvPicPr>
          <p:cNvPr id="34" name="Image 5" descr="preencoded.png">
            <a:extLst>
              <a:ext uri="{FF2B5EF4-FFF2-40B4-BE49-F238E27FC236}">
                <a16:creationId xmlns:a16="http://schemas.microsoft.com/office/drawing/2014/main" id="{EAB48678-3D1F-4742-BE21-9930FA52314A}"/>
              </a:ext>
            </a:extLst>
          </p:cNvPr>
          <p:cNvPicPr>
            <a:picLocks noChangeAspect="1"/>
          </p:cNvPicPr>
          <p:nvPr/>
        </p:nvPicPr>
        <p:blipFill>
          <a:blip r:embed="rId7"/>
          <a:stretch>
            <a:fillRect/>
          </a:stretch>
        </p:blipFill>
        <p:spPr>
          <a:xfrm>
            <a:off x="9035617" y="4950902"/>
            <a:ext cx="230743" cy="288369"/>
          </a:xfrm>
          <a:prstGeom prst="rect">
            <a:avLst/>
          </a:prstGeom>
        </p:spPr>
      </p:pic>
      <p:sp>
        <p:nvSpPr>
          <p:cNvPr id="35" name="Text 21">
            <a:extLst>
              <a:ext uri="{FF2B5EF4-FFF2-40B4-BE49-F238E27FC236}">
                <a16:creationId xmlns:a16="http://schemas.microsoft.com/office/drawing/2014/main" id="{0C7850EE-B612-4E5B-9205-E1AD4DDDFECB}"/>
              </a:ext>
            </a:extLst>
          </p:cNvPr>
          <p:cNvSpPr/>
          <p:nvPr/>
        </p:nvSpPr>
        <p:spPr>
          <a:xfrm>
            <a:off x="9519435" y="2065171"/>
            <a:ext cx="2692122" cy="336471"/>
          </a:xfrm>
          <a:prstGeom prst="rect">
            <a:avLst/>
          </a:prstGeom>
          <a:noFill/>
          <a:ln/>
        </p:spPr>
        <p:txBody>
          <a:bodyPr wrap="none" lIns="0" tIns="0" rIns="0" bIns="0" rtlCol="0" anchor="t"/>
          <a:lstStyle/>
          <a:p>
            <a:pPr marL="0" indent="0">
              <a:lnSpc>
                <a:spcPts val="2600"/>
              </a:lnSpc>
              <a:buNone/>
            </a:pPr>
            <a:r>
              <a:rPr lang="en-US" sz="2100" b="1" dirty="0">
                <a:solidFill>
                  <a:srgbClr val="272525"/>
                </a:solidFill>
                <a:latin typeface="Berlin Sans FB Demi" panose="020E0802020502020306" pitchFamily="34" charset="0"/>
                <a:ea typeface="Petrona Bold" pitchFamily="34" charset="-122"/>
                <a:cs typeface="Petrona Bold" pitchFamily="34" charset="-120"/>
              </a:rPr>
              <a:t>Indexing</a:t>
            </a:r>
            <a:endParaRPr lang="en-US" sz="2100" dirty="0">
              <a:latin typeface="Berlin Sans FB Demi" panose="020E0802020502020306" pitchFamily="34" charset="0"/>
            </a:endParaRPr>
          </a:p>
        </p:txBody>
      </p:sp>
      <p:sp>
        <p:nvSpPr>
          <p:cNvPr id="36" name="Text 22">
            <a:extLst>
              <a:ext uri="{FF2B5EF4-FFF2-40B4-BE49-F238E27FC236}">
                <a16:creationId xmlns:a16="http://schemas.microsoft.com/office/drawing/2014/main" id="{E635DDE6-73AB-4D73-8BCB-8E23A173CA75}"/>
              </a:ext>
            </a:extLst>
          </p:cNvPr>
          <p:cNvSpPr/>
          <p:nvPr/>
        </p:nvSpPr>
        <p:spPr>
          <a:xfrm>
            <a:off x="9519435" y="2406214"/>
            <a:ext cx="4442460" cy="328136"/>
          </a:xfrm>
          <a:prstGeom prst="rect">
            <a:avLst/>
          </a:prstGeom>
          <a:noFill/>
          <a:ln/>
        </p:spPr>
        <p:txBody>
          <a:bodyPr wrap="none" lIns="0" tIns="0" rIns="0" bIns="0" rtlCol="0" anchor="t"/>
          <a:lstStyle/>
          <a:p>
            <a:pPr marL="0" indent="0">
              <a:lnSpc>
                <a:spcPts val="2550"/>
              </a:lnSpc>
              <a:buNone/>
            </a:pPr>
            <a:r>
              <a:rPr lang="en-US" sz="1600" dirty="0">
                <a:solidFill>
                  <a:srgbClr val="272525"/>
                </a:solidFill>
                <a:latin typeface="Bodoni MT" panose="02070603080606020203" pitchFamily="18" charset="0"/>
                <a:ea typeface="Inter" pitchFamily="34" charset="-122"/>
                <a:cs typeface="Inter" pitchFamily="34" charset="-120"/>
              </a:rPr>
              <a:t>Arrays use 0-based indexing, from</a:t>
            </a:r>
            <a:endParaRPr lang="en-US" sz="1600" dirty="0">
              <a:latin typeface="Bodoni MT" panose="02070603080606020203" pitchFamily="18" charset="0"/>
            </a:endParaRPr>
          </a:p>
        </p:txBody>
      </p:sp>
      <p:sp>
        <p:nvSpPr>
          <p:cNvPr id="37" name="Shape 23">
            <a:extLst>
              <a:ext uri="{FF2B5EF4-FFF2-40B4-BE49-F238E27FC236}">
                <a16:creationId xmlns:a16="http://schemas.microsoft.com/office/drawing/2014/main" id="{B4BA0EBE-F4AC-4975-B57F-55C7AF5AAEAF}"/>
              </a:ext>
            </a:extLst>
          </p:cNvPr>
          <p:cNvSpPr/>
          <p:nvPr/>
        </p:nvSpPr>
        <p:spPr>
          <a:xfrm>
            <a:off x="9519435" y="2965094"/>
            <a:ext cx="4442460" cy="635794"/>
          </a:xfrm>
          <a:prstGeom prst="roundRect">
            <a:avLst>
              <a:gd name="adj" fmla="val 13550"/>
            </a:avLst>
          </a:prstGeom>
          <a:solidFill>
            <a:srgbClr val="CCEEFF"/>
          </a:solidFill>
          <a:ln/>
          <a:effectLst>
            <a:outerShdw blurRad="50800" dist="38100" dir="8100000" algn="tr" rotWithShape="0">
              <a:prstClr val="black">
                <a:alpha val="40000"/>
              </a:prstClr>
            </a:outerShdw>
          </a:effectLst>
        </p:spPr>
      </p:sp>
      <p:sp>
        <p:nvSpPr>
          <p:cNvPr id="39" name="Text 25">
            <a:extLst>
              <a:ext uri="{FF2B5EF4-FFF2-40B4-BE49-F238E27FC236}">
                <a16:creationId xmlns:a16="http://schemas.microsoft.com/office/drawing/2014/main" id="{1D5C02A9-8FDE-4AF4-8457-316D05874D9F}"/>
              </a:ext>
            </a:extLst>
          </p:cNvPr>
          <p:cNvSpPr/>
          <p:nvPr/>
        </p:nvSpPr>
        <p:spPr>
          <a:xfrm>
            <a:off x="9669662" y="3118923"/>
            <a:ext cx="4052888" cy="328136"/>
          </a:xfrm>
          <a:prstGeom prst="rect">
            <a:avLst/>
          </a:prstGeom>
          <a:noFill/>
          <a:ln/>
        </p:spPr>
        <p:txBody>
          <a:bodyPr wrap="none" lIns="0" tIns="0" rIns="0" bIns="0" rtlCol="0" anchor="t"/>
          <a:lstStyle/>
          <a:p>
            <a:pPr marL="0" indent="0" algn="r">
              <a:lnSpc>
                <a:spcPts val="2550"/>
              </a:lnSpc>
              <a:buNone/>
            </a:pPr>
            <a:r>
              <a:rPr lang="en-US" sz="1600" dirty="0">
                <a:solidFill>
                  <a:srgbClr val="272525"/>
                </a:solidFill>
                <a:highlight>
                  <a:srgbClr val="CCEEFF"/>
                </a:highlight>
                <a:latin typeface="Consolas" pitchFamily="34" charset="0"/>
                <a:ea typeface="Consolas" pitchFamily="34" charset="-122"/>
                <a:cs typeface="Consolas" pitchFamily="34" charset="-120"/>
              </a:rPr>
              <a:t>0 to (</a:t>
            </a:r>
            <a:r>
              <a:rPr lang="en-US" sz="1600" dirty="0" err="1">
                <a:solidFill>
                  <a:srgbClr val="272525"/>
                </a:solidFill>
                <a:highlight>
                  <a:srgbClr val="CCEEFF"/>
                </a:highlight>
                <a:latin typeface="Consolas" pitchFamily="34" charset="0"/>
                <a:ea typeface="Consolas" pitchFamily="34" charset="-122"/>
                <a:cs typeface="Consolas" pitchFamily="34" charset="-120"/>
              </a:rPr>
              <a:t>arraySize</a:t>
            </a:r>
            <a:r>
              <a:rPr lang="en-US" sz="1600" dirty="0">
                <a:solidFill>
                  <a:srgbClr val="272525"/>
                </a:solidFill>
                <a:highlight>
                  <a:srgbClr val="CCEEFF"/>
                </a:highlight>
                <a:latin typeface="Consolas" pitchFamily="34" charset="0"/>
                <a:ea typeface="Consolas" pitchFamily="34" charset="-122"/>
                <a:cs typeface="Consolas" pitchFamily="34" charset="-120"/>
              </a:rPr>
              <a:t> - 1)</a:t>
            </a:r>
            <a:endParaRPr lang="en-US" sz="1600" dirty="0"/>
          </a:p>
        </p:txBody>
      </p:sp>
      <p:sp>
        <p:nvSpPr>
          <p:cNvPr id="45" name="Shape 31">
            <a:extLst>
              <a:ext uri="{FF2B5EF4-FFF2-40B4-BE49-F238E27FC236}">
                <a16:creationId xmlns:a16="http://schemas.microsoft.com/office/drawing/2014/main" id="{30B7DA6F-8F90-4B93-B258-F4DD194B7898}"/>
              </a:ext>
            </a:extLst>
          </p:cNvPr>
          <p:cNvSpPr/>
          <p:nvPr/>
        </p:nvSpPr>
        <p:spPr>
          <a:xfrm>
            <a:off x="8899242" y="1934737"/>
            <a:ext cx="512683" cy="512683"/>
          </a:xfrm>
          <a:prstGeom prst="roundRect">
            <a:avLst>
              <a:gd name="adj" fmla="val 1781775"/>
            </a:avLst>
          </a:prstGeom>
          <a:solidFill>
            <a:srgbClr val="CCEEFF"/>
          </a:solidFill>
          <a:ln w="7620">
            <a:solidFill>
              <a:srgbClr val="B2D4E5"/>
            </a:solidFill>
            <a:prstDash val="solid"/>
          </a:ln>
          <a:effectLst>
            <a:innerShdw blurRad="63500" dist="50800">
              <a:prstClr val="black">
                <a:alpha val="50000"/>
              </a:prstClr>
            </a:innerShdw>
          </a:effectLst>
        </p:spPr>
      </p:sp>
      <p:pic>
        <p:nvPicPr>
          <p:cNvPr id="46" name="Image 7" descr="preencoded.png">
            <a:extLst>
              <a:ext uri="{FF2B5EF4-FFF2-40B4-BE49-F238E27FC236}">
                <a16:creationId xmlns:a16="http://schemas.microsoft.com/office/drawing/2014/main" id="{6C941C45-70BD-4858-9527-F96852356F3B}"/>
              </a:ext>
            </a:extLst>
          </p:cNvPr>
          <p:cNvPicPr>
            <a:picLocks noChangeAspect="1"/>
          </p:cNvPicPr>
          <p:nvPr/>
        </p:nvPicPr>
        <p:blipFill>
          <a:blip r:embed="rId8"/>
          <a:stretch>
            <a:fillRect/>
          </a:stretch>
        </p:blipFill>
        <p:spPr>
          <a:xfrm>
            <a:off x="9027207" y="2046893"/>
            <a:ext cx="230743" cy="288369"/>
          </a:xfrm>
          <a:prstGeom prst="rect">
            <a:avLst/>
          </a:prstGeom>
        </p:spPr>
      </p:pic>
      <p:sp>
        <p:nvSpPr>
          <p:cNvPr id="47" name="Text 6">
            <a:extLst>
              <a:ext uri="{FF2B5EF4-FFF2-40B4-BE49-F238E27FC236}">
                <a16:creationId xmlns:a16="http://schemas.microsoft.com/office/drawing/2014/main" id="{DC242C8D-4BFA-4A81-A0AF-89AF752F04BE}"/>
              </a:ext>
            </a:extLst>
          </p:cNvPr>
          <p:cNvSpPr/>
          <p:nvPr/>
        </p:nvSpPr>
        <p:spPr>
          <a:xfrm>
            <a:off x="5975652" y="-7559034"/>
            <a:ext cx="8010144" cy="1481328"/>
          </a:xfrm>
          <a:prstGeom prst="rect">
            <a:avLst/>
          </a:prstGeom>
          <a:noFill/>
          <a:ln/>
        </p:spPr>
        <p:txBody>
          <a:bodyPr wrap="square" lIns="0" tIns="0" rIns="0" bIns="0" rtlCol="0" anchor="ctr"/>
          <a:lstStyle/>
          <a:p>
            <a:pPr>
              <a:lnSpc>
                <a:spcPts val="5800"/>
              </a:lnSpc>
            </a:pPr>
            <a:r>
              <a:rPr lang="en-US" sz="4640" dirty="0">
                <a:solidFill>
                  <a:srgbClr val="0C266F"/>
                </a:solidFill>
                <a:latin typeface="思源宋体-思源宋体-SemiBold" pitchFamily="34" charset="0"/>
                <a:ea typeface="思源宋体-思源宋体-SemiBold" pitchFamily="34" charset="-122"/>
                <a:cs typeface="思源宋体-思源宋体-SemiBold" pitchFamily="34" charset="-120"/>
              </a:rPr>
              <a:t>Initializing Arrays with Constructors</a:t>
            </a:r>
          </a:p>
        </p:txBody>
      </p:sp>
      <p:pic>
        <p:nvPicPr>
          <p:cNvPr id="48" name="Image 1" descr="preencoded.png">
            <a:extLst>
              <a:ext uri="{FF2B5EF4-FFF2-40B4-BE49-F238E27FC236}">
                <a16:creationId xmlns:a16="http://schemas.microsoft.com/office/drawing/2014/main" id="{5EBE15AC-98CE-4D70-BD07-82EF5277F50E}"/>
              </a:ext>
            </a:extLst>
          </p:cNvPr>
          <p:cNvPicPr>
            <a:picLocks noChangeAspect="1"/>
          </p:cNvPicPr>
          <p:nvPr/>
        </p:nvPicPr>
        <p:blipFill>
          <a:blip r:embed="rId9"/>
          <a:stretch>
            <a:fillRect/>
          </a:stretch>
        </p:blipFill>
        <p:spPr>
          <a:xfrm>
            <a:off x="5975652" y="-5982147"/>
            <a:ext cx="566976" cy="566976"/>
          </a:xfrm>
          <a:prstGeom prst="rect">
            <a:avLst/>
          </a:prstGeom>
        </p:spPr>
      </p:pic>
      <p:sp>
        <p:nvSpPr>
          <p:cNvPr id="49" name="Text 1">
            <a:extLst>
              <a:ext uri="{FF2B5EF4-FFF2-40B4-BE49-F238E27FC236}">
                <a16:creationId xmlns:a16="http://schemas.microsoft.com/office/drawing/2014/main" id="{B0673FEF-C494-4F0F-82A6-223A803AC191}"/>
              </a:ext>
            </a:extLst>
          </p:cNvPr>
          <p:cNvSpPr/>
          <p:nvPr/>
        </p:nvSpPr>
        <p:spPr>
          <a:xfrm>
            <a:off x="6769441" y="-5887135"/>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Loop and Assign</a:t>
            </a:r>
            <a:endParaRPr lang="en-US" sz="2300" dirty="0"/>
          </a:p>
        </p:txBody>
      </p:sp>
      <p:sp>
        <p:nvSpPr>
          <p:cNvPr id="50" name="Text 2">
            <a:extLst>
              <a:ext uri="{FF2B5EF4-FFF2-40B4-BE49-F238E27FC236}">
                <a16:creationId xmlns:a16="http://schemas.microsoft.com/office/drawing/2014/main" id="{813BD6AB-E6E1-4CB3-9ED1-2D8AAB4AB035}"/>
              </a:ext>
            </a:extLst>
          </p:cNvPr>
          <p:cNvSpPr/>
          <p:nvPr/>
        </p:nvSpPr>
        <p:spPr>
          <a:xfrm>
            <a:off x="6769441" y="-7032102"/>
            <a:ext cx="5585817"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Iterate through the array, constructing and assigning each object individually.</a:t>
            </a:r>
            <a:endParaRPr lang="en-US" sz="1750" dirty="0"/>
          </a:p>
        </p:txBody>
      </p:sp>
      <p:pic>
        <p:nvPicPr>
          <p:cNvPr id="53" name="Image 2" descr="preencoded.png">
            <a:extLst>
              <a:ext uri="{FF2B5EF4-FFF2-40B4-BE49-F238E27FC236}">
                <a16:creationId xmlns:a16="http://schemas.microsoft.com/office/drawing/2014/main" id="{664351E2-37AE-4684-8D49-1C20A80E9261}"/>
              </a:ext>
            </a:extLst>
          </p:cNvPr>
          <p:cNvPicPr>
            <a:picLocks noChangeAspect="1"/>
          </p:cNvPicPr>
          <p:nvPr/>
        </p:nvPicPr>
        <p:blipFill>
          <a:blip r:embed="rId10"/>
          <a:stretch>
            <a:fillRect/>
          </a:stretch>
        </p:blipFill>
        <p:spPr>
          <a:xfrm>
            <a:off x="5975652" y="-6613441"/>
            <a:ext cx="566976" cy="566976"/>
          </a:xfrm>
          <a:prstGeom prst="rect">
            <a:avLst/>
          </a:prstGeom>
        </p:spPr>
      </p:pic>
      <p:sp>
        <p:nvSpPr>
          <p:cNvPr id="55" name="Text 7">
            <a:extLst>
              <a:ext uri="{FF2B5EF4-FFF2-40B4-BE49-F238E27FC236}">
                <a16:creationId xmlns:a16="http://schemas.microsoft.com/office/drawing/2014/main" id="{918D52F1-DCA1-4EA9-8956-4878429D1273}"/>
              </a:ext>
            </a:extLst>
          </p:cNvPr>
          <p:cNvSpPr/>
          <p:nvPr/>
        </p:nvSpPr>
        <p:spPr>
          <a:xfrm>
            <a:off x="6769442" y="-6299157"/>
            <a:ext cx="558593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A more concise way to initialize arrays with specific constructor calls.</a:t>
            </a:r>
            <a:endParaRPr lang="en-US" sz="1750" dirty="0"/>
          </a:p>
        </p:txBody>
      </p:sp>
      <p:pic>
        <p:nvPicPr>
          <p:cNvPr id="58" name="Image 1" descr="preencoded.png">
            <a:extLst>
              <a:ext uri="{FF2B5EF4-FFF2-40B4-BE49-F238E27FC236}">
                <a16:creationId xmlns:a16="http://schemas.microsoft.com/office/drawing/2014/main" id="{4DCE2A69-9A17-4E43-B43D-0DB600062268}"/>
              </a:ext>
            </a:extLst>
          </p:cNvPr>
          <p:cNvPicPr>
            <a:picLocks noChangeAspect="1"/>
          </p:cNvPicPr>
          <p:nvPr/>
        </p:nvPicPr>
        <p:blipFill>
          <a:blip r:embed="rId11"/>
          <a:stretch>
            <a:fillRect/>
          </a:stretch>
        </p:blipFill>
        <p:spPr>
          <a:xfrm>
            <a:off x="-6769944" y="0"/>
            <a:ext cx="4974336" cy="8238744"/>
          </a:xfrm>
          <a:prstGeom prst="rect">
            <a:avLst/>
          </a:prstGeom>
        </p:spPr>
      </p:pic>
      <p:sp>
        <p:nvSpPr>
          <p:cNvPr id="59" name="Shape 4">
            <a:extLst>
              <a:ext uri="{FF2B5EF4-FFF2-40B4-BE49-F238E27FC236}">
                <a16:creationId xmlns:a16="http://schemas.microsoft.com/office/drawing/2014/main" id="{568AA4A6-E1BA-4676-A53D-E3D9CF3F1FC8}"/>
              </a:ext>
            </a:extLst>
          </p:cNvPr>
          <p:cNvSpPr/>
          <p:nvPr/>
        </p:nvSpPr>
        <p:spPr>
          <a:xfrm>
            <a:off x="6758130" y="-6298129"/>
            <a:ext cx="6815930" cy="1065848"/>
          </a:xfrm>
          <a:prstGeom prst="roundRect">
            <a:avLst>
              <a:gd name="adj" fmla="val 21842"/>
            </a:avLst>
          </a:prstGeom>
          <a:solidFill>
            <a:srgbClr val="CCEEFF"/>
          </a:solidFill>
          <a:ln/>
          <a:effectLst>
            <a:outerShdw blurRad="50800" dist="38100" dir="8100000" algn="tr" rotWithShape="0">
              <a:prstClr val="black">
                <a:alpha val="40000"/>
              </a:prstClr>
            </a:outerShdw>
          </a:effectLst>
        </p:spPr>
        <p:txBody>
          <a:bodyPr/>
          <a:lstStyle/>
          <a:p>
            <a:r>
              <a:rPr lang="en-US" dirty="0">
                <a:solidFill>
                  <a:srgbClr val="272525"/>
                </a:solidFill>
                <a:highlight>
                  <a:srgbClr val="CCEEFF"/>
                </a:highlight>
                <a:latin typeface="Consolas" pitchFamily="34" charset="0"/>
                <a:ea typeface="Consolas" pitchFamily="34" charset="-122"/>
                <a:cs typeface="Consolas" pitchFamily="34" charset="-120"/>
              </a:rPr>
              <a:t>for (int </a:t>
            </a:r>
            <a:r>
              <a:rPr lang="en-US" dirty="0" err="1">
                <a:solidFill>
                  <a:srgbClr val="272525"/>
                </a:solidFill>
                <a:highlight>
                  <a:srgbClr val="CCEEFF"/>
                </a:highlight>
                <a:latin typeface="Consolas" pitchFamily="34" charset="0"/>
                <a:ea typeface="Consolas" pitchFamily="34" charset="-122"/>
                <a:cs typeface="Consolas" pitchFamily="34" charset="-120"/>
              </a:rPr>
              <a:t>i</a:t>
            </a:r>
            <a:r>
              <a:rPr lang="en-US" dirty="0">
                <a:solidFill>
                  <a:srgbClr val="272525"/>
                </a:solidFill>
                <a:highlight>
                  <a:srgbClr val="CCEEFF"/>
                </a:highlight>
                <a:latin typeface="Consolas" pitchFamily="34" charset="0"/>
                <a:ea typeface="Consolas" pitchFamily="34" charset="-122"/>
                <a:cs typeface="Consolas" pitchFamily="34" charset="-120"/>
              </a:rPr>
              <a:t>=0; </a:t>
            </a:r>
            <a:r>
              <a:rPr lang="en-US" dirty="0" err="1">
                <a:solidFill>
                  <a:srgbClr val="272525"/>
                </a:solidFill>
                <a:highlight>
                  <a:srgbClr val="CCEEFF"/>
                </a:highlight>
                <a:latin typeface="Consolas" pitchFamily="34" charset="0"/>
                <a:ea typeface="Consolas" pitchFamily="34" charset="-122"/>
                <a:cs typeface="Consolas" pitchFamily="34" charset="-120"/>
              </a:rPr>
              <a:t>i</a:t>
            </a:r>
            <a:r>
              <a:rPr lang="en-US" dirty="0">
                <a:solidFill>
                  <a:srgbClr val="272525"/>
                </a:solidFill>
                <a:highlight>
                  <a:srgbClr val="CCEEFF"/>
                </a:highlight>
                <a:latin typeface="Consolas" pitchFamily="34" charset="0"/>
                <a:ea typeface="Consolas" pitchFamily="34" charset="-122"/>
                <a:cs typeface="Consolas" pitchFamily="34" charset="-120"/>
              </a:rPr>
              <a:t>&lt;3; ++</a:t>
            </a:r>
            <a:r>
              <a:rPr lang="en-US" dirty="0" err="1">
                <a:solidFill>
                  <a:srgbClr val="272525"/>
                </a:solidFill>
                <a:highlight>
                  <a:srgbClr val="CCEEFF"/>
                </a:highlight>
                <a:latin typeface="Consolas" pitchFamily="34" charset="0"/>
                <a:ea typeface="Consolas" pitchFamily="34" charset="-122"/>
                <a:cs typeface="Consolas" pitchFamily="34" charset="-120"/>
              </a:rPr>
              <a:t>i</a:t>
            </a:r>
            <a:r>
              <a:rPr lang="en-US" dirty="0">
                <a:solidFill>
                  <a:srgbClr val="272525"/>
                </a:solidFill>
                <a:highlight>
                  <a:srgbClr val="CCEEFF"/>
                </a:highlight>
                <a:latin typeface="Consolas" pitchFamily="34" charset="0"/>
                <a:ea typeface="Consolas" pitchFamily="34" charset="-122"/>
                <a:cs typeface="Consolas" pitchFamily="34" charset="-120"/>
              </a:rPr>
              <a:t>) { </a:t>
            </a:r>
            <a:r>
              <a:rPr lang="en-US" dirty="0" err="1">
                <a:solidFill>
                  <a:srgbClr val="272525"/>
                </a:solidFill>
                <a:highlight>
                  <a:srgbClr val="CCEEFF"/>
                </a:highlight>
                <a:latin typeface="Consolas" pitchFamily="34" charset="0"/>
                <a:ea typeface="Consolas" pitchFamily="34" charset="-122"/>
                <a:cs typeface="Consolas" pitchFamily="34" charset="-120"/>
              </a:rPr>
              <a:t>myCars</a:t>
            </a:r>
            <a:r>
              <a:rPr lang="en-US" dirty="0">
                <a:solidFill>
                  <a:srgbClr val="272525"/>
                </a:solidFill>
                <a:highlight>
                  <a:srgbClr val="CCEEFF"/>
                </a:highlight>
                <a:latin typeface="Consolas" pitchFamily="34" charset="0"/>
                <a:ea typeface="Consolas" pitchFamily="34" charset="-122"/>
                <a:cs typeface="Consolas" pitchFamily="34" charset="-120"/>
              </a:rPr>
              <a:t>[</a:t>
            </a:r>
            <a:r>
              <a:rPr lang="en-US" dirty="0" err="1">
                <a:solidFill>
                  <a:srgbClr val="272525"/>
                </a:solidFill>
                <a:highlight>
                  <a:srgbClr val="CCEEFF"/>
                </a:highlight>
                <a:latin typeface="Consolas" pitchFamily="34" charset="0"/>
                <a:ea typeface="Consolas" pitchFamily="34" charset="-122"/>
                <a:cs typeface="Consolas" pitchFamily="34" charset="-120"/>
              </a:rPr>
              <a:t>i</a:t>
            </a:r>
            <a:r>
              <a:rPr lang="en-US" dirty="0">
                <a:solidFill>
                  <a:srgbClr val="272525"/>
                </a:solidFill>
                <a:highlight>
                  <a:srgbClr val="CCEEFF"/>
                </a:highlight>
                <a:latin typeface="Consolas" pitchFamily="34" charset="0"/>
                <a:ea typeface="Consolas" pitchFamily="34" charset="-122"/>
                <a:cs typeface="Consolas" pitchFamily="34" charset="-120"/>
              </a:rPr>
              <a:t>] Car(color[</a:t>
            </a:r>
            <a:r>
              <a:rPr lang="en-US" dirty="0" err="1">
                <a:solidFill>
                  <a:srgbClr val="272525"/>
                </a:solidFill>
                <a:highlight>
                  <a:srgbClr val="CCEEFF"/>
                </a:highlight>
                <a:latin typeface="Consolas" pitchFamily="34" charset="0"/>
                <a:ea typeface="Consolas" pitchFamily="34" charset="-122"/>
                <a:cs typeface="Consolas" pitchFamily="34" charset="-120"/>
              </a:rPr>
              <a:t>i</a:t>
            </a:r>
            <a:r>
              <a:rPr lang="en-US" dirty="0">
                <a:solidFill>
                  <a:srgbClr val="272525"/>
                </a:solidFill>
                <a:highlight>
                  <a:srgbClr val="CCEEFF"/>
                </a:highlight>
                <a:latin typeface="Consolas" pitchFamily="34" charset="0"/>
                <a:ea typeface="Consolas" pitchFamily="34" charset="-122"/>
                <a:cs typeface="Consolas" pitchFamily="34" charset="-120"/>
              </a:rPr>
              <a:t>], speed[</a:t>
            </a:r>
            <a:r>
              <a:rPr lang="en-US" dirty="0" err="1">
                <a:solidFill>
                  <a:srgbClr val="272525"/>
                </a:solidFill>
                <a:highlight>
                  <a:srgbClr val="CCEEFF"/>
                </a:highlight>
                <a:latin typeface="Consolas" pitchFamily="34" charset="0"/>
                <a:ea typeface="Consolas" pitchFamily="34" charset="-122"/>
                <a:cs typeface="Consolas" pitchFamily="34" charset="-120"/>
              </a:rPr>
              <a:t>i</a:t>
            </a:r>
            <a:r>
              <a:rPr lang="en-US" dirty="0">
                <a:solidFill>
                  <a:srgbClr val="272525"/>
                </a:solidFill>
                <a:highlight>
                  <a:srgbClr val="CCEEFF"/>
                </a:highlight>
                <a:latin typeface="Consolas" pitchFamily="34" charset="0"/>
                <a:ea typeface="Consolas" pitchFamily="34" charset="-122"/>
                <a:cs typeface="Consolas" pitchFamily="34" charset="-120"/>
              </a:rPr>
              <a:t>]); }</a:t>
            </a:r>
            <a:endParaRPr lang="en-US" dirty="0"/>
          </a:p>
          <a:p>
            <a:endParaRPr lang="en-US" dirty="0"/>
          </a:p>
        </p:txBody>
      </p:sp>
      <p:sp>
        <p:nvSpPr>
          <p:cNvPr id="60" name="Shape 8">
            <a:extLst>
              <a:ext uri="{FF2B5EF4-FFF2-40B4-BE49-F238E27FC236}">
                <a16:creationId xmlns:a16="http://schemas.microsoft.com/office/drawing/2014/main" id="{BD4A2B38-534C-4C60-9E9E-0C77252C8D70}"/>
              </a:ext>
            </a:extLst>
          </p:cNvPr>
          <p:cNvSpPr/>
          <p:nvPr/>
        </p:nvSpPr>
        <p:spPr>
          <a:xfrm>
            <a:off x="6769442" y="-6392399"/>
            <a:ext cx="6815930" cy="702945"/>
          </a:xfrm>
          <a:prstGeom prst="roundRect">
            <a:avLst>
              <a:gd name="adj" fmla="val 32405"/>
            </a:avLst>
          </a:prstGeom>
          <a:solidFill>
            <a:srgbClr val="CCEEFF"/>
          </a:solidFill>
          <a:ln/>
          <a:effectLst>
            <a:outerShdw blurRad="50800" dist="38100" dir="8100000" algn="tr" rotWithShape="0">
              <a:prstClr val="black">
                <a:alpha val="40000"/>
              </a:prstClr>
            </a:outerShdw>
          </a:effectLst>
        </p:spPr>
        <p:txBody>
          <a:bodyPr/>
          <a:lstStyle/>
          <a:p>
            <a:r>
              <a:rPr lang="en-US" dirty="0">
                <a:solidFill>
                  <a:srgbClr val="272525"/>
                </a:solidFill>
                <a:highlight>
                  <a:srgbClr val="CCEEFF"/>
                </a:highlight>
                <a:latin typeface="Consolas" pitchFamily="34" charset="0"/>
                <a:ea typeface="Consolas" pitchFamily="34" charset="-122"/>
                <a:cs typeface="Consolas" pitchFamily="34" charset="-120"/>
              </a:rPr>
              <a:t>Car </a:t>
            </a:r>
            <a:r>
              <a:rPr lang="en-US" dirty="0" err="1">
                <a:solidFill>
                  <a:srgbClr val="272525"/>
                </a:solidFill>
                <a:highlight>
                  <a:srgbClr val="CCEEFF"/>
                </a:highlight>
                <a:latin typeface="Consolas" pitchFamily="34" charset="0"/>
                <a:ea typeface="Consolas" pitchFamily="34" charset="-122"/>
                <a:cs typeface="Consolas" pitchFamily="34" charset="-120"/>
              </a:rPr>
              <a:t>myCars</a:t>
            </a:r>
            <a:r>
              <a:rPr lang="en-US" dirty="0">
                <a:solidFill>
                  <a:srgbClr val="272525"/>
                </a:solidFill>
                <a:highlight>
                  <a:srgbClr val="CCEEFF"/>
                </a:highlight>
                <a:latin typeface="Consolas" pitchFamily="34" charset="0"/>
                <a:ea typeface="Consolas" pitchFamily="34" charset="-122"/>
                <a:cs typeface="Consolas" pitchFamily="34" charset="-120"/>
              </a:rPr>
              <a:t>[] = { Car("Red", 60), Car("Blue", 70) };</a:t>
            </a:r>
            <a:endParaRPr lang="en-US" dirty="0"/>
          </a:p>
          <a:p>
            <a:endParaRPr lang="en-US" dirty="0"/>
          </a:p>
        </p:txBody>
      </p:sp>
      <p:sp>
        <p:nvSpPr>
          <p:cNvPr id="61" name="Text 0">
            <a:extLst>
              <a:ext uri="{FF2B5EF4-FFF2-40B4-BE49-F238E27FC236}">
                <a16:creationId xmlns:a16="http://schemas.microsoft.com/office/drawing/2014/main" id="{379B1D23-A4A7-4A24-A557-5698E2810363}"/>
              </a:ext>
            </a:extLst>
          </p:cNvPr>
          <p:cNvSpPr/>
          <p:nvPr/>
        </p:nvSpPr>
        <p:spPr>
          <a:xfrm>
            <a:off x="5497607" y="-8184580"/>
            <a:ext cx="6657261" cy="495062"/>
          </a:xfrm>
          <a:prstGeom prst="rect">
            <a:avLst/>
          </a:prstGeom>
          <a:noFill/>
          <a:ln/>
        </p:spPr>
        <p:txBody>
          <a:bodyPr wrap="none" lIns="0" tIns="0" rIns="0" bIns="0" rtlCol="0" anchor="t"/>
          <a:lstStyle/>
          <a:p>
            <a:pPr marL="0" indent="0" algn="l">
              <a:lnSpc>
                <a:spcPts val="3850"/>
              </a:lnSpc>
              <a:buNone/>
            </a:pPr>
            <a:r>
              <a:rPr lang="en-US" sz="3100" b="1" dirty="0">
                <a:solidFill>
                  <a:srgbClr val="000000"/>
                </a:solidFill>
                <a:latin typeface="Petrona Bold" pitchFamily="34" charset="0"/>
                <a:ea typeface="Petrona Bold" pitchFamily="34" charset="-122"/>
                <a:cs typeface="Petrona Bold" pitchFamily="34" charset="-120"/>
              </a:rPr>
              <a:t>Example: Array of 'Rectangle' Objects</a:t>
            </a:r>
            <a:endParaRPr lang="en-US" sz="3100" dirty="0"/>
          </a:p>
        </p:txBody>
      </p:sp>
      <p:sp>
        <p:nvSpPr>
          <p:cNvPr id="63" name="Text 1">
            <a:extLst>
              <a:ext uri="{FF2B5EF4-FFF2-40B4-BE49-F238E27FC236}">
                <a16:creationId xmlns:a16="http://schemas.microsoft.com/office/drawing/2014/main" id="{9ADCA7CE-23F0-4528-A421-53363335C55B}"/>
              </a:ext>
            </a:extLst>
          </p:cNvPr>
          <p:cNvSpPr/>
          <p:nvPr/>
        </p:nvSpPr>
        <p:spPr>
          <a:xfrm>
            <a:off x="6266172" y="-5499550"/>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Petrona Bold" pitchFamily="34" charset="0"/>
                <a:ea typeface="Petrona Bold" pitchFamily="34" charset="-122"/>
                <a:cs typeface="Petrona Bold" pitchFamily="34" charset="-120"/>
              </a:rPr>
              <a:t>Class Definition</a:t>
            </a:r>
            <a:endParaRPr lang="en-US" sz="1550" dirty="0"/>
          </a:p>
        </p:txBody>
      </p:sp>
      <p:pic>
        <p:nvPicPr>
          <p:cNvPr id="71" name="Image 1" descr="preencoded.png">
            <a:extLst>
              <a:ext uri="{FF2B5EF4-FFF2-40B4-BE49-F238E27FC236}">
                <a16:creationId xmlns:a16="http://schemas.microsoft.com/office/drawing/2014/main" id="{85DDB2B7-8955-4B95-B9CC-B24BED96696B}"/>
              </a:ext>
            </a:extLst>
          </p:cNvPr>
          <p:cNvPicPr>
            <a:picLocks noChangeAspect="1"/>
          </p:cNvPicPr>
          <p:nvPr/>
        </p:nvPicPr>
        <p:blipFill>
          <a:blip r:embed="rId12"/>
          <a:stretch>
            <a:fillRect/>
          </a:stretch>
        </p:blipFill>
        <p:spPr>
          <a:xfrm>
            <a:off x="5285573" y="-5404397"/>
            <a:ext cx="754380" cy="1597343"/>
          </a:xfrm>
          <a:prstGeom prst="rect">
            <a:avLst/>
          </a:prstGeom>
        </p:spPr>
      </p:pic>
      <p:sp>
        <p:nvSpPr>
          <p:cNvPr id="72" name="Text 1">
            <a:extLst>
              <a:ext uri="{FF2B5EF4-FFF2-40B4-BE49-F238E27FC236}">
                <a16:creationId xmlns:a16="http://schemas.microsoft.com/office/drawing/2014/main" id="{EDE112AB-377D-49CB-A875-687E5ADA2228}"/>
              </a:ext>
            </a:extLst>
          </p:cNvPr>
          <p:cNvSpPr/>
          <p:nvPr/>
        </p:nvSpPr>
        <p:spPr>
          <a:xfrm>
            <a:off x="6266172" y="-5253545"/>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Petrona Bold" pitchFamily="34" charset="0"/>
                <a:ea typeface="Petrona Bold" pitchFamily="34" charset="-122"/>
                <a:cs typeface="Petrona Bold" pitchFamily="34" charset="-120"/>
              </a:rPr>
              <a:t>Class Definition</a:t>
            </a:r>
            <a:endParaRPr lang="en-US" sz="1550" dirty="0"/>
          </a:p>
        </p:txBody>
      </p:sp>
      <p:sp>
        <p:nvSpPr>
          <p:cNvPr id="73" name="Shape 3">
            <a:extLst>
              <a:ext uri="{FF2B5EF4-FFF2-40B4-BE49-F238E27FC236}">
                <a16:creationId xmlns:a16="http://schemas.microsoft.com/office/drawing/2014/main" id="{2B588556-4D87-46A5-8695-3A327477D734}"/>
              </a:ext>
            </a:extLst>
          </p:cNvPr>
          <p:cNvSpPr/>
          <p:nvPr/>
        </p:nvSpPr>
        <p:spPr>
          <a:xfrm>
            <a:off x="6258671" y="-4836469"/>
            <a:ext cx="7311555" cy="467558"/>
          </a:xfrm>
          <a:prstGeom prst="roundRect">
            <a:avLst>
              <a:gd name="adj" fmla="val 21847"/>
            </a:avLst>
          </a:prstGeom>
          <a:solidFill>
            <a:srgbClr val="CCEEFF"/>
          </a:solidFill>
          <a:ln/>
        </p:spPr>
        <p:txBody>
          <a:bodyPr/>
          <a:lstStyle/>
          <a:p>
            <a:pPr lvl="0">
              <a:lnSpc>
                <a:spcPts val="1900"/>
              </a:lnSpc>
            </a:pPr>
            <a:r>
              <a:rPr lang="en-US" sz="1150" dirty="0">
                <a:solidFill>
                  <a:srgbClr val="272525"/>
                </a:solidFill>
                <a:highlight>
                  <a:srgbClr val="CCEEFF"/>
                </a:highlight>
                <a:latin typeface="Consolas" pitchFamily="34" charset="0"/>
                <a:ea typeface="Consolas" pitchFamily="34" charset="-122"/>
                <a:cs typeface="Consolas" pitchFamily="34" charset="-120"/>
              </a:rPr>
              <a:t>class Rectangle { float width; float height };</a:t>
            </a:r>
            <a:endParaRPr lang="en-US" sz="1150" dirty="0">
              <a:solidFill>
                <a:prstClr val="black"/>
              </a:solidFill>
            </a:endParaRPr>
          </a:p>
          <a:p>
            <a:endParaRPr lang="en-US" dirty="0"/>
          </a:p>
        </p:txBody>
      </p:sp>
      <p:pic>
        <p:nvPicPr>
          <p:cNvPr id="74" name="Image 2" descr="preencoded.png">
            <a:extLst>
              <a:ext uri="{FF2B5EF4-FFF2-40B4-BE49-F238E27FC236}">
                <a16:creationId xmlns:a16="http://schemas.microsoft.com/office/drawing/2014/main" id="{1BE15DFB-0A54-4CAD-8F6C-325747A92FAD}"/>
              </a:ext>
            </a:extLst>
          </p:cNvPr>
          <p:cNvPicPr>
            <a:picLocks noChangeAspect="1"/>
          </p:cNvPicPr>
          <p:nvPr/>
        </p:nvPicPr>
        <p:blipFill>
          <a:blip r:embed="rId13"/>
          <a:stretch>
            <a:fillRect/>
          </a:stretch>
        </p:blipFill>
        <p:spPr>
          <a:xfrm>
            <a:off x="5285573" y="-5688174"/>
            <a:ext cx="754380" cy="1597343"/>
          </a:xfrm>
          <a:prstGeom prst="rect">
            <a:avLst/>
          </a:prstGeom>
        </p:spPr>
      </p:pic>
      <p:sp>
        <p:nvSpPr>
          <p:cNvPr id="75" name="Text 6">
            <a:extLst>
              <a:ext uri="{FF2B5EF4-FFF2-40B4-BE49-F238E27FC236}">
                <a16:creationId xmlns:a16="http://schemas.microsoft.com/office/drawing/2014/main" id="{52E82FC6-2231-4F0C-89E0-88946525C63F}"/>
              </a:ext>
            </a:extLst>
          </p:cNvPr>
          <p:cNvSpPr/>
          <p:nvPr/>
        </p:nvSpPr>
        <p:spPr>
          <a:xfrm>
            <a:off x="6266172" y="-5537322"/>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Petrona Bold" pitchFamily="34" charset="0"/>
                <a:ea typeface="Petrona Bold" pitchFamily="34" charset="-122"/>
                <a:cs typeface="Petrona Bold" pitchFamily="34" charset="-120"/>
              </a:rPr>
              <a:t>Array Initialization</a:t>
            </a:r>
            <a:endParaRPr lang="en-US" sz="1550" dirty="0"/>
          </a:p>
        </p:txBody>
      </p:sp>
      <p:sp>
        <p:nvSpPr>
          <p:cNvPr id="76" name="Shape 7">
            <a:extLst>
              <a:ext uri="{FF2B5EF4-FFF2-40B4-BE49-F238E27FC236}">
                <a16:creationId xmlns:a16="http://schemas.microsoft.com/office/drawing/2014/main" id="{18F643A8-AD79-421F-87BA-F69E4B90BA4A}"/>
              </a:ext>
            </a:extLst>
          </p:cNvPr>
          <p:cNvSpPr/>
          <p:nvPr/>
        </p:nvSpPr>
        <p:spPr>
          <a:xfrm>
            <a:off x="6266173" y="-5120246"/>
            <a:ext cx="7304054" cy="467558"/>
          </a:xfrm>
          <a:prstGeom prst="roundRect">
            <a:avLst>
              <a:gd name="adj" fmla="val 30560"/>
            </a:avLst>
          </a:prstGeom>
          <a:solidFill>
            <a:srgbClr val="CCEEFF"/>
          </a:solidFill>
          <a:ln/>
        </p:spPr>
        <p:txBody>
          <a:bodyPr/>
          <a:lstStyle/>
          <a:p>
            <a:pPr lvl="0">
              <a:lnSpc>
                <a:spcPts val="1900"/>
              </a:lnSpc>
            </a:pPr>
            <a:r>
              <a:rPr lang="en-US" sz="1150" dirty="0">
                <a:solidFill>
                  <a:srgbClr val="272525"/>
                </a:solidFill>
                <a:highlight>
                  <a:srgbClr val="CCEEFF"/>
                </a:highlight>
                <a:latin typeface="Consolas" pitchFamily="34" charset="0"/>
                <a:ea typeface="Consolas" pitchFamily="34" charset="-122"/>
                <a:cs typeface="Consolas" pitchFamily="34" charset="-120"/>
              </a:rPr>
              <a:t>Rectangle </a:t>
            </a:r>
            <a:r>
              <a:rPr lang="en-US" sz="1150" dirty="0" err="1">
                <a:solidFill>
                  <a:srgbClr val="272525"/>
                </a:solidFill>
                <a:highlight>
                  <a:srgbClr val="CCEEFF"/>
                </a:highlight>
                <a:latin typeface="Consolas" pitchFamily="34" charset="0"/>
                <a:ea typeface="Consolas" pitchFamily="34" charset="-122"/>
                <a:cs typeface="Consolas" pitchFamily="34" charset="-120"/>
              </a:rPr>
              <a:t>rects</a:t>
            </a:r>
            <a:r>
              <a:rPr lang="en-US" sz="1150" dirty="0">
                <a:solidFill>
                  <a:srgbClr val="272525"/>
                </a:solidFill>
                <a:highlight>
                  <a:srgbClr val="CCEEFF"/>
                </a:highlight>
                <a:latin typeface="Consolas" pitchFamily="34" charset="0"/>
                <a:ea typeface="Consolas" pitchFamily="34" charset="-122"/>
                <a:cs typeface="Consolas" pitchFamily="34" charset="-120"/>
              </a:rPr>
              <a:t>[] = { Rectangle(2,3), Rectangle(4,5), Rectangle(6,7), Rectangle(8,9) };</a:t>
            </a:r>
            <a:endParaRPr lang="en-US" sz="1150" dirty="0">
              <a:solidFill>
                <a:prstClr val="black"/>
              </a:solidFill>
            </a:endParaRPr>
          </a:p>
          <a:p>
            <a:endParaRPr lang="en-US" dirty="0"/>
          </a:p>
        </p:txBody>
      </p:sp>
      <p:pic>
        <p:nvPicPr>
          <p:cNvPr id="77" name="Image 3" descr="preencoded.png">
            <a:extLst>
              <a:ext uri="{FF2B5EF4-FFF2-40B4-BE49-F238E27FC236}">
                <a16:creationId xmlns:a16="http://schemas.microsoft.com/office/drawing/2014/main" id="{9776EE63-575B-4F12-AC3D-4B00383DB3D7}"/>
              </a:ext>
            </a:extLst>
          </p:cNvPr>
          <p:cNvPicPr>
            <a:picLocks noChangeAspect="1"/>
          </p:cNvPicPr>
          <p:nvPr/>
        </p:nvPicPr>
        <p:blipFill>
          <a:blip r:embed="rId14"/>
          <a:stretch>
            <a:fillRect/>
          </a:stretch>
        </p:blipFill>
        <p:spPr>
          <a:xfrm>
            <a:off x="5285573" y="-5501399"/>
            <a:ext cx="754380" cy="1597343"/>
          </a:xfrm>
          <a:prstGeom prst="rect">
            <a:avLst/>
          </a:prstGeom>
        </p:spPr>
      </p:pic>
      <p:sp>
        <p:nvSpPr>
          <p:cNvPr id="78" name="Text 11">
            <a:extLst>
              <a:ext uri="{FF2B5EF4-FFF2-40B4-BE49-F238E27FC236}">
                <a16:creationId xmlns:a16="http://schemas.microsoft.com/office/drawing/2014/main" id="{E911997D-083B-4ADE-8005-7CB0CA936B7F}"/>
              </a:ext>
            </a:extLst>
          </p:cNvPr>
          <p:cNvSpPr/>
          <p:nvPr/>
        </p:nvSpPr>
        <p:spPr>
          <a:xfrm>
            <a:off x="6266172" y="-5350547"/>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Petrona Bold" pitchFamily="34" charset="0"/>
                <a:ea typeface="Petrona Bold" pitchFamily="34" charset="-122"/>
                <a:cs typeface="Petrona Bold" pitchFamily="34" charset="-120"/>
              </a:rPr>
              <a:t>Accessing Member</a:t>
            </a:r>
            <a:endParaRPr lang="en-US" sz="1550" dirty="0"/>
          </a:p>
        </p:txBody>
      </p:sp>
      <p:sp>
        <p:nvSpPr>
          <p:cNvPr id="79" name="Shape 12">
            <a:extLst>
              <a:ext uri="{FF2B5EF4-FFF2-40B4-BE49-F238E27FC236}">
                <a16:creationId xmlns:a16="http://schemas.microsoft.com/office/drawing/2014/main" id="{9D1470F3-5E07-4BE3-B302-019BA3CC7209}"/>
              </a:ext>
            </a:extLst>
          </p:cNvPr>
          <p:cNvSpPr/>
          <p:nvPr/>
        </p:nvSpPr>
        <p:spPr>
          <a:xfrm>
            <a:off x="6266172" y="-4933471"/>
            <a:ext cx="7304055" cy="467558"/>
          </a:xfrm>
          <a:prstGeom prst="roundRect">
            <a:avLst>
              <a:gd name="adj" fmla="val 27726"/>
            </a:avLst>
          </a:prstGeom>
          <a:solidFill>
            <a:srgbClr val="CCEEFF"/>
          </a:solidFill>
          <a:ln/>
        </p:spPr>
        <p:txBody>
          <a:bodyPr/>
          <a:lstStyle/>
          <a:p>
            <a:pPr lvl="0">
              <a:lnSpc>
                <a:spcPts val="1900"/>
              </a:lnSpc>
            </a:pPr>
            <a:r>
              <a:rPr lang="en-US" sz="1150" dirty="0" err="1">
                <a:solidFill>
                  <a:srgbClr val="272525"/>
                </a:solidFill>
                <a:highlight>
                  <a:srgbClr val="CCEEFF"/>
                </a:highlight>
                <a:latin typeface="Consolas" pitchFamily="34" charset="0"/>
                <a:ea typeface="Consolas" pitchFamily="34" charset="-122"/>
                <a:cs typeface="Consolas" pitchFamily="34" charset="-120"/>
              </a:rPr>
              <a:t>cout</a:t>
            </a:r>
            <a:r>
              <a:rPr lang="en-US" sz="1150" dirty="0">
                <a:solidFill>
                  <a:srgbClr val="272525"/>
                </a:solidFill>
                <a:highlight>
                  <a:srgbClr val="CCEEFF"/>
                </a:highlight>
                <a:latin typeface="Consolas" pitchFamily="34" charset="0"/>
                <a:ea typeface="Consolas" pitchFamily="34" charset="-122"/>
                <a:cs typeface="Consolas" pitchFamily="34" charset="-120"/>
              </a:rPr>
              <a:t> &lt;&lt; </a:t>
            </a:r>
            <a:r>
              <a:rPr lang="en-US" sz="1150" dirty="0" err="1">
                <a:solidFill>
                  <a:srgbClr val="272525"/>
                </a:solidFill>
                <a:highlight>
                  <a:srgbClr val="CCEEFF"/>
                </a:highlight>
                <a:latin typeface="Consolas" pitchFamily="34" charset="0"/>
                <a:ea typeface="Consolas" pitchFamily="34" charset="-122"/>
                <a:cs typeface="Consolas" pitchFamily="34" charset="-120"/>
              </a:rPr>
              <a:t>rects</a:t>
            </a:r>
            <a:r>
              <a:rPr lang="en-US" sz="1150" dirty="0">
                <a:solidFill>
                  <a:srgbClr val="272525"/>
                </a:solidFill>
                <a:highlight>
                  <a:srgbClr val="CCEEFF"/>
                </a:highlight>
                <a:latin typeface="Consolas" pitchFamily="34" charset="0"/>
                <a:ea typeface="Consolas" pitchFamily="34" charset="-122"/>
                <a:cs typeface="Consolas" pitchFamily="34" charset="-120"/>
              </a:rPr>
              <a:t>[2].area();</a:t>
            </a:r>
            <a:endParaRPr lang="en-US" sz="1150" dirty="0">
              <a:solidFill>
                <a:prstClr val="black"/>
              </a:solidFill>
            </a:endParaRPr>
          </a:p>
          <a:p>
            <a:endParaRPr lang="en-US" dirty="0"/>
          </a:p>
        </p:txBody>
      </p:sp>
      <p:sp>
        <p:nvSpPr>
          <p:cNvPr id="83" name="Text 5">
            <a:extLst>
              <a:ext uri="{FF2B5EF4-FFF2-40B4-BE49-F238E27FC236}">
                <a16:creationId xmlns:a16="http://schemas.microsoft.com/office/drawing/2014/main" id="{08E2860F-4572-408D-84DE-2FCB5E20DDE4}"/>
              </a:ext>
            </a:extLst>
          </p:cNvPr>
          <p:cNvSpPr/>
          <p:nvPr/>
        </p:nvSpPr>
        <p:spPr>
          <a:xfrm>
            <a:off x="6266172" y="-4182137"/>
            <a:ext cx="12593717" cy="241340"/>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Inter" pitchFamily="34" charset="0"/>
                <a:ea typeface="Inter" pitchFamily="34" charset="-122"/>
                <a:cs typeface="Inter" pitchFamily="34" charset="-120"/>
              </a:rPr>
              <a:t>Defines a simple Rectangle class with width, height, and area calculation.</a:t>
            </a:r>
            <a:endParaRPr lang="en-US" sz="1150" dirty="0"/>
          </a:p>
        </p:txBody>
      </p:sp>
      <p:sp>
        <p:nvSpPr>
          <p:cNvPr id="84" name="Text 10">
            <a:extLst>
              <a:ext uri="{FF2B5EF4-FFF2-40B4-BE49-F238E27FC236}">
                <a16:creationId xmlns:a16="http://schemas.microsoft.com/office/drawing/2014/main" id="{BCBA6ED0-928F-4AFE-A138-A626AAB7F0EE}"/>
              </a:ext>
            </a:extLst>
          </p:cNvPr>
          <p:cNvSpPr/>
          <p:nvPr/>
        </p:nvSpPr>
        <p:spPr>
          <a:xfrm>
            <a:off x="6266172" y="-4465913"/>
            <a:ext cx="12593717" cy="241340"/>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Inter" pitchFamily="34" charset="0"/>
                <a:ea typeface="Inter" pitchFamily="34" charset="-122"/>
                <a:cs typeface="Inter" pitchFamily="34" charset="-120"/>
              </a:rPr>
              <a:t>Initializes an array of Rectangle objects using parameterized constructors.</a:t>
            </a:r>
            <a:endParaRPr lang="en-US" sz="1150" dirty="0"/>
          </a:p>
        </p:txBody>
      </p:sp>
      <p:sp>
        <p:nvSpPr>
          <p:cNvPr id="85" name="Text 15">
            <a:extLst>
              <a:ext uri="{FF2B5EF4-FFF2-40B4-BE49-F238E27FC236}">
                <a16:creationId xmlns:a16="http://schemas.microsoft.com/office/drawing/2014/main" id="{9311AA2B-570F-4300-AA24-3616722E78F7}"/>
              </a:ext>
            </a:extLst>
          </p:cNvPr>
          <p:cNvSpPr/>
          <p:nvPr/>
        </p:nvSpPr>
        <p:spPr>
          <a:xfrm>
            <a:off x="6266172" y="-4279139"/>
            <a:ext cx="12593717" cy="241340"/>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Inter" pitchFamily="34" charset="0"/>
                <a:ea typeface="Inter" pitchFamily="34" charset="-122"/>
                <a:cs typeface="Inter" pitchFamily="34" charset="-120"/>
              </a:rPr>
              <a:t>Accesses the </a:t>
            </a:r>
            <a:r>
              <a:rPr lang="en-US" sz="1150" b="1" dirty="0">
                <a:solidFill>
                  <a:srgbClr val="272525"/>
                </a:solidFill>
                <a:latin typeface="Inter" pitchFamily="34" charset="0"/>
                <a:ea typeface="Inter" pitchFamily="34" charset="-122"/>
                <a:cs typeface="Inter" pitchFamily="34" charset="-120"/>
              </a:rPr>
              <a:t>area()</a:t>
            </a:r>
            <a:r>
              <a:rPr lang="en-US" sz="1150" dirty="0">
                <a:solidFill>
                  <a:srgbClr val="272525"/>
                </a:solidFill>
                <a:latin typeface="Inter" pitchFamily="34" charset="0"/>
                <a:ea typeface="Inter" pitchFamily="34" charset="-122"/>
                <a:cs typeface="Inter" pitchFamily="34" charset="-120"/>
              </a:rPr>
              <a:t> method of the third Rectangle object, outputting 42.</a:t>
            </a:r>
            <a:endParaRPr lang="en-US" sz="1150" dirty="0"/>
          </a:p>
        </p:txBody>
      </p:sp>
      <p:sp>
        <p:nvSpPr>
          <p:cNvPr id="86" name="Text 6">
            <a:extLst>
              <a:ext uri="{FF2B5EF4-FFF2-40B4-BE49-F238E27FC236}">
                <a16:creationId xmlns:a16="http://schemas.microsoft.com/office/drawing/2014/main" id="{977A21D2-08D2-421E-B876-0F5D022EBB3C}"/>
              </a:ext>
            </a:extLst>
          </p:cNvPr>
          <p:cNvSpPr/>
          <p:nvPr/>
        </p:nvSpPr>
        <p:spPr>
          <a:xfrm>
            <a:off x="6769442" y="-5970179"/>
            <a:ext cx="4174329" cy="372070"/>
          </a:xfrm>
          <a:prstGeom prst="rect">
            <a:avLst/>
          </a:prstGeom>
          <a:noFill/>
          <a:ln/>
        </p:spPr>
        <p:txBody>
          <a:bodyPr wrap="none" lIns="0" tIns="0" rIns="0" bIns="0" rtlCol="0" anchor="t"/>
          <a:lstStyle/>
          <a:p>
            <a:pPr>
              <a:lnSpc>
                <a:spcPts val="2900"/>
              </a:lnSpc>
            </a:pPr>
            <a:r>
              <a:rPr lang="en-US" sz="2300" b="1" dirty="0">
                <a:solidFill>
                  <a:srgbClr val="272525"/>
                </a:solidFill>
                <a:latin typeface="Petrona Bold" pitchFamily="34" charset="0"/>
                <a:ea typeface="Petrona Bold" pitchFamily="34" charset="-122"/>
                <a:cs typeface="Petrona Bold" pitchFamily="34" charset="-120"/>
              </a:rPr>
              <a:t>Uniform Initialization(C++11)</a:t>
            </a:r>
            <a:endParaRPr lang="en-US" sz="2300" dirty="0"/>
          </a:p>
        </p:txBody>
      </p:sp>
    </p:spTree>
    <p:extLst>
      <p:ext uri="{BB962C8B-B14F-4D97-AF65-F5344CB8AC3E}">
        <p14:creationId xmlns:p14="http://schemas.microsoft.com/office/powerpoint/2010/main" val="263789318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sp>
        <p:nvSpPr>
          <p:cNvPr id="16" name="Text 0">
            <a:extLst>
              <a:ext uri="{FF2B5EF4-FFF2-40B4-BE49-F238E27FC236}">
                <a16:creationId xmlns:a16="http://schemas.microsoft.com/office/drawing/2014/main" id="{CA07892F-FFB7-440E-8601-A6D0E2AB9D46}"/>
              </a:ext>
            </a:extLst>
          </p:cNvPr>
          <p:cNvSpPr/>
          <p:nvPr/>
        </p:nvSpPr>
        <p:spPr>
          <a:xfrm>
            <a:off x="5486400" y="1368054"/>
            <a:ext cx="6657261" cy="495062"/>
          </a:xfrm>
          <a:prstGeom prst="rect">
            <a:avLst/>
          </a:prstGeom>
          <a:noFill/>
          <a:ln/>
        </p:spPr>
        <p:txBody>
          <a:bodyPr wrap="none" lIns="0" tIns="0" rIns="0" bIns="0" rtlCol="0" anchor="t"/>
          <a:lstStyle/>
          <a:p>
            <a:pPr marL="0" indent="0" algn="l">
              <a:lnSpc>
                <a:spcPts val="3850"/>
              </a:lnSpc>
              <a:buNone/>
            </a:pPr>
            <a:r>
              <a:rPr lang="en-US" sz="3100" b="1" dirty="0">
                <a:solidFill>
                  <a:srgbClr val="000000"/>
                </a:solidFill>
                <a:latin typeface="Berlin Sans FB Demi" panose="020E0802020502020306" pitchFamily="34" charset="0"/>
                <a:ea typeface="Petrona Bold" pitchFamily="34" charset="-122"/>
                <a:cs typeface="Petrona Bold" pitchFamily="34" charset="-120"/>
              </a:rPr>
              <a:t>Example: Array of 'Rectangle' Objects</a:t>
            </a:r>
            <a:endParaRPr lang="en-US" sz="3100" dirty="0">
              <a:latin typeface="Berlin Sans FB Demi" panose="020E0802020502020306" pitchFamily="34" charset="0"/>
            </a:endParaRPr>
          </a:p>
        </p:txBody>
      </p:sp>
      <p:pic>
        <p:nvPicPr>
          <p:cNvPr id="17" name="Image 1" descr="preencoded.png">
            <a:extLst>
              <a:ext uri="{FF2B5EF4-FFF2-40B4-BE49-F238E27FC236}">
                <a16:creationId xmlns:a16="http://schemas.microsoft.com/office/drawing/2014/main" id="{801B293B-DC07-4FF6-AEC3-A041F666E4B9}"/>
              </a:ext>
            </a:extLst>
          </p:cNvPr>
          <p:cNvPicPr>
            <a:picLocks noChangeAspect="1"/>
          </p:cNvPicPr>
          <p:nvPr/>
        </p:nvPicPr>
        <p:blipFill>
          <a:blip r:embed="rId4"/>
          <a:stretch>
            <a:fillRect/>
          </a:stretch>
        </p:blipFill>
        <p:spPr>
          <a:xfrm>
            <a:off x="5285573" y="2393203"/>
            <a:ext cx="754380" cy="1597343"/>
          </a:xfrm>
          <a:prstGeom prst="rect">
            <a:avLst/>
          </a:prstGeom>
          <a:ln>
            <a:noFill/>
          </a:ln>
          <a:effectLst>
            <a:innerShdw blurRad="63500" dist="50800" dir="18900000">
              <a:prstClr val="black">
                <a:alpha val="50000"/>
              </a:prstClr>
            </a:innerShdw>
          </a:effectLst>
        </p:spPr>
      </p:pic>
      <p:sp>
        <p:nvSpPr>
          <p:cNvPr id="18" name="Text 1">
            <a:extLst>
              <a:ext uri="{FF2B5EF4-FFF2-40B4-BE49-F238E27FC236}">
                <a16:creationId xmlns:a16="http://schemas.microsoft.com/office/drawing/2014/main" id="{94578788-ED8A-480C-9C13-64350258E1A0}"/>
              </a:ext>
            </a:extLst>
          </p:cNvPr>
          <p:cNvSpPr/>
          <p:nvPr/>
        </p:nvSpPr>
        <p:spPr>
          <a:xfrm>
            <a:off x="6266172" y="2544055"/>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Berlin Sans FB Demi" panose="020E0802020502020306" pitchFamily="34" charset="0"/>
                <a:ea typeface="Petrona Bold" pitchFamily="34" charset="-122"/>
                <a:cs typeface="Petrona Bold" pitchFamily="34" charset="-120"/>
              </a:rPr>
              <a:t>Class Definition</a:t>
            </a:r>
            <a:endParaRPr lang="en-US" sz="1550" dirty="0">
              <a:latin typeface="Berlin Sans FB Demi" panose="020E0802020502020306" pitchFamily="34" charset="0"/>
            </a:endParaRPr>
          </a:p>
        </p:txBody>
      </p:sp>
      <p:sp>
        <p:nvSpPr>
          <p:cNvPr id="20" name="Shape 3">
            <a:extLst>
              <a:ext uri="{FF2B5EF4-FFF2-40B4-BE49-F238E27FC236}">
                <a16:creationId xmlns:a16="http://schemas.microsoft.com/office/drawing/2014/main" id="{5078C024-B073-4C35-B656-10D42499D301}"/>
              </a:ext>
            </a:extLst>
          </p:cNvPr>
          <p:cNvSpPr/>
          <p:nvPr/>
        </p:nvSpPr>
        <p:spPr>
          <a:xfrm>
            <a:off x="6258671" y="2961131"/>
            <a:ext cx="7457328" cy="467558"/>
          </a:xfrm>
          <a:prstGeom prst="roundRect">
            <a:avLst>
              <a:gd name="adj" fmla="val 21847"/>
            </a:avLst>
          </a:prstGeom>
          <a:solidFill>
            <a:srgbClr val="CCEEFF"/>
          </a:solidFill>
          <a:ln/>
          <a:effectLst>
            <a:innerShdw blurRad="63500" dist="50800" dir="18900000">
              <a:prstClr val="black">
                <a:alpha val="50000"/>
              </a:prstClr>
            </a:innerShdw>
          </a:effectLst>
        </p:spPr>
        <p:txBody>
          <a:bodyPr/>
          <a:lstStyle/>
          <a:p>
            <a:pPr lvl="0">
              <a:lnSpc>
                <a:spcPts val="1900"/>
              </a:lnSpc>
            </a:pPr>
            <a:r>
              <a:rPr lang="en-US" sz="1150" dirty="0">
                <a:solidFill>
                  <a:srgbClr val="272525"/>
                </a:solidFill>
                <a:highlight>
                  <a:srgbClr val="CCEEFF"/>
                </a:highlight>
                <a:latin typeface="Consolas" pitchFamily="34" charset="0"/>
                <a:ea typeface="Consolas" pitchFamily="34" charset="-122"/>
                <a:cs typeface="Consolas" pitchFamily="34" charset="-120"/>
              </a:rPr>
              <a:t>class Rectangle { float width; float height };</a:t>
            </a:r>
            <a:endParaRPr lang="en-US" sz="1150" dirty="0">
              <a:solidFill>
                <a:prstClr val="black"/>
              </a:solidFill>
            </a:endParaRPr>
          </a:p>
          <a:p>
            <a:endParaRPr lang="en-US" dirty="0"/>
          </a:p>
        </p:txBody>
      </p:sp>
      <p:sp>
        <p:nvSpPr>
          <p:cNvPr id="22" name="Text 5">
            <a:extLst>
              <a:ext uri="{FF2B5EF4-FFF2-40B4-BE49-F238E27FC236}">
                <a16:creationId xmlns:a16="http://schemas.microsoft.com/office/drawing/2014/main" id="{2493AADA-4EAF-4DBA-89CA-85D87632F116}"/>
              </a:ext>
            </a:extLst>
          </p:cNvPr>
          <p:cNvSpPr/>
          <p:nvPr/>
        </p:nvSpPr>
        <p:spPr>
          <a:xfrm>
            <a:off x="6266172" y="3598353"/>
            <a:ext cx="7449827" cy="322898"/>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Bodoni MT" panose="02070603080606020203" pitchFamily="18" charset="0"/>
                <a:ea typeface="Inter" pitchFamily="34" charset="-122"/>
                <a:cs typeface="Inter" pitchFamily="34" charset="-120"/>
              </a:rPr>
              <a:t>Defines a simple Rectangle class with width, height, and area calculation.</a:t>
            </a:r>
            <a:endParaRPr lang="en-US" sz="1150" dirty="0">
              <a:latin typeface="Bodoni MT" panose="02070603080606020203" pitchFamily="18" charset="0"/>
            </a:endParaRPr>
          </a:p>
        </p:txBody>
      </p:sp>
      <p:pic>
        <p:nvPicPr>
          <p:cNvPr id="23" name="Image 2" descr="preencoded.png">
            <a:extLst>
              <a:ext uri="{FF2B5EF4-FFF2-40B4-BE49-F238E27FC236}">
                <a16:creationId xmlns:a16="http://schemas.microsoft.com/office/drawing/2014/main" id="{72662A5F-01B4-4708-98F3-5442513C85F1}"/>
              </a:ext>
            </a:extLst>
          </p:cNvPr>
          <p:cNvPicPr>
            <a:picLocks noChangeAspect="1"/>
          </p:cNvPicPr>
          <p:nvPr/>
        </p:nvPicPr>
        <p:blipFill>
          <a:blip r:embed="rId5"/>
          <a:stretch>
            <a:fillRect/>
          </a:stretch>
        </p:blipFill>
        <p:spPr>
          <a:xfrm>
            <a:off x="5285573" y="3990545"/>
            <a:ext cx="754380" cy="1597343"/>
          </a:xfrm>
          <a:prstGeom prst="rect">
            <a:avLst/>
          </a:prstGeom>
          <a:ln>
            <a:noFill/>
          </a:ln>
          <a:effectLst>
            <a:innerShdw blurRad="63500" dist="50800" dir="18900000">
              <a:prstClr val="black">
                <a:alpha val="50000"/>
              </a:prstClr>
            </a:innerShdw>
          </a:effectLst>
        </p:spPr>
      </p:pic>
      <p:sp>
        <p:nvSpPr>
          <p:cNvPr id="24" name="Text 6">
            <a:extLst>
              <a:ext uri="{FF2B5EF4-FFF2-40B4-BE49-F238E27FC236}">
                <a16:creationId xmlns:a16="http://schemas.microsoft.com/office/drawing/2014/main" id="{F1B4193C-5DF3-4CC4-9EDF-661A6505A046}"/>
              </a:ext>
            </a:extLst>
          </p:cNvPr>
          <p:cNvSpPr/>
          <p:nvPr/>
        </p:nvSpPr>
        <p:spPr>
          <a:xfrm>
            <a:off x="6266172" y="4141397"/>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Berlin Sans FB Demi" panose="020E0802020502020306" pitchFamily="34" charset="0"/>
                <a:ea typeface="Petrona Bold" pitchFamily="34" charset="-122"/>
                <a:cs typeface="Petrona Bold" pitchFamily="34" charset="-120"/>
              </a:rPr>
              <a:t>Array Initialization</a:t>
            </a:r>
            <a:endParaRPr lang="en-US" sz="1550" dirty="0">
              <a:latin typeface="Berlin Sans FB Demi" panose="020E0802020502020306" pitchFamily="34" charset="0"/>
            </a:endParaRPr>
          </a:p>
        </p:txBody>
      </p:sp>
      <p:sp>
        <p:nvSpPr>
          <p:cNvPr id="25" name="Shape 7">
            <a:extLst>
              <a:ext uri="{FF2B5EF4-FFF2-40B4-BE49-F238E27FC236}">
                <a16:creationId xmlns:a16="http://schemas.microsoft.com/office/drawing/2014/main" id="{F565278E-E416-4E3B-B465-6EED26675668}"/>
              </a:ext>
            </a:extLst>
          </p:cNvPr>
          <p:cNvSpPr/>
          <p:nvPr/>
        </p:nvSpPr>
        <p:spPr>
          <a:xfrm>
            <a:off x="6266172" y="4558473"/>
            <a:ext cx="7449827" cy="467558"/>
          </a:xfrm>
          <a:prstGeom prst="roundRect">
            <a:avLst>
              <a:gd name="adj" fmla="val 30560"/>
            </a:avLst>
          </a:prstGeom>
          <a:solidFill>
            <a:srgbClr val="CCEEFF"/>
          </a:solidFill>
          <a:ln/>
          <a:effectLst>
            <a:innerShdw blurRad="63500" dist="50800" dir="18900000">
              <a:prstClr val="black">
                <a:alpha val="50000"/>
              </a:prstClr>
            </a:innerShdw>
          </a:effectLst>
        </p:spPr>
        <p:txBody>
          <a:bodyPr/>
          <a:lstStyle/>
          <a:p>
            <a:pPr lvl="0">
              <a:lnSpc>
                <a:spcPts val="1900"/>
              </a:lnSpc>
            </a:pPr>
            <a:r>
              <a:rPr lang="en-US" sz="1150" dirty="0">
                <a:solidFill>
                  <a:srgbClr val="272525"/>
                </a:solidFill>
                <a:highlight>
                  <a:srgbClr val="CCEEFF"/>
                </a:highlight>
                <a:latin typeface="Consolas" pitchFamily="34" charset="0"/>
                <a:ea typeface="Consolas" pitchFamily="34" charset="-122"/>
                <a:cs typeface="Consolas" pitchFamily="34" charset="-120"/>
              </a:rPr>
              <a:t>Rectangle </a:t>
            </a:r>
            <a:r>
              <a:rPr lang="en-US" sz="1150" dirty="0" err="1">
                <a:solidFill>
                  <a:srgbClr val="272525"/>
                </a:solidFill>
                <a:highlight>
                  <a:srgbClr val="CCEEFF"/>
                </a:highlight>
                <a:latin typeface="Consolas" pitchFamily="34" charset="0"/>
                <a:ea typeface="Consolas" pitchFamily="34" charset="-122"/>
                <a:cs typeface="Consolas" pitchFamily="34" charset="-120"/>
              </a:rPr>
              <a:t>rects</a:t>
            </a:r>
            <a:r>
              <a:rPr lang="en-US" sz="1150" dirty="0">
                <a:solidFill>
                  <a:srgbClr val="272525"/>
                </a:solidFill>
                <a:highlight>
                  <a:srgbClr val="CCEEFF"/>
                </a:highlight>
                <a:latin typeface="Consolas" pitchFamily="34" charset="0"/>
                <a:ea typeface="Consolas" pitchFamily="34" charset="-122"/>
                <a:cs typeface="Consolas" pitchFamily="34" charset="-120"/>
              </a:rPr>
              <a:t>[] = { Rectangle(2,3), Rectangle(4,5), Rectangle(6,7), Rectangle(8,9) };</a:t>
            </a:r>
            <a:endParaRPr lang="en-US" sz="1150" dirty="0">
              <a:solidFill>
                <a:prstClr val="black"/>
              </a:solidFill>
            </a:endParaRPr>
          </a:p>
          <a:p>
            <a:endParaRPr lang="en-US" dirty="0"/>
          </a:p>
        </p:txBody>
      </p:sp>
      <p:sp>
        <p:nvSpPr>
          <p:cNvPr id="28" name="Text 10">
            <a:extLst>
              <a:ext uri="{FF2B5EF4-FFF2-40B4-BE49-F238E27FC236}">
                <a16:creationId xmlns:a16="http://schemas.microsoft.com/office/drawing/2014/main" id="{9E4A53C6-72CB-4D7E-9D5B-E510531EAE1B}"/>
              </a:ext>
            </a:extLst>
          </p:cNvPr>
          <p:cNvSpPr/>
          <p:nvPr/>
        </p:nvSpPr>
        <p:spPr>
          <a:xfrm>
            <a:off x="6266172" y="5195696"/>
            <a:ext cx="7449827" cy="322898"/>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Bodoni MT" panose="02070603080606020203" pitchFamily="18" charset="0"/>
                <a:ea typeface="Inter" pitchFamily="34" charset="-122"/>
                <a:cs typeface="Inter" pitchFamily="34" charset="-120"/>
              </a:rPr>
              <a:t>Initializes an array of Rectangle objects using parameterized constructors.</a:t>
            </a:r>
            <a:endParaRPr lang="en-US" sz="1150" dirty="0">
              <a:latin typeface="Bodoni MT" panose="02070603080606020203" pitchFamily="18" charset="0"/>
            </a:endParaRPr>
          </a:p>
        </p:txBody>
      </p:sp>
      <p:pic>
        <p:nvPicPr>
          <p:cNvPr id="29" name="Image 3" descr="preencoded.png">
            <a:extLst>
              <a:ext uri="{FF2B5EF4-FFF2-40B4-BE49-F238E27FC236}">
                <a16:creationId xmlns:a16="http://schemas.microsoft.com/office/drawing/2014/main" id="{886BBEE3-C4DD-4EE4-9A13-26D0C071333D}"/>
              </a:ext>
            </a:extLst>
          </p:cNvPr>
          <p:cNvPicPr>
            <a:picLocks noChangeAspect="1"/>
          </p:cNvPicPr>
          <p:nvPr/>
        </p:nvPicPr>
        <p:blipFill>
          <a:blip r:embed="rId6"/>
          <a:stretch>
            <a:fillRect/>
          </a:stretch>
        </p:blipFill>
        <p:spPr>
          <a:xfrm>
            <a:off x="5285573" y="5587888"/>
            <a:ext cx="754380" cy="1597343"/>
          </a:xfrm>
          <a:prstGeom prst="rect">
            <a:avLst/>
          </a:prstGeom>
          <a:ln>
            <a:noFill/>
          </a:ln>
          <a:effectLst>
            <a:innerShdw blurRad="63500" dist="50800" dir="18900000">
              <a:prstClr val="black">
                <a:alpha val="50000"/>
              </a:prstClr>
            </a:innerShdw>
          </a:effectLst>
        </p:spPr>
      </p:pic>
      <p:sp>
        <p:nvSpPr>
          <p:cNvPr id="30" name="Text 11">
            <a:extLst>
              <a:ext uri="{FF2B5EF4-FFF2-40B4-BE49-F238E27FC236}">
                <a16:creationId xmlns:a16="http://schemas.microsoft.com/office/drawing/2014/main" id="{4BD8B2F5-9FF8-48EC-B037-C55A81DD828B}"/>
              </a:ext>
            </a:extLst>
          </p:cNvPr>
          <p:cNvSpPr/>
          <p:nvPr/>
        </p:nvSpPr>
        <p:spPr>
          <a:xfrm>
            <a:off x="6266172" y="5738740"/>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Berlin Sans FB Demi" panose="020E0802020502020306" pitchFamily="34" charset="0"/>
                <a:ea typeface="Petrona Bold" pitchFamily="34" charset="-122"/>
                <a:cs typeface="Petrona Bold" pitchFamily="34" charset="-120"/>
              </a:rPr>
              <a:t>Accessing Member</a:t>
            </a:r>
            <a:endParaRPr lang="en-US" sz="1550" dirty="0">
              <a:latin typeface="Berlin Sans FB Demi" panose="020E0802020502020306" pitchFamily="34" charset="0"/>
            </a:endParaRPr>
          </a:p>
        </p:txBody>
      </p:sp>
      <p:sp>
        <p:nvSpPr>
          <p:cNvPr id="31" name="Shape 12">
            <a:extLst>
              <a:ext uri="{FF2B5EF4-FFF2-40B4-BE49-F238E27FC236}">
                <a16:creationId xmlns:a16="http://schemas.microsoft.com/office/drawing/2014/main" id="{81270F02-71D0-4449-82B3-0FBFE05AF7BB}"/>
              </a:ext>
            </a:extLst>
          </p:cNvPr>
          <p:cNvSpPr/>
          <p:nvPr/>
        </p:nvSpPr>
        <p:spPr>
          <a:xfrm>
            <a:off x="6266172" y="6155816"/>
            <a:ext cx="7449827" cy="467558"/>
          </a:xfrm>
          <a:prstGeom prst="roundRect">
            <a:avLst>
              <a:gd name="adj" fmla="val 27726"/>
            </a:avLst>
          </a:prstGeom>
          <a:solidFill>
            <a:srgbClr val="CCEEFF"/>
          </a:solidFill>
          <a:ln/>
          <a:effectLst>
            <a:innerShdw blurRad="63500" dist="50800" dir="18900000">
              <a:prstClr val="black">
                <a:alpha val="50000"/>
              </a:prstClr>
            </a:innerShdw>
          </a:effectLst>
        </p:spPr>
        <p:txBody>
          <a:bodyPr/>
          <a:lstStyle/>
          <a:p>
            <a:pPr lvl="0">
              <a:lnSpc>
                <a:spcPts val="1900"/>
              </a:lnSpc>
            </a:pPr>
            <a:r>
              <a:rPr lang="en-US" sz="1150" dirty="0" err="1">
                <a:solidFill>
                  <a:srgbClr val="272525"/>
                </a:solidFill>
                <a:highlight>
                  <a:srgbClr val="CCEEFF"/>
                </a:highlight>
                <a:latin typeface="Consolas" pitchFamily="34" charset="0"/>
                <a:ea typeface="Consolas" pitchFamily="34" charset="-122"/>
                <a:cs typeface="Consolas" pitchFamily="34" charset="-120"/>
              </a:rPr>
              <a:t>cout</a:t>
            </a:r>
            <a:r>
              <a:rPr lang="en-US" sz="1150" dirty="0">
                <a:solidFill>
                  <a:srgbClr val="272525"/>
                </a:solidFill>
                <a:highlight>
                  <a:srgbClr val="CCEEFF"/>
                </a:highlight>
                <a:latin typeface="Consolas" pitchFamily="34" charset="0"/>
                <a:ea typeface="Consolas" pitchFamily="34" charset="-122"/>
                <a:cs typeface="Consolas" pitchFamily="34" charset="-120"/>
              </a:rPr>
              <a:t> &lt;&lt; </a:t>
            </a:r>
            <a:r>
              <a:rPr lang="en-US" sz="1150" dirty="0" err="1">
                <a:solidFill>
                  <a:srgbClr val="272525"/>
                </a:solidFill>
                <a:highlight>
                  <a:srgbClr val="CCEEFF"/>
                </a:highlight>
                <a:latin typeface="Consolas" pitchFamily="34" charset="0"/>
                <a:ea typeface="Consolas" pitchFamily="34" charset="-122"/>
                <a:cs typeface="Consolas" pitchFamily="34" charset="-120"/>
              </a:rPr>
              <a:t>rects</a:t>
            </a:r>
            <a:r>
              <a:rPr lang="en-US" sz="1150" dirty="0">
                <a:solidFill>
                  <a:srgbClr val="272525"/>
                </a:solidFill>
                <a:highlight>
                  <a:srgbClr val="CCEEFF"/>
                </a:highlight>
                <a:latin typeface="Consolas" pitchFamily="34" charset="0"/>
                <a:ea typeface="Consolas" pitchFamily="34" charset="-122"/>
                <a:cs typeface="Consolas" pitchFamily="34" charset="-120"/>
              </a:rPr>
              <a:t>[2].area();</a:t>
            </a:r>
            <a:endParaRPr lang="en-US" sz="1150" dirty="0">
              <a:solidFill>
                <a:prstClr val="black"/>
              </a:solidFill>
            </a:endParaRPr>
          </a:p>
          <a:p>
            <a:endParaRPr lang="en-US" dirty="0"/>
          </a:p>
        </p:txBody>
      </p:sp>
      <p:sp>
        <p:nvSpPr>
          <p:cNvPr id="34" name="Text 15">
            <a:extLst>
              <a:ext uri="{FF2B5EF4-FFF2-40B4-BE49-F238E27FC236}">
                <a16:creationId xmlns:a16="http://schemas.microsoft.com/office/drawing/2014/main" id="{913DDDD9-55B5-4EDE-B836-DE9ACB33E453}"/>
              </a:ext>
            </a:extLst>
          </p:cNvPr>
          <p:cNvSpPr/>
          <p:nvPr/>
        </p:nvSpPr>
        <p:spPr>
          <a:xfrm>
            <a:off x="6266173" y="6793038"/>
            <a:ext cx="7449826" cy="241340"/>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Bodoni MT" panose="02070603080606020203" pitchFamily="18" charset="0"/>
                <a:ea typeface="Inter" pitchFamily="34" charset="-122"/>
                <a:cs typeface="Inter" pitchFamily="34" charset="-120"/>
              </a:rPr>
              <a:t>Accesses the </a:t>
            </a:r>
            <a:r>
              <a:rPr lang="en-US" sz="1150" b="1" dirty="0">
                <a:solidFill>
                  <a:srgbClr val="272525"/>
                </a:solidFill>
                <a:latin typeface="Bodoni MT" panose="02070603080606020203" pitchFamily="18" charset="0"/>
                <a:ea typeface="Inter" pitchFamily="34" charset="-122"/>
                <a:cs typeface="Inter" pitchFamily="34" charset="-120"/>
              </a:rPr>
              <a:t>area()</a:t>
            </a:r>
            <a:r>
              <a:rPr lang="en-US" sz="1150" dirty="0">
                <a:solidFill>
                  <a:srgbClr val="272525"/>
                </a:solidFill>
                <a:latin typeface="Bodoni MT" panose="02070603080606020203" pitchFamily="18" charset="0"/>
                <a:ea typeface="Inter" pitchFamily="34" charset="-122"/>
                <a:cs typeface="Inter" pitchFamily="34" charset="-120"/>
              </a:rPr>
              <a:t> method of the third Rectangle object, outputting 42.</a:t>
            </a:r>
            <a:endParaRPr lang="en-US" sz="1150" dirty="0">
              <a:latin typeface="Bodoni MT" panose="02070603080606020203" pitchFamily="18" charset="0"/>
            </a:endParaRPr>
          </a:p>
        </p:txBody>
      </p:sp>
      <p:pic>
        <p:nvPicPr>
          <p:cNvPr id="37" name="Image 0" descr="preencoded.png">
            <a:extLst>
              <a:ext uri="{FF2B5EF4-FFF2-40B4-BE49-F238E27FC236}">
                <a16:creationId xmlns:a16="http://schemas.microsoft.com/office/drawing/2014/main" id="{4696A74B-5FD9-48AC-A31D-617372632117}"/>
              </a:ext>
            </a:extLst>
          </p:cNvPr>
          <p:cNvPicPr>
            <a:picLocks noChangeAspect="1"/>
          </p:cNvPicPr>
          <p:nvPr/>
        </p:nvPicPr>
        <p:blipFill>
          <a:blip r:embed="rId7">
            <a:duotone>
              <a:prstClr val="black"/>
              <a:schemeClr val="accent5">
                <a:tint val="45000"/>
                <a:satMod val="400000"/>
              </a:schemeClr>
            </a:duotone>
          </a:blip>
          <a:stretch>
            <a:fillRect/>
          </a:stretch>
        </p:blipFill>
        <p:spPr>
          <a:xfrm>
            <a:off x="-706517" y="-530087"/>
            <a:ext cx="5486400" cy="9183757"/>
          </a:xfrm>
          <a:prstGeom prst="rect">
            <a:avLst/>
          </a:prstGeom>
          <a:ln>
            <a:noFill/>
          </a:ln>
          <a:effectLst>
            <a:softEdge rad="317500"/>
          </a:effectLst>
        </p:spPr>
      </p:pic>
      <p:sp>
        <p:nvSpPr>
          <p:cNvPr id="58" name="Text 0">
            <a:extLst>
              <a:ext uri="{FF2B5EF4-FFF2-40B4-BE49-F238E27FC236}">
                <a16:creationId xmlns:a16="http://schemas.microsoft.com/office/drawing/2014/main" id="{F6EE1773-3267-4693-A37F-46F0E99EE3FF}"/>
              </a:ext>
            </a:extLst>
          </p:cNvPr>
          <p:cNvSpPr/>
          <p:nvPr/>
        </p:nvSpPr>
        <p:spPr>
          <a:xfrm>
            <a:off x="-4939110" y="4352176"/>
            <a:ext cx="3511296" cy="1417320"/>
          </a:xfrm>
          <a:prstGeom prst="rect">
            <a:avLst/>
          </a:prstGeom>
          <a:noFill/>
          <a:ln/>
        </p:spPr>
        <p:txBody>
          <a:bodyPr wrap="square" lIns="0" tIns="0" rIns="0" bIns="0" rtlCol="0" anchor="ctr"/>
          <a:lstStyle/>
          <a:p>
            <a:pPr marL="0" indent="0" algn="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Arrays of objects have dynamic storage capacities. The size can be determined at runtime, offering flexibility.</a:t>
            </a:r>
            <a:endParaRPr lang="en-US" sz="1850" dirty="0"/>
          </a:p>
        </p:txBody>
      </p:sp>
      <p:sp>
        <p:nvSpPr>
          <p:cNvPr id="59" name="Text 1">
            <a:extLst>
              <a:ext uri="{FF2B5EF4-FFF2-40B4-BE49-F238E27FC236}">
                <a16:creationId xmlns:a16="http://schemas.microsoft.com/office/drawing/2014/main" id="{8A77478B-FD84-4AF6-921A-118E1F29947C}"/>
              </a:ext>
            </a:extLst>
          </p:cNvPr>
          <p:cNvSpPr/>
          <p:nvPr/>
        </p:nvSpPr>
        <p:spPr>
          <a:xfrm>
            <a:off x="-4939110" y="3712096"/>
            <a:ext cx="3511296" cy="374904"/>
          </a:xfrm>
          <a:prstGeom prst="rect">
            <a:avLst/>
          </a:prstGeom>
          <a:noFill/>
          <a:ln/>
        </p:spPr>
        <p:txBody>
          <a:bodyPr wrap="none" lIns="0" tIns="0" rIns="0" bIns="0" rtlCol="0" anchor="ctr"/>
          <a:lstStyle/>
          <a:p>
            <a:pPr marL="0" indent="0" algn="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Dynamic Storage</a:t>
            </a:r>
            <a:endParaRPr lang="en-US" sz="2320" dirty="0"/>
          </a:p>
        </p:txBody>
      </p:sp>
      <p:sp>
        <p:nvSpPr>
          <p:cNvPr id="60" name="Text 2">
            <a:extLst>
              <a:ext uri="{FF2B5EF4-FFF2-40B4-BE49-F238E27FC236}">
                <a16:creationId xmlns:a16="http://schemas.microsoft.com/office/drawing/2014/main" id="{14525F8A-D9A5-45FB-999C-6FC14333D10B}"/>
              </a:ext>
            </a:extLst>
          </p:cNvPr>
          <p:cNvSpPr/>
          <p:nvPr/>
        </p:nvSpPr>
        <p:spPr>
          <a:xfrm>
            <a:off x="17652161" y="5815216"/>
            <a:ext cx="3986784" cy="1417320"/>
          </a:xfrm>
          <a:prstGeom prst="rect">
            <a:avLst/>
          </a:prstGeom>
          <a:noFill/>
          <a:ln/>
        </p:spPr>
        <p:txBody>
          <a:bodyPr wrap="square" lIns="0" tIns="0" rIns="0" bIns="0" rtlCol="0" anchor="ctr"/>
          <a:lstStyle/>
          <a:p>
            <a:pPr marL="0" indent="0" algn="l">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Elements from the array can be treated uniformly using loops and algorithms, fostering efficient code design.</a:t>
            </a:r>
            <a:endParaRPr lang="en-US" sz="1850" dirty="0"/>
          </a:p>
        </p:txBody>
      </p:sp>
      <p:sp>
        <p:nvSpPr>
          <p:cNvPr id="61" name="Text 3">
            <a:extLst>
              <a:ext uri="{FF2B5EF4-FFF2-40B4-BE49-F238E27FC236}">
                <a16:creationId xmlns:a16="http://schemas.microsoft.com/office/drawing/2014/main" id="{F86F213F-8AA7-427C-B2E0-8B899B5BDAFF}"/>
              </a:ext>
            </a:extLst>
          </p:cNvPr>
          <p:cNvSpPr/>
          <p:nvPr/>
        </p:nvSpPr>
        <p:spPr>
          <a:xfrm>
            <a:off x="17652161" y="2879992"/>
            <a:ext cx="3986784" cy="1417320"/>
          </a:xfrm>
          <a:prstGeom prst="rect">
            <a:avLst/>
          </a:prstGeom>
          <a:noFill/>
          <a:ln/>
        </p:spPr>
        <p:txBody>
          <a:bodyPr wrap="square" lIns="0" tIns="0" rIns="0" bIns="0" rtlCol="0" anchor="ctr"/>
          <a:lstStyle/>
          <a:p>
            <a:pPr marL="0" indent="0" algn="l">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Objects within the array are stored in a single contiguous block of memory, improving cache performance.</a:t>
            </a:r>
            <a:endParaRPr lang="en-US" sz="1850" dirty="0"/>
          </a:p>
        </p:txBody>
      </p:sp>
      <p:sp>
        <p:nvSpPr>
          <p:cNvPr id="62" name="Text 4">
            <a:extLst>
              <a:ext uri="{FF2B5EF4-FFF2-40B4-BE49-F238E27FC236}">
                <a16:creationId xmlns:a16="http://schemas.microsoft.com/office/drawing/2014/main" id="{CA2E4A50-259C-4099-95D6-82E7A5EC175B}"/>
              </a:ext>
            </a:extLst>
          </p:cNvPr>
          <p:cNvSpPr/>
          <p:nvPr/>
        </p:nvSpPr>
        <p:spPr>
          <a:xfrm>
            <a:off x="832104" y="-5347925"/>
            <a:ext cx="12984480" cy="740664"/>
          </a:xfrm>
          <a:prstGeom prst="rect">
            <a:avLst/>
          </a:prstGeom>
          <a:noFill/>
          <a:ln/>
        </p:spPr>
        <p:txBody>
          <a:bodyPr wrap="none" lIns="0" tIns="0" rIns="0" bIns="0" rtlCol="0" anchor="ctr"/>
          <a:lstStyle/>
          <a:p>
            <a:pPr marL="0" indent="0" algn="l">
              <a:lnSpc>
                <a:spcPts val="5800"/>
              </a:lnSpc>
              <a:buNone/>
            </a:pPr>
            <a:r>
              <a:rPr lang="en-US" sz="4640" dirty="0">
                <a:solidFill>
                  <a:srgbClr val="0C266F"/>
                </a:solidFill>
                <a:latin typeface="思源宋体-思源宋体-SemiBold" pitchFamily="34" charset="0"/>
                <a:ea typeface="思源宋体-思源宋体-SemiBold" pitchFamily="34" charset="-122"/>
                <a:cs typeface="思源宋体-思源宋体-SemiBold" pitchFamily="34" charset="-120"/>
              </a:rPr>
              <a:t>Properties of Arrays of Objects</a:t>
            </a:r>
            <a:endParaRPr lang="en-US" sz="4640" dirty="0"/>
          </a:p>
        </p:txBody>
      </p:sp>
      <p:sp>
        <p:nvSpPr>
          <p:cNvPr id="63" name="Text 5">
            <a:extLst>
              <a:ext uri="{FF2B5EF4-FFF2-40B4-BE49-F238E27FC236}">
                <a16:creationId xmlns:a16="http://schemas.microsoft.com/office/drawing/2014/main" id="{A67C844C-4DCB-4BD3-A88C-AFBB56C59DB4}"/>
              </a:ext>
            </a:extLst>
          </p:cNvPr>
          <p:cNvSpPr/>
          <p:nvPr/>
        </p:nvSpPr>
        <p:spPr>
          <a:xfrm>
            <a:off x="17652161" y="2249056"/>
            <a:ext cx="3986784" cy="374904"/>
          </a:xfrm>
          <a:prstGeom prst="rect">
            <a:avLst/>
          </a:prstGeom>
          <a:noFill/>
          <a:ln/>
        </p:spPr>
        <p:txBody>
          <a:bodyPr wrap="none" lIns="0" tIns="0" rIns="0" bIns="0" rtlCol="0" anchor="ctr"/>
          <a:lstStyle/>
          <a:p>
            <a:pPr marL="0" indent="0" algn="l">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Contiguous Memory</a:t>
            </a:r>
            <a:endParaRPr lang="en-US" sz="2320" dirty="0"/>
          </a:p>
        </p:txBody>
      </p:sp>
      <p:sp>
        <p:nvSpPr>
          <p:cNvPr id="64" name="Text 6">
            <a:extLst>
              <a:ext uri="{FF2B5EF4-FFF2-40B4-BE49-F238E27FC236}">
                <a16:creationId xmlns:a16="http://schemas.microsoft.com/office/drawing/2014/main" id="{941A8AB7-8AB0-46BF-A9AB-530CE641E6C2}"/>
              </a:ext>
            </a:extLst>
          </p:cNvPr>
          <p:cNvSpPr/>
          <p:nvPr/>
        </p:nvSpPr>
        <p:spPr>
          <a:xfrm>
            <a:off x="17652161" y="5184280"/>
            <a:ext cx="3986784" cy="374904"/>
          </a:xfrm>
          <a:prstGeom prst="rect">
            <a:avLst/>
          </a:prstGeom>
          <a:noFill/>
          <a:ln/>
        </p:spPr>
        <p:txBody>
          <a:bodyPr wrap="none" lIns="0" tIns="0" rIns="0" bIns="0" rtlCol="0" anchor="ctr"/>
          <a:lstStyle/>
          <a:p>
            <a:pPr marL="0" indent="0" algn="l">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Uniform Element Access</a:t>
            </a:r>
            <a:endParaRPr lang="en-US" sz="2320" dirty="0"/>
          </a:p>
        </p:txBody>
      </p:sp>
    </p:spTree>
    <p:extLst>
      <p:ext uri="{BB962C8B-B14F-4D97-AF65-F5344CB8AC3E}">
        <p14:creationId xmlns:p14="http://schemas.microsoft.com/office/powerpoint/2010/main" val="11007661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B44567E-66ED-4DCC-9689-AC3D578871F2}"/>
              </a:ext>
            </a:extLst>
          </p:cNvPr>
          <p:cNvPicPr>
            <a:picLocks noChangeAspect="1"/>
          </p:cNvPicPr>
          <p:nvPr/>
        </p:nvPicPr>
        <p:blipFill>
          <a:blip r:embed="rId2"/>
          <a:stretch>
            <a:fillRect/>
          </a:stretch>
        </p:blipFill>
        <p:spPr>
          <a:xfrm>
            <a:off x="0" y="0"/>
            <a:ext cx="14630400" cy="8238744"/>
          </a:xfrm>
          <a:prstGeom prst="rect">
            <a:avLst/>
          </a:prstGeom>
        </p:spPr>
      </p:pic>
      <p:sp>
        <p:nvSpPr>
          <p:cNvPr id="5" name="Text 6">
            <a:extLst>
              <a:ext uri="{FF2B5EF4-FFF2-40B4-BE49-F238E27FC236}">
                <a16:creationId xmlns:a16="http://schemas.microsoft.com/office/drawing/2014/main" id="{92697262-D43A-4A33-A5FD-A5E86BC69C9A}"/>
              </a:ext>
            </a:extLst>
          </p:cNvPr>
          <p:cNvSpPr/>
          <p:nvPr/>
        </p:nvSpPr>
        <p:spPr>
          <a:xfrm>
            <a:off x="5975652" y="231250"/>
            <a:ext cx="8010144" cy="1481328"/>
          </a:xfrm>
          <a:prstGeom prst="rect">
            <a:avLst/>
          </a:prstGeom>
          <a:noFill/>
          <a:ln/>
        </p:spPr>
        <p:txBody>
          <a:bodyPr wrap="square" lIns="0" tIns="0" rIns="0" bIns="0" rtlCol="0" anchor="ctr"/>
          <a:lstStyle/>
          <a:p>
            <a:pPr marL="0" indent="0" algn="l">
              <a:lnSpc>
                <a:spcPts val="5800"/>
              </a:lnSpc>
              <a:buNone/>
            </a:pPr>
            <a:r>
              <a:rPr lang="en-US" sz="4640" dirty="0">
                <a:solidFill>
                  <a:srgbClr val="0C266F"/>
                </a:solidFill>
                <a:latin typeface="Berlin Sans FB Demi" panose="020E0802020502020306" pitchFamily="34" charset="0"/>
                <a:ea typeface="思源宋体-思源宋体-SemiBold" pitchFamily="34" charset="-122"/>
                <a:cs typeface="思源宋体-思源宋体-SemiBold" pitchFamily="34" charset="-120"/>
              </a:rPr>
              <a:t>Creating Arrays of Objects</a:t>
            </a:r>
            <a:endParaRPr lang="en-US" sz="4640" dirty="0">
              <a:latin typeface="Berlin Sans FB Demi" panose="020E0802020502020306" pitchFamily="34" charset="0"/>
            </a:endParaRPr>
          </a:p>
        </p:txBody>
      </p:sp>
      <p:pic>
        <p:nvPicPr>
          <p:cNvPr id="7" name="Image 0" descr="preencoded.png">
            <a:extLst>
              <a:ext uri="{FF2B5EF4-FFF2-40B4-BE49-F238E27FC236}">
                <a16:creationId xmlns:a16="http://schemas.microsoft.com/office/drawing/2014/main" id="{45BC1F88-538B-4FD5-AFAB-059781055247}"/>
              </a:ext>
            </a:extLst>
          </p:cNvPr>
          <p:cNvPicPr>
            <a:picLocks noChangeAspect="1"/>
          </p:cNvPicPr>
          <p:nvPr/>
        </p:nvPicPr>
        <p:blipFill>
          <a:blip r:embed="rId3">
            <a:duotone>
              <a:prstClr val="black"/>
              <a:schemeClr val="accent5">
                <a:tint val="45000"/>
                <a:satMod val="400000"/>
              </a:schemeClr>
            </a:duotone>
          </a:blip>
          <a:stretch>
            <a:fillRect/>
          </a:stretch>
        </p:blipFill>
        <p:spPr>
          <a:xfrm>
            <a:off x="-706517" y="-530087"/>
            <a:ext cx="5486400" cy="9183757"/>
          </a:xfrm>
          <a:prstGeom prst="rect">
            <a:avLst/>
          </a:prstGeom>
          <a:ln>
            <a:noFill/>
          </a:ln>
          <a:effectLst>
            <a:softEdge rad="317500"/>
          </a:effectLst>
        </p:spPr>
      </p:pic>
      <p:pic>
        <p:nvPicPr>
          <p:cNvPr id="8" name="Image 1" descr="preencoded.png">
            <a:extLst>
              <a:ext uri="{FF2B5EF4-FFF2-40B4-BE49-F238E27FC236}">
                <a16:creationId xmlns:a16="http://schemas.microsoft.com/office/drawing/2014/main" id="{5448765A-A842-4A02-A776-8C3C09A547F8}"/>
              </a:ext>
            </a:extLst>
          </p:cNvPr>
          <p:cNvPicPr>
            <a:picLocks noChangeAspect="1"/>
          </p:cNvPicPr>
          <p:nvPr/>
        </p:nvPicPr>
        <p:blipFill>
          <a:blip r:embed="rId4"/>
          <a:stretch>
            <a:fillRect/>
          </a:stretch>
        </p:blipFill>
        <p:spPr>
          <a:xfrm>
            <a:off x="5285573" y="11825029"/>
            <a:ext cx="754380" cy="1597343"/>
          </a:xfrm>
          <a:prstGeom prst="rect">
            <a:avLst/>
          </a:prstGeom>
        </p:spPr>
      </p:pic>
      <p:sp>
        <p:nvSpPr>
          <p:cNvPr id="9" name="Text 1">
            <a:extLst>
              <a:ext uri="{FF2B5EF4-FFF2-40B4-BE49-F238E27FC236}">
                <a16:creationId xmlns:a16="http://schemas.microsoft.com/office/drawing/2014/main" id="{0206DD59-3508-4B8F-87EB-0E2E692E2FD2}"/>
              </a:ext>
            </a:extLst>
          </p:cNvPr>
          <p:cNvSpPr/>
          <p:nvPr/>
        </p:nvSpPr>
        <p:spPr>
          <a:xfrm>
            <a:off x="6266172" y="11975881"/>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Petrona Bold" pitchFamily="34" charset="0"/>
                <a:ea typeface="Petrona Bold" pitchFamily="34" charset="-122"/>
                <a:cs typeface="Petrona Bold" pitchFamily="34" charset="-120"/>
              </a:rPr>
              <a:t>Class Definition</a:t>
            </a:r>
            <a:endParaRPr lang="en-US" sz="1550" dirty="0"/>
          </a:p>
        </p:txBody>
      </p:sp>
      <p:sp>
        <p:nvSpPr>
          <p:cNvPr id="10" name="Shape 3">
            <a:extLst>
              <a:ext uri="{FF2B5EF4-FFF2-40B4-BE49-F238E27FC236}">
                <a16:creationId xmlns:a16="http://schemas.microsoft.com/office/drawing/2014/main" id="{9160C953-14D9-4F86-ABDF-9B76C76ACD96}"/>
              </a:ext>
            </a:extLst>
          </p:cNvPr>
          <p:cNvSpPr/>
          <p:nvPr/>
        </p:nvSpPr>
        <p:spPr>
          <a:xfrm>
            <a:off x="6258671" y="12392957"/>
            <a:ext cx="7457328" cy="467558"/>
          </a:xfrm>
          <a:prstGeom prst="roundRect">
            <a:avLst>
              <a:gd name="adj" fmla="val 21847"/>
            </a:avLst>
          </a:prstGeom>
          <a:solidFill>
            <a:srgbClr val="CCEEFF"/>
          </a:solidFill>
          <a:ln/>
        </p:spPr>
        <p:txBody>
          <a:bodyPr/>
          <a:lstStyle/>
          <a:p>
            <a:pPr lvl="0">
              <a:lnSpc>
                <a:spcPts val="1900"/>
              </a:lnSpc>
            </a:pPr>
            <a:r>
              <a:rPr lang="en-US" sz="1150" dirty="0">
                <a:solidFill>
                  <a:srgbClr val="272525"/>
                </a:solidFill>
                <a:highlight>
                  <a:srgbClr val="CCEEFF"/>
                </a:highlight>
                <a:latin typeface="Consolas" pitchFamily="34" charset="0"/>
                <a:ea typeface="Consolas" pitchFamily="34" charset="-122"/>
                <a:cs typeface="Consolas" pitchFamily="34" charset="-120"/>
              </a:rPr>
              <a:t>class Rectangle { float width; float height };</a:t>
            </a:r>
            <a:endParaRPr lang="en-US" sz="1150" dirty="0">
              <a:solidFill>
                <a:prstClr val="black"/>
              </a:solidFill>
            </a:endParaRPr>
          </a:p>
          <a:p>
            <a:endParaRPr lang="en-US" dirty="0"/>
          </a:p>
        </p:txBody>
      </p:sp>
      <p:sp>
        <p:nvSpPr>
          <p:cNvPr id="11" name="Text 5">
            <a:extLst>
              <a:ext uri="{FF2B5EF4-FFF2-40B4-BE49-F238E27FC236}">
                <a16:creationId xmlns:a16="http://schemas.microsoft.com/office/drawing/2014/main" id="{2CE74AFE-F9A9-4FA2-8693-17680789A668}"/>
              </a:ext>
            </a:extLst>
          </p:cNvPr>
          <p:cNvSpPr/>
          <p:nvPr/>
        </p:nvSpPr>
        <p:spPr>
          <a:xfrm>
            <a:off x="6266172" y="13030179"/>
            <a:ext cx="7449827" cy="322898"/>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Inter" pitchFamily="34" charset="0"/>
                <a:ea typeface="Inter" pitchFamily="34" charset="-122"/>
                <a:cs typeface="Inter" pitchFamily="34" charset="-120"/>
              </a:rPr>
              <a:t>Defines a simple Rectangle class with width, height, and area calculation.</a:t>
            </a:r>
            <a:endParaRPr lang="en-US" sz="1150" dirty="0"/>
          </a:p>
        </p:txBody>
      </p:sp>
      <p:pic>
        <p:nvPicPr>
          <p:cNvPr id="12" name="Image 2" descr="preencoded.png">
            <a:extLst>
              <a:ext uri="{FF2B5EF4-FFF2-40B4-BE49-F238E27FC236}">
                <a16:creationId xmlns:a16="http://schemas.microsoft.com/office/drawing/2014/main" id="{55F5943E-56BE-4267-88DF-FDFF4CFA0495}"/>
              </a:ext>
            </a:extLst>
          </p:cNvPr>
          <p:cNvPicPr>
            <a:picLocks noChangeAspect="1"/>
          </p:cNvPicPr>
          <p:nvPr/>
        </p:nvPicPr>
        <p:blipFill>
          <a:blip r:embed="rId5"/>
          <a:stretch>
            <a:fillRect/>
          </a:stretch>
        </p:blipFill>
        <p:spPr>
          <a:xfrm>
            <a:off x="5285573" y="11637841"/>
            <a:ext cx="754380" cy="1597343"/>
          </a:xfrm>
          <a:prstGeom prst="rect">
            <a:avLst/>
          </a:prstGeom>
        </p:spPr>
      </p:pic>
      <p:sp>
        <p:nvSpPr>
          <p:cNvPr id="13" name="Text 6">
            <a:extLst>
              <a:ext uri="{FF2B5EF4-FFF2-40B4-BE49-F238E27FC236}">
                <a16:creationId xmlns:a16="http://schemas.microsoft.com/office/drawing/2014/main" id="{99B08316-741F-47BB-A323-C94E94326C4A}"/>
              </a:ext>
            </a:extLst>
          </p:cNvPr>
          <p:cNvSpPr/>
          <p:nvPr/>
        </p:nvSpPr>
        <p:spPr>
          <a:xfrm>
            <a:off x="6266172" y="11788693"/>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Petrona Bold" pitchFamily="34" charset="0"/>
                <a:ea typeface="Petrona Bold" pitchFamily="34" charset="-122"/>
                <a:cs typeface="Petrona Bold" pitchFamily="34" charset="-120"/>
              </a:rPr>
              <a:t>Array Initialization</a:t>
            </a:r>
            <a:endParaRPr lang="en-US" sz="1550" dirty="0"/>
          </a:p>
        </p:txBody>
      </p:sp>
      <p:sp>
        <p:nvSpPr>
          <p:cNvPr id="14" name="Shape 7">
            <a:extLst>
              <a:ext uri="{FF2B5EF4-FFF2-40B4-BE49-F238E27FC236}">
                <a16:creationId xmlns:a16="http://schemas.microsoft.com/office/drawing/2014/main" id="{ED3E3E1E-313C-4759-8F4B-4A6E616AB237}"/>
              </a:ext>
            </a:extLst>
          </p:cNvPr>
          <p:cNvSpPr/>
          <p:nvPr/>
        </p:nvSpPr>
        <p:spPr>
          <a:xfrm>
            <a:off x="6266172" y="12205769"/>
            <a:ext cx="7449827" cy="467558"/>
          </a:xfrm>
          <a:prstGeom prst="roundRect">
            <a:avLst>
              <a:gd name="adj" fmla="val 30560"/>
            </a:avLst>
          </a:prstGeom>
          <a:solidFill>
            <a:srgbClr val="CCEEFF"/>
          </a:solidFill>
          <a:ln/>
        </p:spPr>
        <p:txBody>
          <a:bodyPr/>
          <a:lstStyle/>
          <a:p>
            <a:pPr lvl="0">
              <a:lnSpc>
                <a:spcPts val="1900"/>
              </a:lnSpc>
            </a:pPr>
            <a:r>
              <a:rPr lang="en-US" sz="1150" dirty="0">
                <a:solidFill>
                  <a:srgbClr val="272525"/>
                </a:solidFill>
                <a:highlight>
                  <a:srgbClr val="CCEEFF"/>
                </a:highlight>
                <a:latin typeface="Consolas" pitchFamily="34" charset="0"/>
                <a:ea typeface="Consolas" pitchFamily="34" charset="-122"/>
                <a:cs typeface="Consolas" pitchFamily="34" charset="-120"/>
              </a:rPr>
              <a:t>Rectangle </a:t>
            </a:r>
            <a:r>
              <a:rPr lang="en-US" sz="1150" dirty="0" err="1">
                <a:solidFill>
                  <a:srgbClr val="272525"/>
                </a:solidFill>
                <a:highlight>
                  <a:srgbClr val="CCEEFF"/>
                </a:highlight>
                <a:latin typeface="Consolas" pitchFamily="34" charset="0"/>
                <a:ea typeface="Consolas" pitchFamily="34" charset="-122"/>
                <a:cs typeface="Consolas" pitchFamily="34" charset="-120"/>
              </a:rPr>
              <a:t>rects</a:t>
            </a:r>
            <a:r>
              <a:rPr lang="en-US" sz="1150" dirty="0">
                <a:solidFill>
                  <a:srgbClr val="272525"/>
                </a:solidFill>
                <a:highlight>
                  <a:srgbClr val="CCEEFF"/>
                </a:highlight>
                <a:latin typeface="Consolas" pitchFamily="34" charset="0"/>
                <a:ea typeface="Consolas" pitchFamily="34" charset="-122"/>
                <a:cs typeface="Consolas" pitchFamily="34" charset="-120"/>
              </a:rPr>
              <a:t>[] = { Rectangle(2,3), Rectangle(4,5), Rectangle(6,7), Rectangle(8,9) };</a:t>
            </a:r>
            <a:endParaRPr lang="en-US" sz="1150" dirty="0">
              <a:solidFill>
                <a:prstClr val="black"/>
              </a:solidFill>
            </a:endParaRPr>
          </a:p>
          <a:p>
            <a:endParaRPr lang="en-US" dirty="0"/>
          </a:p>
        </p:txBody>
      </p:sp>
      <p:sp>
        <p:nvSpPr>
          <p:cNvPr id="15" name="Text 10">
            <a:extLst>
              <a:ext uri="{FF2B5EF4-FFF2-40B4-BE49-F238E27FC236}">
                <a16:creationId xmlns:a16="http://schemas.microsoft.com/office/drawing/2014/main" id="{19F22EB9-2502-4308-9356-094AD471BA49}"/>
              </a:ext>
            </a:extLst>
          </p:cNvPr>
          <p:cNvSpPr/>
          <p:nvPr/>
        </p:nvSpPr>
        <p:spPr>
          <a:xfrm>
            <a:off x="6266172" y="12842992"/>
            <a:ext cx="7449827" cy="322898"/>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Inter" pitchFamily="34" charset="0"/>
                <a:ea typeface="Inter" pitchFamily="34" charset="-122"/>
                <a:cs typeface="Inter" pitchFamily="34" charset="-120"/>
              </a:rPr>
              <a:t>Initializes an array of Rectangle objects using parameterized constructors.</a:t>
            </a:r>
            <a:endParaRPr lang="en-US" sz="1150" dirty="0"/>
          </a:p>
        </p:txBody>
      </p:sp>
      <p:pic>
        <p:nvPicPr>
          <p:cNvPr id="16" name="Image 3" descr="preencoded.png">
            <a:extLst>
              <a:ext uri="{FF2B5EF4-FFF2-40B4-BE49-F238E27FC236}">
                <a16:creationId xmlns:a16="http://schemas.microsoft.com/office/drawing/2014/main" id="{3CBED436-5910-4DBE-8EE3-BDB01580D17D}"/>
              </a:ext>
            </a:extLst>
          </p:cNvPr>
          <p:cNvPicPr>
            <a:picLocks noChangeAspect="1"/>
          </p:cNvPicPr>
          <p:nvPr/>
        </p:nvPicPr>
        <p:blipFill>
          <a:blip r:embed="rId6"/>
          <a:stretch>
            <a:fillRect/>
          </a:stretch>
        </p:blipFill>
        <p:spPr>
          <a:xfrm>
            <a:off x="5285573" y="11655365"/>
            <a:ext cx="754380" cy="1597343"/>
          </a:xfrm>
          <a:prstGeom prst="rect">
            <a:avLst/>
          </a:prstGeom>
        </p:spPr>
      </p:pic>
      <p:sp>
        <p:nvSpPr>
          <p:cNvPr id="17" name="Text 11">
            <a:extLst>
              <a:ext uri="{FF2B5EF4-FFF2-40B4-BE49-F238E27FC236}">
                <a16:creationId xmlns:a16="http://schemas.microsoft.com/office/drawing/2014/main" id="{C8493D1F-D63A-4DE7-9473-9A2D099EBEAF}"/>
              </a:ext>
            </a:extLst>
          </p:cNvPr>
          <p:cNvSpPr/>
          <p:nvPr/>
        </p:nvSpPr>
        <p:spPr>
          <a:xfrm>
            <a:off x="6266172" y="11806217"/>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Petrona Bold" pitchFamily="34" charset="0"/>
                <a:ea typeface="Petrona Bold" pitchFamily="34" charset="-122"/>
                <a:cs typeface="Petrona Bold" pitchFamily="34" charset="-120"/>
              </a:rPr>
              <a:t>Accessing Member</a:t>
            </a:r>
            <a:endParaRPr lang="en-US" sz="1550" dirty="0"/>
          </a:p>
        </p:txBody>
      </p:sp>
      <p:sp>
        <p:nvSpPr>
          <p:cNvPr id="18" name="Shape 12">
            <a:extLst>
              <a:ext uri="{FF2B5EF4-FFF2-40B4-BE49-F238E27FC236}">
                <a16:creationId xmlns:a16="http://schemas.microsoft.com/office/drawing/2014/main" id="{D4913B6E-C226-4092-9212-9BAD662D0599}"/>
              </a:ext>
            </a:extLst>
          </p:cNvPr>
          <p:cNvSpPr/>
          <p:nvPr/>
        </p:nvSpPr>
        <p:spPr>
          <a:xfrm>
            <a:off x="6266172" y="12223293"/>
            <a:ext cx="7449827" cy="467558"/>
          </a:xfrm>
          <a:prstGeom prst="roundRect">
            <a:avLst>
              <a:gd name="adj" fmla="val 27726"/>
            </a:avLst>
          </a:prstGeom>
          <a:solidFill>
            <a:srgbClr val="CCEEFF"/>
          </a:solidFill>
          <a:ln/>
        </p:spPr>
        <p:txBody>
          <a:bodyPr/>
          <a:lstStyle/>
          <a:p>
            <a:pPr lvl="0">
              <a:lnSpc>
                <a:spcPts val="1900"/>
              </a:lnSpc>
            </a:pPr>
            <a:r>
              <a:rPr lang="en-US" sz="1150" dirty="0" err="1">
                <a:solidFill>
                  <a:srgbClr val="272525"/>
                </a:solidFill>
                <a:highlight>
                  <a:srgbClr val="CCEEFF"/>
                </a:highlight>
                <a:latin typeface="Consolas" pitchFamily="34" charset="0"/>
                <a:ea typeface="Consolas" pitchFamily="34" charset="-122"/>
                <a:cs typeface="Consolas" pitchFamily="34" charset="-120"/>
              </a:rPr>
              <a:t>cout</a:t>
            </a:r>
            <a:r>
              <a:rPr lang="en-US" sz="1150" dirty="0">
                <a:solidFill>
                  <a:srgbClr val="272525"/>
                </a:solidFill>
                <a:highlight>
                  <a:srgbClr val="CCEEFF"/>
                </a:highlight>
                <a:latin typeface="Consolas" pitchFamily="34" charset="0"/>
                <a:ea typeface="Consolas" pitchFamily="34" charset="-122"/>
                <a:cs typeface="Consolas" pitchFamily="34" charset="-120"/>
              </a:rPr>
              <a:t> &lt;&lt; </a:t>
            </a:r>
            <a:r>
              <a:rPr lang="en-US" sz="1150" dirty="0" err="1">
                <a:solidFill>
                  <a:srgbClr val="272525"/>
                </a:solidFill>
                <a:highlight>
                  <a:srgbClr val="CCEEFF"/>
                </a:highlight>
                <a:latin typeface="Consolas" pitchFamily="34" charset="0"/>
                <a:ea typeface="Consolas" pitchFamily="34" charset="-122"/>
                <a:cs typeface="Consolas" pitchFamily="34" charset="-120"/>
              </a:rPr>
              <a:t>rects</a:t>
            </a:r>
            <a:r>
              <a:rPr lang="en-US" sz="1150" dirty="0">
                <a:solidFill>
                  <a:srgbClr val="272525"/>
                </a:solidFill>
                <a:highlight>
                  <a:srgbClr val="CCEEFF"/>
                </a:highlight>
                <a:latin typeface="Consolas" pitchFamily="34" charset="0"/>
                <a:ea typeface="Consolas" pitchFamily="34" charset="-122"/>
                <a:cs typeface="Consolas" pitchFamily="34" charset="-120"/>
              </a:rPr>
              <a:t>[2].area();</a:t>
            </a:r>
            <a:endParaRPr lang="en-US" sz="1150" dirty="0">
              <a:solidFill>
                <a:prstClr val="black"/>
              </a:solidFill>
            </a:endParaRPr>
          </a:p>
          <a:p>
            <a:endParaRPr lang="en-US" dirty="0"/>
          </a:p>
        </p:txBody>
      </p:sp>
      <p:sp>
        <p:nvSpPr>
          <p:cNvPr id="19" name="Text 15">
            <a:extLst>
              <a:ext uri="{FF2B5EF4-FFF2-40B4-BE49-F238E27FC236}">
                <a16:creationId xmlns:a16="http://schemas.microsoft.com/office/drawing/2014/main" id="{F86CE81C-1669-40F4-9D8E-AB283AB230DB}"/>
              </a:ext>
            </a:extLst>
          </p:cNvPr>
          <p:cNvSpPr/>
          <p:nvPr/>
        </p:nvSpPr>
        <p:spPr>
          <a:xfrm>
            <a:off x="6266173" y="12860515"/>
            <a:ext cx="7449826" cy="241340"/>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Inter" pitchFamily="34" charset="0"/>
                <a:ea typeface="Inter" pitchFamily="34" charset="-122"/>
                <a:cs typeface="Inter" pitchFamily="34" charset="-120"/>
              </a:rPr>
              <a:t>Accesses the </a:t>
            </a:r>
            <a:r>
              <a:rPr lang="en-US" sz="1150" b="1" dirty="0">
                <a:solidFill>
                  <a:srgbClr val="272525"/>
                </a:solidFill>
                <a:latin typeface="Inter" pitchFamily="34" charset="0"/>
                <a:ea typeface="Inter" pitchFamily="34" charset="-122"/>
                <a:cs typeface="Inter" pitchFamily="34" charset="-120"/>
              </a:rPr>
              <a:t>area()</a:t>
            </a:r>
            <a:r>
              <a:rPr lang="en-US" sz="1150" dirty="0">
                <a:solidFill>
                  <a:srgbClr val="272525"/>
                </a:solidFill>
                <a:latin typeface="Inter" pitchFamily="34" charset="0"/>
                <a:ea typeface="Inter" pitchFamily="34" charset="-122"/>
                <a:cs typeface="Inter" pitchFamily="34" charset="-120"/>
              </a:rPr>
              <a:t> method of the third Rectangle object, outputting 42.</a:t>
            </a:r>
            <a:endParaRPr lang="en-US" sz="1150" dirty="0"/>
          </a:p>
        </p:txBody>
      </p:sp>
      <p:pic>
        <p:nvPicPr>
          <p:cNvPr id="20" name="Image 1" descr="preencoded.png">
            <a:extLst>
              <a:ext uri="{FF2B5EF4-FFF2-40B4-BE49-F238E27FC236}">
                <a16:creationId xmlns:a16="http://schemas.microsoft.com/office/drawing/2014/main" id="{56D04FE5-6B96-4EAC-96C6-20629154540B}"/>
              </a:ext>
            </a:extLst>
          </p:cNvPr>
          <p:cNvPicPr>
            <a:picLocks noChangeAspect="1"/>
          </p:cNvPicPr>
          <p:nvPr/>
        </p:nvPicPr>
        <p:blipFill>
          <a:blip r:embed="rId7"/>
          <a:stretch>
            <a:fillRect/>
          </a:stretch>
        </p:blipFill>
        <p:spPr>
          <a:xfrm>
            <a:off x="5404104" y="10956849"/>
            <a:ext cx="3831336" cy="2532888"/>
          </a:xfrm>
          <a:prstGeom prst="rect">
            <a:avLst/>
          </a:prstGeom>
          <a:ln>
            <a:noFill/>
          </a:ln>
          <a:effectLst>
            <a:outerShdw blurRad="292100" dist="139700" dir="2700000" algn="tl" rotWithShape="0">
              <a:srgbClr val="333333">
                <a:alpha val="65000"/>
              </a:srgbClr>
            </a:outerShdw>
          </a:effectLst>
        </p:spPr>
      </p:pic>
      <p:pic>
        <p:nvPicPr>
          <p:cNvPr id="21" name="Image 2" descr="preencoded.png">
            <a:extLst>
              <a:ext uri="{FF2B5EF4-FFF2-40B4-BE49-F238E27FC236}">
                <a16:creationId xmlns:a16="http://schemas.microsoft.com/office/drawing/2014/main" id="{5EDC8161-1776-4DFA-8FF7-7D4D5DDBC9DC}"/>
              </a:ext>
            </a:extLst>
          </p:cNvPr>
          <p:cNvPicPr>
            <a:picLocks noChangeAspect="1"/>
          </p:cNvPicPr>
          <p:nvPr/>
        </p:nvPicPr>
        <p:blipFill>
          <a:blip r:embed="rId8"/>
          <a:stretch>
            <a:fillRect/>
          </a:stretch>
        </p:blipFill>
        <p:spPr>
          <a:xfrm>
            <a:off x="5330954" y="10956849"/>
            <a:ext cx="3831336" cy="2532888"/>
          </a:xfrm>
          <a:prstGeom prst="rect">
            <a:avLst/>
          </a:prstGeom>
          <a:ln>
            <a:noFill/>
          </a:ln>
          <a:effectLst>
            <a:outerShdw blurRad="292100" dist="139700" dir="2700000" algn="tl" rotWithShape="0">
              <a:srgbClr val="333333">
                <a:alpha val="65000"/>
              </a:srgbClr>
            </a:outerShdw>
          </a:effectLst>
        </p:spPr>
      </p:pic>
      <p:pic>
        <p:nvPicPr>
          <p:cNvPr id="22" name="Image 3" descr="preencoded.png">
            <a:extLst>
              <a:ext uri="{FF2B5EF4-FFF2-40B4-BE49-F238E27FC236}">
                <a16:creationId xmlns:a16="http://schemas.microsoft.com/office/drawing/2014/main" id="{DA04EA89-ED14-4173-9965-8496A9C0C47C}"/>
              </a:ext>
            </a:extLst>
          </p:cNvPr>
          <p:cNvPicPr>
            <a:picLocks noChangeAspect="1"/>
          </p:cNvPicPr>
          <p:nvPr/>
        </p:nvPicPr>
        <p:blipFill>
          <a:blip r:embed="rId9"/>
          <a:stretch>
            <a:fillRect/>
          </a:stretch>
        </p:blipFill>
        <p:spPr>
          <a:xfrm>
            <a:off x="5367529" y="10990567"/>
            <a:ext cx="3831336" cy="2532888"/>
          </a:xfrm>
          <a:prstGeom prst="rect">
            <a:avLst/>
          </a:prstGeom>
          <a:ln>
            <a:noFill/>
          </a:ln>
          <a:effectLst>
            <a:outerShdw blurRad="292100" dist="139700" dir="2700000" algn="tl" rotWithShape="0">
              <a:srgbClr val="333333">
                <a:alpha val="65000"/>
              </a:srgbClr>
            </a:outerShdw>
          </a:effectLst>
        </p:spPr>
      </p:pic>
      <p:sp>
        <p:nvSpPr>
          <p:cNvPr id="23" name="Text 1">
            <a:extLst>
              <a:ext uri="{FF2B5EF4-FFF2-40B4-BE49-F238E27FC236}">
                <a16:creationId xmlns:a16="http://schemas.microsoft.com/office/drawing/2014/main" id="{F9368570-F579-494D-8969-CA8C630C29EF}"/>
              </a:ext>
            </a:extLst>
          </p:cNvPr>
          <p:cNvSpPr/>
          <p:nvPr/>
        </p:nvSpPr>
        <p:spPr>
          <a:xfrm>
            <a:off x="5404104" y="12436727"/>
            <a:ext cx="3831336" cy="713232"/>
          </a:xfrm>
          <a:prstGeom prst="rect">
            <a:avLst/>
          </a:prstGeom>
          <a:noFill/>
          <a:ln/>
        </p:spPr>
        <p:txBody>
          <a:bodyPr wrap="square" lIns="0" tIns="0" rIns="0" bIns="0" rtlCol="0" anchor="ctr"/>
          <a:lstStyle/>
          <a:p>
            <a:pPr marL="0" indent="0" algn="ct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Memory is managed automatically.</a:t>
            </a:r>
            <a:endParaRPr lang="en-US" sz="1850" dirty="0"/>
          </a:p>
        </p:txBody>
      </p:sp>
      <p:sp>
        <p:nvSpPr>
          <p:cNvPr id="24" name="Text 2">
            <a:extLst>
              <a:ext uri="{FF2B5EF4-FFF2-40B4-BE49-F238E27FC236}">
                <a16:creationId xmlns:a16="http://schemas.microsoft.com/office/drawing/2014/main" id="{FBCEA72C-29CA-40EE-A477-4FA150C7D5A9}"/>
              </a:ext>
            </a:extLst>
          </p:cNvPr>
          <p:cNvSpPr/>
          <p:nvPr/>
        </p:nvSpPr>
        <p:spPr>
          <a:xfrm>
            <a:off x="5330954" y="12436727"/>
            <a:ext cx="3831336" cy="713232"/>
          </a:xfrm>
          <a:prstGeom prst="rect">
            <a:avLst/>
          </a:prstGeom>
          <a:noFill/>
          <a:ln/>
        </p:spPr>
        <p:txBody>
          <a:bodyPr wrap="square" lIns="0" tIns="0" rIns="0" bIns="0" rtlCol="0" anchor="ctr"/>
          <a:lstStyle/>
          <a:p>
            <a:pPr marL="0" indent="0" algn="ct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Require custom constructors and destructors.</a:t>
            </a:r>
            <a:endParaRPr lang="en-US" sz="1850" dirty="0"/>
          </a:p>
        </p:txBody>
      </p:sp>
      <p:sp>
        <p:nvSpPr>
          <p:cNvPr id="25" name="Text 3">
            <a:extLst>
              <a:ext uri="{FF2B5EF4-FFF2-40B4-BE49-F238E27FC236}">
                <a16:creationId xmlns:a16="http://schemas.microsoft.com/office/drawing/2014/main" id="{2BCB548D-F75C-48E2-B201-715EDA30E3F9}"/>
              </a:ext>
            </a:extLst>
          </p:cNvPr>
          <p:cNvSpPr/>
          <p:nvPr/>
        </p:nvSpPr>
        <p:spPr>
          <a:xfrm>
            <a:off x="5330954" y="11924663"/>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Complex Objects</a:t>
            </a:r>
            <a:endParaRPr lang="en-US" sz="2320" dirty="0"/>
          </a:p>
        </p:txBody>
      </p:sp>
      <p:sp>
        <p:nvSpPr>
          <p:cNvPr id="26" name="Text 5">
            <a:extLst>
              <a:ext uri="{FF2B5EF4-FFF2-40B4-BE49-F238E27FC236}">
                <a16:creationId xmlns:a16="http://schemas.microsoft.com/office/drawing/2014/main" id="{1AD4DBE3-9BCE-42CD-8DFE-266D2ED3272E}"/>
              </a:ext>
            </a:extLst>
          </p:cNvPr>
          <p:cNvSpPr/>
          <p:nvPr/>
        </p:nvSpPr>
        <p:spPr>
          <a:xfrm>
            <a:off x="5367529" y="11958381"/>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Dynamic Arrays</a:t>
            </a:r>
            <a:endParaRPr lang="en-US" sz="2320" dirty="0"/>
          </a:p>
        </p:txBody>
      </p:sp>
      <p:sp>
        <p:nvSpPr>
          <p:cNvPr id="27" name="Text 6">
            <a:extLst>
              <a:ext uri="{FF2B5EF4-FFF2-40B4-BE49-F238E27FC236}">
                <a16:creationId xmlns:a16="http://schemas.microsoft.com/office/drawing/2014/main" id="{43E47180-8A38-4293-A65C-AC2A8178669E}"/>
              </a:ext>
            </a:extLst>
          </p:cNvPr>
          <p:cNvSpPr/>
          <p:nvPr/>
        </p:nvSpPr>
        <p:spPr>
          <a:xfrm>
            <a:off x="5367529" y="12470445"/>
            <a:ext cx="3831336" cy="356616"/>
          </a:xfrm>
          <a:prstGeom prst="rect">
            <a:avLst/>
          </a:prstGeom>
          <a:noFill/>
          <a:ln/>
        </p:spPr>
        <p:txBody>
          <a:bodyPr wrap="none" lIns="0" tIns="0" rIns="0" bIns="0" rtlCol="0" anchor="ctr"/>
          <a:lstStyle/>
          <a:p>
            <a:pPr marL="0" indent="0" algn="ct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Use new and delete[] properly.</a:t>
            </a:r>
            <a:endParaRPr lang="en-US" sz="1850" dirty="0"/>
          </a:p>
        </p:txBody>
      </p:sp>
      <p:sp>
        <p:nvSpPr>
          <p:cNvPr id="28" name="Text 7">
            <a:extLst>
              <a:ext uri="{FF2B5EF4-FFF2-40B4-BE49-F238E27FC236}">
                <a16:creationId xmlns:a16="http://schemas.microsoft.com/office/drawing/2014/main" id="{22916248-AF17-4892-B52B-9E8DF88B7818}"/>
              </a:ext>
            </a:extLst>
          </p:cNvPr>
          <p:cNvSpPr/>
          <p:nvPr/>
        </p:nvSpPr>
        <p:spPr>
          <a:xfrm>
            <a:off x="5404104" y="11924663"/>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Static Arrays</a:t>
            </a:r>
            <a:endParaRPr lang="en-US" sz="2320" dirty="0"/>
          </a:p>
        </p:txBody>
      </p:sp>
      <p:sp>
        <p:nvSpPr>
          <p:cNvPr id="29" name="Text 0">
            <a:extLst>
              <a:ext uri="{FF2B5EF4-FFF2-40B4-BE49-F238E27FC236}">
                <a16:creationId xmlns:a16="http://schemas.microsoft.com/office/drawing/2014/main" id="{E65967D5-A31B-4F15-A517-027FFEA5F55F}"/>
              </a:ext>
            </a:extLst>
          </p:cNvPr>
          <p:cNvSpPr/>
          <p:nvPr/>
        </p:nvSpPr>
        <p:spPr>
          <a:xfrm>
            <a:off x="-4939110" y="4352176"/>
            <a:ext cx="3511296" cy="1417320"/>
          </a:xfrm>
          <a:prstGeom prst="rect">
            <a:avLst/>
          </a:prstGeom>
          <a:noFill/>
          <a:ln/>
        </p:spPr>
        <p:txBody>
          <a:bodyPr wrap="square" lIns="0" tIns="0" rIns="0" bIns="0" rtlCol="0" anchor="ctr"/>
          <a:lstStyle/>
          <a:p>
            <a:pPr marL="0" indent="0" algn="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Arrays of objects have dynamic storage capacities. The size can be determined at runtime, offering flexibility.</a:t>
            </a:r>
            <a:endParaRPr lang="en-US" sz="1850" dirty="0"/>
          </a:p>
        </p:txBody>
      </p:sp>
      <p:sp>
        <p:nvSpPr>
          <p:cNvPr id="30" name="Text 1">
            <a:extLst>
              <a:ext uri="{FF2B5EF4-FFF2-40B4-BE49-F238E27FC236}">
                <a16:creationId xmlns:a16="http://schemas.microsoft.com/office/drawing/2014/main" id="{666E205D-9F4B-4B4B-8B2A-CB76444F2187}"/>
              </a:ext>
            </a:extLst>
          </p:cNvPr>
          <p:cNvSpPr/>
          <p:nvPr/>
        </p:nvSpPr>
        <p:spPr>
          <a:xfrm>
            <a:off x="-4939110" y="3712096"/>
            <a:ext cx="3511296" cy="374904"/>
          </a:xfrm>
          <a:prstGeom prst="rect">
            <a:avLst/>
          </a:prstGeom>
          <a:noFill/>
          <a:ln/>
        </p:spPr>
        <p:txBody>
          <a:bodyPr wrap="none" lIns="0" tIns="0" rIns="0" bIns="0" rtlCol="0" anchor="ctr"/>
          <a:lstStyle/>
          <a:p>
            <a:pPr marL="0" indent="0" algn="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Dynamic Storage</a:t>
            </a:r>
            <a:endParaRPr lang="en-US" sz="2320" dirty="0"/>
          </a:p>
        </p:txBody>
      </p:sp>
      <p:sp>
        <p:nvSpPr>
          <p:cNvPr id="31" name="Text 2">
            <a:extLst>
              <a:ext uri="{FF2B5EF4-FFF2-40B4-BE49-F238E27FC236}">
                <a16:creationId xmlns:a16="http://schemas.microsoft.com/office/drawing/2014/main" id="{E1DBFAAF-AF4F-45F2-8E0D-92DA655C38CA}"/>
              </a:ext>
            </a:extLst>
          </p:cNvPr>
          <p:cNvSpPr/>
          <p:nvPr/>
        </p:nvSpPr>
        <p:spPr>
          <a:xfrm>
            <a:off x="17652161" y="5815216"/>
            <a:ext cx="3986784" cy="1417320"/>
          </a:xfrm>
          <a:prstGeom prst="rect">
            <a:avLst/>
          </a:prstGeom>
          <a:noFill/>
          <a:ln/>
        </p:spPr>
        <p:txBody>
          <a:bodyPr wrap="square" lIns="0" tIns="0" rIns="0" bIns="0" rtlCol="0" anchor="ctr"/>
          <a:lstStyle/>
          <a:p>
            <a:pPr marL="0" indent="0" algn="l">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Elements from the array can be treated uniformly using loops and algorithms, fostering efficient code design.</a:t>
            </a:r>
            <a:endParaRPr lang="en-US" sz="1850" dirty="0"/>
          </a:p>
        </p:txBody>
      </p:sp>
      <p:sp>
        <p:nvSpPr>
          <p:cNvPr id="32" name="Text 3">
            <a:extLst>
              <a:ext uri="{FF2B5EF4-FFF2-40B4-BE49-F238E27FC236}">
                <a16:creationId xmlns:a16="http://schemas.microsoft.com/office/drawing/2014/main" id="{D3E851DB-F601-4C21-A3D3-377761B16D2E}"/>
              </a:ext>
            </a:extLst>
          </p:cNvPr>
          <p:cNvSpPr/>
          <p:nvPr/>
        </p:nvSpPr>
        <p:spPr>
          <a:xfrm>
            <a:off x="17652161" y="2879992"/>
            <a:ext cx="3986784" cy="1417320"/>
          </a:xfrm>
          <a:prstGeom prst="rect">
            <a:avLst/>
          </a:prstGeom>
          <a:noFill/>
          <a:ln/>
        </p:spPr>
        <p:txBody>
          <a:bodyPr wrap="square" lIns="0" tIns="0" rIns="0" bIns="0" rtlCol="0" anchor="ctr"/>
          <a:lstStyle/>
          <a:p>
            <a:pPr marL="0" indent="0" algn="l">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Objects within the array are stored in a single contiguous block of memory, improving cache performance.</a:t>
            </a:r>
            <a:endParaRPr lang="en-US" sz="1850" dirty="0"/>
          </a:p>
        </p:txBody>
      </p:sp>
      <p:sp>
        <p:nvSpPr>
          <p:cNvPr id="33" name="Text 4">
            <a:extLst>
              <a:ext uri="{FF2B5EF4-FFF2-40B4-BE49-F238E27FC236}">
                <a16:creationId xmlns:a16="http://schemas.microsoft.com/office/drawing/2014/main" id="{49B98A74-6F0F-44B0-93BB-088465A248D5}"/>
              </a:ext>
            </a:extLst>
          </p:cNvPr>
          <p:cNvSpPr/>
          <p:nvPr/>
        </p:nvSpPr>
        <p:spPr>
          <a:xfrm>
            <a:off x="832104" y="-5347925"/>
            <a:ext cx="12984480" cy="740664"/>
          </a:xfrm>
          <a:prstGeom prst="rect">
            <a:avLst/>
          </a:prstGeom>
          <a:noFill/>
          <a:ln/>
        </p:spPr>
        <p:txBody>
          <a:bodyPr wrap="none" lIns="0" tIns="0" rIns="0" bIns="0" rtlCol="0" anchor="ctr"/>
          <a:lstStyle/>
          <a:p>
            <a:pPr marL="0" indent="0" algn="l">
              <a:lnSpc>
                <a:spcPts val="5800"/>
              </a:lnSpc>
              <a:buNone/>
            </a:pPr>
            <a:r>
              <a:rPr lang="en-US" sz="4640" dirty="0">
                <a:solidFill>
                  <a:srgbClr val="0C266F"/>
                </a:solidFill>
                <a:latin typeface="思源宋体-思源宋体-SemiBold" pitchFamily="34" charset="0"/>
                <a:ea typeface="思源宋体-思源宋体-SemiBold" pitchFamily="34" charset="-122"/>
                <a:cs typeface="思源宋体-思源宋体-SemiBold" pitchFamily="34" charset="-120"/>
              </a:rPr>
              <a:t>Properties of Arrays of Objects</a:t>
            </a:r>
            <a:endParaRPr lang="en-US" sz="4640" dirty="0"/>
          </a:p>
        </p:txBody>
      </p:sp>
      <p:sp>
        <p:nvSpPr>
          <p:cNvPr id="34" name="Text 5">
            <a:extLst>
              <a:ext uri="{FF2B5EF4-FFF2-40B4-BE49-F238E27FC236}">
                <a16:creationId xmlns:a16="http://schemas.microsoft.com/office/drawing/2014/main" id="{C2E1C242-DB3A-4F2F-9894-140B6A1E1848}"/>
              </a:ext>
            </a:extLst>
          </p:cNvPr>
          <p:cNvSpPr/>
          <p:nvPr/>
        </p:nvSpPr>
        <p:spPr>
          <a:xfrm>
            <a:off x="17652161" y="2249056"/>
            <a:ext cx="3986784" cy="374904"/>
          </a:xfrm>
          <a:prstGeom prst="rect">
            <a:avLst/>
          </a:prstGeom>
          <a:noFill/>
          <a:ln/>
        </p:spPr>
        <p:txBody>
          <a:bodyPr wrap="none" lIns="0" tIns="0" rIns="0" bIns="0" rtlCol="0" anchor="ctr"/>
          <a:lstStyle/>
          <a:p>
            <a:pPr marL="0" indent="0" algn="l">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Contiguous Memory</a:t>
            </a:r>
            <a:endParaRPr lang="en-US" sz="2320" dirty="0"/>
          </a:p>
        </p:txBody>
      </p:sp>
      <p:sp>
        <p:nvSpPr>
          <p:cNvPr id="35" name="Text 6">
            <a:extLst>
              <a:ext uri="{FF2B5EF4-FFF2-40B4-BE49-F238E27FC236}">
                <a16:creationId xmlns:a16="http://schemas.microsoft.com/office/drawing/2014/main" id="{F2D2178A-1AF0-4966-BA44-293A83372F83}"/>
              </a:ext>
            </a:extLst>
          </p:cNvPr>
          <p:cNvSpPr/>
          <p:nvPr/>
        </p:nvSpPr>
        <p:spPr>
          <a:xfrm>
            <a:off x="17652161" y="5184280"/>
            <a:ext cx="3986784" cy="374904"/>
          </a:xfrm>
          <a:prstGeom prst="rect">
            <a:avLst/>
          </a:prstGeom>
          <a:noFill/>
          <a:ln/>
        </p:spPr>
        <p:txBody>
          <a:bodyPr wrap="none" lIns="0" tIns="0" rIns="0" bIns="0" rtlCol="0" anchor="ctr"/>
          <a:lstStyle/>
          <a:p>
            <a:pPr marL="0" indent="0" algn="l">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Uniform Element Access</a:t>
            </a:r>
            <a:endParaRPr lang="en-US" sz="2320" dirty="0"/>
          </a:p>
        </p:txBody>
      </p:sp>
      <p:sp>
        <p:nvSpPr>
          <p:cNvPr id="41" name="Shape 1">
            <a:extLst>
              <a:ext uri="{FF2B5EF4-FFF2-40B4-BE49-F238E27FC236}">
                <a16:creationId xmlns:a16="http://schemas.microsoft.com/office/drawing/2014/main" id="{9403C15D-053D-4F49-B046-AA0E14618F04}"/>
              </a:ext>
            </a:extLst>
          </p:cNvPr>
          <p:cNvSpPr/>
          <p:nvPr/>
        </p:nvSpPr>
        <p:spPr>
          <a:xfrm>
            <a:off x="5954503" y="1551661"/>
            <a:ext cx="7710249" cy="6108981"/>
          </a:xfrm>
          <a:prstGeom prst="roundRect">
            <a:avLst>
              <a:gd name="adj" fmla="val 7099"/>
            </a:avLst>
          </a:prstGeom>
          <a:solidFill>
            <a:srgbClr val="BDD4FA"/>
          </a:solidFill>
          <a:ln w="7620">
            <a:solidFill>
              <a:srgbClr val="B2D4E5"/>
            </a:solidFill>
            <a:prstDash val="solid"/>
          </a:ln>
          <a:effectLst>
            <a:outerShdw blurRad="50800" dist="38100" dir="8100000" algn="tr" rotWithShape="0">
              <a:prstClr val="black">
                <a:alpha val="40000"/>
              </a:prstClr>
            </a:outerShdw>
          </a:effectLst>
        </p:spPr>
        <p:txBody>
          <a:bodyPr/>
          <a:lstStyle/>
          <a:p>
            <a:r>
              <a:rPr lang="en-US" dirty="0"/>
              <a:t>#include &lt;iostream&gt;</a:t>
            </a:r>
          </a:p>
          <a:p>
            <a:r>
              <a:rPr lang="en-US" dirty="0"/>
              <a:t>using namespace std;</a:t>
            </a:r>
          </a:p>
          <a:p>
            <a:endParaRPr lang="en-US" dirty="0"/>
          </a:p>
          <a:p>
            <a:r>
              <a:rPr lang="en-US" dirty="0"/>
              <a:t>class test</a:t>
            </a:r>
          </a:p>
          <a:p>
            <a:r>
              <a:rPr lang="en-US" dirty="0"/>
              <a:t>{</a:t>
            </a:r>
          </a:p>
          <a:p>
            <a:r>
              <a:rPr lang="en-US" dirty="0"/>
              <a:t>     private:</a:t>
            </a:r>
          </a:p>
          <a:p>
            <a:r>
              <a:rPr lang="en-US" dirty="0"/>
              <a:t>         int testing;</a:t>
            </a:r>
          </a:p>
          <a:p>
            <a:r>
              <a:rPr lang="en-US" dirty="0"/>
              <a:t>     public:</a:t>
            </a:r>
          </a:p>
          <a:p>
            <a:r>
              <a:rPr lang="en-US" dirty="0"/>
              <a:t>         test()</a:t>
            </a:r>
          </a:p>
          <a:p>
            <a:r>
              <a:rPr lang="en-US" dirty="0"/>
              <a:t>         {</a:t>
            </a:r>
          </a:p>
          <a:p>
            <a:r>
              <a:rPr lang="en-US" dirty="0"/>
              <a:t>             testing = 0;</a:t>
            </a:r>
          </a:p>
          <a:p>
            <a:r>
              <a:rPr lang="en-US" dirty="0"/>
              <a:t>         }</a:t>
            </a:r>
          </a:p>
          <a:p>
            <a:r>
              <a:rPr lang="en-US" dirty="0"/>
              <a:t>         test(int t)</a:t>
            </a:r>
          </a:p>
          <a:p>
            <a:r>
              <a:rPr lang="en-US" dirty="0"/>
              <a:t>         {</a:t>
            </a:r>
          </a:p>
          <a:p>
            <a:r>
              <a:rPr lang="en-US" dirty="0"/>
              <a:t>              testing = t;</a:t>
            </a:r>
          </a:p>
          <a:p>
            <a:r>
              <a:rPr lang="en-US" dirty="0"/>
              <a:t>         }</a:t>
            </a:r>
          </a:p>
          <a:p>
            <a:r>
              <a:rPr lang="en-US" dirty="0"/>
              <a:t>         void </a:t>
            </a:r>
            <a:r>
              <a:rPr lang="en-US" dirty="0" err="1"/>
              <a:t>set_Test</a:t>
            </a:r>
            <a:r>
              <a:rPr lang="en-US" dirty="0"/>
              <a:t>(int t)</a:t>
            </a:r>
          </a:p>
          <a:p>
            <a:r>
              <a:rPr lang="en-US" dirty="0"/>
              <a:t>         {</a:t>
            </a:r>
          </a:p>
          <a:p>
            <a:r>
              <a:rPr lang="en-US" dirty="0"/>
              <a:t>              testing = t;</a:t>
            </a:r>
          </a:p>
          <a:p>
            <a:r>
              <a:rPr lang="en-US" dirty="0"/>
              <a:t>         }</a:t>
            </a:r>
          </a:p>
          <a:p>
            <a:r>
              <a:rPr lang="en-US" dirty="0"/>
              <a:t>         </a:t>
            </a:r>
          </a:p>
        </p:txBody>
      </p:sp>
      <p:sp>
        <p:nvSpPr>
          <p:cNvPr id="42" name="TextBox 41">
            <a:extLst>
              <a:ext uri="{FF2B5EF4-FFF2-40B4-BE49-F238E27FC236}">
                <a16:creationId xmlns:a16="http://schemas.microsoft.com/office/drawing/2014/main" id="{EC7252DA-2FF2-4FD8-9991-61A0E969A9CD}"/>
              </a:ext>
            </a:extLst>
          </p:cNvPr>
          <p:cNvSpPr txBox="1"/>
          <p:nvPr/>
        </p:nvSpPr>
        <p:spPr>
          <a:xfrm>
            <a:off x="9987984" y="1731450"/>
            <a:ext cx="3304903" cy="4524315"/>
          </a:xfrm>
          <a:prstGeom prst="rect">
            <a:avLst/>
          </a:prstGeom>
          <a:noFill/>
        </p:spPr>
        <p:txBody>
          <a:bodyPr wrap="square" rtlCol="0">
            <a:spAutoFit/>
          </a:bodyPr>
          <a:lstStyle/>
          <a:p>
            <a:r>
              <a:rPr lang="en-US" dirty="0"/>
              <a:t>Int </a:t>
            </a:r>
            <a:r>
              <a:rPr lang="en-US" dirty="0" err="1"/>
              <a:t>get_Test</a:t>
            </a:r>
            <a:r>
              <a:rPr lang="en-US" dirty="0"/>
              <a:t>() { return testing; }</a:t>
            </a:r>
          </a:p>
          <a:p>
            <a:r>
              <a:rPr lang="en-US" dirty="0"/>
              <a:t>};</a:t>
            </a:r>
          </a:p>
          <a:p>
            <a:r>
              <a:rPr lang="en-US" dirty="0"/>
              <a:t>int main()</a:t>
            </a:r>
          </a:p>
          <a:p>
            <a:r>
              <a:rPr lang="en-US" dirty="0"/>
              <a:t>{</a:t>
            </a:r>
          </a:p>
          <a:p>
            <a:r>
              <a:rPr lang="en-US" dirty="0"/>
              <a:t>    int t;</a:t>
            </a:r>
          </a:p>
          <a:p>
            <a:r>
              <a:rPr lang="en-US" dirty="0"/>
              <a:t>    </a:t>
            </a:r>
            <a:r>
              <a:rPr lang="en-US" dirty="0" err="1"/>
              <a:t>cout</a:t>
            </a:r>
            <a:r>
              <a:rPr lang="en-US" dirty="0"/>
              <a:t> &lt;&lt; “Enter the Number: “;</a:t>
            </a:r>
          </a:p>
          <a:p>
            <a:r>
              <a:rPr lang="en-US" dirty="0"/>
              <a:t>    </a:t>
            </a:r>
            <a:r>
              <a:rPr lang="en-US" dirty="0" err="1"/>
              <a:t>cin</a:t>
            </a:r>
            <a:r>
              <a:rPr lang="en-US" dirty="0"/>
              <a:t> &gt;&gt; t;</a:t>
            </a:r>
          </a:p>
          <a:p>
            <a:r>
              <a:rPr lang="en-US" dirty="0"/>
              <a:t>    test obj[5];</a:t>
            </a:r>
          </a:p>
          <a:p>
            <a:r>
              <a:rPr lang="en-US" dirty="0"/>
              <a:t>    obj[0].</a:t>
            </a:r>
            <a:r>
              <a:rPr lang="en-US" dirty="0" err="1"/>
              <a:t>set_Test</a:t>
            </a:r>
            <a:r>
              <a:rPr lang="en-US" dirty="0"/>
              <a:t>(t);</a:t>
            </a:r>
          </a:p>
          <a:p>
            <a:r>
              <a:rPr lang="en-US" dirty="0"/>
              <a:t>    obj[1].</a:t>
            </a:r>
            <a:r>
              <a:rPr lang="en-US" dirty="0" err="1"/>
              <a:t>set_Test</a:t>
            </a:r>
            <a:r>
              <a:rPr lang="en-US" dirty="0"/>
              <a:t>(2);</a:t>
            </a:r>
          </a:p>
          <a:p>
            <a:r>
              <a:rPr lang="en-US" dirty="0"/>
              <a:t>    </a:t>
            </a:r>
            <a:r>
              <a:rPr lang="en-US" dirty="0" err="1"/>
              <a:t>cout</a:t>
            </a:r>
            <a:r>
              <a:rPr lang="en-US" dirty="0"/>
              <a:t> &lt;&lt; “OBJ[0]: “ &lt;&lt; obj[0].</a:t>
            </a:r>
            <a:r>
              <a:rPr lang="en-US" dirty="0" err="1"/>
              <a:t>get_Test</a:t>
            </a:r>
            <a:r>
              <a:rPr lang="en-US" dirty="0"/>
              <a:t> &lt;&lt; </a:t>
            </a:r>
            <a:r>
              <a:rPr lang="en-US" dirty="0" err="1"/>
              <a:t>endl</a:t>
            </a:r>
            <a:r>
              <a:rPr lang="en-US" dirty="0"/>
              <a:t>;</a:t>
            </a:r>
          </a:p>
          <a:p>
            <a:r>
              <a:rPr lang="en-US" dirty="0"/>
              <a:t>    </a:t>
            </a:r>
            <a:r>
              <a:rPr lang="en-US" dirty="0" err="1"/>
              <a:t>cout</a:t>
            </a:r>
            <a:r>
              <a:rPr lang="en-US" dirty="0"/>
              <a:t> &lt;&lt; “OBJ[1]: “ &lt;&lt; obj[1].</a:t>
            </a:r>
            <a:r>
              <a:rPr lang="en-US" dirty="0" err="1"/>
              <a:t>get_Test</a:t>
            </a:r>
            <a:r>
              <a:rPr lang="en-US" dirty="0"/>
              <a:t> &lt;&lt; </a:t>
            </a:r>
            <a:r>
              <a:rPr lang="en-US" dirty="0" err="1"/>
              <a:t>endl</a:t>
            </a:r>
            <a:r>
              <a:rPr lang="en-US" dirty="0"/>
              <a:t>;</a:t>
            </a:r>
          </a:p>
          <a:p>
            <a:r>
              <a:rPr lang="en-US" dirty="0"/>
              <a:t>    return 0;</a:t>
            </a:r>
          </a:p>
          <a:p>
            <a:r>
              <a:rPr lang="en-US" dirty="0"/>
              <a:t>}</a:t>
            </a:r>
          </a:p>
        </p:txBody>
      </p:sp>
      <p:grpSp>
        <p:nvGrpSpPr>
          <p:cNvPr id="37" name="Group 36">
            <a:extLst>
              <a:ext uri="{FF2B5EF4-FFF2-40B4-BE49-F238E27FC236}">
                <a16:creationId xmlns:a16="http://schemas.microsoft.com/office/drawing/2014/main" id="{258024A0-60CE-4F48-893E-67676B07FA40}"/>
              </a:ext>
            </a:extLst>
          </p:cNvPr>
          <p:cNvGrpSpPr/>
          <p:nvPr/>
        </p:nvGrpSpPr>
        <p:grpSpPr>
          <a:xfrm>
            <a:off x="5954503" y="1547734"/>
            <a:ext cx="7710249" cy="6108981"/>
            <a:chOff x="5947243" y="1558915"/>
            <a:chExt cx="7710249" cy="6108981"/>
          </a:xfrm>
        </p:grpSpPr>
        <p:sp>
          <p:nvSpPr>
            <p:cNvPr id="38" name="Shape 1">
              <a:extLst>
                <a:ext uri="{FF2B5EF4-FFF2-40B4-BE49-F238E27FC236}">
                  <a16:creationId xmlns:a16="http://schemas.microsoft.com/office/drawing/2014/main" id="{99F1572B-04EB-4F06-9A81-68FCC3C4EFF1}"/>
                </a:ext>
              </a:extLst>
            </p:cNvPr>
            <p:cNvSpPr/>
            <p:nvPr/>
          </p:nvSpPr>
          <p:spPr>
            <a:xfrm>
              <a:off x="5947243" y="1558915"/>
              <a:ext cx="7710249" cy="6108981"/>
            </a:xfrm>
            <a:prstGeom prst="roundRect">
              <a:avLst>
                <a:gd name="adj" fmla="val 7099"/>
              </a:avLst>
            </a:prstGeom>
            <a:solidFill>
              <a:srgbClr val="BDD4FA"/>
            </a:solidFill>
            <a:ln w="7620">
              <a:solidFill>
                <a:srgbClr val="B2D4E5"/>
              </a:solidFill>
              <a:prstDash val="solid"/>
            </a:ln>
            <a:effectLst>
              <a:outerShdw blurRad="50800" dist="38100" dir="8100000" algn="tr" rotWithShape="0">
                <a:prstClr val="black">
                  <a:alpha val="40000"/>
                </a:prstClr>
              </a:outerShdw>
            </a:effectLst>
          </p:spPr>
          <p:txBody>
            <a:bodyPr/>
            <a:lstStyle/>
            <a:p>
              <a:r>
                <a:rPr lang="en-US" sz="1600" dirty="0">
                  <a:latin typeface="Consolas" panose="020B0609020204030204" pitchFamily="49" charset="0"/>
                </a:rPr>
                <a:t>#include &lt;iostream&gt;</a:t>
              </a:r>
            </a:p>
            <a:p>
              <a:r>
                <a:rPr lang="en-US" sz="1600" dirty="0">
                  <a:latin typeface="Consolas" panose="020B0609020204030204" pitchFamily="49" charset="0"/>
                </a:rPr>
                <a:t>using namespace std;</a:t>
              </a:r>
            </a:p>
            <a:p>
              <a:endParaRPr lang="en-US" sz="1600" dirty="0">
                <a:latin typeface="Consolas" panose="020B0609020204030204" pitchFamily="49" charset="0"/>
              </a:endParaRPr>
            </a:p>
            <a:p>
              <a:r>
                <a:rPr lang="en-US" sz="1600" dirty="0">
                  <a:latin typeface="Consolas" panose="020B0609020204030204" pitchFamily="49" charset="0"/>
                </a:rPr>
                <a:t>class test</a:t>
              </a:r>
            </a:p>
            <a:p>
              <a:r>
                <a:rPr lang="en-US" sz="1600" dirty="0">
                  <a:latin typeface="Consolas" panose="020B0609020204030204" pitchFamily="49" charset="0"/>
                </a:rPr>
                <a:t>{</a:t>
              </a:r>
            </a:p>
            <a:p>
              <a:r>
                <a:rPr lang="en-US" sz="1600" dirty="0">
                  <a:latin typeface="Consolas" panose="020B0609020204030204" pitchFamily="49" charset="0"/>
                </a:rPr>
                <a:t>     private:</a:t>
              </a:r>
            </a:p>
            <a:p>
              <a:r>
                <a:rPr lang="en-US" sz="1600" dirty="0">
                  <a:latin typeface="Consolas" panose="020B0609020204030204" pitchFamily="49" charset="0"/>
                </a:rPr>
                <a:t>         int testing;</a:t>
              </a:r>
            </a:p>
            <a:p>
              <a:r>
                <a:rPr lang="en-US" sz="1600" dirty="0">
                  <a:latin typeface="Consolas" panose="020B0609020204030204" pitchFamily="49" charset="0"/>
                </a:rPr>
                <a:t>     public:</a:t>
              </a:r>
            </a:p>
            <a:p>
              <a:r>
                <a:rPr lang="en-US" sz="1600" dirty="0">
                  <a:latin typeface="Consolas" panose="020B0609020204030204" pitchFamily="49" charset="0"/>
                </a:rPr>
                <a:t>         test()</a:t>
              </a:r>
            </a:p>
            <a:p>
              <a:r>
                <a:rPr lang="en-US" sz="1600" dirty="0">
                  <a:latin typeface="Consolas" panose="020B0609020204030204" pitchFamily="49" charset="0"/>
                </a:rPr>
                <a:t>         {</a:t>
              </a:r>
            </a:p>
            <a:p>
              <a:r>
                <a:rPr lang="en-US" sz="1600" dirty="0">
                  <a:latin typeface="Consolas" panose="020B0609020204030204" pitchFamily="49" charset="0"/>
                </a:rPr>
                <a:t>             testing = 0;</a:t>
              </a:r>
            </a:p>
            <a:p>
              <a:r>
                <a:rPr lang="en-US" sz="1600" dirty="0">
                  <a:latin typeface="Consolas" panose="020B0609020204030204" pitchFamily="49" charset="0"/>
                </a:rPr>
                <a:t>         }</a:t>
              </a:r>
            </a:p>
            <a:p>
              <a:r>
                <a:rPr lang="en-US" sz="1600" dirty="0">
                  <a:latin typeface="Consolas" panose="020B0609020204030204" pitchFamily="49" charset="0"/>
                </a:rPr>
                <a:t>         test(int t)</a:t>
              </a:r>
            </a:p>
            <a:p>
              <a:r>
                <a:rPr lang="en-US" sz="1600" dirty="0">
                  <a:latin typeface="Consolas" panose="020B0609020204030204" pitchFamily="49" charset="0"/>
                </a:rPr>
                <a:t>         {</a:t>
              </a:r>
            </a:p>
            <a:p>
              <a:r>
                <a:rPr lang="en-US" sz="1600" dirty="0">
                  <a:latin typeface="Consolas" panose="020B0609020204030204" pitchFamily="49" charset="0"/>
                </a:rPr>
                <a:t>              testing = t;</a:t>
              </a:r>
            </a:p>
            <a:p>
              <a:r>
                <a:rPr lang="en-US" sz="1600" dirty="0">
                  <a:latin typeface="Consolas" panose="020B0609020204030204" pitchFamily="49" charset="0"/>
                </a:rPr>
                <a:t>         }</a:t>
              </a:r>
            </a:p>
            <a:p>
              <a:r>
                <a:rPr lang="en-US" sz="1600" dirty="0">
                  <a:latin typeface="Consolas" panose="020B0609020204030204" pitchFamily="49" charset="0"/>
                </a:rPr>
                <a:t>         void </a:t>
              </a:r>
              <a:r>
                <a:rPr lang="en-US" sz="1600" dirty="0" err="1">
                  <a:latin typeface="Consolas" panose="020B0609020204030204" pitchFamily="49" charset="0"/>
                </a:rPr>
                <a:t>set_Test</a:t>
              </a:r>
              <a:r>
                <a:rPr lang="en-US" sz="1600" dirty="0">
                  <a:latin typeface="Consolas" panose="020B0609020204030204" pitchFamily="49" charset="0"/>
                </a:rPr>
                <a:t>(int t)</a:t>
              </a:r>
            </a:p>
            <a:p>
              <a:r>
                <a:rPr lang="en-US" sz="1600" dirty="0">
                  <a:latin typeface="Consolas" panose="020B0609020204030204" pitchFamily="49" charset="0"/>
                </a:rPr>
                <a:t>         {</a:t>
              </a:r>
            </a:p>
            <a:p>
              <a:r>
                <a:rPr lang="en-US" sz="1600" dirty="0">
                  <a:latin typeface="Consolas" panose="020B0609020204030204" pitchFamily="49" charset="0"/>
                </a:rPr>
                <a:t>              testing = t;</a:t>
              </a:r>
            </a:p>
            <a:p>
              <a:r>
                <a:rPr lang="en-US" sz="1600" dirty="0">
                  <a:latin typeface="Consolas" panose="020B0609020204030204" pitchFamily="49" charset="0"/>
                </a:rPr>
                <a:t>         }</a:t>
              </a:r>
            </a:p>
            <a:p>
              <a:r>
                <a:rPr lang="en-US" sz="1600" dirty="0">
                  <a:latin typeface="Consolas" panose="020B0609020204030204" pitchFamily="49" charset="0"/>
                </a:rPr>
                <a:t>         </a:t>
              </a:r>
            </a:p>
          </p:txBody>
        </p:sp>
        <p:sp>
          <p:nvSpPr>
            <p:cNvPr id="39" name="TextBox 38">
              <a:extLst>
                <a:ext uri="{FF2B5EF4-FFF2-40B4-BE49-F238E27FC236}">
                  <a16:creationId xmlns:a16="http://schemas.microsoft.com/office/drawing/2014/main" id="{104010F3-52E8-4224-A609-A3572E9A0BA9}"/>
                </a:ext>
              </a:extLst>
            </p:cNvPr>
            <p:cNvSpPr txBox="1"/>
            <p:nvPr/>
          </p:nvSpPr>
          <p:spPr>
            <a:xfrm>
              <a:off x="9980724" y="1738704"/>
              <a:ext cx="3304903" cy="5878532"/>
            </a:xfrm>
            <a:prstGeom prst="rect">
              <a:avLst/>
            </a:prstGeom>
            <a:noFill/>
          </p:spPr>
          <p:txBody>
            <a:bodyPr wrap="square" rtlCol="0">
              <a:spAutoFit/>
            </a:bodyPr>
            <a:lstStyle/>
            <a:p>
              <a:r>
                <a:rPr lang="en-US" sz="1600" dirty="0">
                  <a:latin typeface="Consolas" panose="020B0609020204030204" pitchFamily="49" charset="0"/>
                </a:rPr>
                <a:t>    int </a:t>
              </a:r>
              <a:r>
                <a:rPr lang="en-US" sz="1600" dirty="0" err="1">
                  <a:latin typeface="Consolas" panose="020B0609020204030204" pitchFamily="49" charset="0"/>
                </a:rPr>
                <a:t>get_Test</a:t>
              </a:r>
              <a:r>
                <a:rPr lang="en-US" sz="1600" dirty="0">
                  <a:latin typeface="Consolas" panose="020B0609020204030204" pitchFamily="49" charset="0"/>
                </a:rPr>
                <a:t>()</a:t>
              </a:r>
            </a:p>
            <a:p>
              <a:r>
                <a:rPr lang="en-US" sz="1600" dirty="0">
                  <a:latin typeface="Consolas" panose="020B0609020204030204" pitchFamily="49" charset="0"/>
                </a:rPr>
                <a:t>    {</a:t>
              </a:r>
            </a:p>
            <a:p>
              <a:r>
                <a:rPr lang="en-US" sz="1600" dirty="0">
                  <a:latin typeface="Consolas" panose="020B0609020204030204" pitchFamily="49" charset="0"/>
                </a:rPr>
                <a:t>        return testing;</a:t>
              </a:r>
            </a:p>
            <a:p>
              <a:r>
                <a:rPr lang="en-US" sz="1600" dirty="0">
                  <a:latin typeface="Consolas" panose="020B0609020204030204" pitchFamily="49" charset="0"/>
                </a:rPr>
                <a:t>    }</a:t>
              </a:r>
            </a:p>
            <a:p>
              <a:r>
                <a:rPr lang="en-US" sz="1600" dirty="0">
                  <a:latin typeface="Consolas" panose="020B0609020204030204" pitchFamily="49" charset="0"/>
                </a:rPr>
                <a:t>};</a:t>
              </a:r>
            </a:p>
            <a:p>
              <a:r>
                <a:rPr lang="en-US" sz="1600" dirty="0">
                  <a:latin typeface="Consolas" panose="020B0609020204030204" pitchFamily="49" charset="0"/>
                </a:rPr>
                <a:t>int main()</a:t>
              </a:r>
            </a:p>
            <a:p>
              <a:r>
                <a:rPr lang="en-US" sz="1600" dirty="0">
                  <a:latin typeface="Consolas" panose="020B0609020204030204" pitchFamily="49" charset="0"/>
                </a:rPr>
                <a:t>{</a:t>
              </a:r>
            </a:p>
            <a:p>
              <a:r>
                <a:rPr lang="en-US" sz="1600" dirty="0">
                  <a:latin typeface="Consolas" panose="020B0609020204030204" pitchFamily="49" charset="0"/>
                </a:rPr>
                <a:t>    test obj;</a:t>
              </a:r>
            </a:p>
            <a:p>
              <a:r>
                <a:rPr lang="en-US" sz="1600" dirty="0">
                  <a:latin typeface="Consolas" panose="020B0609020204030204" pitchFamily="49" charset="0"/>
                </a:rPr>
                <a:t>    test </a:t>
              </a:r>
              <a:r>
                <a:rPr lang="en-US" sz="1600" dirty="0" err="1">
                  <a:latin typeface="Consolas" panose="020B0609020204030204" pitchFamily="49" charset="0"/>
                </a:rPr>
                <a:t>objn</a:t>
              </a:r>
              <a:r>
                <a:rPr lang="en-US" sz="1600" dirty="0">
                  <a:latin typeface="Consolas" panose="020B0609020204030204" pitchFamily="49" charset="0"/>
                </a:rPr>
                <a:t>(1);</a:t>
              </a:r>
            </a:p>
            <a:p>
              <a:r>
                <a:rPr lang="en-US" sz="1600" dirty="0">
                  <a:latin typeface="Consolas" panose="020B0609020204030204" pitchFamily="49" charset="0"/>
                </a:rPr>
                <a:t>    test </a:t>
              </a:r>
              <a:r>
                <a:rPr lang="en-US" sz="1600" dirty="0" err="1">
                  <a:latin typeface="Consolas" panose="020B0609020204030204" pitchFamily="49" charset="0"/>
                </a:rPr>
                <a:t>objt</a:t>
              </a:r>
              <a:r>
                <a:rPr lang="en-US" sz="1600" dirty="0">
                  <a:latin typeface="Consolas" panose="020B0609020204030204" pitchFamily="49" charset="0"/>
                </a:rPr>
                <a:t>[5];</a:t>
              </a:r>
            </a:p>
            <a:p>
              <a:r>
                <a:rPr lang="en-US" sz="1600" dirty="0">
                  <a:latin typeface="Consolas" panose="020B0609020204030204" pitchFamily="49" charset="0"/>
                </a:rPr>
                <a:t>    for(int </a:t>
              </a:r>
              <a:r>
                <a:rPr lang="en-US" sz="1600" dirty="0" err="1">
                  <a:latin typeface="Consolas" panose="020B0609020204030204" pitchFamily="49" charset="0"/>
                </a:rPr>
                <a:t>i</a:t>
              </a:r>
              <a:r>
                <a:rPr lang="en-US" sz="1600" dirty="0">
                  <a:latin typeface="Consolas" panose="020B0609020204030204" pitchFamily="49" charset="0"/>
                </a:rPr>
                <a:t>=0; </a:t>
              </a:r>
              <a:r>
                <a:rPr lang="en-US" sz="1600" dirty="0" err="1">
                  <a:latin typeface="Consolas" panose="020B0609020204030204" pitchFamily="49" charset="0"/>
                </a:rPr>
                <a:t>i</a:t>
              </a:r>
              <a:r>
                <a:rPr lang="en-US" sz="1600" dirty="0">
                  <a:latin typeface="Consolas" panose="020B0609020204030204" pitchFamily="49" charset="0"/>
                </a:rPr>
                <a:t>&lt;5; </a:t>
              </a:r>
              <a:r>
                <a:rPr lang="en-US" sz="1600" dirty="0" err="1">
                  <a:latin typeface="Consolas" panose="020B0609020204030204" pitchFamily="49" charset="0"/>
                </a:rPr>
                <a:t>i</a:t>
              </a:r>
              <a:r>
                <a:rPr lang="en-US" sz="1600" dirty="0">
                  <a:latin typeface="Consolas" panose="020B0609020204030204" pitchFamily="49" charset="0"/>
                </a:rPr>
                <a:t>++)</a:t>
              </a:r>
            </a:p>
            <a:p>
              <a:r>
                <a:rPr lang="en-US" sz="1600" dirty="0">
                  <a:latin typeface="Consolas" panose="020B0609020204030204" pitchFamily="49" charset="0"/>
                </a:rPr>
                <a:t>        </a:t>
              </a:r>
              <a:r>
                <a:rPr lang="en-US" sz="1600" dirty="0" err="1">
                  <a:latin typeface="Consolas" panose="020B0609020204030204" pitchFamily="49" charset="0"/>
                </a:rPr>
                <a:t>objt</a:t>
              </a:r>
              <a:r>
                <a:rPr lang="en-US" sz="1600" dirty="0">
                  <a:latin typeface="Consolas" panose="020B0609020204030204" pitchFamily="49" charset="0"/>
                </a:rPr>
                <a:t>[</a:t>
              </a:r>
              <a:r>
                <a:rPr lang="en-US" sz="1600" dirty="0" err="1">
                  <a:latin typeface="Consolas" panose="020B0609020204030204" pitchFamily="49" charset="0"/>
                </a:rPr>
                <a:t>i</a:t>
              </a:r>
              <a:r>
                <a:rPr lang="en-US" sz="1600" dirty="0">
                  <a:latin typeface="Consolas" panose="020B0609020204030204" pitchFamily="49" charset="0"/>
                </a:rPr>
                <a:t>].</a:t>
              </a:r>
              <a:r>
                <a:rPr lang="en-US" sz="1600" dirty="0" err="1">
                  <a:latin typeface="Consolas" panose="020B0609020204030204" pitchFamily="49" charset="0"/>
                </a:rPr>
                <a:t>set_Test</a:t>
              </a:r>
              <a:r>
                <a:rPr lang="en-US" sz="1600" dirty="0">
                  <a:latin typeface="Consolas" panose="020B0609020204030204" pitchFamily="49" charset="0"/>
                </a:rPr>
                <a:t>(</a:t>
              </a:r>
              <a:r>
                <a:rPr lang="en-US" sz="1600" dirty="0" err="1">
                  <a:latin typeface="Consolas" panose="020B0609020204030204" pitchFamily="49" charset="0"/>
                </a:rPr>
                <a:t>i</a:t>
              </a:r>
              <a:r>
                <a:rPr lang="en-US" sz="1600" dirty="0">
                  <a:latin typeface="Consolas" panose="020B0609020204030204" pitchFamily="49" charset="0"/>
                </a:rPr>
                <a:t>);</a:t>
              </a:r>
            </a:p>
            <a:p>
              <a:r>
                <a:rPr lang="en-US" sz="1600" dirty="0">
                  <a:latin typeface="Consolas" panose="020B0609020204030204" pitchFamily="49" charset="0"/>
                </a:rPr>
                <a:t>    test </a:t>
              </a:r>
              <a:r>
                <a:rPr lang="en-US" sz="1600" dirty="0" err="1">
                  <a:latin typeface="Consolas" panose="020B0609020204030204" pitchFamily="49" charset="0"/>
                </a:rPr>
                <a:t>arr</a:t>
              </a:r>
              <a:r>
                <a:rPr lang="en-US" sz="1600" dirty="0">
                  <a:latin typeface="Consolas" panose="020B0609020204030204" pitchFamily="49" charset="0"/>
                </a:rPr>
                <a:t>[] = { test(10), test(20), </a:t>
              </a:r>
            </a:p>
            <a:p>
              <a:r>
                <a:rPr lang="en-US" sz="1600" dirty="0">
                  <a:latin typeface="Consolas" panose="020B0609020204030204" pitchFamily="49" charset="0"/>
                </a:rPr>
                <a:t>    test(30), test(40), test(50) };</a:t>
              </a:r>
            </a:p>
            <a:p>
              <a:r>
                <a:rPr lang="en-US" sz="1600" dirty="0">
                  <a:latin typeface="Consolas" panose="020B0609020204030204" pitchFamily="49" charset="0"/>
                </a:rPr>
                <a:t>    </a:t>
              </a:r>
              <a:r>
                <a:rPr lang="en-US" sz="1600" dirty="0" err="1">
                  <a:latin typeface="Consolas" panose="020B0609020204030204" pitchFamily="49" charset="0"/>
                </a:rPr>
                <a:t>cout</a:t>
              </a:r>
              <a:r>
                <a:rPr lang="en-US" sz="1600" dirty="0">
                  <a:latin typeface="Consolas" panose="020B0609020204030204" pitchFamily="49" charset="0"/>
                </a:rPr>
                <a:t> &lt;&lt; </a:t>
              </a:r>
              <a:r>
                <a:rPr lang="en-US" sz="1600" dirty="0" err="1">
                  <a:latin typeface="Consolas" panose="020B0609020204030204" pitchFamily="49" charset="0"/>
                </a:rPr>
                <a:t>arr</a:t>
              </a:r>
              <a:r>
                <a:rPr lang="en-US" sz="1600" dirty="0">
                  <a:latin typeface="Consolas" panose="020B0609020204030204" pitchFamily="49" charset="0"/>
                </a:rPr>
                <a:t>[1].</a:t>
              </a:r>
              <a:r>
                <a:rPr lang="en-US" sz="1600" dirty="0" err="1">
                  <a:latin typeface="Consolas" panose="020B0609020204030204" pitchFamily="49" charset="0"/>
                </a:rPr>
                <a:t>get_Test</a:t>
              </a:r>
              <a:r>
                <a:rPr lang="en-US" sz="1600" dirty="0">
                  <a:latin typeface="Consolas" panose="020B0609020204030204" pitchFamily="49" charset="0"/>
                </a:rPr>
                <a:t> &lt;&lt; </a:t>
              </a:r>
              <a:r>
                <a:rPr lang="en-US" sz="1600" dirty="0" err="1">
                  <a:latin typeface="Consolas" panose="020B0609020204030204" pitchFamily="49" charset="0"/>
                </a:rPr>
                <a:t>endl</a:t>
              </a:r>
              <a:r>
                <a:rPr lang="en-US" sz="1600" dirty="0">
                  <a:latin typeface="Consolas" panose="020B0609020204030204" pitchFamily="49" charset="0"/>
                </a:rPr>
                <a:t>;</a:t>
              </a:r>
            </a:p>
            <a:p>
              <a:r>
                <a:rPr lang="en-US" sz="1600" dirty="0">
                  <a:latin typeface="Consolas" panose="020B0609020204030204" pitchFamily="49" charset="0"/>
                </a:rPr>
                <a:t>    </a:t>
              </a:r>
              <a:r>
                <a:rPr lang="en-US" sz="1600" dirty="0" err="1">
                  <a:latin typeface="Consolas" panose="020B0609020204030204" pitchFamily="49" charset="0"/>
                </a:rPr>
                <a:t>arr</a:t>
              </a:r>
              <a:r>
                <a:rPr lang="en-US" sz="1600" dirty="0">
                  <a:latin typeface="Consolas" panose="020B0609020204030204" pitchFamily="49" charset="0"/>
                </a:rPr>
                <a:t>[0].</a:t>
              </a:r>
              <a:r>
                <a:rPr lang="en-US" sz="1600" dirty="0" err="1">
                  <a:latin typeface="Consolas" panose="020B0609020204030204" pitchFamily="49" charset="0"/>
                </a:rPr>
                <a:t>set_Test</a:t>
              </a:r>
              <a:r>
                <a:rPr lang="en-US" sz="1600" dirty="0">
                  <a:latin typeface="Consolas" panose="020B0609020204030204" pitchFamily="49" charset="0"/>
                </a:rPr>
                <a:t>(5);</a:t>
              </a:r>
            </a:p>
            <a:p>
              <a:r>
                <a:rPr lang="en-US" sz="1600" dirty="0">
                  <a:latin typeface="Consolas" panose="020B0609020204030204" pitchFamily="49" charset="0"/>
                </a:rPr>
                <a:t>    </a:t>
              </a:r>
              <a:r>
                <a:rPr lang="en-US" sz="1600" dirty="0" err="1">
                  <a:latin typeface="Consolas" panose="020B0609020204030204" pitchFamily="49" charset="0"/>
                </a:rPr>
                <a:t>cout</a:t>
              </a:r>
              <a:r>
                <a:rPr lang="en-US" sz="1600" dirty="0">
                  <a:latin typeface="Consolas" panose="020B0609020204030204" pitchFamily="49" charset="0"/>
                </a:rPr>
                <a:t> &lt;&lt; </a:t>
              </a:r>
              <a:r>
                <a:rPr lang="en-US" sz="1600" dirty="0" err="1">
                  <a:latin typeface="Consolas" panose="020B0609020204030204" pitchFamily="49" charset="0"/>
                </a:rPr>
                <a:t>arr</a:t>
              </a:r>
              <a:r>
                <a:rPr lang="en-US" sz="1600" dirty="0">
                  <a:latin typeface="Consolas" panose="020B0609020204030204" pitchFamily="49" charset="0"/>
                </a:rPr>
                <a:t>[0].</a:t>
              </a:r>
              <a:r>
                <a:rPr lang="en-US" sz="1600" dirty="0" err="1">
                  <a:latin typeface="Consolas" panose="020B0609020204030204" pitchFamily="49" charset="0"/>
                </a:rPr>
                <a:t>get_Test</a:t>
              </a:r>
              <a:r>
                <a:rPr lang="en-US" sz="1600" dirty="0">
                  <a:latin typeface="Consolas" panose="020B0609020204030204" pitchFamily="49" charset="0"/>
                </a:rPr>
                <a:t> &lt;&lt; </a:t>
              </a:r>
              <a:r>
                <a:rPr lang="en-US" sz="1600" dirty="0" err="1">
                  <a:latin typeface="Consolas" panose="020B0609020204030204" pitchFamily="49" charset="0"/>
                </a:rPr>
                <a:t>endl</a:t>
              </a:r>
              <a:r>
                <a:rPr lang="en-US" sz="1600" dirty="0">
                  <a:latin typeface="Consolas" panose="020B0609020204030204" pitchFamily="49" charset="0"/>
                </a:rPr>
                <a:t>;</a:t>
              </a:r>
            </a:p>
            <a:p>
              <a:r>
                <a:rPr lang="en-US" sz="1600" dirty="0">
                  <a:latin typeface="Consolas" panose="020B0609020204030204" pitchFamily="49" charset="0"/>
                </a:rPr>
                <a:t>    return 0;</a:t>
              </a:r>
            </a:p>
            <a:p>
              <a:r>
                <a:rPr lang="en-US" sz="1600" dirty="0">
                  <a:latin typeface="Consolas" panose="020B0609020204030204" pitchFamily="49" charset="0"/>
                </a:rPr>
                <a:t>}</a:t>
              </a:r>
            </a:p>
          </p:txBody>
        </p:sp>
      </p:grpSp>
      <p:pic>
        <p:nvPicPr>
          <p:cNvPr id="43" name="Picture 42">
            <a:extLst>
              <a:ext uri="{FF2B5EF4-FFF2-40B4-BE49-F238E27FC236}">
                <a16:creationId xmlns:a16="http://schemas.microsoft.com/office/drawing/2014/main" id="{E617817B-437B-40CE-B0CB-6019E03402ED}"/>
              </a:ext>
            </a:extLst>
          </p:cNvPr>
          <p:cNvPicPr>
            <a:picLocks noChangeAspect="1"/>
          </p:cNvPicPr>
          <p:nvPr/>
        </p:nvPicPr>
        <p:blipFill>
          <a:blip r:embed="rId10"/>
          <a:stretch>
            <a:fillRect/>
          </a:stretch>
        </p:blipFill>
        <p:spPr>
          <a:xfrm>
            <a:off x="379637" y="4276983"/>
            <a:ext cx="6170059" cy="1978782"/>
          </a:xfrm>
          <a:prstGeom prst="rect">
            <a:avLst/>
          </a:prstGeom>
        </p:spPr>
      </p:pic>
    </p:spTree>
    <p:extLst>
      <p:ext uri="{BB962C8B-B14F-4D97-AF65-F5344CB8AC3E}">
        <p14:creationId xmlns:p14="http://schemas.microsoft.com/office/powerpoint/2010/main" val="67071892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randombar(horizontal)">
                                      <p:cBhvr>
                                        <p:cTn id="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B44567E-66ED-4DCC-9689-AC3D578871F2}"/>
              </a:ext>
            </a:extLst>
          </p:cNvPr>
          <p:cNvPicPr>
            <a:picLocks noChangeAspect="1"/>
          </p:cNvPicPr>
          <p:nvPr/>
        </p:nvPicPr>
        <p:blipFill>
          <a:blip r:embed="rId2"/>
          <a:stretch>
            <a:fillRect/>
          </a:stretch>
        </p:blipFill>
        <p:spPr>
          <a:xfrm>
            <a:off x="0" y="0"/>
            <a:ext cx="14630400" cy="8238744"/>
          </a:xfrm>
          <a:prstGeom prst="rect">
            <a:avLst/>
          </a:prstGeom>
        </p:spPr>
      </p:pic>
      <p:sp>
        <p:nvSpPr>
          <p:cNvPr id="5" name="Text 6">
            <a:extLst>
              <a:ext uri="{FF2B5EF4-FFF2-40B4-BE49-F238E27FC236}">
                <a16:creationId xmlns:a16="http://schemas.microsoft.com/office/drawing/2014/main" id="{92697262-D43A-4A33-A5FD-A5E86BC69C9A}"/>
              </a:ext>
            </a:extLst>
          </p:cNvPr>
          <p:cNvSpPr/>
          <p:nvPr/>
        </p:nvSpPr>
        <p:spPr>
          <a:xfrm>
            <a:off x="5975652" y="231250"/>
            <a:ext cx="8010144" cy="1481328"/>
          </a:xfrm>
          <a:prstGeom prst="rect">
            <a:avLst/>
          </a:prstGeom>
          <a:noFill/>
          <a:ln/>
        </p:spPr>
        <p:txBody>
          <a:bodyPr wrap="square" lIns="0" tIns="0" rIns="0" bIns="0" rtlCol="0" anchor="ctr"/>
          <a:lstStyle/>
          <a:p>
            <a:pPr marL="0" indent="0" algn="l">
              <a:lnSpc>
                <a:spcPts val="5800"/>
              </a:lnSpc>
              <a:buNone/>
            </a:pPr>
            <a:r>
              <a:rPr lang="en-US" sz="4640" dirty="0">
                <a:solidFill>
                  <a:srgbClr val="0C266F"/>
                </a:solidFill>
                <a:latin typeface="Berlin Sans FB Demi" panose="020E0802020502020306" pitchFamily="34" charset="0"/>
                <a:ea typeface="思源宋体-思源宋体-SemiBold" pitchFamily="34" charset="-122"/>
                <a:cs typeface="思源宋体-思源宋体-SemiBold" pitchFamily="34" charset="-120"/>
              </a:rPr>
              <a:t>Creating Arrays of Objects</a:t>
            </a:r>
            <a:endParaRPr lang="en-US" sz="4640" dirty="0">
              <a:latin typeface="Berlin Sans FB Demi" panose="020E0802020502020306" pitchFamily="34" charset="0"/>
            </a:endParaRPr>
          </a:p>
        </p:txBody>
      </p:sp>
      <p:pic>
        <p:nvPicPr>
          <p:cNvPr id="8" name="Image 1" descr="preencoded.png">
            <a:extLst>
              <a:ext uri="{FF2B5EF4-FFF2-40B4-BE49-F238E27FC236}">
                <a16:creationId xmlns:a16="http://schemas.microsoft.com/office/drawing/2014/main" id="{5448765A-A842-4A02-A776-8C3C09A547F8}"/>
              </a:ext>
            </a:extLst>
          </p:cNvPr>
          <p:cNvPicPr>
            <a:picLocks noChangeAspect="1"/>
          </p:cNvPicPr>
          <p:nvPr/>
        </p:nvPicPr>
        <p:blipFill>
          <a:blip r:embed="rId3"/>
          <a:stretch>
            <a:fillRect/>
          </a:stretch>
        </p:blipFill>
        <p:spPr>
          <a:xfrm>
            <a:off x="5285573" y="10645186"/>
            <a:ext cx="754380" cy="1597343"/>
          </a:xfrm>
          <a:prstGeom prst="rect">
            <a:avLst/>
          </a:prstGeom>
        </p:spPr>
      </p:pic>
      <p:sp>
        <p:nvSpPr>
          <p:cNvPr id="9" name="Text 1">
            <a:extLst>
              <a:ext uri="{FF2B5EF4-FFF2-40B4-BE49-F238E27FC236}">
                <a16:creationId xmlns:a16="http://schemas.microsoft.com/office/drawing/2014/main" id="{0206DD59-3508-4B8F-87EB-0E2E692E2FD2}"/>
              </a:ext>
            </a:extLst>
          </p:cNvPr>
          <p:cNvSpPr/>
          <p:nvPr/>
        </p:nvSpPr>
        <p:spPr>
          <a:xfrm>
            <a:off x="6266172" y="10796038"/>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Petrona Bold" pitchFamily="34" charset="0"/>
                <a:ea typeface="Petrona Bold" pitchFamily="34" charset="-122"/>
                <a:cs typeface="Petrona Bold" pitchFamily="34" charset="-120"/>
              </a:rPr>
              <a:t>Class Definition</a:t>
            </a:r>
            <a:endParaRPr lang="en-US" sz="1550" dirty="0"/>
          </a:p>
        </p:txBody>
      </p:sp>
      <p:sp>
        <p:nvSpPr>
          <p:cNvPr id="10" name="Shape 3">
            <a:extLst>
              <a:ext uri="{FF2B5EF4-FFF2-40B4-BE49-F238E27FC236}">
                <a16:creationId xmlns:a16="http://schemas.microsoft.com/office/drawing/2014/main" id="{9160C953-14D9-4F86-ABDF-9B76C76ACD96}"/>
              </a:ext>
            </a:extLst>
          </p:cNvPr>
          <p:cNvSpPr/>
          <p:nvPr/>
        </p:nvSpPr>
        <p:spPr>
          <a:xfrm>
            <a:off x="6258671" y="11213114"/>
            <a:ext cx="7457328" cy="467558"/>
          </a:xfrm>
          <a:prstGeom prst="roundRect">
            <a:avLst>
              <a:gd name="adj" fmla="val 21847"/>
            </a:avLst>
          </a:prstGeom>
          <a:solidFill>
            <a:srgbClr val="CCEEFF"/>
          </a:solidFill>
          <a:ln/>
        </p:spPr>
        <p:txBody>
          <a:bodyPr/>
          <a:lstStyle/>
          <a:p>
            <a:pPr lvl="0">
              <a:lnSpc>
                <a:spcPts val="1900"/>
              </a:lnSpc>
            </a:pPr>
            <a:r>
              <a:rPr lang="en-US" sz="1150" dirty="0">
                <a:solidFill>
                  <a:srgbClr val="272525"/>
                </a:solidFill>
                <a:highlight>
                  <a:srgbClr val="CCEEFF"/>
                </a:highlight>
                <a:latin typeface="Consolas" pitchFamily="34" charset="0"/>
                <a:ea typeface="Consolas" pitchFamily="34" charset="-122"/>
                <a:cs typeface="Consolas" pitchFamily="34" charset="-120"/>
              </a:rPr>
              <a:t>class Rectangle { float width; float height };</a:t>
            </a:r>
            <a:endParaRPr lang="en-US" sz="1150" dirty="0">
              <a:solidFill>
                <a:prstClr val="black"/>
              </a:solidFill>
            </a:endParaRPr>
          </a:p>
          <a:p>
            <a:endParaRPr lang="en-US" dirty="0"/>
          </a:p>
        </p:txBody>
      </p:sp>
      <p:sp>
        <p:nvSpPr>
          <p:cNvPr id="11" name="Text 5">
            <a:extLst>
              <a:ext uri="{FF2B5EF4-FFF2-40B4-BE49-F238E27FC236}">
                <a16:creationId xmlns:a16="http://schemas.microsoft.com/office/drawing/2014/main" id="{2CE74AFE-F9A9-4FA2-8693-17680789A668}"/>
              </a:ext>
            </a:extLst>
          </p:cNvPr>
          <p:cNvSpPr/>
          <p:nvPr/>
        </p:nvSpPr>
        <p:spPr>
          <a:xfrm>
            <a:off x="6266172" y="11850336"/>
            <a:ext cx="7449827" cy="322898"/>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Inter" pitchFamily="34" charset="0"/>
                <a:ea typeface="Inter" pitchFamily="34" charset="-122"/>
                <a:cs typeface="Inter" pitchFamily="34" charset="-120"/>
              </a:rPr>
              <a:t>Defines a simple Rectangle class with width, height, and area calculation.</a:t>
            </a:r>
            <a:endParaRPr lang="en-US" sz="1150" dirty="0"/>
          </a:p>
        </p:txBody>
      </p:sp>
      <p:pic>
        <p:nvPicPr>
          <p:cNvPr id="12" name="Image 2" descr="preencoded.png">
            <a:extLst>
              <a:ext uri="{FF2B5EF4-FFF2-40B4-BE49-F238E27FC236}">
                <a16:creationId xmlns:a16="http://schemas.microsoft.com/office/drawing/2014/main" id="{55F5943E-56BE-4267-88DF-FDFF4CFA0495}"/>
              </a:ext>
            </a:extLst>
          </p:cNvPr>
          <p:cNvPicPr>
            <a:picLocks noChangeAspect="1"/>
          </p:cNvPicPr>
          <p:nvPr/>
        </p:nvPicPr>
        <p:blipFill>
          <a:blip r:embed="rId4"/>
          <a:stretch>
            <a:fillRect/>
          </a:stretch>
        </p:blipFill>
        <p:spPr>
          <a:xfrm>
            <a:off x="5285573" y="12242528"/>
            <a:ext cx="754380" cy="1597343"/>
          </a:xfrm>
          <a:prstGeom prst="rect">
            <a:avLst/>
          </a:prstGeom>
        </p:spPr>
      </p:pic>
      <p:sp>
        <p:nvSpPr>
          <p:cNvPr id="13" name="Text 6">
            <a:extLst>
              <a:ext uri="{FF2B5EF4-FFF2-40B4-BE49-F238E27FC236}">
                <a16:creationId xmlns:a16="http://schemas.microsoft.com/office/drawing/2014/main" id="{99B08316-741F-47BB-A323-C94E94326C4A}"/>
              </a:ext>
            </a:extLst>
          </p:cNvPr>
          <p:cNvSpPr/>
          <p:nvPr/>
        </p:nvSpPr>
        <p:spPr>
          <a:xfrm>
            <a:off x="6266172" y="12393380"/>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Petrona Bold" pitchFamily="34" charset="0"/>
                <a:ea typeface="Petrona Bold" pitchFamily="34" charset="-122"/>
                <a:cs typeface="Petrona Bold" pitchFamily="34" charset="-120"/>
              </a:rPr>
              <a:t>Array Initialization</a:t>
            </a:r>
            <a:endParaRPr lang="en-US" sz="1550" dirty="0"/>
          </a:p>
        </p:txBody>
      </p:sp>
      <p:sp>
        <p:nvSpPr>
          <p:cNvPr id="14" name="Shape 7">
            <a:extLst>
              <a:ext uri="{FF2B5EF4-FFF2-40B4-BE49-F238E27FC236}">
                <a16:creationId xmlns:a16="http://schemas.microsoft.com/office/drawing/2014/main" id="{ED3E3E1E-313C-4759-8F4B-4A6E616AB237}"/>
              </a:ext>
            </a:extLst>
          </p:cNvPr>
          <p:cNvSpPr/>
          <p:nvPr/>
        </p:nvSpPr>
        <p:spPr>
          <a:xfrm>
            <a:off x="6266172" y="12810456"/>
            <a:ext cx="7449827" cy="467558"/>
          </a:xfrm>
          <a:prstGeom prst="roundRect">
            <a:avLst>
              <a:gd name="adj" fmla="val 30560"/>
            </a:avLst>
          </a:prstGeom>
          <a:solidFill>
            <a:srgbClr val="CCEEFF"/>
          </a:solidFill>
          <a:ln/>
        </p:spPr>
        <p:txBody>
          <a:bodyPr/>
          <a:lstStyle/>
          <a:p>
            <a:pPr lvl="0">
              <a:lnSpc>
                <a:spcPts val="1900"/>
              </a:lnSpc>
            </a:pPr>
            <a:r>
              <a:rPr lang="en-US" sz="1150" dirty="0">
                <a:solidFill>
                  <a:srgbClr val="272525"/>
                </a:solidFill>
                <a:highlight>
                  <a:srgbClr val="CCEEFF"/>
                </a:highlight>
                <a:latin typeface="Consolas" pitchFamily="34" charset="0"/>
                <a:ea typeface="Consolas" pitchFamily="34" charset="-122"/>
                <a:cs typeface="Consolas" pitchFamily="34" charset="-120"/>
              </a:rPr>
              <a:t>Rectangle </a:t>
            </a:r>
            <a:r>
              <a:rPr lang="en-US" sz="1150" dirty="0" err="1">
                <a:solidFill>
                  <a:srgbClr val="272525"/>
                </a:solidFill>
                <a:highlight>
                  <a:srgbClr val="CCEEFF"/>
                </a:highlight>
                <a:latin typeface="Consolas" pitchFamily="34" charset="0"/>
                <a:ea typeface="Consolas" pitchFamily="34" charset="-122"/>
                <a:cs typeface="Consolas" pitchFamily="34" charset="-120"/>
              </a:rPr>
              <a:t>rects</a:t>
            </a:r>
            <a:r>
              <a:rPr lang="en-US" sz="1150" dirty="0">
                <a:solidFill>
                  <a:srgbClr val="272525"/>
                </a:solidFill>
                <a:highlight>
                  <a:srgbClr val="CCEEFF"/>
                </a:highlight>
                <a:latin typeface="Consolas" pitchFamily="34" charset="0"/>
                <a:ea typeface="Consolas" pitchFamily="34" charset="-122"/>
                <a:cs typeface="Consolas" pitchFamily="34" charset="-120"/>
              </a:rPr>
              <a:t>[] = { Rectangle(2,3), Rectangle(4,5), Rectangle(6,7), Rectangle(8,9) };</a:t>
            </a:r>
            <a:endParaRPr lang="en-US" sz="1150" dirty="0">
              <a:solidFill>
                <a:prstClr val="black"/>
              </a:solidFill>
            </a:endParaRPr>
          </a:p>
          <a:p>
            <a:endParaRPr lang="en-US" dirty="0"/>
          </a:p>
        </p:txBody>
      </p:sp>
      <p:sp>
        <p:nvSpPr>
          <p:cNvPr id="15" name="Text 10">
            <a:extLst>
              <a:ext uri="{FF2B5EF4-FFF2-40B4-BE49-F238E27FC236}">
                <a16:creationId xmlns:a16="http://schemas.microsoft.com/office/drawing/2014/main" id="{19F22EB9-2502-4308-9356-094AD471BA49}"/>
              </a:ext>
            </a:extLst>
          </p:cNvPr>
          <p:cNvSpPr/>
          <p:nvPr/>
        </p:nvSpPr>
        <p:spPr>
          <a:xfrm>
            <a:off x="6266172" y="13447679"/>
            <a:ext cx="7449827" cy="322898"/>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Inter" pitchFamily="34" charset="0"/>
                <a:ea typeface="Inter" pitchFamily="34" charset="-122"/>
                <a:cs typeface="Inter" pitchFamily="34" charset="-120"/>
              </a:rPr>
              <a:t>Initializes an array of Rectangle objects using parameterized constructors.</a:t>
            </a:r>
            <a:endParaRPr lang="en-US" sz="1150" dirty="0"/>
          </a:p>
        </p:txBody>
      </p:sp>
      <p:pic>
        <p:nvPicPr>
          <p:cNvPr id="16" name="Image 3" descr="preencoded.png">
            <a:extLst>
              <a:ext uri="{FF2B5EF4-FFF2-40B4-BE49-F238E27FC236}">
                <a16:creationId xmlns:a16="http://schemas.microsoft.com/office/drawing/2014/main" id="{3CBED436-5910-4DBE-8EE3-BDB01580D17D}"/>
              </a:ext>
            </a:extLst>
          </p:cNvPr>
          <p:cNvPicPr>
            <a:picLocks noChangeAspect="1"/>
          </p:cNvPicPr>
          <p:nvPr/>
        </p:nvPicPr>
        <p:blipFill>
          <a:blip r:embed="rId5"/>
          <a:stretch>
            <a:fillRect/>
          </a:stretch>
        </p:blipFill>
        <p:spPr>
          <a:xfrm>
            <a:off x="5285573" y="13839871"/>
            <a:ext cx="754380" cy="1597343"/>
          </a:xfrm>
          <a:prstGeom prst="rect">
            <a:avLst/>
          </a:prstGeom>
        </p:spPr>
      </p:pic>
      <p:sp>
        <p:nvSpPr>
          <p:cNvPr id="17" name="Text 11">
            <a:extLst>
              <a:ext uri="{FF2B5EF4-FFF2-40B4-BE49-F238E27FC236}">
                <a16:creationId xmlns:a16="http://schemas.microsoft.com/office/drawing/2014/main" id="{C8493D1F-D63A-4DE7-9473-9A2D099EBEAF}"/>
              </a:ext>
            </a:extLst>
          </p:cNvPr>
          <p:cNvSpPr/>
          <p:nvPr/>
        </p:nvSpPr>
        <p:spPr>
          <a:xfrm>
            <a:off x="6266172" y="13990723"/>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Petrona Bold" pitchFamily="34" charset="0"/>
                <a:ea typeface="Petrona Bold" pitchFamily="34" charset="-122"/>
                <a:cs typeface="Petrona Bold" pitchFamily="34" charset="-120"/>
              </a:rPr>
              <a:t>Accessing Member</a:t>
            </a:r>
            <a:endParaRPr lang="en-US" sz="1550" dirty="0"/>
          </a:p>
        </p:txBody>
      </p:sp>
      <p:sp>
        <p:nvSpPr>
          <p:cNvPr id="18" name="Shape 12">
            <a:extLst>
              <a:ext uri="{FF2B5EF4-FFF2-40B4-BE49-F238E27FC236}">
                <a16:creationId xmlns:a16="http://schemas.microsoft.com/office/drawing/2014/main" id="{D4913B6E-C226-4092-9212-9BAD662D0599}"/>
              </a:ext>
            </a:extLst>
          </p:cNvPr>
          <p:cNvSpPr/>
          <p:nvPr/>
        </p:nvSpPr>
        <p:spPr>
          <a:xfrm>
            <a:off x="6266172" y="14407799"/>
            <a:ext cx="7449827" cy="467558"/>
          </a:xfrm>
          <a:prstGeom prst="roundRect">
            <a:avLst>
              <a:gd name="adj" fmla="val 27726"/>
            </a:avLst>
          </a:prstGeom>
          <a:solidFill>
            <a:srgbClr val="CCEEFF"/>
          </a:solidFill>
          <a:ln/>
        </p:spPr>
        <p:txBody>
          <a:bodyPr/>
          <a:lstStyle/>
          <a:p>
            <a:pPr lvl="0">
              <a:lnSpc>
                <a:spcPts val="1900"/>
              </a:lnSpc>
            </a:pPr>
            <a:r>
              <a:rPr lang="en-US" sz="1150" dirty="0" err="1">
                <a:solidFill>
                  <a:srgbClr val="272525"/>
                </a:solidFill>
                <a:highlight>
                  <a:srgbClr val="CCEEFF"/>
                </a:highlight>
                <a:latin typeface="Consolas" pitchFamily="34" charset="0"/>
                <a:ea typeface="Consolas" pitchFamily="34" charset="-122"/>
                <a:cs typeface="Consolas" pitchFamily="34" charset="-120"/>
              </a:rPr>
              <a:t>cout</a:t>
            </a:r>
            <a:r>
              <a:rPr lang="en-US" sz="1150" dirty="0">
                <a:solidFill>
                  <a:srgbClr val="272525"/>
                </a:solidFill>
                <a:highlight>
                  <a:srgbClr val="CCEEFF"/>
                </a:highlight>
                <a:latin typeface="Consolas" pitchFamily="34" charset="0"/>
                <a:ea typeface="Consolas" pitchFamily="34" charset="-122"/>
                <a:cs typeface="Consolas" pitchFamily="34" charset="-120"/>
              </a:rPr>
              <a:t> &lt;&lt; </a:t>
            </a:r>
            <a:r>
              <a:rPr lang="en-US" sz="1150" dirty="0" err="1">
                <a:solidFill>
                  <a:srgbClr val="272525"/>
                </a:solidFill>
                <a:highlight>
                  <a:srgbClr val="CCEEFF"/>
                </a:highlight>
                <a:latin typeface="Consolas" pitchFamily="34" charset="0"/>
                <a:ea typeface="Consolas" pitchFamily="34" charset="-122"/>
                <a:cs typeface="Consolas" pitchFamily="34" charset="-120"/>
              </a:rPr>
              <a:t>rects</a:t>
            </a:r>
            <a:r>
              <a:rPr lang="en-US" sz="1150" dirty="0">
                <a:solidFill>
                  <a:srgbClr val="272525"/>
                </a:solidFill>
                <a:highlight>
                  <a:srgbClr val="CCEEFF"/>
                </a:highlight>
                <a:latin typeface="Consolas" pitchFamily="34" charset="0"/>
                <a:ea typeface="Consolas" pitchFamily="34" charset="-122"/>
                <a:cs typeface="Consolas" pitchFamily="34" charset="-120"/>
              </a:rPr>
              <a:t>[2].area();</a:t>
            </a:r>
            <a:endParaRPr lang="en-US" sz="1150" dirty="0">
              <a:solidFill>
                <a:prstClr val="black"/>
              </a:solidFill>
            </a:endParaRPr>
          </a:p>
          <a:p>
            <a:endParaRPr lang="en-US" dirty="0"/>
          </a:p>
        </p:txBody>
      </p:sp>
      <p:sp>
        <p:nvSpPr>
          <p:cNvPr id="19" name="Text 15">
            <a:extLst>
              <a:ext uri="{FF2B5EF4-FFF2-40B4-BE49-F238E27FC236}">
                <a16:creationId xmlns:a16="http://schemas.microsoft.com/office/drawing/2014/main" id="{F86CE81C-1669-40F4-9D8E-AB283AB230DB}"/>
              </a:ext>
            </a:extLst>
          </p:cNvPr>
          <p:cNvSpPr/>
          <p:nvPr/>
        </p:nvSpPr>
        <p:spPr>
          <a:xfrm>
            <a:off x="6266173" y="15045021"/>
            <a:ext cx="7449826" cy="241340"/>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Inter" pitchFamily="34" charset="0"/>
                <a:ea typeface="Inter" pitchFamily="34" charset="-122"/>
                <a:cs typeface="Inter" pitchFamily="34" charset="-120"/>
              </a:rPr>
              <a:t>Accesses the </a:t>
            </a:r>
            <a:r>
              <a:rPr lang="en-US" sz="1150" b="1" dirty="0">
                <a:solidFill>
                  <a:srgbClr val="272525"/>
                </a:solidFill>
                <a:latin typeface="Inter" pitchFamily="34" charset="0"/>
                <a:ea typeface="Inter" pitchFamily="34" charset="-122"/>
                <a:cs typeface="Inter" pitchFamily="34" charset="-120"/>
              </a:rPr>
              <a:t>area()</a:t>
            </a:r>
            <a:r>
              <a:rPr lang="en-US" sz="1150" dirty="0">
                <a:solidFill>
                  <a:srgbClr val="272525"/>
                </a:solidFill>
                <a:latin typeface="Inter" pitchFamily="34" charset="0"/>
                <a:ea typeface="Inter" pitchFamily="34" charset="-122"/>
                <a:cs typeface="Inter" pitchFamily="34" charset="-120"/>
              </a:rPr>
              <a:t> method of the third Rectangle object, outputting 42.</a:t>
            </a:r>
            <a:endParaRPr lang="en-US" sz="1150" dirty="0"/>
          </a:p>
        </p:txBody>
      </p:sp>
      <p:pic>
        <p:nvPicPr>
          <p:cNvPr id="20" name="Image 1" descr="preencoded.png">
            <a:extLst>
              <a:ext uri="{FF2B5EF4-FFF2-40B4-BE49-F238E27FC236}">
                <a16:creationId xmlns:a16="http://schemas.microsoft.com/office/drawing/2014/main" id="{56D04FE5-6B96-4EAC-96C6-20629154540B}"/>
              </a:ext>
            </a:extLst>
          </p:cNvPr>
          <p:cNvPicPr>
            <a:picLocks noChangeAspect="1"/>
          </p:cNvPicPr>
          <p:nvPr/>
        </p:nvPicPr>
        <p:blipFill>
          <a:blip r:embed="rId6"/>
          <a:stretch>
            <a:fillRect/>
          </a:stretch>
        </p:blipFill>
        <p:spPr>
          <a:xfrm>
            <a:off x="5404104" y="9777006"/>
            <a:ext cx="3831336" cy="2532888"/>
          </a:xfrm>
          <a:prstGeom prst="rect">
            <a:avLst/>
          </a:prstGeom>
          <a:ln>
            <a:noFill/>
          </a:ln>
          <a:effectLst>
            <a:outerShdw blurRad="292100" dist="139700" dir="2700000" algn="tl" rotWithShape="0">
              <a:srgbClr val="333333">
                <a:alpha val="65000"/>
              </a:srgbClr>
            </a:outerShdw>
          </a:effectLst>
        </p:spPr>
      </p:pic>
      <p:pic>
        <p:nvPicPr>
          <p:cNvPr id="21" name="Image 2" descr="preencoded.png">
            <a:extLst>
              <a:ext uri="{FF2B5EF4-FFF2-40B4-BE49-F238E27FC236}">
                <a16:creationId xmlns:a16="http://schemas.microsoft.com/office/drawing/2014/main" id="{5EDC8161-1776-4DFA-8FF7-7D4D5DDBC9DC}"/>
              </a:ext>
            </a:extLst>
          </p:cNvPr>
          <p:cNvPicPr>
            <a:picLocks noChangeAspect="1"/>
          </p:cNvPicPr>
          <p:nvPr/>
        </p:nvPicPr>
        <p:blipFill>
          <a:blip r:embed="rId7"/>
          <a:stretch>
            <a:fillRect/>
          </a:stretch>
        </p:blipFill>
        <p:spPr>
          <a:xfrm>
            <a:off x="5330954" y="9777006"/>
            <a:ext cx="3831336" cy="2532888"/>
          </a:xfrm>
          <a:prstGeom prst="rect">
            <a:avLst/>
          </a:prstGeom>
          <a:ln>
            <a:noFill/>
          </a:ln>
          <a:effectLst>
            <a:outerShdw blurRad="292100" dist="139700" dir="2700000" algn="tl" rotWithShape="0">
              <a:srgbClr val="333333">
                <a:alpha val="65000"/>
              </a:srgbClr>
            </a:outerShdw>
          </a:effectLst>
        </p:spPr>
      </p:pic>
      <p:pic>
        <p:nvPicPr>
          <p:cNvPr id="22" name="Image 3" descr="preencoded.png">
            <a:extLst>
              <a:ext uri="{FF2B5EF4-FFF2-40B4-BE49-F238E27FC236}">
                <a16:creationId xmlns:a16="http://schemas.microsoft.com/office/drawing/2014/main" id="{DA04EA89-ED14-4173-9965-8496A9C0C47C}"/>
              </a:ext>
            </a:extLst>
          </p:cNvPr>
          <p:cNvPicPr>
            <a:picLocks noChangeAspect="1"/>
          </p:cNvPicPr>
          <p:nvPr/>
        </p:nvPicPr>
        <p:blipFill>
          <a:blip r:embed="rId8"/>
          <a:stretch>
            <a:fillRect/>
          </a:stretch>
        </p:blipFill>
        <p:spPr>
          <a:xfrm>
            <a:off x="5367529" y="9810724"/>
            <a:ext cx="3831336" cy="2532888"/>
          </a:xfrm>
          <a:prstGeom prst="rect">
            <a:avLst/>
          </a:prstGeom>
          <a:ln>
            <a:noFill/>
          </a:ln>
          <a:effectLst>
            <a:outerShdw blurRad="292100" dist="139700" dir="2700000" algn="tl" rotWithShape="0">
              <a:srgbClr val="333333">
                <a:alpha val="65000"/>
              </a:srgbClr>
            </a:outerShdw>
          </a:effectLst>
        </p:spPr>
      </p:pic>
      <p:sp>
        <p:nvSpPr>
          <p:cNvPr id="23" name="Text 1">
            <a:extLst>
              <a:ext uri="{FF2B5EF4-FFF2-40B4-BE49-F238E27FC236}">
                <a16:creationId xmlns:a16="http://schemas.microsoft.com/office/drawing/2014/main" id="{F9368570-F579-494D-8969-CA8C630C29EF}"/>
              </a:ext>
            </a:extLst>
          </p:cNvPr>
          <p:cNvSpPr/>
          <p:nvPr/>
        </p:nvSpPr>
        <p:spPr>
          <a:xfrm>
            <a:off x="5404104" y="13041414"/>
            <a:ext cx="3831336" cy="713232"/>
          </a:xfrm>
          <a:prstGeom prst="rect">
            <a:avLst/>
          </a:prstGeom>
          <a:noFill/>
          <a:ln/>
        </p:spPr>
        <p:txBody>
          <a:bodyPr wrap="square" lIns="0" tIns="0" rIns="0" bIns="0" rtlCol="0" anchor="ctr"/>
          <a:lstStyle/>
          <a:p>
            <a:pPr marL="0" indent="0" algn="ct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Memory is managed automatically.</a:t>
            </a:r>
            <a:endParaRPr lang="en-US" sz="1850" dirty="0"/>
          </a:p>
        </p:txBody>
      </p:sp>
      <p:sp>
        <p:nvSpPr>
          <p:cNvPr id="24" name="Text 2">
            <a:extLst>
              <a:ext uri="{FF2B5EF4-FFF2-40B4-BE49-F238E27FC236}">
                <a16:creationId xmlns:a16="http://schemas.microsoft.com/office/drawing/2014/main" id="{FBCEA72C-29CA-40EE-A477-4FA150C7D5A9}"/>
              </a:ext>
            </a:extLst>
          </p:cNvPr>
          <p:cNvSpPr/>
          <p:nvPr/>
        </p:nvSpPr>
        <p:spPr>
          <a:xfrm>
            <a:off x="5330954" y="13041414"/>
            <a:ext cx="3831336" cy="713232"/>
          </a:xfrm>
          <a:prstGeom prst="rect">
            <a:avLst/>
          </a:prstGeom>
          <a:noFill/>
          <a:ln/>
        </p:spPr>
        <p:txBody>
          <a:bodyPr wrap="square" lIns="0" tIns="0" rIns="0" bIns="0" rtlCol="0" anchor="ctr"/>
          <a:lstStyle/>
          <a:p>
            <a:pPr marL="0" indent="0" algn="ct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Require custom constructors and destructors.</a:t>
            </a:r>
            <a:endParaRPr lang="en-US" sz="1850" dirty="0"/>
          </a:p>
        </p:txBody>
      </p:sp>
      <p:sp>
        <p:nvSpPr>
          <p:cNvPr id="25" name="Text 3">
            <a:extLst>
              <a:ext uri="{FF2B5EF4-FFF2-40B4-BE49-F238E27FC236}">
                <a16:creationId xmlns:a16="http://schemas.microsoft.com/office/drawing/2014/main" id="{2BCB548D-F75C-48E2-B201-715EDA30E3F9}"/>
              </a:ext>
            </a:extLst>
          </p:cNvPr>
          <p:cNvSpPr/>
          <p:nvPr/>
        </p:nvSpPr>
        <p:spPr>
          <a:xfrm>
            <a:off x="5330954" y="12529350"/>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Complex Objects</a:t>
            </a:r>
            <a:endParaRPr lang="en-US" sz="2320" dirty="0"/>
          </a:p>
        </p:txBody>
      </p:sp>
      <p:sp>
        <p:nvSpPr>
          <p:cNvPr id="26" name="Text 5">
            <a:extLst>
              <a:ext uri="{FF2B5EF4-FFF2-40B4-BE49-F238E27FC236}">
                <a16:creationId xmlns:a16="http://schemas.microsoft.com/office/drawing/2014/main" id="{1AD4DBE3-9BCE-42CD-8DFE-266D2ED3272E}"/>
              </a:ext>
            </a:extLst>
          </p:cNvPr>
          <p:cNvSpPr/>
          <p:nvPr/>
        </p:nvSpPr>
        <p:spPr>
          <a:xfrm>
            <a:off x="5367529" y="12563068"/>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Dynamic Arrays</a:t>
            </a:r>
            <a:endParaRPr lang="en-US" sz="2320" dirty="0"/>
          </a:p>
        </p:txBody>
      </p:sp>
      <p:sp>
        <p:nvSpPr>
          <p:cNvPr id="27" name="Text 6">
            <a:extLst>
              <a:ext uri="{FF2B5EF4-FFF2-40B4-BE49-F238E27FC236}">
                <a16:creationId xmlns:a16="http://schemas.microsoft.com/office/drawing/2014/main" id="{43E47180-8A38-4293-A65C-AC2A8178669E}"/>
              </a:ext>
            </a:extLst>
          </p:cNvPr>
          <p:cNvSpPr/>
          <p:nvPr/>
        </p:nvSpPr>
        <p:spPr>
          <a:xfrm>
            <a:off x="5367529" y="13075132"/>
            <a:ext cx="3831336" cy="356616"/>
          </a:xfrm>
          <a:prstGeom prst="rect">
            <a:avLst/>
          </a:prstGeom>
          <a:noFill/>
          <a:ln/>
        </p:spPr>
        <p:txBody>
          <a:bodyPr wrap="none" lIns="0" tIns="0" rIns="0" bIns="0" rtlCol="0" anchor="ctr"/>
          <a:lstStyle/>
          <a:p>
            <a:pPr marL="0" indent="0" algn="ct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Use new and delete[] properly.</a:t>
            </a:r>
            <a:endParaRPr lang="en-US" sz="1850" dirty="0"/>
          </a:p>
        </p:txBody>
      </p:sp>
      <p:sp>
        <p:nvSpPr>
          <p:cNvPr id="28" name="Text 7">
            <a:extLst>
              <a:ext uri="{FF2B5EF4-FFF2-40B4-BE49-F238E27FC236}">
                <a16:creationId xmlns:a16="http://schemas.microsoft.com/office/drawing/2014/main" id="{22916248-AF17-4892-B52B-9E8DF88B7818}"/>
              </a:ext>
            </a:extLst>
          </p:cNvPr>
          <p:cNvSpPr/>
          <p:nvPr/>
        </p:nvSpPr>
        <p:spPr>
          <a:xfrm>
            <a:off x="5404104" y="12529350"/>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Static Arrays</a:t>
            </a:r>
            <a:endParaRPr lang="en-US" sz="2320" dirty="0"/>
          </a:p>
        </p:txBody>
      </p:sp>
      <p:sp>
        <p:nvSpPr>
          <p:cNvPr id="29" name="Text 0">
            <a:extLst>
              <a:ext uri="{FF2B5EF4-FFF2-40B4-BE49-F238E27FC236}">
                <a16:creationId xmlns:a16="http://schemas.microsoft.com/office/drawing/2014/main" id="{E65967D5-A31B-4F15-A517-027FFEA5F55F}"/>
              </a:ext>
            </a:extLst>
          </p:cNvPr>
          <p:cNvSpPr/>
          <p:nvPr/>
        </p:nvSpPr>
        <p:spPr>
          <a:xfrm>
            <a:off x="-4939110" y="4352176"/>
            <a:ext cx="3511296" cy="1417320"/>
          </a:xfrm>
          <a:prstGeom prst="rect">
            <a:avLst/>
          </a:prstGeom>
          <a:noFill/>
          <a:ln/>
        </p:spPr>
        <p:txBody>
          <a:bodyPr wrap="square" lIns="0" tIns="0" rIns="0" bIns="0" rtlCol="0" anchor="ctr"/>
          <a:lstStyle/>
          <a:p>
            <a:pPr marL="0" indent="0" algn="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Arrays of objects have dynamic storage capacities. The size can be determined at runtime, offering flexibility.</a:t>
            </a:r>
            <a:endParaRPr lang="en-US" sz="1850" dirty="0"/>
          </a:p>
        </p:txBody>
      </p:sp>
      <p:sp>
        <p:nvSpPr>
          <p:cNvPr id="30" name="Text 1">
            <a:extLst>
              <a:ext uri="{FF2B5EF4-FFF2-40B4-BE49-F238E27FC236}">
                <a16:creationId xmlns:a16="http://schemas.microsoft.com/office/drawing/2014/main" id="{666E205D-9F4B-4B4B-8B2A-CB76444F2187}"/>
              </a:ext>
            </a:extLst>
          </p:cNvPr>
          <p:cNvSpPr/>
          <p:nvPr/>
        </p:nvSpPr>
        <p:spPr>
          <a:xfrm>
            <a:off x="-4939110" y="3712096"/>
            <a:ext cx="3511296" cy="374904"/>
          </a:xfrm>
          <a:prstGeom prst="rect">
            <a:avLst/>
          </a:prstGeom>
          <a:noFill/>
          <a:ln/>
        </p:spPr>
        <p:txBody>
          <a:bodyPr wrap="none" lIns="0" tIns="0" rIns="0" bIns="0" rtlCol="0" anchor="ctr"/>
          <a:lstStyle/>
          <a:p>
            <a:pPr marL="0" indent="0" algn="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Dynamic Storage</a:t>
            </a:r>
            <a:endParaRPr lang="en-US" sz="2320" dirty="0"/>
          </a:p>
        </p:txBody>
      </p:sp>
      <p:sp>
        <p:nvSpPr>
          <p:cNvPr id="31" name="Text 2">
            <a:extLst>
              <a:ext uri="{FF2B5EF4-FFF2-40B4-BE49-F238E27FC236}">
                <a16:creationId xmlns:a16="http://schemas.microsoft.com/office/drawing/2014/main" id="{E1DBFAAF-AF4F-45F2-8E0D-92DA655C38CA}"/>
              </a:ext>
            </a:extLst>
          </p:cNvPr>
          <p:cNvSpPr/>
          <p:nvPr/>
        </p:nvSpPr>
        <p:spPr>
          <a:xfrm>
            <a:off x="17652161" y="5815216"/>
            <a:ext cx="3986784" cy="1417320"/>
          </a:xfrm>
          <a:prstGeom prst="rect">
            <a:avLst/>
          </a:prstGeom>
          <a:noFill/>
          <a:ln/>
        </p:spPr>
        <p:txBody>
          <a:bodyPr wrap="square" lIns="0" tIns="0" rIns="0" bIns="0" rtlCol="0" anchor="ctr"/>
          <a:lstStyle/>
          <a:p>
            <a:pPr marL="0" indent="0" algn="l">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Elements from the array can be treated uniformly using loops and algorithms, fostering efficient code design.</a:t>
            </a:r>
            <a:endParaRPr lang="en-US" sz="1850" dirty="0"/>
          </a:p>
        </p:txBody>
      </p:sp>
      <p:sp>
        <p:nvSpPr>
          <p:cNvPr id="32" name="Text 3">
            <a:extLst>
              <a:ext uri="{FF2B5EF4-FFF2-40B4-BE49-F238E27FC236}">
                <a16:creationId xmlns:a16="http://schemas.microsoft.com/office/drawing/2014/main" id="{D3E851DB-F601-4C21-A3D3-377761B16D2E}"/>
              </a:ext>
            </a:extLst>
          </p:cNvPr>
          <p:cNvSpPr/>
          <p:nvPr/>
        </p:nvSpPr>
        <p:spPr>
          <a:xfrm>
            <a:off x="17652161" y="2879992"/>
            <a:ext cx="3986784" cy="1417320"/>
          </a:xfrm>
          <a:prstGeom prst="rect">
            <a:avLst/>
          </a:prstGeom>
          <a:noFill/>
          <a:ln/>
        </p:spPr>
        <p:txBody>
          <a:bodyPr wrap="square" lIns="0" tIns="0" rIns="0" bIns="0" rtlCol="0" anchor="ctr"/>
          <a:lstStyle/>
          <a:p>
            <a:pPr marL="0" indent="0" algn="l">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Objects within the array are stored in a single contiguous block of memory, improving cache performance.</a:t>
            </a:r>
            <a:endParaRPr lang="en-US" sz="1850" dirty="0"/>
          </a:p>
        </p:txBody>
      </p:sp>
      <p:sp>
        <p:nvSpPr>
          <p:cNvPr id="33" name="Text 4">
            <a:extLst>
              <a:ext uri="{FF2B5EF4-FFF2-40B4-BE49-F238E27FC236}">
                <a16:creationId xmlns:a16="http://schemas.microsoft.com/office/drawing/2014/main" id="{49B98A74-6F0F-44B0-93BB-088465A248D5}"/>
              </a:ext>
            </a:extLst>
          </p:cNvPr>
          <p:cNvSpPr/>
          <p:nvPr/>
        </p:nvSpPr>
        <p:spPr>
          <a:xfrm>
            <a:off x="832104" y="-5347925"/>
            <a:ext cx="12984480" cy="740664"/>
          </a:xfrm>
          <a:prstGeom prst="rect">
            <a:avLst/>
          </a:prstGeom>
          <a:noFill/>
          <a:ln/>
        </p:spPr>
        <p:txBody>
          <a:bodyPr wrap="none" lIns="0" tIns="0" rIns="0" bIns="0" rtlCol="0" anchor="ctr"/>
          <a:lstStyle/>
          <a:p>
            <a:pPr marL="0" indent="0" algn="l">
              <a:lnSpc>
                <a:spcPts val="5800"/>
              </a:lnSpc>
              <a:buNone/>
            </a:pPr>
            <a:r>
              <a:rPr lang="en-US" sz="4640" dirty="0">
                <a:solidFill>
                  <a:srgbClr val="0C266F"/>
                </a:solidFill>
                <a:latin typeface="思源宋体-思源宋体-SemiBold" pitchFamily="34" charset="0"/>
                <a:ea typeface="思源宋体-思源宋体-SemiBold" pitchFamily="34" charset="-122"/>
                <a:cs typeface="思源宋体-思源宋体-SemiBold" pitchFamily="34" charset="-120"/>
              </a:rPr>
              <a:t>Properties of Arrays of Objects</a:t>
            </a:r>
            <a:endParaRPr lang="en-US" sz="4640" dirty="0"/>
          </a:p>
        </p:txBody>
      </p:sp>
      <p:sp>
        <p:nvSpPr>
          <p:cNvPr id="34" name="Text 5">
            <a:extLst>
              <a:ext uri="{FF2B5EF4-FFF2-40B4-BE49-F238E27FC236}">
                <a16:creationId xmlns:a16="http://schemas.microsoft.com/office/drawing/2014/main" id="{C2E1C242-DB3A-4F2F-9894-140B6A1E1848}"/>
              </a:ext>
            </a:extLst>
          </p:cNvPr>
          <p:cNvSpPr/>
          <p:nvPr/>
        </p:nvSpPr>
        <p:spPr>
          <a:xfrm>
            <a:off x="17652161" y="2249056"/>
            <a:ext cx="3986784" cy="374904"/>
          </a:xfrm>
          <a:prstGeom prst="rect">
            <a:avLst/>
          </a:prstGeom>
          <a:noFill/>
          <a:ln/>
        </p:spPr>
        <p:txBody>
          <a:bodyPr wrap="none" lIns="0" tIns="0" rIns="0" bIns="0" rtlCol="0" anchor="ctr"/>
          <a:lstStyle/>
          <a:p>
            <a:pPr marL="0" indent="0" algn="l">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Contiguous Memory</a:t>
            </a:r>
            <a:endParaRPr lang="en-US" sz="2320" dirty="0"/>
          </a:p>
        </p:txBody>
      </p:sp>
      <p:sp>
        <p:nvSpPr>
          <p:cNvPr id="35" name="Text 6">
            <a:extLst>
              <a:ext uri="{FF2B5EF4-FFF2-40B4-BE49-F238E27FC236}">
                <a16:creationId xmlns:a16="http://schemas.microsoft.com/office/drawing/2014/main" id="{F2D2178A-1AF0-4966-BA44-293A83372F83}"/>
              </a:ext>
            </a:extLst>
          </p:cNvPr>
          <p:cNvSpPr/>
          <p:nvPr/>
        </p:nvSpPr>
        <p:spPr>
          <a:xfrm>
            <a:off x="17652161" y="5184280"/>
            <a:ext cx="3986784" cy="374904"/>
          </a:xfrm>
          <a:prstGeom prst="rect">
            <a:avLst/>
          </a:prstGeom>
          <a:noFill/>
          <a:ln/>
        </p:spPr>
        <p:txBody>
          <a:bodyPr wrap="none" lIns="0" tIns="0" rIns="0" bIns="0" rtlCol="0" anchor="ctr"/>
          <a:lstStyle/>
          <a:p>
            <a:pPr marL="0" indent="0" algn="l">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Uniform Element Access</a:t>
            </a:r>
            <a:endParaRPr lang="en-US" sz="2320" dirty="0"/>
          </a:p>
        </p:txBody>
      </p:sp>
      <p:grpSp>
        <p:nvGrpSpPr>
          <p:cNvPr id="41" name="Group 40">
            <a:extLst>
              <a:ext uri="{FF2B5EF4-FFF2-40B4-BE49-F238E27FC236}">
                <a16:creationId xmlns:a16="http://schemas.microsoft.com/office/drawing/2014/main" id="{0D2C2C58-7BE7-4244-B643-606C6282AC1C}"/>
              </a:ext>
            </a:extLst>
          </p:cNvPr>
          <p:cNvGrpSpPr/>
          <p:nvPr/>
        </p:nvGrpSpPr>
        <p:grpSpPr>
          <a:xfrm>
            <a:off x="5954503" y="1551661"/>
            <a:ext cx="7710249" cy="6108981"/>
            <a:chOff x="5947243" y="1558915"/>
            <a:chExt cx="7710249" cy="6108981"/>
          </a:xfrm>
        </p:grpSpPr>
        <p:sp>
          <p:nvSpPr>
            <p:cNvPr id="42" name="Shape 1">
              <a:extLst>
                <a:ext uri="{FF2B5EF4-FFF2-40B4-BE49-F238E27FC236}">
                  <a16:creationId xmlns:a16="http://schemas.microsoft.com/office/drawing/2014/main" id="{7AEA0F5E-7340-4A39-A00B-C055B6628CDA}"/>
                </a:ext>
              </a:extLst>
            </p:cNvPr>
            <p:cNvSpPr/>
            <p:nvPr/>
          </p:nvSpPr>
          <p:spPr>
            <a:xfrm>
              <a:off x="5947243" y="1558915"/>
              <a:ext cx="7710249" cy="6108981"/>
            </a:xfrm>
            <a:prstGeom prst="roundRect">
              <a:avLst>
                <a:gd name="adj" fmla="val 7099"/>
              </a:avLst>
            </a:prstGeom>
            <a:solidFill>
              <a:srgbClr val="BDD4FA"/>
            </a:solidFill>
            <a:ln w="7620">
              <a:solidFill>
                <a:srgbClr val="B2D4E5"/>
              </a:solidFill>
              <a:prstDash val="solid"/>
            </a:ln>
            <a:effectLst>
              <a:outerShdw blurRad="50800" dist="38100" dir="8100000" algn="tr" rotWithShape="0">
                <a:prstClr val="black">
                  <a:alpha val="40000"/>
                </a:prstClr>
              </a:outerShdw>
            </a:effectLst>
          </p:spPr>
          <p:txBody>
            <a:bodyPr/>
            <a:lstStyle/>
            <a:p>
              <a:r>
                <a:rPr lang="en-US" sz="1600" dirty="0">
                  <a:latin typeface="Consolas" panose="020B0609020204030204" pitchFamily="49" charset="0"/>
                </a:rPr>
                <a:t>#include &lt;iostream&gt;</a:t>
              </a:r>
            </a:p>
            <a:p>
              <a:r>
                <a:rPr lang="en-US" sz="1600" dirty="0">
                  <a:latin typeface="Consolas" panose="020B0609020204030204" pitchFamily="49" charset="0"/>
                </a:rPr>
                <a:t>using namespace std;</a:t>
              </a:r>
            </a:p>
            <a:p>
              <a:endParaRPr lang="en-US" sz="1600" dirty="0">
                <a:latin typeface="Consolas" panose="020B0609020204030204" pitchFamily="49" charset="0"/>
              </a:endParaRPr>
            </a:p>
            <a:p>
              <a:r>
                <a:rPr lang="en-US" sz="1600" dirty="0">
                  <a:latin typeface="Consolas" panose="020B0609020204030204" pitchFamily="49" charset="0"/>
                </a:rPr>
                <a:t>class test</a:t>
              </a:r>
            </a:p>
            <a:p>
              <a:r>
                <a:rPr lang="en-US" sz="1600" dirty="0">
                  <a:latin typeface="Consolas" panose="020B0609020204030204" pitchFamily="49" charset="0"/>
                </a:rPr>
                <a:t>{</a:t>
              </a:r>
            </a:p>
            <a:p>
              <a:r>
                <a:rPr lang="en-US" sz="1600" dirty="0">
                  <a:latin typeface="Consolas" panose="020B0609020204030204" pitchFamily="49" charset="0"/>
                </a:rPr>
                <a:t>     private:</a:t>
              </a:r>
            </a:p>
            <a:p>
              <a:r>
                <a:rPr lang="en-US" sz="1600" dirty="0">
                  <a:latin typeface="Consolas" panose="020B0609020204030204" pitchFamily="49" charset="0"/>
                </a:rPr>
                <a:t>         int testing;</a:t>
              </a:r>
            </a:p>
            <a:p>
              <a:r>
                <a:rPr lang="en-US" sz="1600" dirty="0">
                  <a:latin typeface="Consolas" panose="020B0609020204030204" pitchFamily="49" charset="0"/>
                </a:rPr>
                <a:t>     public:</a:t>
              </a:r>
            </a:p>
            <a:p>
              <a:r>
                <a:rPr lang="en-US" sz="1600" dirty="0">
                  <a:latin typeface="Consolas" panose="020B0609020204030204" pitchFamily="49" charset="0"/>
                </a:rPr>
                <a:t>         test()</a:t>
              </a:r>
            </a:p>
            <a:p>
              <a:r>
                <a:rPr lang="en-US" sz="1600" dirty="0">
                  <a:latin typeface="Consolas" panose="020B0609020204030204" pitchFamily="49" charset="0"/>
                </a:rPr>
                <a:t>         {</a:t>
              </a:r>
            </a:p>
            <a:p>
              <a:r>
                <a:rPr lang="en-US" sz="1600" dirty="0">
                  <a:latin typeface="Consolas" panose="020B0609020204030204" pitchFamily="49" charset="0"/>
                </a:rPr>
                <a:t>             testing = 0;</a:t>
              </a:r>
            </a:p>
            <a:p>
              <a:r>
                <a:rPr lang="en-US" sz="1600" dirty="0">
                  <a:latin typeface="Consolas" panose="020B0609020204030204" pitchFamily="49" charset="0"/>
                </a:rPr>
                <a:t>         }</a:t>
              </a:r>
            </a:p>
            <a:p>
              <a:r>
                <a:rPr lang="en-US" sz="1600" dirty="0">
                  <a:latin typeface="Consolas" panose="020B0609020204030204" pitchFamily="49" charset="0"/>
                </a:rPr>
                <a:t>         test(int t)</a:t>
              </a:r>
            </a:p>
            <a:p>
              <a:r>
                <a:rPr lang="en-US" sz="1600" dirty="0">
                  <a:latin typeface="Consolas" panose="020B0609020204030204" pitchFamily="49" charset="0"/>
                </a:rPr>
                <a:t>         {</a:t>
              </a:r>
            </a:p>
            <a:p>
              <a:r>
                <a:rPr lang="en-US" sz="1600" dirty="0">
                  <a:latin typeface="Consolas" panose="020B0609020204030204" pitchFamily="49" charset="0"/>
                </a:rPr>
                <a:t>              testing = t;</a:t>
              </a:r>
            </a:p>
            <a:p>
              <a:r>
                <a:rPr lang="en-US" sz="1600" dirty="0">
                  <a:latin typeface="Consolas" panose="020B0609020204030204" pitchFamily="49" charset="0"/>
                </a:rPr>
                <a:t>         }</a:t>
              </a:r>
            </a:p>
            <a:p>
              <a:r>
                <a:rPr lang="en-US" sz="1600" dirty="0">
                  <a:latin typeface="Consolas" panose="020B0609020204030204" pitchFamily="49" charset="0"/>
                </a:rPr>
                <a:t>         void </a:t>
              </a:r>
              <a:r>
                <a:rPr lang="en-US" sz="1600" dirty="0" err="1">
                  <a:latin typeface="Consolas" panose="020B0609020204030204" pitchFamily="49" charset="0"/>
                </a:rPr>
                <a:t>set_Test</a:t>
              </a:r>
              <a:r>
                <a:rPr lang="en-US" sz="1600" dirty="0">
                  <a:latin typeface="Consolas" panose="020B0609020204030204" pitchFamily="49" charset="0"/>
                </a:rPr>
                <a:t>(int t)</a:t>
              </a:r>
            </a:p>
            <a:p>
              <a:r>
                <a:rPr lang="en-US" sz="1600" dirty="0">
                  <a:latin typeface="Consolas" panose="020B0609020204030204" pitchFamily="49" charset="0"/>
                </a:rPr>
                <a:t>         {</a:t>
              </a:r>
            </a:p>
            <a:p>
              <a:r>
                <a:rPr lang="en-US" sz="1600" dirty="0">
                  <a:latin typeface="Consolas" panose="020B0609020204030204" pitchFamily="49" charset="0"/>
                </a:rPr>
                <a:t>              testing = t;</a:t>
              </a:r>
            </a:p>
            <a:p>
              <a:r>
                <a:rPr lang="en-US" sz="1600" dirty="0">
                  <a:latin typeface="Consolas" panose="020B0609020204030204" pitchFamily="49" charset="0"/>
                </a:rPr>
                <a:t>         }</a:t>
              </a:r>
            </a:p>
            <a:p>
              <a:r>
                <a:rPr lang="en-US" sz="1600" dirty="0">
                  <a:latin typeface="Consolas" panose="020B0609020204030204" pitchFamily="49" charset="0"/>
                </a:rPr>
                <a:t>         </a:t>
              </a:r>
            </a:p>
          </p:txBody>
        </p:sp>
        <p:sp>
          <p:nvSpPr>
            <p:cNvPr id="43" name="TextBox 42">
              <a:extLst>
                <a:ext uri="{FF2B5EF4-FFF2-40B4-BE49-F238E27FC236}">
                  <a16:creationId xmlns:a16="http://schemas.microsoft.com/office/drawing/2014/main" id="{906069C1-225F-4D54-9EC9-DD66B76790FF}"/>
                </a:ext>
              </a:extLst>
            </p:cNvPr>
            <p:cNvSpPr txBox="1"/>
            <p:nvPr/>
          </p:nvSpPr>
          <p:spPr>
            <a:xfrm>
              <a:off x="9980724" y="1738704"/>
              <a:ext cx="3304903" cy="4585871"/>
            </a:xfrm>
            <a:prstGeom prst="rect">
              <a:avLst/>
            </a:prstGeom>
            <a:noFill/>
          </p:spPr>
          <p:txBody>
            <a:bodyPr wrap="square" rtlCol="0">
              <a:spAutoFit/>
            </a:bodyPr>
            <a:lstStyle/>
            <a:p>
              <a:r>
                <a:rPr lang="en-US" sz="1600" dirty="0">
                  <a:latin typeface="Consolas" panose="020B0609020204030204" pitchFamily="49" charset="0"/>
                </a:rPr>
                <a:t>Int </a:t>
              </a:r>
              <a:r>
                <a:rPr lang="en-US" sz="1600" dirty="0" err="1">
                  <a:latin typeface="Consolas" panose="020B0609020204030204" pitchFamily="49" charset="0"/>
                </a:rPr>
                <a:t>get_Test</a:t>
              </a:r>
              <a:r>
                <a:rPr lang="en-US" sz="1600" dirty="0">
                  <a:latin typeface="Consolas" panose="020B0609020204030204" pitchFamily="49" charset="0"/>
                </a:rPr>
                <a:t>() { return testing; }</a:t>
              </a:r>
            </a:p>
            <a:p>
              <a:r>
                <a:rPr lang="en-US" sz="1600" dirty="0">
                  <a:latin typeface="Consolas" panose="020B0609020204030204" pitchFamily="49" charset="0"/>
                </a:rPr>
                <a:t>};</a:t>
              </a:r>
            </a:p>
            <a:p>
              <a:r>
                <a:rPr lang="en-US" sz="1600" dirty="0">
                  <a:latin typeface="Consolas" panose="020B0609020204030204" pitchFamily="49" charset="0"/>
                </a:rPr>
                <a:t>int main()</a:t>
              </a:r>
            </a:p>
            <a:p>
              <a:r>
                <a:rPr lang="en-US" sz="1600" dirty="0">
                  <a:latin typeface="Consolas" panose="020B0609020204030204" pitchFamily="49" charset="0"/>
                </a:rPr>
                <a:t>{</a:t>
              </a:r>
            </a:p>
            <a:p>
              <a:r>
                <a:rPr lang="en-US" sz="1600" dirty="0">
                  <a:latin typeface="Consolas" panose="020B0609020204030204" pitchFamily="49" charset="0"/>
                </a:rPr>
                <a:t>    int t;</a:t>
              </a:r>
            </a:p>
            <a:p>
              <a:r>
                <a:rPr lang="en-US" sz="1600" dirty="0">
                  <a:latin typeface="Consolas" panose="020B0609020204030204" pitchFamily="49" charset="0"/>
                </a:rPr>
                <a:t>    </a:t>
              </a:r>
              <a:r>
                <a:rPr lang="en-US" sz="1600" dirty="0" err="1">
                  <a:latin typeface="Consolas" panose="020B0609020204030204" pitchFamily="49" charset="0"/>
                </a:rPr>
                <a:t>cout</a:t>
              </a:r>
              <a:r>
                <a:rPr lang="en-US" sz="1600" dirty="0">
                  <a:latin typeface="Consolas" panose="020B0609020204030204" pitchFamily="49" charset="0"/>
                </a:rPr>
                <a:t> &lt;&lt; “Enter the Number: “;</a:t>
              </a:r>
            </a:p>
            <a:p>
              <a:r>
                <a:rPr lang="en-US" sz="1600" dirty="0">
                  <a:latin typeface="Consolas" panose="020B0609020204030204" pitchFamily="49" charset="0"/>
                </a:rPr>
                <a:t>    </a:t>
              </a:r>
              <a:r>
                <a:rPr lang="en-US" sz="1600" dirty="0" err="1">
                  <a:latin typeface="Consolas" panose="020B0609020204030204" pitchFamily="49" charset="0"/>
                </a:rPr>
                <a:t>cin</a:t>
              </a:r>
              <a:r>
                <a:rPr lang="en-US" sz="1600" dirty="0">
                  <a:latin typeface="Consolas" panose="020B0609020204030204" pitchFamily="49" charset="0"/>
                </a:rPr>
                <a:t> &gt;&gt; t;</a:t>
              </a:r>
            </a:p>
            <a:p>
              <a:r>
                <a:rPr lang="en-US" sz="1600" dirty="0">
                  <a:latin typeface="Consolas" panose="020B0609020204030204" pitchFamily="49" charset="0"/>
                </a:rPr>
                <a:t>    test obj[5];</a:t>
              </a:r>
            </a:p>
            <a:p>
              <a:r>
                <a:rPr lang="en-US" sz="1600" dirty="0">
                  <a:latin typeface="Consolas" panose="020B0609020204030204" pitchFamily="49" charset="0"/>
                </a:rPr>
                <a:t>    obj[0].</a:t>
              </a:r>
              <a:r>
                <a:rPr lang="en-US" sz="1600" dirty="0" err="1">
                  <a:latin typeface="Consolas" panose="020B0609020204030204" pitchFamily="49" charset="0"/>
                </a:rPr>
                <a:t>set_Test</a:t>
              </a:r>
              <a:r>
                <a:rPr lang="en-US" sz="1600" dirty="0">
                  <a:latin typeface="Consolas" panose="020B0609020204030204" pitchFamily="49" charset="0"/>
                </a:rPr>
                <a:t>(t);</a:t>
              </a:r>
            </a:p>
            <a:p>
              <a:r>
                <a:rPr lang="en-US" sz="1600" dirty="0">
                  <a:latin typeface="Consolas" panose="020B0609020204030204" pitchFamily="49" charset="0"/>
                </a:rPr>
                <a:t>    obj[1].</a:t>
              </a:r>
              <a:r>
                <a:rPr lang="en-US" sz="1600" dirty="0" err="1">
                  <a:latin typeface="Consolas" panose="020B0609020204030204" pitchFamily="49" charset="0"/>
                </a:rPr>
                <a:t>set_Test</a:t>
              </a:r>
              <a:r>
                <a:rPr lang="en-US" sz="1600" dirty="0">
                  <a:latin typeface="Consolas" panose="020B0609020204030204" pitchFamily="49" charset="0"/>
                </a:rPr>
                <a:t>(2);</a:t>
              </a:r>
            </a:p>
            <a:p>
              <a:r>
                <a:rPr lang="en-US" sz="1600" dirty="0">
                  <a:latin typeface="Consolas" panose="020B0609020204030204" pitchFamily="49" charset="0"/>
                </a:rPr>
                <a:t>    </a:t>
              </a:r>
              <a:r>
                <a:rPr lang="en-US" sz="1600" dirty="0" err="1">
                  <a:latin typeface="Consolas" panose="020B0609020204030204" pitchFamily="49" charset="0"/>
                </a:rPr>
                <a:t>cout</a:t>
              </a:r>
              <a:r>
                <a:rPr lang="en-US" sz="1600" dirty="0">
                  <a:latin typeface="Consolas" panose="020B0609020204030204" pitchFamily="49" charset="0"/>
                </a:rPr>
                <a:t> &lt;&lt; “OBJ[0]: “ &lt;&lt; obj[0].</a:t>
              </a:r>
              <a:r>
                <a:rPr lang="en-US" sz="1600" dirty="0" err="1">
                  <a:latin typeface="Consolas" panose="020B0609020204030204" pitchFamily="49" charset="0"/>
                </a:rPr>
                <a:t>get_Test</a:t>
              </a:r>
              <a:r>
                <a:rPr lang="en-US" sz="1600" dirty="0">
                  <a:latin typeface="Consolas" panose="020B0609020204030204" pitchFamily="49" charset="0"/>
                </a:rPr>
                <a:t> &lt;&lt; </a:t>
              </a:r>
              <a:r>
                <a:rPr lang="en-US" sz="1600" dirty="0" err="1">
                  <a:latin typeface="Consolas" panose="020B0609020204030204" pitchFamily="49" charset="0"/>
                </a:rPr>
                <a:t>endl</a:t>
              </a:r>
              <a:r>
                <a:rPr lang="en-US" sz="1600" dirty="0">
                  <a:latin typeface="Consolas" panose="020B0609020204030204" pitchFamily="49" charset="0"/>
                </a:rPr>
                <a:t>;</a:t>
              </a:r>
            </a:p>
            <a:p>
              <a:r>
                <a:rPr lang="en-US" sz="1600" dirty="0">
                  <a:latin typeface="Consolas" panose="020B0609020204030204" pitchFamily="49" charset="0"/>
                </a:rPr>
                <a:t>    </a:t>
              </a:r>
              <a:r>
                <a:rPr lang="en-US" sz="1600" dirty="0" err="1">
                  <a:latin typeface="Consolas" panose="020B0609020204030204" pitchFamily="49" charset="0"/>
                </a:rPr>
                <a:t>cout</a:t>
              </a:r>
              <a:r>
                <a:rPr lang="en-US" sz="1600" dirty="0">
                  <a:latin typeface="Consolas" panose="020B0609020204030204" pitchFamily="49" charset="0"/>
                </a:rPr>
                <a:t> &lt;&lt; “OBJ[1]: “ &lt;&lt; obj[1].</a:t>
              </a:r>
              <a:r>
                <a:rPr lang="en-US" sz="1600" dirty="0" err="1">
                  <a:latin typeface="Consolas" panose="020B0609020204030204" pitchFamily="49" charset="0"/>
                </a:rPr>
                <a:t>get_Test</a:t>
              </a:r>
              <a:r>
                <a:rPr lang="en-US" sz="1600" dirty="0">
                  <a:latin typeface="Consolas" panose="020B0609020204030204" pitchFamily="49" charset="0"/>
                </a:rPr>
                <a:t> &lt;&lt; </a:t>
              </a:r>
              <a:r>
                <a:rPr lang="en-US" sz="1600" dirty="0" err="1">
                  <a:latin typeface="Consolas" panose="020B0609020204030204" pitchFamily="49" charset="0"/>
                </a:rPr>
                <a:t>endl</a:t>
              </a:r>
              <a:r>
                <a:rPr lang="en-US" sz="1600" dirty="0">
                  <a:latin typeface="Consolas" panose="020B0609020204030204" pitchFamily="49" charset="0"/>
                </a:rPr>
                <a:t>;</a:t>
              </a:r>
            </a:p>
            <a:p>
              <a:r>
                <a:rPr lang="en-US" sz="1600" dirty="0">
                  <a:latin typeface="Consolas" panose="020B0609020204030204" pitchFamily="49" charset="0"/>
                </a:rPr>
                <a:t>    return 0;</a:t>
              </a:r>
            </a:p>
            <a:p>
              <a:r>
                <a:rPr lang="en-US" sz="1600" dirty="0">
                  <a:latin typeface="Consolas" panose="020B0609020204030204" pitchFamily="49" charset="0"/>
                </a:rPr>
                <a:t>}</a:t>
              </a:r>
            </a:p>
          </p:txBody>
        </p:sp>
      </p:grpSp>
      <p:pic>
        <p:nvPicPr>
          <p:cNvPr id="44" name="Image 0" descr="preencoded.png">
            <a:extLst>
              <a:ext uri="{FF2B5EF4-FFF2-40B4-BE49-F238E27FC236}">
                <a16:creationId xmlns:a16="http://schemas.microsoft.com/office/drawing/2014/main" id="{688A3EC0-4841-433C-AB49-AD0A4706D35A}"/>
              </a:ext>
            </a:extLst>
          </p:cNvPr>
          <p:cNvPicPr>
            <a:picLocks noChangeAspect="1"/>
          </p:cNvPicPr>
          <p:nvPr/>
        </p:nvPicPr>
        <p:blipFill>
          <a:blip r:embed="rId9">
            <a:duotone>
              <a:prstClr val="black"/>
              <a:schemeClr val="accent5">
                <a:tint val="45000"/>
                <a:satMod val="400000"/>
              </a:schemeClr>
            </a:duotone>
          </a:blip>
          <a:stretch>
            <a:fillRect/>
          </a:stretch>
        </p:blipFill>
        <p:spPr>
          <a:xfrm>
            <a:off x="-706517" y="-530087"/>
            <a:ext cx="5486400" cy="9183757"/>
          </a:xfrm>
          <a:prstGeom prst="rect">
            <a:avLst/>
          </a:prstGeom>
          <a:ln>
            <a:noFill/>
          </a:ln>
          <a:effectLst>
            <a:softEdge rad="317500"/>
          </a:effectLst>
        </p:spPr>
      </p:pic>
      <p:pic>
        <p:nvPicPr>
          <p:cNvPr id="3" name="Picture 2">
            <a:extLst>
              <a:ext uri="{FF2B5EF4-FFF2-40B4-BE49-F238E27FC236}">
                <a16:creationId xmlns:a16="http://schemas.microsoft.com/office/drawing/2014/main" id="{32496F5C-82A2-4A0B-B4C2-2C5B7F691EF7}"/>
              </a:ext>
            </a:extLst>
          </p:cNvPr>
          <p:cNvPicPr>
            <a:picLocks noChangeAspect="1"/>
          </p:cNvPicPr>
          <p:nvPr/>
        </p:nvPicPr>
        <p:blipFill>
          <a:blip r:embed="rId10"/>
          <a:stretch>
            <a:fillRect/>
          </a:stretch>
        </p:blipFill>
        <p:spPr>
          <a:xfrm>
            <a:off x="767982" y="4102307"/>
            <a:ext cx="5755128" cy="2090098"/>
          </a:xfrm>
          <a:prstGeom prst="rect">
            <a:avLst/>
          </a:prstGeom>
        </p:spPr>
      </p:pic>
    </p:spTree>
    <p:extLst>
      <p:ext uri="{BB962C8B-B14F-4D97-AF65-F5344CB8AC3E}">
        <p14:creationId xmlns:p14="http://schemas.microsoft.com/office/powerpoint/2010/main" val="387796984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B44567E-66ED-4DCC-9689-AC3D578871F2}"/>
              </a:ext>
            </a:extLst>
          </p:cNvPr>
          <p:cNvPicPr>
            <a:picLocks noChangeAspect="1"/>
          </p:cNvPicPr>
          <p:nvPr/>
        </p:nvPicPr>
        <p:blipFill>
          <a:blip r:embed="rId2"/>
          <a:stretch>
            <a:fillRect/>
          </a:stretch>
        </p:blipFill>
        <p:spPr>
          <a:xfrm>
            <a:off x="0" y="0"/>
            <a:ext cx="14630400" cy="8238744"/>
          </a:xfrm>
          <a:prstGeom prst="rect">
            <a:avLst/>
          </a:prstGeom>
        </p:spPr>
      </p:pic>
      <p:sp>
        <p:nvSpPr>
          <p:cNvPr id="5" name="Text 6">
            <a:extLst>
              <a:ext uri="{FF2B5EF4-FFF2-40B4-BE49-F238E27FC236}">
                <a16:creationId xmlns:a16="http://schemas.microsoft.com/office/drawing/2014/main" id="{92697262-D43A-4A33-A5FD-A5E86BC69C9A}"/>
              </a:ext>
            </a:extLst>
          </p:cNvPr>
          <p:cNvSpPr/>
          <p:nvPr/>
        </p:nvSpPr>
        <p:spPr>
          <a:xfrm>
            <a:off x="4453717" y="-103442"/>
            <a:ext cx="8010144" cy="1481328"/>
          </a:xfrm>
          <a:prstGeom prst="rect">
            <a:avLst/>
          </a:prstGeom>
          <a:noFill/>
          <a:ln/>
        </p:spPr>
        <p:txBody>
          <a:bodyPr wrap="square" lIns="0" tIns="0" rIns="0" bIns="0" rtlCol="0" anchor="ctr"/>
          <a:lstStyle/>
          <a:p>
            <a:pPr marL="0" indent="0" algn="l">
              <a:lnSpc>
                <a:spcPts val="5800"/>
              </a:lnSpc>
              <a:buNone/>
            </a:pPr>
            <a:r>
              <a:rPr lang="en-US" sz="4640" dirty="0">
                <a:solidFill>
                  <a:srgbClr val="0C266F"/>
                </a:solidFill>
                <a:latin typeface="Berlin Sans FB Demi" panose="020E0802020502020306" pitchFamily="34" charset="0"/>
                <a:ea typeface="思源宋体-思源宋体-SemiBold" pitchFamily="34" charset="-122"/>
                <a:cs typeface="思源宋体-思源宋体-SemiBold" pitchFamily="34" charset="-120"/>
              </a:rPr>
              <a:t>Creating Arrays of Objects</a:t>
            </a:r>
            <a:endParaRPr lang="en-US" sz="4640" dirty="0">
              <a:latin typeface="Berlin Sans FB Demi" panose="020E0802020502020306" pitchFamily="34" charset="0"/>
            </a:endParaRPr>
          </a:p>
        </p:txBody>
      </p:sp>
      <p:pic>
        <p:nvPicPr>
          <p:cNvPr id="8" name="Image 1" descr="preencoded.png">
            <a:extLst>
              <a:ext uri="{FF2B5EF4-FFF2-40B4-BE49-F238E27FC236}">
                <a16:creationId xmlns:a16="http://schemas.microsoft.com/office/drawing/2014/main" id="{5448765A-A842-4A02-A776-8C3C09A547F8}"/>
              </a:ext>
            </a:extLst>
          </p:cNvPr>
          <p:cNvPicPr>
            <a:picLocks noChangeAspect="1"/>
          </p:cNvPicPr>
          <p:nvPr/>
        </p:nvPicPr>
        <p:blipFill>
          <a:blip r:embed="rId3"/>
          <a:stretch>
            <a:fillRect/>
          </a:stretch>
        </p:blipFill>
        <p:spPr>
          <a:xfrm>
            <a:off x="5285573" y="10645186"/>
            <a:ext cx="754380" cy="1597343"/>
          </a:xfrm>
          <a:prstGeom prst="rect">
            <a:avLst/>
          </a:prstGeom>
        </p:spPr>
      </p:pic>
      <p:sp>
        <p:nvSpPr>
          <p:cNvPr id="9" name="Text 1">
            <a:extLst>
              <a:ext uri="{FF2B5EF4-FFF2-40B4-BE49-F238E27FC236}">
                <a16:creationId xmlns:a16="http://schemas.microsoft.com/office/drawing/2014/main" id="{0206DD59-3508-4B8F-87EB-0E2E692E2FD2}"/>
              </a:ext>
            </a:extLst>
          </p:cNvPr>
          <p:cNvSpPr/>
          <p:nvPr/>
        </p:nvSpPr>
        <p:spPr>
          <a:xfrm>
            <a:off x="6266172" y="10796038"/>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Petrona Bold" pitchFamily="34" charset="0"/>
                <a:ea typeface="Petrona Bold" pitchFamily="34" charset="-122"/>
                <a:cs typeface="Petrona Bold" pitchFamily="34" charset="-120"/>
              </a:rPr>
              <a:t>Class Definition</a:t>
            </a:r>
            <a:endParaRPr lang="en-US" sz="1550" dirty="0"/>
          </a:p>
        </p:txBody>
      </p:sp>
      <p:sp>
        <p:nvSpPr>
          <p:cNvPr id="10" name="Shape 3">
            <a:extLst>
              <a:ext uri="{FF2B5EF4-FFF2-40B4-BE49-F238E27FC236}">
                <a16:creationId xmlns:a16="http://schemas.microsoft.com/office/drawing/2014/main" id="{9160C953-14D9-4F86-ABDF-9B76C76ACD96}"/>
              </a:ext>
            </a:extLst>
          </p:cNvPr>
          <p:cNvSpPr/>
          <p:nvPr/>
        </p:nvSpPr>
        <p:spPr>
          <a:xfrm>
            <a:off x="6258671" y="11213114"/>
            <a:ext cx="7457328" cy="467558"/>
          </a:xfrm>
          <a:prstGeom prst="roundRect">
            <a:avLst>
              <a:gd name="adj" fmla="val 21847"/>
            </a:avLst>
          </a:prstGeom>
          <a:solidFill>
            <a:srgbClr val="CCEEFF"/>
          </a:solidFill>
          <a:ln/>
        </p:spPr>
        <p:txBody>
          <a:bodyPr/>
          <a:lstStyle/>
          <a:p>
            <a:pPr lvl="0">
              <a:lnSpc>
                <a:spcPts val="1900"/>
              </a:lnSpc>
            </a:pPr>
            <a:r>
              <a:rPr lang="en-US" sz="1150" dirty="0">
                <a:solidFill>
                  <a:srgbClr val="272525"/>
                </a:solidFill>
                <a:highlight>
                  <a:srgbClr val="CCEEFF"/>
                </a:highlight>
                <a:latin typeface="Consolas" pitchFamily="34" charset="0"/>
                <a:ea typeface="Consolas" pitchFamily="34" charset="-122"/>
                <a:cs typeface="Consolas" pitchFamily="34" charset="-120"/>
              </a:rPr>
              <a:t>class Rectangle { float width; float height };</a:t>
            </a:r>
            <a:endParaRPr lang="en-US" sz="1150" dirty="0">
              <a:solidFill>
                <a:prstClr val="black"/>
              </a:solidFill>
            </a:endParaRPr>
          </a:p>
          <a:p>
            <a:endParaRPr lang="en-US" dirty="0"/>
          </a:p>
        </p:txBody>
      </p:sp>
      <p:sp>
        <p:nvSpPr>
          <p:cNvPr id="11" name="Text 5">
            <a:extLst>
              <a:ext uri="{FF2B5EF4-FFF2-40B4-BE49-F238E27FC236}">
                <a16:creationId xmlns:a16="http://schemas.microsoft.com/office/drawing/2014/main" id="{2CE74AFE-F9A9-4FA2-8693-17680789A668}"/>
              </a:ext>
            </a:extLst>
          </p:cNvPr>
          <p:cNvSpPr/>
          <p:nvPr/>
        </p:nvSpPr>
        <p:spPr>
          <a:xfrm>
            <a:off x="6266172" y="11850336"/>
            <a:ext cx="7449827" cy="322898"/>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Inter" pitchFamily="34" charset="0"/>
                <a:ea typeface="Inter" pitchFamily="34" charset="-122"/>
                <a:cs typeface="Inter" pitchFamily="34" charset="-120"/>
              </a:rPr>
              <a:t>Defines a simple Rectangle class with width, height, and area calculation.</a:t>
            </a:r>
            <a:endParaRPr lang="en-US" sz="1150" dirty="0"/>
          </a:p>
        </p:txBody>
      </p:sp>
      <p:pic>
        <p:nvPicPr>
          <p:cNvPr id="12" name="Image 2" descr="preencoded.png">
            <a:extLst>
              <a:ext uri="{FF2B5EF4-FFF2-40B4-BE49-F238E27FC236}">
                <a16:creationId xmlns:a16="http://schemas.microsoft.com/office/drawing/2014/main" id="{55F5943E-56BE-4267-88DF-FDFF4CFA0495}"/>
              </a:ext>
            </a:extLst>
          </p:cNvPr>
          <p:cNvPicPr>
            <a:picLocks noChangeAspect="1"/>
          </p:cNvPicPr>
          <p:nvPr/>
        </p:nvPicPr>
        <p:blipFill>
          <a:blip r:embed="rId4"/>
          <a:stretch>
            <a:fillRect/>
          </a:stretch>
        </p:blipFill>
        <p:spPr>
          <a:xfrm>
            <a:off x="5285573" y="12242528"/>
            <a:ext cx="754380" cy="1597343"/>
          </a:xfrm>
          <a:prstGeom prst="rect">
            <a:avLst/>
          </a:prstGeom>
        </p:spPr>
      </p:pic>
      <p:sp>
        <p:nvSpPr>
          <p:cNvPr id="13" name="Text 6">
            <a:extLst>
              <a:ext uri="{FF2B5EF4-FFF2-40B4-BE49-F238E27FC236}">
                <a16:creationId xmlns:a16="http://schemas.microsoft.com/office/drawing/2014/main" id="{99B08316-741F-47BB-A323-C94E94326C4A}"/>
              </a:ext>
            </a:extLst>
          </p:cNvPr>
          <p:cNvSpPr/>
          <p:nvPr/>
        </p:nvSpPr>
        <p:spPr>
          <a:xfrm>
            <a:off x="6266172" y="12393380"/>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Petrona Bold" pitchFamily="34" charset="0"/>
                <a:ea typeface="Petrona Bold" pitchFamily="34" charset="-122"/>
                <a:cs typeface="Petrona Bold" pitchFamily="34" charset="-120"/>
              </a:rPr>
              <a:t>Array Initialization</a:t>
            </a:r>
            <a:endParaRPr lang="en-US" sz="1550" dirty="0"/>
          </a:p>
        </p:txBody>
      </p:sp>
      <p:sp>
        <p:nvSpPr>
          <p:cNvPr id="14" name="Shape 7">
            <a:extLst>
              <a:ext uri="{FF2B5EF4-FFF2-40B4-BE49-F238E27FC236}">
                <a16:creationId xmlns:a16="http://schemas.microsoft.com/office/drawing/2014/main" id="{ED3E3E1E-313C-4759-8F4B-4A6E616AB237}"/>
              </a:ext>
            </a:extLst>
          </p:cNvPr>
          <p:cNvSpPr/>
          <p:nvPr/>
        </p:nvSpPr>
        <p:spPr>
          <a:xfrm>
            <a:off x="6266172" y="12810456"/>
            <a:ext cx="7449827" cy="467558"/>
          </a:xfrm>
          <a:prstGeom prst="roundRect">
            <a:avLst>
              <a:gd name="adj" fmla="val 30560"/>
            </a:avLst>
          </a:prstGeom>
          <a:solidFill>
            <a:srgbClr val="CCEEFF"/>
          </a:solidFill>
          <a:ln/>
        </p:spPr>
        <p:txBody>
          <a:bodyPr/>
          <a:lstStyle/>
          <a:p>
            <a:pPr lvl="0">
              <a:lnSpc>
                <a:spcPts val="1900"/>
              </a:lnSpc>
            </a:pPr>
            <a:r>
              <a:rPr lang="en-US" sz="1150" dirty="0">
                <a:solidFill>
                  <a:srgbClr val="272525"/>
                </a:solidFill>
                <a:highlight>
                  <a:srgbClr val="CCEEFF"/>
                </a:highlight>
                <a:latin typeface="Consolas" pitchFamily="34" charset="0"/>
                <a:ea typeface="Consolas" pitchFamily="34" charset="-122"/>
                <a:cs typeface="Consolas" pitchFamily="34" charset="-120"/>
              </a:rPr>
              <a:t>Rectangle </a:t>
            </a:r>
            <a:r>
              <a:rPr lang="en-US" sz="1150" dirty="0" err="1">
                <a:solidFill>
                  <a:srgbClr val="272525"/>
                </a:solidFill>
                <a:highlight>
                  <a:srgbClr val="CCEEFF"/>
                </a:highlight>
                <a:latin typeface="Consolas" pitchFamily="34" charset="0"/>
                <a:ea typeface="Consolas" pitchFamily="34" charset="-122"/>
                <a:cs typeface="Consolas" pitchFamily="34" charset="-120"/>
              </a:rPr>
              <a:t>rects</a:t>
            </a:r>
            <a:r>
              <a:rPr lang="en-US" sz="1150" dirty="0">
                <a:solidFill>
                  <a:srgbClr val="272525"/>
                </a:solidFill>
                <a:highlight>
                  <a:srgbClr val="CCEEFF"/>
                </a:highlight>
                <a:latin typeface="Consolas" pitchFamily="34" charset="0"/>
                <a:ea typeface="Consolas" pitchFamily="34" charset="-122"/>
                <a:cs typeface="Consolas" pitchFamily="34" charset="-120"/>
              </a:rPr>
              <a:t>[] = { Rectangle(2,3), Rectangle(4,5), Rectangle(6,7), Rectangle(8,9) };</a:t>
            </a:r>
            <a:endParaRPr lang="en-US" sz="1150" dirty="0">
              <a:solidFill>
                <a:prstClr val="black"/>
              </a:solidFill>
            </a:endParaRPr>
          </a:p>
          <a:p>
            <a:endParaRPr lang="en-US" dirty="0"/>
          </a:p>
        </p:txBody>
      </p:sp>
      <p:sp>
        <p:nvSpPr>
          <p:cNvPr id="15" name="Text 10">
            <a:extLst>
              <a:ext uri="{FF2B5EF4-FFF2-40B4-BE49-F238E27FC236}">
                <a16:creationId xmlns:a16="http://schemas.microsoft.com/office/drawing/2014/main" id="{19F22EB9-2502-4308-9356-094AD471BA49}"/>
              </a:ext>
            </a:extLst>
          </p:cNvPr>
          <p:cNvSpPr/>
          <p:nvPr/>
        </p:nvSpPr>
        <p:spPr>
          <a:xfrm>
            <a:off x="6266172" y="13447679"/>
            <a:ext cx="7449827" cy="322898"/>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Inter" pitchFamily="34" charset="0"/>
                <a:ea typeface="Inter" pitchFamily="34" charset="-122"/>
                <a:cs typeface="Inter" pitchFamily="34" charset="-120"/>
              </a:rPr>
              <a:t>Initializes an array of Rectangle objects using parameterized constructors.</a:t>
            </a:r>
            <a:endParaRPr lang="en-US" sz="1150" dirty="0"/>
          </a:p>
        </p:txBody>
      </p:sp>
      <p:pic>
        <p:nvPicPr>
          <p:cNvPr id="16" name="Image 3" descr="preencoded.png">
            <a:extLst>
              <a:ext uri="{FF2B5EF4-FFF2-40B4-BE49-F238E27FC236}">
                <a16:creationId xmlns:a16="http://schemas.microsoft.com/office/drawing/2014/main" id="{3CBED436-5910-4DBE-8EE3-BDB01580D17D}"/>
              </a:ext>
            </a:extLst>
          </p:cNvPr>
          <p:cNvPicPr>
            <a:picLocks noChangeAspect="1"/>
          </p:cNvPicPr>
          <p:nvPr/>
        </p:nvPicPr>
        <p:blipFill>
          <a:blip r:embed="rId5"/>
          <a:stretch>
            <a:fillRect/>
          </a:stretch>
        </p:blipFill>
        <p:spPr>
          <a:xfrm>
            <a:off x="5285573" y="13839871"/>
            <a:ext cx="754380" cy="1597343"/>
          </a:xfrm>
          <a:prstGeom prst="rect">
            <a:avLst/>
          </a:prstGeom>
        </p:spPr>
      </p:pic>
      <p:sp>
        <p:nvSpPr>
          <p:cNvPr id="17" name="Text 11">
            <a:extLst>
              <a:ext uri="{FF2B5EF4-FFF2-40B4-BE49-F238E27FC236}">
                <a16:creationId xmlns:a16="http://schemas.microsoft.com/office/drawing/2014/main" id="{C8493D1F-D63A-4DE7-9473-9A2D099EBEAF}"/>
              </a:ext>
            </a:extLst>
          </p:cNvPr>
          <p:cNvSpPr/>
          <p:nvPr/>
        </p:nvSpPr>
        <p:spPr>
          <a:xfrm>
            <a:off x="6266172" y="13990723"/>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Petrona Bold" pitchFamily="34" charset="0"/>
                <a:ea typeface="Petrona Bold" pitchFamily="34" charset="-122"/>
                <a:cs typeface="Petrona Bold" pitchFamily="34" charset="-120"/>
              </a:rPr>
              <a:t>Accessing Member</a:t>
            </a:r>
            <a:endParaRPr lang="en-US" sz="1550" dirty="0"/>
          </a:p>
        </p:txBody>
      </p:sp>
      <p:sp>
        <p:nvSpPr>
          <p:cNvPr id="18" name="Shape 12">
            <a:extLst>
              <a:ext uri="{FF2B5EF4-FFF2-40B4-BE49-F238E27FC236}">
                <a16:creationId xmlns:a16="http://schemas.microsoft.com/office/drawing/2014/main" id="{D4913B6E-C226-4092-9212-9BAD662D0599}"/>
              </a:ext>
            </a:extLst>
          </p:cNvPr>
          <p:cNvSpPr/>
          <p:nvPr/>
        </p:nvSpPr>
        <p:spPr>
          <a:xfrm>
            <a:off x="6266172" y="14407799"/>
            <a:ext cx="7449827" cy="467558"/>
          </a:xfrm>
          <a:prstGeom prst="roundRect">
            <a:avLst>
              <a:gd name="adj" fmla="val 27726"/>
            </a:avLst>
          </a:prstGeom>
          <a:solidFill>
            <a:srgbClr val="CCEEFF"/>
          </a:solidFill>
          <a:ln/>
        </p:spPr>
        <p:txBody>
          <a:bodyPr/>
          <a:lstStyle/>
          <a:p>
            <a:pPr lvl="0">
              <a:lnSpc>
                <a:spcPts val="1900"/>
              </a:lnSpc>
            </a:pPr>
            <a:r>
              <a:rPr lang="en-US" sz="1150" dirty="0" err="1">
                <a:solidFill>
                  <a:srgbClr val="272525"/>
                </a:solidFill>
                <a:highlight>
                  <a:srgbClr val="CCEEFF"/>
                </a:highlight>
                <a:latin typeface="Consolas" pitchFamily="34" charset="0"/>
                <a:ea typeface="Consolas" pitchFamily="34" charset="-122"/>
                <a:cs typeface="Consolas" pitchFamily="34" charset="-120"/>
              </a:rPr>
              <a:t>cout</a:t>
            </a:r>
            <a:r>
              <a:rPr lang="en-US" sz="1150" dirty="0">
                <a:solidFill>
                  <a:srgbClr val="272525"/>
                </a:solidFill>
                <a:highlight>
                  <a:srgbClr val="CCEEFF"/>
                </a:highlight>
                <a:latin typeface="Consolas" pitchFamily="34" charset="0"/>
                <a:ea typeface="Consolas" pitchFamily="34" charset="-122"/>
                <a:cs typeface="Consolas" pitchFamily="34" charset="-120"/>
              </a:rPr>
              <a:t> &lt;&lt; </a:t>
            </a:r>
            <a:r>
              <a:rPr lang="en-US" sz="1150" dirty="0" err="1">
                <a:solidFill>
                  <a:srgbClr val="272525"/>
                </a:solidFill>
                <a:highlight>
                  <a:srgbClr val="CCEEFF"/>
                </a:highlight>
                <a:latin typeface="Consolas" pitchFamily="34" charset="0"/>
                <a:ea typeface="Consolas" pitchFamily="34" charset="-122"/>
                <a:cs typeface="Consolas" pitchFamily="34" charset="-120"/>
              </a:rPr>
              <a:t>rects</a:t>
            </a:r>
            <a:r>
              <a:rPr lang="en-US" sz="1150" dirty="0">
                <a:solidFill>
                  <a:srgbClr val="272525"/>
                </a:solidFill>
                <a:highlight>
                  <a:srgbClr val="CCEEFF"/>
                </a:highlight>
                <a:latin typeface="Consolas" pitchFamily="34" charset="0"/>
                <a:ea typeface="Consolas" pitchFamily="34" charset="-122"/>
                <a:cs typeface="Consolas" pitchFamily="34" charset="-120"/>
              </a:rPr>
              <a:t>[2].area();</a:t>
            </a:r>
            <a:endParaRPr lang="en-US" sz="1150" dirty="0">
              <a:solidFill>
                <a:prstClr val="black"/>
              </a:solidFill>
            </a:endParaRPr>
          </a:p>
          <a:p>
            <a:endParaRPr lang="en-US" dirty="0"/>
          </a:p>
        </p:txBody>
      </p:sp>
      <p:sp>
        <p:nvSpPr>
          <p:cNvPr id="19" name="Text 15">
            <a:extLst>
              <a:ext uri="{FF2B5EF4-FFF2-40B4-BE49-F238E27FC236}">
                <a16:creationId xmlns:a16="http://schemas.microsoft.com/office/drawing/2014/main" id="{F86CE81C-1669-40F4-9D8E-AB283AB230DB}"/>
              </a:ext>
            </a:extLst>
          </p:cNvPr>
          <p:cNvSpPr/>
          <p:nvPr/>
        </p:nvSpPr>
        <p:spPr>
          <a:xfrm>
            <a:off x="6266173" y="15045021"/>
            <a:ext cx="7449826" cy="241340"/>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Inter" pitchFamily="34" charset="0"/>
                <a:ea typeface="Inter" pitchFamily="34" charset="-122"/>
                <a:cs typeface="Inter" pitchFamily="34" charset="-120"/>
              </a:rPr>
              <a:t>Accesses the </a:t>
            </a:r>
            <a:r>
              <a:rPr lang="en-US" sz="1150" b="1" dirty="0">
                <a:solidFill>
                  <a:srgbClr val="272525"/>
                </a:solidFill>
                <a:latin typeface="Inter" pitchFamily="34" charset="0"/>
                <a:ea typeface="Inter" pitchFamily="34" charset="-122"/>
                <a:cs typeface="Inter" pitchFamily="34" charset="-120"/>
              </a:rPr>
              <a:t>area()</a:t>
            </a:r>
            <a:r>
              <a:rPr lang="en-US" sz="1150" dirty="0">
                <a:solidFill>
                  <a:srgbClr val="272525"/>
                </a:solidFill>
                <a:latin typeface="Inter" pitchFamily="34" charset="0"/>
                <a:ea typeface="Inter" pitchFamily="34" charset="-122"/>
                <a:cs typeface="Inter" pitchFamily="34" charset="-120"/>
              </a:rPr>
              <a:t> method of the third Rectangle object, outputting 42.</a:t>
            </a:r>
            <a:endParaRPr lang="en-US" sz="1150" dirty="0"/>
          </a:p>
        </p:txBody>
      </p:sp>
      <p:pic>
        <p:nvPicPr>
          <p:cNvPr id="20" name="Image 1" descr="preencoded.png">
            <a:extLst>
              <a:ext uri="{FF2B5EF4-FFF2-40B4-BE49-F238E27FC236}">
                <a16:creationId xmlns:a16="http://schemas.microsoft.com/office/drawing/2014/main" id="{56D04FE5-6B96-4EAC-96C6-20629154540B}"/>
              </a:ext>
            </a:extLst>
          </p:cNvPr>
          <p:cNvPicPr>
            <a:picLocks noChangeAspect="1"/>
          </p:cNvPicPr>
          <p:nvPr/>
        </p:nvPicPr>
        <p:blipFill>
          <a:blip r:embed="rId6"/>
          <a:stretch>
            <a:fillRect/>
          </a:stretch>
        </p:blipFill>
        <p:spPr>
          <a:xfrm>
            <a:off x="5404104" y="9777006"/>
            <a:ext cx="3831336" cy="2532888"/>
          </a:xfrm>
          <a:prstGeom prst="rect">
            <a:avLst/>
          </a:prstGeom>
          <a:ln>
            <a:noFill/>
          </a:ln>
          <a:effectLst>
            <a:outerShdw blurRad="292100" dist="139700" dir="2700000" algn="tl" rotWithShape="0">
              <a:srgbClr val="333333">
                <a:alpha val="65000"/>
              </a:srgbClr>
            </a:outerShdw>
          </a:effectLst>
        </p:spPr>
      </p:pic>
      <p:pic>
        <p:nvPicPr>
          <p:cNvPr id="21" name="Image 2" descr="preencoded.png">
            <a:extLst>
              <a:ext uri="{FF2B5EF4-FFF2-40B4-BE49-F238E27FC236}">
                <a16:creationId xmlns:a16="http://schemas.microsoft.com/office/drawing/2014/main" id="{5EDC8161-1776-4DFA-8FF7-7D4D5DDBC9DC}"/>
              </a:ext>
            </a:extLst>
          </p:cNvPr>
          <p:cNvPicPr>
            <a:picLocks noChangeAspect="1"/>
          </p:cNvPicPr>
          <p:nvPr/>
        </p:nvPicPr>
        <p:blipFill>
          <a:blip r:embed="rId7"/>
          <a:stretch>
            <a:fillRect/>
          </a:stretch>
        </p:blipFill>
        <p:spPr>
          <a:xfrm>
            <a:off x="5330954" y="9777006"/>
            <a:ext cx="3831336" cy="2532888"/>
          </a:xfrm>
          <a:prstGeom prst="rect">
            <a:avLst/>
          </a:prstGeom>
          <a:ln>
            <a:noFill/>
          </a:ln>
          <a:effectLst>
            <a:outerShdw blurRad="292100" dist="139700" dir="2700000" algn="tl" rotWithShape="0">
              <a:srgbClr val="333333">
                <a:alpha val="65000"/>
              </a:srgbClr>
            </a:outerShdw>
          </a:effectLst>
        </p:spPr>
      </p:pic>
      <p:pic>
        <p:nvPicPr>
          <p:cNvPr id="22" name="Image 3" descr="preencoded.png">
            <a:extLst>
              <a:ext uri="{FF2B5EF4-FFF2-40B4-BE49-F238E27FC236}">
                <a16:creationId xmlns:a16="http://schemas.microsoft.com/office/drawing/2014/main" id="{DA04EA89-ED14-4173-9965-8496A9C0C47C}"/>
              </a:ext>
            </a:extLst>
          </p:cNvPr>
          <p:cNvPicPr>
            <a:picLocks noChangeAspect="1"/>
          </p:cNvPicPr>
          <p:nvPr/>
        </p:nvPicPr>
        <p:blipFill>
          <a:blip r:embed="rId8"/>
          <a:stretch>
            <a:fillRect/>
          </a:stretch>
        </p:blipFill>
        <p:spPr>
          <a:xfrm>
            <a:off x="5367529" y="9810724"/>
            <a:ext cx="3831336" cy="2532888"/>
          </a:xfrm>
          <a:prstGeom prst="rect">
            <a:avLst/>
          </a:prstGeom>
          <a:ln>
            <a:noFill/>
          </a:ln>
          <a:effectLst>
            <a:outerShdw blurRad="292100" dist="139700" dir="2700000" algn="tl" rotWithShape="0">
              <a:srgbClr val="333333">
                <a:alpha val="65000"/>
              </a:srgbClr>
            </a:outerShdw>
          </a:effectLst>
        </p:spPr>
      </p:pic>
      <p:sp>
        <p:nvSpPr>
          <p:cNvPr id="23" name="Text 1">
            <a:extLst>
              <a:ext uri="{FF2B5EF4-FFF2-40B4-BE49-F238E27FC236}">
                <a16:creationId xmlns:a16="http://schemas.microsoft.com/office/drawing/2014/main" id="{F9368570-F579-494D-8969-CA8C630C29EF}"/>
              </a:ext>
            </a:extLst>
          </p:cNvPr>
          <p:cNvSpPr/>
          <p:nvPr/>
        </p:nvSpPr>
        <p:spPr>
          <a:xfrm>
            <a:off x="5404104" y="13041414"/>
            <a:ext cx="3831336" cy="713232"/>
          </a:xfrm>
          <a:prstGeom prst="rect">
            <a:avLst/>
          </a:prstGeom>
          <a:noFill/>
          <a:ln/>
        </p:spPr>
        <p:txBody>
          <a:bodyPr wrap="square" lIns="0" tIns="0" rIns="0" bIns="0" rtlCol="0" anchor="ctr"/>
          <a:lstStyle/>
          <a:p>
            <a:pPr marL="0" indent="0" algn="ct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Memory is managed automatically.</a:t>
            </a:r>
            <a:endParaRPr lang="en-US" sz="1850" dirty="0"/>
          </a:p>
        </p:txBody>
      </p:sp>
      <p:sp>
        <p:nvSpPr>
          <p:cNvPr id="24" name="Text 2">
            <a:extLst>
              <a:ext uri="{FF2B5EF4-FFF2-40B4-BE49-F238E27FC236}">
                <a16:creationId xmlns:a16="http://schemas.microsoft.com/office/drawing/2014/main" id="{FBCEA72C-29CA-40EE-A477-4FA150C7D5A9}"/>
              </a:ext>
            </a:extLst>
          </p:cNvPr>
          <p:cNvSpPr/>
          <p:nvPr/>
        </p:nvSpPr>
        <p:spPr>
          <a:xfrm>
            <a:off x="5330954" y="13041414"/>
            <a:ext cx="3831336" cy="713232"/>
          </a:xfrm>
          <a:prstGeom prst="rect">
            <a:avLst/>
          </a:prstGeom>
          <a:noFill/>
          <a:ln/>
        </p:spPr>
        <p:txBody>
          <a:bodyPr wrap="square" lIns="0" tIns="0" rIns="0" bIns="0" rtlCol="0" anchor="ctr"/>
          <a:lstStyle/>
          <a:p>
            <a:pPr marL="0" indent="0" algn="ct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Require custom constructors and destructors.</a:t>
            </a:r>
            <a:endParaRPr lang="en-US" sz="1850" dirty="0"/>
          </a:p>
        </p:txBody>
      </p:sp>
      <p:sp>
        <p:nvSpPr>
          <p:cNvPr id="25" name="Text 3">
            <a:extLst>
              <a:ext uri="{FF2B5EF4-FFF2-40B4-BE49-F238E27FC236}">
                <a16:creationId xmlns:a16="http://schemas.microsoft.com/office/drawing/2014/main" id="{2BCB548D-F75C-48E2-B201-715EDA30E3F9}"/>
              </a:ext>
            </a:extLst>
          </p:cNvPr>
          <p:cNvSpPr/>
          <p:nvPr/>
        </p:nvSpPr>
        <p:spPr>
          <a:xfrm>
            <a:off x="5330954" y="12529350"/>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Complex Objects</a:t>
            </a:r>
            <a:endParaRPr lang="en-US" sz="2320" dirty="0"/>
          </a:p>
        </p:txBody>
      </p:sp>
      <p:sp>
        <p:nvSpPr>
          <p:cNvPr id="26" name="Text 5">
            <a:extLst>
              <a:ext uri="{FF2B5EF4-FFF2-40B4-BE49-F238E27FC236}">
                <a16:creationId xmlns:a16="http://schemas.microsoft.com/office/drawing/2014/main" id="{1AD4DBE3-9BCE-42CD-8DFE-266D2ED3272E}"/>
              </a:ext>
            </a:extLst>
          </p:cNvPr>
          <p:cNvSpPr/>
          <p:nvPr/>
        </p:nvSpPr>
        <p:spPr>
          <a:xfrm>
            <a:off x="5367529" y="12563068"/>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Dynamic Arrays</a:t>
            </a:r>
            <a:endParaRPr lang="en-US" sz="2320" dirty="0"/>
          </a:p>
        </p:txBody>
      </p:sp>
      <p:sp>
        <p:nvSpPr>
          <p:cNvPr id="27" name="Text 6">
            <a:extLst>
              <a:ext uri="{FF2B5EF4-FFF2-40B4-BE49-F238E27FC236}">
                <a16:creationId xmlns:a16="http://schemas.microsoft.com/office/drawing/2014/main" id="{43E47180-8A38-4293-A65C-AC2A8178669E}"/>
              </a:ext>
            </a:extLst>
          </p:cNvPr>
          <p:cNvSpPr/>
          <p:nvPr/>
        </p:nvSpPr>
        <p:spPr>
          <a:xfrm>
            <a:off x="5367529" y="13075132"/>
            <a:ext cx="3831336" cy="356616"/>
          </a:xfrm>
          <a:prstGeom prst="rect">
            <a:avLst/>
          </a:prstGeom>
          <a:noFill/>
          <a:ln/>
        </p:spPr>
        <p:txBody>
          <a:bodyPr wrap="none" lIns="0" tIns="0" rIns="0" bIns="0" rtlCol="0" anchor="ctr"/>
          <a:lstStyle/>
          <a:p>
            <a:pPr marL="0" indent="0" algn="ct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Use new and delete[] properly.</a:t>
            </a:r>
            <a:endParaRPr lang="en-US" sz="1850" dirty="0"/>
          </a:p>
        </p:txBody>
      </p:sp>
      <p:sp>
        <p:nvSpPr>
          <p:cNvPr id="28" name="Text 7">
            <a:extLst>
              <a:ext uri="{FF2B5EF4-FFF2-40B4-BE49-F238E27FC236}">
                <a16:creationId xmlns:a16="http://schemas.microsoft.com/office/drawing/2014/main" id="{22916248-AF17-4892-B52B-9E8DF88B7818}"/>
              </a:ext>
            </a:extLst>
          </p:cNvPr>
          <p:cNvSpPr/>
          <p:nvPr/>
        </p:nvSpPr>
        <p:spPr>
          <a:xfrm>
            <a:off x="5404104" y="12529350"/>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Static Arrays</a:t>
            </a:r>
            <a:endParaRPr lang="en-US" sz="2320" dirty="0"/>
          </a:p>
        </p:txBody>
      </p:sp>
      <p:sp>
        <p:nvSpPr>
          <p:cNvPr id="29" name="Text 0">
            <a:extLst>
              <a:ext uri="{FF2B5EF4-FFF2-40B4-BE49-F238E27FC236}">
                <a16:creationId xmlns:a16="http://schemas.microsoft.com/office/drawing/2014/main" id="{E65967D5-A31B-4F15-A517-027FFEA5F55F}"/>
              </a:ext>
            </a:extLst>
          </p:cNvPr>
          <p:cNvSpPr/>
          <p:nvPr/>
        </p:nvSpPr>
        <p:spPr>
          <a:xfrm>
            <a:off x="-4939110" y="4352176"/>
            <a:ext cx="3511296" cy="1417320"/>
          </a:xfrm>
          <a:prstGeom prst="rect">
            <a:avLst/>
          </a:prstGeom>
          <a:noFill/>
          <a:ln/>
        </p:spPr>
        <p:txBody>
          <a:bodyPr wrap="square" lIns="0" tIns="0" rIns="0" bIns="0" rtlCol="0" anchor="ctr"/>
          <a:lstStyle/>
          <a:p>
            <a:pPr marL="0" indent="0" algn="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Arrays of objects have dynamic storage capacities. The size can be determined at runtime, offering flexibility.</a:t>
            </a:r>
            <a:endParaRPr lang="en-US" sz="1850" dirty="0"/>
          </a:p>
        </p:txBody>
      </p:sp>
      <p:sp>
        <p:nvSpPr>
          <p:cNvPr id="30" name="Text 1">
            <a:extLst>
              <a:ext uri="{FF2B5EF4-FFF2-40B4-BE49-F238E27FC236}">
                <a16:creationId xmlns:a16="http://schemas.microsoft.com/office/drawing/2014/main" id="{666E205D-9F4B-4B4B-8B2A-CB76444F2187}"/>
              </a:ext>
            </a:extLst>
          </p:cNvPr>
          <p:cNvSpPr/>
          <p:nvPr/>
        </p:nvSpPr>
        <p:spPr>
          <a:xfrm>
            <a:off x="-4939110" y="3712096"/>
            <a:ext cx="3511296" cy="374904"/>
          </a:xfrm>
          <a:prstGeom prst="rect">
            <a:avLst/>
          </a:prstGeom>
          <a:noFill/>
          <a:ln/>
        </p:spPr>
        <p:txBody>
          <a:bodyPr wrap="none" lIns="0" tIns="0" rIns="0" bIns="0" rtlCol="0" anchor="ctr"/>
          <a:lstStyle/>
          <a:p>
            <a:pPr marL="0" indent="0" algn="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Dynamic Storage</a:t>
            </a:r>
            <a:endParaRPr lang="en-US" sz="2320" dirty="0"/>
          </a:p>
        </p:txBody>
      </p:sp>
      <p:sp>
        <p:nvSpPr>
          <p:cNvPr id="31" name="Text 2">
            <a:extLst>
              <a:ext uri="{FF2B5EF4-FFF2-40B4-BE49-F238E27FC236}">
                <a16:creationId xmlns:a16="http://schemas.microsoft.com/office/drawing/2014/main" id="{E1DBFAAF-AF4F-45F2-8E0D-92DA655C38CA}"/>
              </a:ext>
            </a:extLst>
          </p:cNvPr>
          <p:cNvSpPr/>
          <p:nvPr/>
        </p:nvSpPr>
        <p:spPr>
          <a:xfrm>
            <a:off x="17652161" y="5815216"/>
            <a:ext cx="3986784" cy="1417320"/>
          </a:xfrm>
          <a:prstGeom prst="rect">
            <a:avLst/>
          </a:prstGeom>
          <a:noFill/>
          <a:ln/>
        </p:spPr>
        <p:txBody>
          <a:bodyPr wrap="square" lIns="0" tIns="0" rIns="0" bIns="0" rtlCol="0" anchor="ctr"/>
          <a:lstStyle/>
          <a:p>
            <a:pPr marL="0" indent="0" algn="l">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Elements from the array can be treated uniformly using loops and algorithms, fostering efficient code design.</a:t>
            </a:r>
            <a:endParaRPr lang="en-US" sz="1850" dirty="0"/>
          </a:p>
        </p:txBody>
      </p:sp>
      <p:sp>
        <p:nvSpPr>
          <p:cNvPr id="32" name="Text 3">
            <a:extLst>
              <a:ext uri="{FF2B5EF4-FFF2-40B4-BE49-F238E27FC236}">
                <a16:creationId xmlns:a16="http://schemas.microsoft.com/office/drawing/2014/main" id="{D3E851DB-F601-4C21-A3D3-377761B16D2E}"/>
              </a:ext>
            </a:extLst>
          </p:cNvPr>
          <p:cNvSpPr/>
          <p:nvPr/>
        </p:nvSpPr>
        <p:spPr>
          <a:xfrm>
            <a:off x="17652161" y="2879992"/>
            <a:ext cx="3986784" cy="1417320"/>
          </a:xfrm>
          <a:prstGeom prst="rect">
            <a:avLst/>
          </a:prstGeom>
          <a:noFill/>
          <a:ln/>
        </p:spPr>
        <p:txBody>
          <a:bodyPr wrap="square" lIns="0" tIns="0" rIns="0" bIns="0" rtlCol="0" anchor="ctr"/>
          <a:lstStyle/>
          <a:p>
            <a:pPr marL="0" indent="0" algn="l">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Objects within the array are stored in a single contiguous block of memory, improving cache performance.</a:t>
            </a:r>
            <a:endParaRPr lang="en-US" sz="1850" dirty="0"/>
          </a:p>
        </p:txBody>
      </p:sp>
      <p:sp>
        <p:nvSpPr>
          <p:cNvPr id="33" name="Text 4">
            <a:extLst>
              <a:ext uri="{FF2B5EF4-FFF2-40B4-BE49-F238E27FC236}">
                <a16:creationId xmlns:a16="http://schemas.microsoft.com/office/drawing/2014/main" id="{49B98A74-6F0F-44B0-93BB-088465A248D5}"/>
              </a:ext>
            </a:extLst>
          </p:cNvPr>
          <p:cNvSpPr/>
          <p:nvPr/>
        </p:nvSpPr>
        <p:spPr>
          <a:xfrm>
            <a:off x="832104" y="-5347925"/>
            <a:ext cx="12984480" cy="740664"/>
          </a:xfrm>
          <a:prstGeom prst="rect">
            <a:avLst/>
          </a:prstGeom>
          <a:noFill/>
          <a:ln/>
        </p:spPr>
        <p:txBody>
          <a:bodyPr wrap="none" lIns="0" tIns="0" rIns="0" bIns="0" rtlCol="0" anchor="ctr"/>
          <a:lstStyle/>
          <a:p>
            <a:pPr marL="0" indent="0" algn="l">
              <a:lnSpc>
                <a:spcPts val="5800"/>
              </a:lnSpc>
              <a:buNone/>
            </a:pPr>
            <a:r>
              <a:rPr lang="en-US" sz="4640" dirty="0">
                <a:solidFill>
                  <a:srgbClr val="0C266F"/>
                </a:solidFill>
                <a:latin typeface="思源宋体-思源宋体-SemiBold" pitchFamily="34" charset="0"/>
                <a:ea typeface="思源宋体-思源宋体-SemiBold" pitchFamily="34" charset="-122"/>
                <a:cs typeface="思源宋体-思源宋体-SemiBold" pitchFamily="34" charset="-120"/>
              </a:rPr>
              <a:t>Properties of Arrays of Objects</a:t>
            </a:r>
            <a:endParaRPr lang="en-US" sz="4640" dirty="0"/>
          </a:p>
        </p:txBody>
      </p:sp>
      <p:sp>
        <p:nvSpPr>
          <p:cNvPr id="34" name="Text 5">
            <a:extLst>
              <a:ext uri="{FF2B5EF4-FFF2-40B4-BE49-F238E27FC236}">
                <a16:creationId xmlns:a16="http://schemas.microsoft.com/office/drawing/2014/main" id="{C2E1C242-DB3A-4F2F-9894-140B6A1E1848}"/>
              </a:ext>
            </a:extLst>
          </p:cNvPr>
          <p:cNvSpPr/>
          <p:nvPr/>
        </p:nvSpPr>
        <p:spPr>
          <a:xfrm>
            <a:off x="17652161" y="2249056"/>
            <a:ext cx="3986784" cy="374904"/>
          </a:xfrm>
          <a:prstGeom prst="rect">
            <a:avLst/>
          </a:prstGeom>
          <a:noFill/>
          <a:ln/>
        </p:spPr>
        <p:txBody>
          <a:bodyPr wrap="none" lIns="0" tIns="0" rIns="0" bIns="0" rtlCol="0" anchor="ctr"/>
          <a:lstStyle/>
          <a:p>
            <a:pPr marL="0" indent="0" algn="l">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Contiguous Memory</a:t>
            </a:r>
            <a:endParaRPr lang="en-US" sz="2320" dirty="0"/>
          </a:p>
        </p:txBody>
      </p:sp>
      <p:sp>
        <p:nvSpPr>
          <p:cNvPr id="35" name="Text 6">
            <a:extLst>
              <a:ext uri="{FF2B5EF4-FFF2-40B4-BE49-F238E27FC236}">
                <a16:creationId xmlns:a16="http://schemas.microsoft.com/office/drawing/2014/main" id="{F2D2178A-1AF0-4966-BA44-293A83372F83}"/>
              </a:ext>
            </a:extLst>
          </p:cNvPr>
          <p:cNvSpPr/>
          <p:nvPr/>
        </p:nvSpPr>
        <p:spPr>
          <a:xfrm>
            <a:off x="17652161" y="5184280"/>
            <a:ext cx="3986784" cy="374904"/>
          </a:xfrm>
          <a:prstGeom prst="rect">
            <a:avLst/>
          </a:prstGeom>
          <a:noFill/>
          <a:ln/>
        </p:spPr>
        <p:txBody>
          <a:bodyPr wrap="none" lIns="0" tIns="0" rIns="0" bIns="0" rtlCol="0" anchor="ctr"/>
          <a:lstStyle/>
          <a:p>
            <a:pPr marL="0" indent="0" algn="l">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Uniform Element Access</a:t>
            </a:r>
            <a:endParaRPr lang="en-US" sz="2320" dirty="0"/>
          </a:p>
        </p:txBody>
      </p:sp>
      <p:grpSp>
        <p:nvGrpSpPr>
          <p:cNvPr id="37" name="Group 36">
            <a:extLst>
              <a:ext uri="{FF2B5EF4-FFF2-40B4-BE49-F238E27FC236}">
                <a16:creationId xmlns:a16="http://schemas.microsoft.com/office/drawing/2014/main" id="{258024A0-60CE-4F48-893E-67676B07FA40}"/>
              </a:ext>
            </a:extLst>
          </p:cNvPr>
          <p:cNvGrpSpPr/>
          <p:nvPr/>
        </p:nvGrpSpPr>
        <p:grpSpPr>
          <a:xfrm>
            <a:off x="18988332" y="1551661"/>
            <a:ext cx="7710249" cy="6108981"/>
            <a:chOff x="5947243" y="1558915"/>
            <a:chExt cx="7710249" cy="6108981"/>
          </a:xfrm>
        </p:grpSpPr>
        <p:sp>
          <p:nvSpPr>
            <p:cNvPr id="38" name="Shape 1">
              <a:extLst>
                <a:ext uri="{FF2B5EF4-FFF2-40B4-BE49-F238E27FC236}">
                  <a16:creationId xmlns:a16="http://schemas.microsoft.com/office/drawing/2014/main" id="{99F1572B-04EB-4F06-9A81-68FCC3C4EFF1}"/>
                </a:ext>
              </a:extLst>
            </p:cNvPr>
            <p:cNvSpPr/>
            <p:nvPr/>
          </p:nvSpPr>
          <p:spPr>
            <a:xfrm>
              <a:off x="5947243" y="1558915"/>
              <a:ext cx="7710249" cy="6108981"/>
            </a:xfrm>
            <a:prstGeom prst="roundRect">
              <a:avLst>
                <a:gd name="adj" fmla="val 7099"/>
              </a:avLst>
            </a:prstGeom>
            <a:solidFill>
              <a:srgbClr val="BDD4FA"/>
            </a:solidFill>
            <a:ln w="7620">
              <a:solidFill>
                <a:srgbClr val="B2D4E5"/>
              </a:solidFill>
              <a:prstDash val="solid"/>
            </a:ln>
            <a:effectLst>
              <a:outerShdw blurRad="50800" dist="38100" dir="8100000" algn="tr" rotWithShape="0">
                <a:prstClr val="black">
                  <a:alpha val="40000"/>
                </a:prstClr>
              </a:outerShdw>
            </a:effectLst>
          </p:spPr>
          <p:txBody>
            <a:bodyPr/>
            <a:lstStyle/>
            <a:p>
              <a:r>
                <a:rPr lang="en-US" dirty="0"/>
                <a:t>#include &lt;iostream&gt;</a:t>
              </a:r>
            </a:p>
            <a:p>
              <a:r>
                <a:rPr lang="en-US" dirty="0"/>
                <a:t>using namespace std;</a:t>
              </a:r>
            </a:p>
            <a:p>
              <a:endParaRPr lang="en-US" dirty="0"/>
            </a:p>
            <a:p>
              <a:r>
                <a:rPr lang="en-US" dirty="0"/>
                <a:t>class test</a:t>
              </a:r>
            </a:p>
            <a:p>
              <a:r>
                <a:rPr lang="en-US" dirty="0"/>
                <a:t>{</a:t>
              </a:r>
            </a:p>
            <a:p>
              <a:r>
                <a:rPr lang="en-US" dirty="0"/>
                <a:t>     private:</a:t>
              </a:r>
            </a:p>
            <a:p>
              <a:r>
                <a:rPr lang="en-US" dirty="0"/>
                <a:t>         int testing;</a:t>
              </a:r>
            </a:p>
            <a:p>
              <a:r>
                <a:rPr lang="en-US" dirty="0"/>
                <a:t>     public:</a:t>
              </a:r>
            </a:p>
            <a:p>
              <a:r>
                <a:rPr lang="en-US" dirty="0"/>
                <a:t>         test()</a:t>
              </a:r>
            </a:p>
            <a:p>
              <a:r>
                <a:rPr lang="en-US" dirty="0"/>
                <a:t>         {</a:t>
              </a:r>
            </a:p>
            <a:p>
              <a:r>
                <a:rPr lang="en-US" dirty="0"/>
                <a:t>             testing = 0;</a:t>
              </a:r>
            </a:p>
            <a:p>
              <a:r>
                <a:rPr lang="en-US" dirty="0"/>
                <a:t>         }</a:t>
              </a:r>
            </a:p>
            <a:p>
              <a:r>
                <a:rPr lang="en-US" dirty="0"/>
                <a:t>         test(int t)</a:t>
              </a:r>
            </a:p>
            <a:p>
              <a:r>
                <a:rPr lang="en-US" dirty="0"/>
                <a:t>         {</a:t>
              </a:r>
            </a:p>
            <a:p>
              <a:r>
                <a:rPr lang="en-US" dirty="0"/>
                <a:t>              testing = t;</a:t>
              </a:r>
            </a:p>
            <a:p>
              <a:r>
                <a:rPr lang="en-US" dirty="0"/>
                <a:t>         }</a:t>
              </a:r>
            </a:p>
            <a:p>
              <a:r>
                <a:rPr lang="en-US" dirty="0"/>
                <a:t>         void </a:t>
              </a:r>
              <a:r>
                <a:rPr lang="en-US" dirty="0" err="1"/>
                <a:t>set_Test</a:t>
              </a:r>
              <a:r>
                <a:rPr lang="en-US" dirty="0"/>
                <a:t>(int t)</a:t>
              </a:r>
            </a:p>
            <a:p>
              <a:r>
                <a:rPr lang="en-US" dirty="0"/>
                <a:t>         {</a:t>
              </a:r>
            </a:p>
            <a:p>
              <a:r>
                <a:rPr lang="en-US" dirty="0"/>
                <a:t>              testing = t;</a:t>
              </a:r>
            </a:p>
            <a:p>
              <a:r>
                <a:rPr lang="en-US" dirty="0"/>
                <a:t>         }</a:t>
              </a:r>
            </a:p>
            <a:p>
              <a:r>
                <a:rPr lang="en-US" dirty="0"/>
                <a:t>         </a:t>
              </a:r>
            </a:p>
          </p:txBody>
        </p:sp>
        <p:sp>
          <p:nvSpPr>
            <p:cNvPr id="39" name="TextBox 38">
              <a:extLst>
                <a:ext uri="{FF2B5EF4-FFF2-40B4-BE49-F238E27FC236}">
                  <a16:creationId xmlns:a16="http://schemas.microsoft.com/office/drawing/2014/main" id="{104010F3-52E8-4224-A609-A3572E9A0BA9}"/>
                </a:ext>
              </a:extLst>
            </p:cNvPr>
            <p:cNvSpPr txBox="1"/>
            <p:nvPr/>
          </p:nvSpPr>
          <p:spPr>
            <a:xfrm>
              <a:off x="9980724" y="1738704"/>
              <a:ext cx="3304903" cy="5355312"/>
            </a:xfrm>
            <a:prstGeom prst="rect">
              <a:avLst/>
            </a:prstGeom>
            <a:noFill/>
          </p:spPr>
          <p:txBody>
            <a:bodyPr wrap="square" rtlCol="0">
              <a:spAutoFit/>
            </a:bodyPr>
            <a:lstStyle/>
            <a:p>
              <a:r>
                <a:rPr lang="en-US" dirty="0"/>
                <a:t>    int </a:t>
              </a:r>
              <a:r>
                <a:rPr lang="en-US" dirty="0" err="1"/>
                <a:t>get_Test</a:t>
              </a:r>
              <a:r>
                <a:rPr lang="en-US" dirty="0"/>
                <a:t>()</a:t>
              </a:r>
            </a:p>
            <a:p>
              <a:r>
                <a:rPr lang="en-US" dirty="0"/>
                <a:t>    {</a:t>
              </a:r>
            </a:p>
            <a:p>
              <a:r>
                <a:rPr lang="en-US" dirty="0"/>
                <a:t>        return testing;</a:t>
              </a:r>
            </a:p>
            <a:p>
              <a:r>
                <a:rPr lang="en-US" dirty="0"/>
                <a:t>    }</a:t>
              </a:r>
            </a:p>
            <a:p>
              <a:r>
                <a:rPr lang="en-US" dirty="0"/>
                <a:t>};</a:t>
              </a:r>
            </a:p>
            <a:p>
              <a:r>
                <a:rPr lang="en-US" dirty="0"/>
                <a:t>int main()</a:t>
              </a:r>
            </a:p>
            <a:p>
              <a:r>
                <a:rPr lang="en-US" dirty="0"/>
                <a:t>{</a:t>
              </a:r>
            </a:p>
            <a:p>
              <a:r>
                <a:rPr lang="en-US" dirty="0"/>
                <a:t>    test obj;</a:t>
              </a:r>
            </a:p>
            <a:p>
              <a:r>
                <a:rPr lang="en-US" dirty="0"/>
                <a:t>    test </a:t>
              </a:r>
              <a:r>
                <a:rPr lang="en-US" dirty="0" err="1"/>
                <a:t>objn</a:t>
              </a:r>
              <a:r>
                <a:rPr lang="en-US" dirty="0"/>
                <a:t>(1);</a:t>
              </a:r>
            </a:p>
            <a:p>
              <a:r>
                <a:rPr lang="en-US" dirty="0"/>
                <a:t>    test </a:t>
              </a:r>
              <a:r>
                <a:rPr lang="en-US" dirty="0" err="1"/>
                <a:t>objt</a:t>
              </a:r>
              <a:r>
                <a:rPr lang="en-US" dirty="0"/>
                <a:t>[5];</a:t>
              </a:r>
            </a:p>
            <a:p>
              <a:r>
                <a:rPr lang="en-US" dirty="0"/>
                <a:t>    for(int </a:t>
              </a:r>
              <a:r>
                <a:rPr lang="en-US" dirty="0" err="1"/>
                <a:t>i</a:t>
              </a:r>
              <a:r>
                <a:rPr lang="en-US" dirty="0"/>
                <a:t>=0, </a:t>
              </a:r>
              <a:r>
                <a:rPr lang="en-US" dirty="0" err="1"/>
                <a:t>i</a:t>
              </a:r>
              <a:r>
                <a:rPr lang="en-US" dirty="0"/>
                <a:t>&lt;5; </a:t>
              </a:r>
              <a:r>
                <a:rPr lang="en-US" dirty="0" err="1"/>
                <a:t>i</a:t>
              </a:r>
              <a:r>
                <a:rPr lang="en-US" dirty="0"/>
                <a:t>++)</a:t>
              </a:r>
            </a:p>
            <a:p>
              <a:r>
                <a:rPr lang="en-US" dirty="0"/>
                <a:t>        </a:t>
              </a:r>
              <a:r>
                <a:rPr lang="en-US" dirty="0" err="1"/>
                <a:t>objt</a:t>
              </a:r>
              <a:r>
                <a:rPr lang="en-US" dirty="0"/>
                <a:t>[</a:t>
              </a:r>
              <a:r>
                <a:rPr lang="en-US" dirty="0" err="1"/>
                <a:t>i</a:t>
              </a:r>
              <a:r>
                <a:rPr lang="en-US" dirty="0"/>
                <a:t>] = i+1;</a:t>
              </a:r>
            </a:p>
            <a:p>
              <a:r>
                <a:rPr lang="en-US" dirty="0"/>
                <a:t>    test </a:t>
              </a:r>
              <a:r>
                <a:rPr lang="en-US" dirty="0" err="1"/>
                <a:t>arr</a:t>
              </a:r>
              <a:r>
                <a:rPr lang="en-US" dirty="0"/>
                <a:t>[] = { test(10), test(20), </a:t>
              </a:r>
            </a:p>
            <a:p>
              <a:r>
                <a:rPr lang="en-US" dirty="0"/>
                <a:t>    test(30), test(40), test(50) };</a:t>
              </a:r>
            </a:p>
            <a:p>
              <a:r>
                <a:rPr lang="en-US" dirty="0"/>
                <a:t>    </a:t>
              </a:r>
              <a:r>
                <a:rPr lang="en-US" dirty="0" err="1"/>
                <a:t>cout</a:t>
              </a:r>
              <a:r>
                <a:rPr lang="en-US" dirty="0"/>
                <a:t> &lt;&lt; </a:t>
              </a:r>
              <a:r>
                <a:rPr lang="en-US" dirty="0" err="1"/>
                <a:t>arr</a:t>
              </a:r>
              <a:r>
                <a:rPr lang="en-US" dirty="0"/>
                <a:t>[1].</a:t>
              </a:r>
              <a:r>
                <a:rPr lang="en-US" dirty="0" err="1"/>
                <a:t>get_Test</a:t>
              </a:r>
              <a:r>
                <a:rPr lang="en-US" dirty="0"/>
                <a:t> &lt;&lt; </a:t>
              </a:r>
              <a:r>
                <a:rPr lang="en-US" dirty="0" err="1"/>
                <a:t>endl</a:t>
              </a:r>
              <a:r>
                <a:rPr lang="en-US" dirty="0"/>
                <a:t>;</a:t>
              </a:r>
            </a:p>
            <a:p>
              <a:r>
                <a:rPr lang="en-US" dirty="0"/>
                <a:t>    </a:t>
              </a:r>
              <a:r>
                <a:rPr lang="en-US" dirty="0" err="1"/>
                <a:t>arr</a:t>
              </a:r>
              <a:r>
                <a:rPr lang="en-US" dirty="0"/>
                <a:t>[0].</a:t>
              </a:r>
              <a:r>
                <a:rPr lang="en-US" dirty="0" err="1"/>
                <a:t>set_Test</a:t>
              </a:r>
              <a:r>
                <a:rPr lang="en-US" dirty="0"/>
                <a:t>(5);</a:t>
              </a:r>
            </a:p>
            <a:p>
              <a:r>
                <a:rPr lang="en-US" dirty="0"/>
                <a:t>    </a:t>
              </a:r>
              <a:r>
                <a:rPr lang="en-US" dirty="0" err="1"/>
                <a:t>cout</a:t>
              </a:r>
              <a:r>
                <a:rPr lang="en-US" dirty="0"/>
                <a:t> &lt;&lt; </a:t>
              </a:r>
              <a:r>
                <a:rPr lang="en-US" dirty="0" err="1"/>
                <a:t>arr</a:t>
              </a:r>
              <a:r>
                <a:rPr lang="en-US" dirty="0"/>
                <a:t>[0].</a:t>
              </a:r>
              <a:r>
                <a:rPr lang="en-US" dirty="0" err="1"/>
                <a:t>get_Test</a:t>
              </a:r>
              <a:r>
                <a:rPr lang="en-US" dirty="0"/>
                <a:t> &lt;&lt; </a:t>
              </a:r>
              <a:r>
                <a:rPr lang="en-US" dirty="0" err="1"/>
                <a:t>endl</a:t>
              </a:r>
              <a:r>
                <a:rPr lang="en-US" dirty="0"/>
                <a:t>;</a:t>
              </a:r>
            </a:p>
            <a:p>
              <a:r>
                <a:rPr lang="en-US" dirty="0"/>
                <a:t>    return 0;</a:t>
              </a:r>
            </a:p>
            <a:p>
              <a:r>
                <a:rPr lang="en-US" dirty="0"/>
                <a:t>}</a:t>
              </a:r>
            </a:p>
          </p:txBody>
        </p:sp>
      </p:grpSp>
      <p:grpSp>
        <p:nvGrpSpPr>
          <p:cNvPr id="41" name="Group 40">
            <a:extLst>
              <a:ext uri="{FF2B5EF4-FFF2-40B4-BE49-F238E27FC236}">
                <a16:creationId xmlns:a16="http://schemas.microsoft.com/office/drawing/2014/main" id="{0D2C2C58-7BE7-4244-B643-606C6282AC1C}"/>
              </a:ext>
            </a:extLst>
          </p:cNvPr>
          <p:cNvGrpSpPr/>
          <p:nvPr/>
        </p:nvGrpSpPr>
        <p:grpSpPr>
          <a:xfrm>
            <a:off x="15311564" y="1551661"/>
            <a:ext cx="7710249" cy="6108981"/>
            <a:chOff x="5947243" y="1558915"/>
            <a:chExt cx="7710249" cy="6108981"/>
          </a:xfrm>
        </p:grpSpPr>
        <p:sp>
          <p:nvSpPr>
            <p:cNvPr id="42" name="Shape 1">
              <a:extLst>
                <a:ext uri="{FF2B5EF4-FFF2-40B4-BE49-F238E27FC236}">
                  <a16:creationId xmlns:a16="http://schemas.microsoft.com/office/drawing/2014/main" id="{7AEA0F5E-7340-4A39-A00B-C055B6628CDA}"/>
                </a:ext>
              </a:extLst>
            </p:cNvPr>
            <p:cNvSpPr/>
            <p:nvPr/>
          </p:nvSpPr>
          <p:spPr>
            <a:xfrm>
              <a:off x="5947243" y="1558915"/>
              <a:ext cx="7710249" cy="6108981"/>
            </a:xfrm>
            <a:prstGeom prst="roundRect">
              <a:avLst>
                <a:gd name="adj" fmla="val 7099"/>
              </a:avLst>
            </a:prstGeom>
            <a:solidFill>
              <a:srgbClr val="BDD4FA"/>
            </a:solidFill>
            <a:ln w="7620">
              <a:solidFill>
                <a:srgbClr val="B2D4E5"/>
              </a:solidFill>
              <a:prstDash val="solid"/>
            </a:ln>
            <a:effectLst>
              <a:outerShdw blurRad="50800" dist="38100" dir="8100000" algn="tr" rotWithShape="0">
                <a:prstClr val="black">
                  <a:alpha val="40000"/>
                </a:prstClr>
              </a:outerShdw>
            </a:effectLst>
          </p:spPr>
          <p:txBody>
            <a:bodyPr/>
            <a:lstStyle/>
            <a:p>
              <a:r>
                <a:rPr lang="en-US" dirty="0"/>
                <a:t>#include &lt;iostream&gt;</a:t>
              </a:r>
            </a:p>
            <a:p>
              <a:r>
                <a:rPr lang="en-US" dirty="0"/>
                <a:t>using namespace std;</a:t>
              </a:r>
            </a:p>
            <a:p>
              <a:endParaRPr lang="en-US" dirty="0"/>
            </a:p>
            <a:p>
              <a:r>
                <a:rPr lang="en-US" dirty="0"/>
                <a:t>class test</a:t>
              </a:r>
            </a:p>
            <a:p>
              <a:r>
                <a:rPr lang="en-US" dirty="0"/>
                <a:t>{</a:t>
              </a:r>
            </a:p>
            <a:p>
              <a:r>
                <a:rPr lang="en-US" dirty="0"/>
                <a:t>     private:</a:t>
              </a:r>
            </a:p>
            <a:p>
              <a:r>
                <a:rPr lang="en-US" dirty="0"/>
                <a:t>         int testing;</a:t>
              </a:r>
            </a:p>
            <a:p>
              <a:r>
                <a:rPr lang="en-US" dirty="0"/>
                <a:t>     public:</a:t>
              </a:r>
            </a:p>
            <a:p>
              <a:r>
                <a:rPr lang="en-US" dirty="0"/>
                <a:t>         test()</a:t>
              </a:r>
            </a:p>
            <a:p>
              <a:r>
                <a:rPr lang="en-US" dirty="0"/>
                <a:t>         {</a:t>
              </a:r>
            </a:p>
            <a:p>
              <a:r>
                <a:rPr lang="en-US" dirty="0"/>
                <a:t>             testing = 0;</a:t>
              </a:r>
            </a:p>
            <a:p>
              <a:r>
                <a:rPr lang="en-US" dirty="0"/>
                <a:t>         }</a:t>
              </a:r>
            </a:p>
            <a:p>
              <a:r>
                <a:rPr lang="en-US" dirty="0"/>
                <a:t>         test(int t)</a:t>
              </a:r>
            </a:p>
            <a:p>
              <a:r>
                <a:rPr lang="en-US" dirty="0"/>
                <a:t>         {</a:t>
              </a:r>
            </a:p>
            <a:p>
              <a:r>
                <a:rPr lang="en-US" dirty="0"/>
                <a:t>              testing = t;</a:t>
              </a:r>
            </a:p>
            <a:p>
              <a:r>
                <a:rPr lang="en-US" dirty="0"/>
                <a:t>         }</a:t>
              </a:r>
            </a:p>
            <a:p>
              <a:r>
                <a:rPr lang="en-US" dirty="0"/>
                <a:t>         void </a:t>
              </a:r>
              <a:r>
                <a:rPr lang="en-US" dirty="0" err="1"/>
                <a:t>set_Test</a:t>
              </a:r>
              <a:r>
                <a:rPr lang="en-US" dirty="0"/>
                <a:t>(int t)</a:t>
              </a:r>
            </a:p>
            <a:p>
              <a:r>
                <a:rPr lang="en-US" dirty="0"/>
                <a:t>         {</a:t>
              </a:r>
            </a:p>
            <a:p>
              <a:r>
                <a:rPr lang="en-US" dirty="0"/>
                <a:t>              testing = t;</a:t>
              </a:r>
            </a:p>
            <a:p>
              <a:r>
                <a:rPr lang="en-US" dirty="0"/>
                <a:t>         }</a:t>
              </a:r>
            </a:p>
            <a:p>
              <a:r>
                <a:rPr lang="en-US" dirty="0"/>
                <a:t>         </a:t>
              </a:r>
            </a:p>
          </p:txBody>
        </p:sp>
        <p:sp>
          <p:nvSpPr>
            <p:cNvPr id="43" name="TextBox 42">
              <a:extLst>
                <a:ext uri="{FF2B5EF4-FFF2-40B4-BE49-F238E27FC236}">
                  <a16:creationId xmlns:a16="http://schemas.microsoft.com/office/drawing/2014/main" id="{906069C1-225F-4D54-9EC9-DD66B76790FF}"/>
                </a:ext>
              </a:extLst>
            </p:cNvPr>
            <p:cNvSpPr txBox="1"/>
            <p:nvPr/>
          </p:nvSpPr>
          <p:spPr>
            <a:xfrm>
              <a:off x="9980724" y="1738704"/>
              <a:ext cx="3304903" cy="4524315"/>
            </a:xfrm>
            <a:prstGeom prst="rect">
              <a:avLst/>
            </a:prstGeom>
            <a:noFill/>
          </p:spPr>
          <p:txBody>
            <a:bodyPr wrap="square" rtlCol="0">
              <a:spAutoFit/>
            </a:bodyPr>
            <a:lstStyle/>
            <a:p>
              <a:r>
                <a:rPr lang="en-US" dirty="0"/>
                <a:t>Int </a:t>
              </a:r>
              <a:r>
                <a:rPr lang="en-US" dirty="0" err="1"/>
                <a:t>get_Test</a:t>
              </a:r>
              <a:r>
                <a:rPr lang="en-US" dirty="0"/>
                <a:t>() { return testing; }</a:t>
              </a:r>
            </a:p>
            <a:p>
              <a:r>
                <a:rPr lang="en-US" dirty="0"/>
                <a:t>};</a:t>
              </a:r>
            </a:p>
            <a:p>
              <a:r>
                <a:rPr lang="en-US" dirty="0"/>
                <a:t>int main()</a:t>
              </a:r>
            </a:p>
            <a:p>
              <a:r>
                <a:rPr lang="en-US" dirty="0"/>
                <a:t>{</a:t>
              </a:r>
            </a:p>
            <a:p>
              <a:r>
                <a:rPr lang="en-US" dirty="0"/>
                <a:t>    int t;</a:t>
              </a:r>
            </a:p>
            <a:p>
              <a:r>
                <a:rPr lang="en-US" dirty="0"/>
                <a:t>    </a:t>
              </a:r>
              <a:r>
                <a:rPr lang="en-US" dirty="0" err="1"/>
                <a:t>cout</a:t>
              </a:r>
              <a:r>
                <a:rPr lang="en-US" dirty="0"/>
                <a:t> &lt;&lt; “Enter the Number: “;</a:t>
              </a:r>
            </a:p>
            <a:p>
              <a:r>
                <a:rPr lang="en-US" dirty="0"/>
                <a:t>    </a:t>
              </a:r>
              <a:r>
                <a:rPr lang="en-US" dirty="0" err="1"/>
                <a:t>cin</a:t>
              </a:r>
              <a:r>
                <a:rPr lang="en-US" dirty="0"/>
                <a:t> &gt;&gt; t;</a:t>
              </a:r>
            </a:p>
            <a:p>
              <a:r>
                <a:rPr lang="en-US" dirty="0"/>
                <a:t>    test obj[5];</a:t>
              </a:r>
            </a:p>
            <a:p>
              <a:r>
                <a:rPr lang="en-US" dirty="0"/>
                <a:t>    obj[0].</a:t>
              </a:r>
              <a:r>
                <a:rPr lang="en-US" dirty="0" err="1"/>
                <a:t>set_Test</a:t>
              </a:r>
              <a:r>
                <a:rPr lang="en-US" dirty="0"/>
                <a:t>(t);</a:t>
              </a:r>
            </a:p>
            <a:p>
              <a:r>
                <a:rPr lang="en-US" dirty="0"/>
                <a:t>    obj[1].</a:t>
              </a:r>
              <a:r>
                <a:rPr lang="en-US" dirty="0" err="1"/>
                <a:t>set_Test</a:t>
              </a:r>
              <a:r>
                <a:rPr lang="en-US" dirty="0"/>
                <a:t>(2);</a:t>
              </a:r>
            </a:p>
            <a:p>
              <a:r>
                <a:rPr lang="en-US" dirty="0"/>
                <a:t>    </a:t>
              </a:r>
              <a:r>
                <a:rPr lang="en-US" dirty="0" err="1"/>
                <a:t>cout</a:t>
              </a:r>
              <a:r>
                <a:rPr lang="en-US" dirty="0"/>
                <a:t> &lt;&lt; “OBJ[0]: “ &lt;&lt; obj[0].</a:t>
              </a:r>
              <a:r>
                <a:rPr lang="en-US" dirty="0" err="1"/>
                <a:t>get_Test</a:t>
              </a:r>
              <a:r>
                <a:rPr lang="en-US" dirty="0"/>
                <a:t> &lt;&lt; </a:t>
              </a:r>
              <a:r>
                <a:rPr lang="en-US" dirty="0" err="1"/>
                <a:t>endl</a:t>
              </a:r>
              <a:r>
                <a:rPr lang="en-US" dirty="0"/>
                <a:t>;</a:t>
              </a:r>
            </a:p>
            <a:p>
              <a:r>
                <a:rPr lang="en-US" dirty="0"/>
                <a:t>    </a:t>
              </a:r>
              <a:r>
                <a:rPr lang="en-US" dirty="0" err="1"/>
                <a:t>cout</a:t>
              </a:r>
              <a:r>
                <a:rPr lang="en-US" dirty="0"/>
                <a:t> &lt;&lt; “OBJ[1]: “ &lt;&lt; obj[1].</a:t>
              </a:r>
              <a:r>
                <a:rPr lang="en-US" dirty="0" err="1"/>
                <a:t>get_Test</a:t>
              </a:r>
              <a:r>
                <a:rPr lang="en-US" dirty="0"/>
                <a:t> &lt;&lt; </a:t>
              </a:r>
              <a:r>
                <a:rPr lang="en-US" dirty="0" err="1"/>
                <a:t>endl</a:t>
              </a:r>
              <a:r>
                <a:rPr lang="en-US" dirty="0"/>
                <a:t>;</a:t>
              </a:r>
            </a:p>
            <a:p>
              <a:r>
                <a:rPr lang="en-US" dirty="0"/>
                <a:t>    return 0;</a:t>
              </a:r>
            </a:p>
            <a:p>
              <a:r>
                <a:rPr lang="en-US" dirty="0"/>
                <a:t>}</a:t>
              </a:r>
            </a:p>
          </p:txBody>
        </p:sp>
      </p:grpSp>
      <p:pic>
        <p:nvPicPr>
          <p:cNvPr id="44" name="Image 0" descr="preencoded.png">
            <a:extLst>
              <a:ext uri="{FF2B5EF4-FFF2-40B4-BE49-F238E27FC236}">
                <a16:creationId xmlns:a16="http://schemas.microsoft.com/office/drawing/2014/main" id="{688A3EC0-4841-433C-AB49-AD0A4706D35A}"/>
              </a:ext>
            </a:extLst>
          </p:cNvPr>
          <p:cNvPicPr>
            <a:picLocks noChangeAspect="1"/>
          </p:cNvPicPr>
          <p:nvPr/>
        </p:nvPicPr>
        <p:blipFill>
          <a:blip r:embed="rId9">
            <a:duotone>
              <a:prstClr val="black"/>
              <a:schemeClr val="accent5">
                <a:tint val="45000"/>
                <a:satMod val="400000"/>
              </a:schemeClr>
            </a:duotone>
          </a:blip>
          <a:stretch>
            <a:fillRect/>
          </a:stretch>
        </p:blipFill>
        <p:spPr>
          <a:xfrm>
            <a:off x="-6200307" y="-530087"/>
            <a:ext cx="5486400" cy="9183757"/>
          </a:xfrm>
          <a:prstGeom prst="rect">
            <a:avLst/>
          </a:prstGeom>
          <a:ln>
            <a:noFill/>
          </a:ln>
          <a:effectLst>
            <a:softEdge rad="317500"/>
          </a:effectLst>
        </p:spPr>
      </p:pic>
      <p:pic>
        <p:nvPicPr>
          <p:cNvPr id="3" name="Picture 2">
            <a:extLst>
              <a:ext uri="{FF2B5EF4-FFF2-40B4-BE49-F238E27FC236}">
                <a16:creationId xmlns:a16="http://schemas.microsoft.com/office/drawing/2014/main" id="{2635423E-8C19-41CA-8D89-DDE38967E43F}"/>
              </a:ext>
            </a:extLst>
          </p:cNvPr>
          <p:cNvPicPr>
            <a:picLocks noChangeAspect="1"/>
          </p:cNvPicPr>
          <p:nvPr/>
        </p:nvPicPr>
        <p:blipFill>
          <a:blip r:embed="rId10"/>
          <a:stretch>
            <a:fillRect/>
          </a:stretch>
        </p:blipFill>
        <p:spPr>
          <a:xfrm>
            <a:off x="668961" y="1393817"/>
            <a:ext cx="4817908" cy="6090977"/>
          </a:xfrm>
          <a:prstGeom prst="rect">
            <a:avLst/>
          </a:prstGeom>
          <a:ln>
            <a:noFill/>
          </a:ln>
          <a:effectLst>
            <a:outerShdw blurRad="292100" dist="139700" dir="2700000" algn="tl" rotWithShape="0">
              <a:srgbClr val="333333">
                <a:alpha val="65000"/>
              </a:srgbClr>
            </a:outerShdw>
          </a:effectLst>
        </p:spPr>
      </p:pic>
      <p:pic>
        <p:nvPicPr>
          <p:cNvPr id="4" name="Picture 3">
            <a:extLst>
              <a:ext uri="{FF2B5EF4-FFF2-40B4-BE49-F238E27FC236}">
                <a16:creationId xmlns:a16="http://schemas.microsoft.com/office/drawing/2014/main" id="{B373C600-1E16-48B0-AB59-F9E8C8F7B08B}"/>
              </a:ext>
            </a:extLst>
          </p:cNvPr>
          <p:cNvPicPr>
            <a:picLocks noChangeAspect="1"/>
          </p:cNvPicPr>
          <p:nvPr/>
        </p:nvPicPr>
        <p:blipFill>
          <a:blip r:embed="rId11"/>
          <a:stretch>
            <a:fillRect/>
          </a:stretch>
        </p:blipFill>
        <p:spPr>
          <a:xfrm>
            <a:off x="5719991" y="1411604"/>
            <a:ext cx="8096594" cy="4953691"/>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78EA466F-1F10-4B54-B47A-3F49B0A558A7}"/>
              </a:ext>
            </a:extLst>
          </p:cNvPr>
          <p:cNvPicPr>
            <a:picLocks noChangeAspect="1"/>
          </p:cNvPicPr>
          <p:nvPr/>
        </p:nvPicPr>
        <p:blipFill>
          <a:blip r:embed="rId12"/>
          <a:stretch>
            <a:fillRect/>
          </a:stretch>
        </p:blipFill>
        <p:spPr>
          <a:xfrm>
            <a:off x="15199453" y="1444080"/>
            <a:ext cx="5682358" cy="5930051"/>
          </a:xfrm>
          <a:prstGeom prst="rect">
            <a:avLst/>
          </a:prstGeom>
        </p:spPr>
      </p:pic>
    </p:spTree>
    <p:extLst>
      <p:ext uri="{BB962C8B-B14F-4D97-AF65-F5344CB8AC3E}">
        <p14:creationId xmlns:p14="http://schemas.microsoft.com/office/powerpoint/2010/main" val="113361725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B44567E-66ED-4DCC-9689-AC3D578871F2}"/>
              </a:ext>
            </a:extLst>
          </p:cNvPr>
          <p:cNvPicPr>
            <a:picLocks noChangeAspect="1"/>
          </p:cNvPicPr>
          <p:nvPr/>
        </p:nvPicPr>
        <p:blipFill>
          <a:blip r:embed="rId2"/>
          <a:stretch>
            <a:fillRect/>
          </a:stretch>
        </p:blipFill>
        <p:spPr>
          <a:xfrm>
            <a:off x="0" y="0"/>
            <a:ext cx="14630400" cy="8238744"/>
          </a:xfrm>
          <a:prstGeom prst="rect">
            <a:avLst/>
          </a:prstGeom>
        </p:spPr>
      </p:pic>
      <p:sp>
        <p:nvSpPr>
          <p:cNvPr id="5" name="Text 6">
            <a:extLst>
              <a:ext uri="{FF2B5EF4-FFF2-40B4-BE49-F238E27FC236}">
                <a16:creationId xmlns:a16="http://schemas.microsoft.com/office/drawing/2014/main" id="{92697262-D43A-4A33-A5FD-A5E86BC69C9A}"/>
              </a:ext>
            </a:extLst>
          </p:cNvPr>
          <p:cNvSpPr/>
          <p:nvPr/>
        </p:nvSpPr>
        <p:spPr>
          <a:xfrm>
            <a:off x="4453717" y="-103442"/>
            <a:ext cx="8010144" cy="1481328"/>
          </a:xfrm>
          <a:prstGeom prst="rect">
            <a:avLst/>
          </a:prstGeom>
          <a:noFill/>
          <a:ln/>
        </p:spPr>
        <p:txBody>
          <a:bodyPr wrap="square" lIns="0" tIns="0" rIns="0" bIns="0" rtlCol="0" anchor="ctr"/>
          <a:lstStyle/>
          <a:p>
            <a:pPr marL="0" indent="0" algn="l">
              <a:lnSpc>
                <a:spcPts val="5800"/>
              </a:lnSpc>
              <a:buNone/>
            </a:pPr>
            <a:r>
              <a:rPr lang="en-US" sz="4640" dirty="0">
                <a:solidFill>
                  <a:srgbClr val="0C266F"/>
                </a:solidFill>
                <a:latin typeface="Berlin Sans FB Demi" panose="020E0802020502020306" pitchFamily="34" charset="0"/>
                <a:ea typeface="思源宋体-思源宋体-SemiBold" pitchFamily="34" charset="-122"/>
                <a:cs typeface="思源宋体-思源宋体-SemiBold" pitchFamily="34" charset="-120"/>
              </a:rPr>
              <a:t>Creating Arrays of Objects</a:t>
            </a:r>
            <a:endParaRPr lang="en-US" sz="4640" dirty="0">
              <a:latin typeface="Berlin Sans FB Demi" panose="020E0802020502020306" pitchFamily="34" charset="0"/>
            </a:endParaRPr>
          </a:p>
        </p:txBody>
      </p:sp>
      <p:pic>
        <p:nvPicPr>
          <p:cNvPr id="8" name="Image 1" descr="preencoded.png">
            <a:extLst>
              <a:ext uri="{FF2B5EF4-FFF2-40B4-BE49-F238E27FC236}">
                <a16:creationId xmlns:a16="http://schemas.microsoft.com/office/drawing/2014/main" id="{5448765A-A842-4A02-A776-8C3C09A547F8}"/>
              </a:ext>
            </a:extLst>
          </p:cNvPr>
          <p:cNvPicPr>
            <a:picLocks noChangeAspect="1"/>
          </p:cNvPicPr>
          <p:nvPr/>
        </p:nvPicPr>
        <p:blipFill>
          <a:blip r:embed="rId3"/>
          <a:stretch>
            <a:fillRect/>
          </a:stretch>
        </p:blipFill>
        <p:spPr>
          <a:xfrm>
            <a:off x="5285573" y="10645186"/>
            <a:ext cx="754380" cy="1597343"/>
          </a:xfrm>
          <a:prstGeom prst="rect">
            <a:avLst/>
          </a:prstGeom>
        </p:spPr>
      </p:pic>
      <p:sp>
        <p:nvSpPr>
          <p:cNvPr id="9" name="Text 1">
            <a:extLst>
              <a:ext uri="{FF2B5EF4-FFF2-40B4-BE49-F238E27FC236}">
                <a16:creationId xmlns:a16="http://schemas.microsoft.com/office/drawing/2014/main" id="{0206DD59-3508-4B8F-87EB-0E2E692E2FD2}"/>
              </a:ext>
            </a:extLst>
          </p:cNvPr>
          <p:cNvSpPr/>
          <p:nvPr/>
        </p:nvSpPr>
        <p:spPr>
          <a:xfrm>
            <a:off x="6266172" y="10796038"/>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Petrona Bold" pitchFamily="34" charset="0"/>
                <a:ea typeface="Petrona Bold" pitchFamily="34" charset="-122"/>
                <a:cs typeface="Petrona Bold" pitchFamily="34" charset="-120"/>
              </a:rPr>
              <a:t>Class Definition</a:t>
            </a:r>
            <a:endParaRPr lang="en-US" sz="1550" dirty="0"/>
          </a:p>
        </p:txBody>
      </p:sp>
      <p:sp>
        <p:nvSpPr>
          <p:cNvPr id="10" name="Shape 3">
            <a:extLst>
              <a:ext uri="{FF2B5EF4-FFF2-40B4-BE49-F238E27FC236}">
                <a16:creationId xmlns:a16="http://schemas.microsoft.com/office/drawing/2014/main" id="{9160C953-14D9-4F86-ABDF-9B76C76ACD96}"/>
              </a:ext>
            </a:extLst>
          </p:cNvPr>
          <p:cNvSpPr/>
          <p:nvPr/>
        </p:nvSpPr>
        <p:spPr>
          <a:xfrm>
            <a:off x="6258671" y="11213114"/>
            <a:ext cx="7457328" cy="467558"/>
          </a:xfrm>
          <a:prstGeom prst="roundRect">
            <a:avLst>
              <a:gd name="adj" fmla="val 21847"/>
            </a:avLst>
          </a:prstGeom>
          <a:solidFill>
            <a:srgbClr val="CCEEFF"/>
          </a:solidFill>
          <a:ln/>
        </p:spPr>
        <p:txBody>
          <a:bodyPr/>
          <a:lstStyle/>
          <a:p>
            <a:pPr lvl="0">
              <a:lnSpc>
                <a:spcPts val="1900"/>
              </a:lnSpc>
            </a:pPr>
            <a:r>
              <a:rPr lang="en-US" sz="1150" dirty="0">
                <a:solidFill>
                  <a:srgbClr val="272525"/>
                </a:solidFill>
                <a:highlight>
                  <a:srgbClr val="CCEEFF"/>
                </a:highlight>
                <a:latin typeface="Consolas" pitchFamily="34" charset="0"/>
                <a:ea typeface="Consolas" pitchFamily="34" charset="-122"/>
                <a:cs typeface="Consolas" pitchFamily="34" charset="-120"/>
              </a:rPr>
              <a:t>class Rectangle { float width; float height };</a:t>
            </a:r>
            <a:endParaRPr lang="en-US" sz="1150" dirty="0">
              <a:solidFill>
                <a:prstClr val="black"/>
              </a:solidFill>
            </a:endParaRPr>
          </a:p>
          <a:p>
            <a:endParaRPr lang="en-US" dirty="0"/>
          </a:p>
        </p:txBody>
      </p:sp>
      <p:sp>
        <p:nvSpPr>
          <p:cNvPr id="11" name="Text 5">
            <a:extLst>
              <a:ext uri="{FF2B5EF4-FFF2-40B4-BE49-F238E27FC236}">
                <a16:creationId xmlns:a16="http://schemas.microsoft.com/office/drawing/2014/main" id="{2CE74AFE-F9A9-4FA2-8693-17680789A668}"/>
              </a:ext>
            </a:extLst>
          </p:cNvPr>
          <p:cNvSpPr/>
          <p:nvPr/>
        </p:nvSpPr>
        <p:spPr>
          <a:xfrm>
            <a:off x="6266172" y="11850336"/>
            <a:ext cx="7449827" cy="322898"/>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Inter" pitchFamily="34" charset="0"/>
                <a:ea typeface="Inter" pitchFamily="34" charset="-122"/>
                <a:cs typeface="Inter" pitchFamily="34" charset="-120"/>
              </a:rPr>
              <a:t>Defines a simple Rectangle class with width, height, and area calculation.</a:t>
            </a:r>
            <a:endParaRPr lang="en-US" sz="1150" dirty="0"/>
          </a:p>
        </p:txBody>
      </p:sp>
      <p:pic>
        <p:nvPicPr>
          <p:cNvPr id="12" name="Image 2" descr="preencoded.png">
            <a:extLst>
              <a:ext uri="{FF2B5EF4-FFF2-40B4-BE49-F238E27FC236}">
                <a16:creationId xmlns:a16="http://schemas.microsoft.com/office/drawing/2014/main" id="{55F5943E-56BE-4267-88DF-FDFF4CFA0495}"/>
              </a:ext>
            </a:extLst>
          </p:cNvPr>
          <p:cNvPicPr>
            <a:picLocks noChangeAspect="1"/>
          </p:cNvPicPr>
          <p:nvPr/>
        </p:nvPicPr>
        <p:blipFill>
          <a:blip r:embed="rId4"/>
          <a:stretch>
            <a:fillRect/>
          </a:stretch>
        </p:blipFill>
        <p:spPr>
          <a:xfrm>
            <a:off x="5285573" y="12242528"/>
            <a:ext cx="754380" cy="1597343"/>
          </a:xfrm>
          <a:prstGeom prst="rect">
            <a:avLst/>
          </a:prstGeom>
        </p:spPr>
      </p:pic>
      <p:sp>
        <p:nvSpPr>
          <p:cNvPr id="13" name="Text 6">
            <a:extLst>
              <a:ext uri="{FF2B5EF4-FFF2-40B4-BE49-F238E27FC236}">
                <a16:creationId xmlns:a16="http://schemas.microsoft.com/office/drawing/2014/main" id="{99B08316-741F-47BB-A323-C94E94326C4A}"/>
              </a:ext>
            </a:extLst>
          </p:cNvPr>
          <p:cNvSpPr/>
          <p:nvPr/>
        </p:nvSpPr>
        <p:spPr>
          <a:xfrm>
            <a:off x="6266172" y="12393380"/>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Petrona Bold" pitchFamily="34" charset="0"/>
                <a:ea typeface="Petrona Bold" pitchFamily="34" charset="-122"/>
                <a:cs typeface="Petrona Bold" pitchFamily="34" charset="-120"/>
              </a:rPr>
              <a:t>Array Initialization</a:t>
            </a:r>
            <a:endParaRPr lang="en-US" sz="1550" dirty="0"/>
          </a:p>
        </p:txBody>
      </p:sp>
      <p:sp>
        <p:nvSpPr>
          <p:cNvPr id="14" name="Shape 7">
            <a:extLst>
              <a:ext uri="{FF2B5EF4-FFF2-40B4-BE49-F238E27FC236}">
                <a16:creationId xmlns:a16="http://schemas.microsoft.com/office/drawing/2014/main" id="{ED3E3E1E-313C-4759-8F4B-4A6E616AB237}"/>
              </a:ext>
            </a:extLst>
          </p:cNvPr>
          <p:cNvSpPr/>
          <p:nvPr/>
        </p:nvSpPr>
        <p:spPr>
          <a:xfrm>
            <a:off x="6266172" y="12810456"/>
            <a:ext cx="7449827" cy="467558"/>
          </a:xfrm>
          <a:prstGeom prst="roundRect">
            <a:avLst>
              <a:gd name="adj" fmla="val 30560"/>
            </a:avLst>
          </a:prstGeom>
          <a:solidFill>
            <a:srgbClr val="CCEEFF"/>
          </a:solidFill>
          <a:ln/>
        </p:spPr>
        <p:txBody>
          <a:bodyPr/>
          <a:lstStyle/>
          <a:p>
            <a:pPr lvl="0">
              <a:lnSpc>
                <a:spcPts val="1900"/>
              </a:lnSpc>
            </a:pPr>
            <a:r>
              <a:rPr lang="en-US" sz="1150" dirty="0">
                <a:solidFill>
                  <a:srgbClr val="272525"/>
                </a:solidFill>
                <a:highlight>
                  <a:srgbClr val="CCEEFF"/>
                </a:highlight>
                <a:latin typeface="Consolas" pitchFamily="34" charset="0"/>
                <a:ea typeface="Consolas" pitchFamily="34" charset="-122"/>
                <a:cs typeface="Consolas" pitchFamily="34" charset="-120"/>
              </a:rPr>
              <a:t>Rectangle </a:t>
            </a:r>
            <a:r>
              <a:rPr lang="en-US" sz="1150" dirty="0" err="1">
                <a:solidFill>
                  <a:srgbClr val="272525"/>
                </a:solidFill>
                <a:highlight>
                  <a:srgbClr val="CCEEFF"/>
                </a:highlight>
                <a:latin typeface="Consolas" pitchFamily="34" charset="0"/>
                <a:ea typeface="Consolas" pitchFamily="34" charset="-122"/>
                <a:cs typeface="Consolas" pitchFamily="34" charset="-120"/>
              </a:rPr>
              <a:t>rects</a:t>
            </a:r>
            <a:r>
              <a:rPr lang="en-US" sz="1150" dirty="0">
                <a:solidFill>
                  <a:srgbClr val="272525"/>
                </a:solidFill>
                <a:highlight>
                  <a:srgbClr val="CCEEFF"/>
                </a:highlight>
                <a:latin typeface="Consolas" pitchFamily="34" charset="0"/>
                <a:ea typeface="Consolas" pitchFamily="34" charset="-122"/>
                <a:cs typeface="Consolas" pitchFamily="34" charset="-120"/>
              </a:rPr>
              <a:t>[] = { Rectangle(2,3), Rectangle(4,5), Rectangle(6,7), Rectangle(8,9) };</a:t>
            </a:r>
            <a:endParaRPr lang="en-US" sz="1150" dirty="0">
              <a:solidFill>
                <a:prstClr val="black"/>
              </a:solidFill>
            </a:endParaRPr>
          </a:p>
          <a:p>
            <a:endParaRPr lang="en-US" dirty="0"/>
          </a:p>
        </p:txBody>
      </p:sp>
      <p:sp>
        <p:nvSpPr>
          <p:cNvPr id="15" name="Text 10">
            <a:extLst>
              <a:ext uri="{FF2B5EF4-FFF2-40B4-BE49-F238E27FC236}">
                <a16:creationId xmlns:a16="http://schemas.microsoft.com/office/drawing/2014/main" id="{19F22EB9-2502-4308-9356-094AD471BA49}"/>
              </a:ext>
            </a:extLst>
          </p:cNvPr>
          <p:cNvSpPr/>
          <p:nvPr/>
        </p:nvSpPr>
        <p:spPr>
          <a:xfrm>
            <a:off x="6266172" y="13447679"/>
            <a:ext cx="7449827" cy="322898"/>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Inter" pitchFamily="34" charset="0"/>
                <a:ea typeface="Inter" pitchFamily="34" charset="-122"/>
                <a:cs typeface="Inter" pitchFamily="34" charset="-120"/>
              </a:rPr>
              <a:t>Initializes an array of Rectangle objects using parameterized constructors.</a:t>
            </a:r>
            <a:endParaRPr lang="en-US" sz="1150" dirty="0"/>
          </a:p>
        </p:txBody>
      </p:sp>
      <p:pic>
        <p:nvPicPr>
          <p:cNvPr id="16" name="Image 3" descr="preencoded.png">
            <a:extLst>
              <a:ext uri="{FF2B5EF4-FFF2-40B4-BE49-F238E27FC236}">
                <a16:creationId xmlns:a16="http://schemas.microsoft.com/office/drawing/2014/main" id="{3CBED436-5910-4DBE-8EE3-BDB01580D17D}"/>
              </a:ext>
            </a:extLst>
          </p:cNvPr>
          <p:cNvPicPr>
            <a:picLocks noChangeAspect="1"/>
          </p:cNvPicPr>
          <p:nvPr/>
        </p:nvPicPr>
        <p:blipFill>
          <a:blip r:embed="rId5"/>
          <a:stretch>
            <a:fillRect/>
          </a:stretch>
        </p:blipFill>
        <p:spPr>
          <a:xfrm>
            <a:off x="5285573" y="13839871"/>
            <a:ext cx="754380" cy="1597343"/>
          </a:xfrm>
          <a:prstGeom prst="rect">
            <a:avLst/>
          </a:prstGeom>
        </p:spPr>
      </p:pic>
      <p:sp>
        <p:nvSpPr>
          <p:cNvPr id="17" name="Text 11">
            <a:extLst>
              <a:ext uri="{FF2B5EF4-FFF2-40B4-BE49-F238E27FC236}">
                <a16:creationId xmlns:a16="http://schemas.microsoft.com/office/drawing/2014/main" id="{C8493D1F-D63A-4DE7-9473-9A2D099EBEAF}"/>
              </a:ext>
            </a:extLst>
          </p:cNvPr>
          <p:cNvSpPr/>
          <p:nvPr/>
        </p:nvSpPr>
        <p:spPr>
          <a:xfrm>
            <a:off x="6266172" y="13990723"/>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Petrona Bold" pitchFamily="34" charset="0"/>
                <a:ea typeface="Petrona Bold" pitchFamily="34" charset="-122"/>
                <a:cs typeface="Petrona Bold" pitchFamily="34" charset="-120"/>
              </a:rPr>
              <a:t>Accessing Member</a:t>
            </a:r>
            <a:endParaRPr lang="en-US" sz="1550" dirty="0"/>
          </a:p>
        </p:txBody>
      </p:sp>
      <p:sp>
        <p:nvSpPr>
          <p:cNvPr id="18" name="Shape 12">
            <a:extLst>
              <a:ext uri="{FF2B5EF4-FFF2-40B4-BE49-F238E27FC236}">
                <a16:creationId xmlns:a16="http://schemas.microsoft.com/office/drawing/2014/main" id="{D4913B6E-C226-4092-9212-9BAD662D0599}"/>
              </a:ext>
            </a:extLst>
          </p:cNvPr>
          <p:cNvSpPr/>
          <p:nvPr/>
        </p:nvSpPr>
        <p:spPr>
          <a:xfrm>
            <a:off x="6266172" y="14407799"/>
            <a:ext cx="7449827" cy="467558"/>
          </a:xfrm>
          <a:prstGeom prst="roundRect">
            <a:avLst>
              <a:gd name="adj" fmla="val 27726"/>
            </a:avLst>
          </a:prstGeom>
          <a:solidFill>
            <a:srgbClr val="CCEEFF"/>
          </a:solidFill>
          <a:ln/>
        </p:spPr>
        <p:txBody>
          <a:bodyPr/>
          <a:lstStyle/>
          <a:p>
            <a:pPr lvl="0">
              <a:lnSpc>
                <a:spcPts val="1900"/>
              </a:lnSpc>
            </a:pPr>
            <a:r>
              <a:rPr lang="en-US" sz="1150" dirty="0" err="1">
                <a:solidFill>
                  <a:srgbClr val="272525"/>
                </a:solidFill>
                <a:highlight>
                  <a:srgbClr val="CCEEFF"/>
                </a:highlight>
                <a:latin typeface="Consolas" pitchFamily="34" charset="0"/>
                <a:ea typeface="Consolas" pitchFamily="34" charset="-122"/>
                <a:cs typeface="Consolas" pitchFamily="34" charset="-120"/>
              </a:rPr>
              <a:t>cout</a:t>
            </a:r>
            <a:r>
              <a:rPr lang="en-US" sz="1150" dirty="0">
                <a:solidFill>
                  <a:srgbClr val="272525"/>
                </a:solidFill>
                <a:highlight>
                  <a:srgbClr val="CCEEFF"/>
                </a:highlight>
                <a:latin typeface="Consolas" pitchFamily="34" charset="0"/>
                <a:ea typeface="Consolas" pitchFamily="34" charset="-122"/>
                <a:cs typeface="Consolas" pitchFamily="34" charset="-120"/>
              </a:rPr>
              <a:t> &lt;&lt; </a:t>
            </a:r>
            <a:r>
              <a:rPr lang="en-US" sz="1150" dirty="0" err="1">
                <a:solidFill>
                  <a:srgbClr val="272525"/>
                </a:solidFill>
                <a:highlight>
                  <a:srgbClr val="CCEEFF"/>
                </a:highlight>
                <a:latin typeface="Consolas" pitchFamily="34" charset="0"/>
                <a:ea typeface="Consolas" pitchFamily="34" charset="-122"/>
                <a:cs typeface="Consolas" pitchFamily="34" charset="-120"/>
              </a:rPr>
              <a:t>rects</a:t>
            </a:r>
            <a:r>
              <a:rPr lang="en-US" sz="1150" dirty="0">
                <a:solidFill>
                  <a:srgbClr val="272525"/>
                </a:solidFill>
                <a:highlight>
                  <a:srgbClr val="CCEEFF"/>
                </a:highlight>
                <a:latin typeface="Consolas" pitchFamily="34" charset="0"/>
                <a:ea typeface="Consolas" pitchFamily="34" charset="-122"/>
                <a:cs typeface="Consolas" pitchFamily="34" charset="-120"/>
              </a:rPr>
              <a:t>[2].area();</a:t>
            </a:r>
            <a:endParaRPr lang="en-US" sz="1150" dirty="0">
              <a:solidFill>
                <a:prstClr val="black"/>
              </a:solidFill>
            </a:endParaRPr>
          </a:p>
          <a:p>
            <a:endParaRPr lang="en-US" dirty="0"/>
          </a:p>
        </p:txBody>
      </p:sp>
      <p:sp>
        <p:nvSpPr>
          <p:cNvPr id="19" name="Text 15">
            <a:extLst>
              <a:ext uri="{FF2B5EF4-FFF2-40B4-BE49-F238E27FC236}">
                <a16:creationId xmlns:a16="http://schemas.microsoft.com/office/drawing/2014/main" id="{F86CE81C-1669-40F4-9D8E-AB283AB230DB}"/>
              </a:ext>
            </a:extLst>
          </p:cNvPr>
          <p:cNvSpPr/>
          <p:nvPr/>
        </p:nvSpPr>
        <p:spPr>
          <a:xfrm>
            <a:off x="6266173" y="15045021"/>
            <a:ext cx="7449826" cy="241340"/>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Inter" pitchFamily="34" charset="0"/>
                <a:ea typeface="Inter" pitchFamily="34" charset="-122"/>
                <a:cs typeface="Inter" pitchFamily="34" charset="-120"/>
              </a:rPr>
              <a:t>Accesses the </a:t>
            </a:r>
            <a:r>
              <a:rPr lang="en-US" sz="1150" b="1" dirty="0">
                <a:solidFill>
                  <a:srgbClr val="272525"/>
                </a:solidFill>
                <a:latin typeface="Inter" pitchFamily="34" charset="0"/>
                <a:ea typeface="Inter" pitchFamily="34" charset="-122"/>
                <a:cs typeface="Inter" pitchFamily="34" charset="-120"/>
              </a:rPr>
              <a:t>area()</a:t>
            </a:r>
            <a:r>
              <a:rPr lang="en-US" sz="1150" dirty="0">
                <a:solidFill>
                  <a:srgbClr val="272525"/>
                </a:solidFill>
                <a:latin typeface="Inter" pitchFamily="34" charset="0"/>
                <a:ea typeface="Inter" pitchFamily="34" charset="-122"/>
                <a:cs typeface="Inter" pitchFamily="34" charset="-120"/>
              </a:rPr>
              <a:t> method of the third Rectangle object, outputting 42.</a:t>
            </a:r>
            <a:endParaRPr lang="en-US" sz="1150" dirty="0"/>
          </a:p>
        </p:txBody>
      </p:sp>
      <p:pic>
        <p:nvPicPr>
          <p:cNvPr id="20" name="Image 1" descr="preencoded.png">
            <a:extLst>
              <a:ext uri="{FF2B5EF4-FFF2-40B4-BE49-F238E27FC236}">
                <a16:creationId xmlns:a16="http://schemas.microsoft.com/office/drawing/2014/main" id="{56D04FE5-6B96-4EAC-96C6-20629154540B}"/>
              </a:ext>
            </a:extLst>
          </p:cNvPr>
          <p:cNvPicPr>
            <a:picLocks noChangeAspect="1"/>
          </p:cNvPicPr>
          <p:nvPr/>
        </p:nvPicPr>
        <p:blipFill>
          <a:blip r:embed="rId6"/>
          <a:stretch>
            <a:fillRect/>
          </a:stretch>
        </p:blipFill>
        <p:spPr>
          <a:xfrm>
            <a:off x="5404104" y="9777006"/>
            <a:ext cx="3831336" cy="2532888"/>
          </a:xfrm>
          <a:prstGeom prst="rect">
            <a:avLst/>
          </a:prstGeom>
          <a:ln>
            <a:noFill/>
          </a:ln>
          <a:effectLst>
            <a:outerShdw blurRad="292100" dist="139700" dir="2700000" algn="tl" rotWithShape="0">
              <a:srgbClr val="333333">
                <a:alpha val="65000"/>
              </a:srgbClr>
            </a:outerShdw>
          </a:effectLst>
        </p:spPr>
      </p:pic>
      <p:pic>
        <p:nvPicPr>
          <p:cNvPr id="21" name="Image 2" descr="preencoded.png">
            <a:extLst>
              <a:ext uri="{FF2B5EF4-FFF2-40B4-BE49-F238E27FC236}">
                <a16:creationId xmlns:a16="http://schemas.microsoft.com/office/drawing/2014/main" id="{5EDC8161-1776-4DFA-8FF7-7D4D5DDBC9DC}"/>
              </a:ext>
            </a:extLst>
          </p:cNvPr>
          <p:cNvPicPr>
            <a:picLocks noChangeAspect="1"/>
          </p:cNvPicPr>
          <p:nvPr/>
        </p:nvPicPr>
        <p:blipFill>
          <a:blip r:embed="rId7"/>
          <a:stretch>
            <a:fillRect/>
          </a:stretch>
        </p:blipFill>
        <p:spPr>
          <a:xfrm>
            <a:off x="5330954" y="9777006"/>
            <a:ext cx="3831336" cy="2532888"/>
          </a:xfrm>
          <a:prstGeom prst="rect">
            <a:avLst/>
          </a:prstGeom>
          <a:ln>
            <a:noFill/>
          </a:ln>
          <a:effectLst>
            <a:outerShdw blurRad="292100" dist="139700" dir="2700000" algn="tl" rotWithShape="0">
              <a:srgbClr val="333333">
                <a:alpha val="65000"/>
              </a:srgbClr>
            </a:outerShdw>
          </a:effectLst>
        </p:spPr>
      </p:pic>
      <p:pic>
        <p:nvPicPr>
          <p:cNvPr id="22" name="Image 3" descr="preencoded.png">
            <a:extLst>
              <a:ext uri="{FF2B5EF4-FFF2-40B4-BE49-F238E27FC236}">
                <a16:creationId xmlns:a16="http://schemas.microsoft.com/office/drawing/2014/main" id="{DA04EA89-ED14-4173-9965-8496A9C0C47C}"/>
              </a:ext>
            </a:extLst>
          </p:cNvPr>
          <p:cNvPicPr>
            <a:picLocks noChangeAspect="1"/>
          </p:cNvPicPr>
          <p:nvPr/>
        </p:nvPicPr>
        <p:blipFill>
          <a:blip r:embed="rId8"/>
          <a:stretch>
            <a:fillRect/>
          </a:stretch>
        </p:blipFill>
        <p:spPr>
          <a:xfrm>
            <a:off x="5367529" y="9810724"/>
            <a:ext cx="3831336" cy="2532888"/>
          </a:xfrm>
          <a:prstGeom prst="rect">
            <a:avLst/>
          </a:prstGeom>
          <a:ln>
            <a:noFill/>
          </a:ln>
          <a:effectLst>
            <a:outerShdw blurRad="292100" dist="139700" dir="2700000" algn="tl" rotWithShape="0">
              <a:srgbClr val="333333">
                <a:alpha val="65000"/>
              </a:srgbClr>
            </a:outerShdw>
          </a:effectLst>
        </p:spPr>
      </p:pic>
      <p:sp>
        <p:nvSpPr>
          <p:cNvPr id="23" name="Text 1">
            <a:extLst>
              <a:ext uri="{FF2B5EF4-FFF2-40B4-BE49-F238E27FC236}">
                <a16:creationId xmlns:a16="http://schemas.microsoft.com/office/drawing/2014/main" id="{F9368570-F579-494D-8969-CA8C630C29EF}"/>
              </a:ext>
            </a:extLst>
          </p:cNvPr>
          <p:cNvSpPr/>
          <p:nvPr/>
        </p:nvSpPr>
        <p:spPr>
          <a:xfrm>
            <a:off x="5404104" y="13041414"/>
            <a:ext cx="3831336" cy="713232"/>
          </a:xfrm>
          <a:prstGeom prst="rect">
            <a:avLst/>
          </a:prstGeom>
          <a:noFill/>
          <a:ln/>
        </p:spPr>
        <p:txBody>
          <a:bodyPr wrap="square" lIns="0" tIns="0" rIns="0" bIns="0" rtlCol="0" anchor="ctr"/>
          <a:lstStyle/>
          <a:p>
            <a:pPr marL="0" indent="0" algn="ct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Memory is managed automatically.</a:t>
            </a:r>
            <a:endParaRPr lang="en-US" sz="1850" dirty="0"/>
          </a:p>
        </p:txBody>
      </p:sp>
      <p:sp>
        <p:nvSpPr>
          <p:cNvPr id="24" name="Text 2">
            <a:extLst>
              <a:ext uri="{FF2B5EF4-FFF2-40B4-BE49-F238E27FC236}">
                <a16:creationId xmlns:a16="http://schemas.microsoft.com/office/drawing/2014/main" id="{FBCEA72C-29CA-40EE-A477-4FA150C7D5A9}"/>
              </a:ext>
            </a:extLst>
          </p:cNvPr>
          <p:cNvSpPr/>
          <p:nvPr/>
        </p:nvSpPr>
        <p:spPr>
          <a:xfrm>
            <a:off x="5330954" y="13041414"/>
            <a:ext cx="3831336" cy="713232"/>
          </a:xfrm>
          <a:prstGeom prst="rect">
            <a:avLst/>
          </a:prstGeom>
          <a:noFill/>
          <a:ln/>
        </p:spPr>
        <p:txBody>
          <a:bodyPr wrap="square" lIns="0" tIns="0" rIns="0" bIns="0" rtlCol="0" anchor="ctr"/>
          <a:lstStyle/>
          <a:p>
            <a:pPr marL="0" indent="0" algn="ct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Require custom constructors and destructors.</a:t>
            </a:r>
            <a:endParaRPr lang="en-US" sz="1850" dirty="0"/>
          </a:p>
        </p:txBody>
      </p:sp>
      <p:sp>
        <p:nvSpPr>
          <p:cNvPr id="25" name="Text 3">
            <a:extLst>
              <a:ext uri="{FF2B5EF4-FFF2-40B4-BE49-F238E27FC236}">
                <a16:creationId xmlns:a16="http://schemas.microsoft.com/office/drawing/2014/main" id="{2BCB548D-F75C-48E2-B201-715EDA30E3F9}"/>
              </a:ext>
            </a:extLst>
          </p:cNvPr>
          <p:cNvSpPr/>
          <p:nvPr/>
        </p:nvSpPr>
        <p:spPr>
          <a:xfrm>
            <a:off x="5330954" y="12529350"/>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Complex Objects</a:t>
            </a:r>
            <a:endParaRPr lang="en-US" sz="2320" dirty="0"/>
          </a:p>
        </p:txBody>
      </p:sp>
      <p:sp>
        <p:nvSpPr>
          <p:cNvPr id="26" name="Text 5">
            <a:extLst>
              <a:ext uri="{FF2B5EF4-FFF2-40B4-BE49-F238E27FC236}">
                <a16:creationId xmlns:a16="http://schemas.microsoft.com/office/drawing/2014/main" id="{1AD4DBE3-9BCE-42CD-8DFE-266D2ED3272E}"/>
              </a:ext>
            </a:extLst>
          </p:cNvPr>
          <p:cNvSpPr/>
          <p:nvPr/>
        </p:nvSpPr>
        <p:spPr>
          <a:xfrm>
            <a:off x="5367529" y="12563068"/>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Dynamic Arrays</a:t>
            </a:r>
            <a:endParaRPr lang="en-US" sz="2320" dirty="0"/>
          </a:p>
        </p:txBody>
      </p:sp>
      <p:sp>
        <p:nvSpPr>
          <p:cNvPr id="27" name="Text 6">
            <a:extLst>
              <a:ext uri="{FF2B5EF4-FFF2-40B4-BE49-F238E27FC236}">
                <a16:creationId xmlns:a16="http://schemas.microsoft.com/office/drawing/2014/main" id="{43E47180-8A38-4293-A65C-AC2A8178669E}"/>
              </a:ext>
            </a:extLst>
          </p:cNvPr>
          <p:cNvSpPr/>
          <p:nvPr/>
        </p:nvSpPr>
        <p:spPr>
          <a:xfrm>
            <a:off x="5367529" y="13075132"/>
            <a:ext cx="3831336" cy="356616"/>
          </a:xfrm>
          <a:prstGeom prst="rect">
            <a:avLst/>
          </a:prstGeom>
          <a:noFill/>
          <a:ln/>
        </p:spPr>
        <p:txBody>
          <a:bodyPr wrap="none" lIns="0" tIns="0" rIns="0" bIns="0" rtlCol="0" anchor="ctr"/>
          <a:lstStyle/>
          <a:p>
            <a:pPr marL="0" indent="0" algn="ct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Use new and delete[] properly.</a:t>
            </a:r>
            <a:endParaRPr lang="en-US" sz="1850" dirty="0"/>
          </a:p>
        </p:txBody>
      </p:sp>
      <p:sp>
        <p:nvSpPr>
          <p:cNvPr id="28" name="Text 7">
            <a:extLst>
              <a:ext uri="{FF2B5EF4-FFF2-40B4-BE49-F238E27FC236}">
                <a16:creationId xmlns:a16="http://schemas.microsoft.com/office/drawing/2014/main" id="{22916248-AF17-4892-B52B-9E8DF88B7818}"/>
              </a:ext>
            </a:extLst>
          </p:cNvPr>
          <p:cNvSpPr/>
          <p:nvPr/>
        </p:nvSpPr>
        <p:spPr>
          <a:xfrm>
            <a:off x="5404104" y="12529350"/>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Static Arrays</a:t>
            </a:r>
            <a:endParaRPr lang="en-US" sz="2320" dirty="0"/>
          </a:p>
        </p:txBody>
      </p:sp>
      <p:sp>
        <p:nvSpPr>
          <p:cNvPr id="29" name="Text 0">
            <a:extLst>
              <a:ext uri="{FF2B5EF4-FFF2-40B4-BE49-F238E27FC236}">
                <a16:creationId xmlns:a16="http://schemas.microsoft.com/office/drawing/2014/main" id="{E65967D5-A31B-4F15-A517-027FFEA5F55F}"/>
              </a:ext>
            </a:extLst>
          </p:cNvPr>
          <p:cNvSpPr/>
          <p:nvPr/>
        </p:nvSpPr>
        <p:spPr>
          <a:xfrm>
            <a:off x="-4939110" y="4352176"/>
            <a:ext cx="3511296" cy="1417320"/>
          </a:xfrm>
          <a:prstGeom prst="rect">
            <a:avLst/>
          </a:prstGeom>
          <a:noFill/>
          <a:ln/>
        </p:spPr>
        <p:txBody>
          <a:bodyPr wrap="square" lIns="0" tIns="0" rIns="0" bIns="0" rtlCol="0" anchor="ctr"/>
          <a:lstStyle/>
          <a:p>
            <a:pPr marL="0" indent="0" algn="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Arrays of objects have dynamic storage capacities. The size can be determined at runtime, offering flexibility.</a:t>
            </a:r>
            <a:endParaRPr lang="en-US" sz="1850" dirty="0"/>
          </a:p>
        </p:txBody>
      </p:sp>
      <p:sp>
        <p:nvSpPr>
          <p:cNvPr id="30" name="Text 1">
            <a:extLst>
              <a:ext uri="{FF2B5EF4-FFF2-40B4-BE49-F238E27FC236}">
                <a16:creationId xmlns:a16="http://schemas.microsoft.com/office/drawing/2014/main" id="{666E205D-9F4B-4B4B-8B2A-CB76444F2187}"/>
              </a:ext>
            </a:extLst>
          </p:cNvPr>
          <p:cNvSpPr/>
          <p:nvPr/>
        </p:nvSpPr>
        <p:spPr>
          <a:xfrm>
            <a:off x="-4939110" y="3712096"/>
            <a:ext cx="3511296" cy="374904"/>
          </a:xfrm>
          <a:prstGeom prst="rect">
            <a:avLst/>
          </a:prstGeom>
          <a:noFill/>
          <a:ln/>
        </p:spPr>
        <p:txBody>
          <a:bodyPr wrap="none" lIns="0" tIns="0" rIns="0" bIns="0" rtlCol="0" anchor="ctr"/>
          <a:lstStyle/>
          <a:p>
            <a:pPr marL="0" indent="0" algn="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Dynamic Storage</a:t>
            </a:r>
            <a:endParaRPr lang="en-US" sz="2320" dirty="0"/>
          </a:p>
        </p:txBody>
      </p:sp>
      <p:sp>
        <p:nvSpPr>
          <p:cNvPr id="31" name="Text 2">
            <a:extLst>
              <a:ext uri="{FF2B5EF4-FFF2-40B4-BE49-F238E27FC236}">
                <a16:creationId xmlns:a16="http://schemas.microsoft.com/office/drawing/2014/main" id="{E1DBFAAF-AF4F-45F2-8E0D-92DA655C38CA}"/>
              </a:ext>
            </a:extLst>
          </p:cNvPr>
          <p:cNvSpPr/>
          <p:nvPr/>
        </p:nvSpPr>
        <p:spPr>
          <a:xfrm>
            <a:off x="17652161" y="5815216"/>
            <a:ext cx="3986784" cy="1417320"/>
          </a:xfrm>
          <a:prstGeom prst="rect">
            <a:avLst/>
          </a:prstGeom>
          <a:noFill/>
          <a:ln/>
        </p:spPr>
        <p:txBody>
          <a:bodyPr wrap="square" lIns="0" tIns="0" rIns="0" bIns="0" rtlCol="0" anchor="ctr"/>
          <a:lstStyle/>
          <a:p>
            <a:pPr marL="0" indent="0" algn="l">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Elements from the array can be treated uniformly using loops and algorithms, fostering efficient code design.</a:t>
            </a:r>
            <a:endParaRPr lang="en-US" sz="1850" dirty="0"/>
          </a:p>
        </p:txBody>
      </p:sp>
      <p:sp>
        <p:nvSpPr>
          <p:cNvPr id="32" name="Text 3">
            <a:extLst>
              <a:ext uri="{FF2B5EF4-FFF2-40B4-BE49-F238E27FC236}">
                <a16:creationId xmlns:a16="http://schemas.microsoft.com/office/drawing/2014/main" id="{D3E851DB-F601-4C21-A3D3-377761B16D2E}"/>
              </a:ext>
            </a:extLst>
          </p:cNvPr>
          <p:cNvSpPr/>
          <p:nvPr/>
        </p:nvSpPr>
        <p:spPr>
          <a:xfrm>
            <a:off x="17652161" y="2879992"/>
            <a:ext cx="3986784" cy="1417320"/>
          </a:xfrm>
          <a:prstGeom prst="rect">
            <a:avLst/>
          </a:prstGeom>
          <a:noFill/>
          <a:ln/>
        </p:spPr>
        <p:txBody>
          <a:bodyPr wrap="square" lIns="0" tIns="0" rIns="0" bIns="0" rtlCol="0" anchor="ctr"/>
          <a:lstStyle/>
          <a:p>
            <a:pPr marL="0" indent="0" algn="l">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Objects within the array are stored in a single contiguous block of memory, improving cache performance.</a:t>
            </a:r>
            <a:endParaRPr lang="en-US" sz="1850" dirty="0"/>
          </a:p>
        </p:txBody>
      </p:sp>
      <p:sp>
        <p:nvSpPr>
          <p:cNvPr id="33" name="Text 4">
            <a:extLst>
              <a:ext uri="{FF2B5EF4-FFF2-40B4-BE49-F238E27FC236}">
                <a16:creationId xmlns:a16="http://schemas.microsoft.com/office/drawing/2014/main" id="{49B98A74-6F0F-44B0-93BB-088465A248D5}"/>
              </a:ext>
            </a:extLst>
          </p:cNvPr>
          <p:cNvSpPr/>
          <p:nvPr/>
        </p:nvSpPr>
        <p:spPr>
          <a:xfrm>
            <a:off x="832104" y="-5347925"/>
            <a:ext cx="12984480" cy="740664"/>
          </a:xfrm>
          <a:prstGeom prst="rect">
            <a:avLst/>
          </a:prstGeom>
          <a:noFill/>
          <a:ln/>
        </p:spPr>
        <p:txBody>
          <a:bodyPr wrap="none" lIns="0" tIns="0" rIns="0" bIns="0" rtlCol="0" anchor="ctr"/>
          <a:lstStyle/>
          <a:p>
            <a:pPr marL="0" indent="0" algn="l">
              <a:lnSpc>
                <a:spcPts val="5800"/>
              </a:lnSpc>
              <a:buNone/>
            </a:pPr>
            <a:r>
              <a:rPr lang="en-US" sz="4640" dirty="0">
                <a:solidFill>
                  <a:srgbClr val="0C266F"/>
                </a:solidFill>
                <a:latin typeface="思源宋体-思源宋体-SemiBold" pitchFamily="34" charset="0"/>
                <a:ea typeface="思源宋体-思源宋体-SemiBold" pitchFamily="34" charset="-122"/>
                <a:cs typeface="思源宋体-思源宋体-SemiBold" pitchFamily="34" charset="-120"/>
              </a:rPr>
              <a:t>Properties of Arrays of Objects</a:t>
            </a:r>
            <a:endParaRPr lang="en-US" sz="4640" dirty="0"/>
          </a:p>
        </p:txBody>
      </p:sp>
      <p:sp>
        <p:nvSpPr>
          <p:cNvPr id="34" name="Text 5">
            <a:extLst>
              <a:ext uri="{FF2B5EF4-FFF2-40B4-BE49-F238E27FC236}">
                <a16:creationId xmlns:a16="http://schemas.microsoft.com/office/drawing/2014/main" id="{C2E1C242-DB3A-4F2F-9894-140B6A1E1848}"/>
              </a:ext>
            </a:extLst>
          </p:cNvPr>
          <p:cNvSpPr/>
          <p:nvPr/>
        </p:nvSpPr>
        <p:spPr>
          <a:xfrm>
            <a:off x="17652161" y="2249056"/>
            <a:ext cx="3986784" cy="374904"/>
          </a:xfrm>
          <a:prstGeom prst="rect">
            <a:avLst/>
          </a:prstGeom>
          <a:noFill/>
          <a:ln/>
        </p:spPr>
        <p:txBody>
          <a:bodyPr wrap="none" lIns="0" tIns="0" rIns="0" bIns="0" rtlCol="0" anchor="ctr"/>
          <a:lstStyle/>
          <a:p>
            <a:pPr marL="0" indent="0" algn="l">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Contiguous Memory</a:t>
            </a:r>
            <a:endParaRPr lang="en-US" sz="2320" dirty="0"/>
          </a:p>
        </p:txBody>
      </p:sp>
      <p:sp>
        <p:nvSpPr>
          <p:cNvPr id="35" name="Text 6">
            <a:extLst>
              <a:ext uri="{FF2B5EF4-FFF2-40B4-BE49-F238E27FC236}">
                <a16:creationId xmlns:a16="http://schemas.microsoft.com/office/drawing/2014/main" id="{F2D2178A-1AF0-4966-BA44-293A83372F83}"/>
              </a:ext>
            </a:extLst>
          </p:cNvPr>
          <p:cNvSpPr/>
          <p:nvPr/>
        </p:nvSpPr>
        <p:spPr>
          <a:xfrm>
            <a:off x="17652161" y="5184280"/>
            <a:ext cx="3986784" cy="374904"/>
          </a:xfrm>
          <a:prstGeom prst="rect">
            <a:avLst/>
          </a:prstGeom>
          <a:noFill/>
          <a:ln/>
        </p:spPr>
        <p:txBody>
          <a:bodyPr wrap="none" lIns="0" tIns="0" rIns="0" bIns="0" rtlCol="0" anchor="ctr"/>
          <a:lstStyle/>
          <a:p>
            <a:pPr marL="0" indent="0" algn="l">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Uniform Element Access</a:t>
            </a:r>
            <a:endParaRPr lang="en-US" sz="2320" dirty="0"/>
          </a:p>
        </p:txBody>
      </p:sp>
      <p:grpSp>
        <p:nvGrpSpPr>
          <p:cNvPr id="37" name="Group 36">
            <a:extLst>
              <a:ext uri="{FF2B5EF4-FFF2-40B4-BE49-F238E27FC236}">
                <a16:creationId xmlns:a16="http://schemas.microsoft.com/office/drawing/2014/main" id="{258024A0-60CE-4F48-893E-67676B07FA40}"/>
              </a:ext>
            </a:extLst>
          </p:cNvPr>
          <p:cNvGrpSpPr/>
          <p:nvPr/>
        </p:nvGrpSpPr>
        <p:grpSpPr>
          <a:xfrm>
            <a:off x="18988332" y="1551661"/>
            <a:ext cx="7710249" cy="6108981"/>
            <a:chOff x="5947243" y="1558915"/>
            <a:chExt cx="7710249" cy="6108981"/>
          </a:xfrm>
        </p:grpSpPr>
        <p:sp>
          <p:nvSpPr>
            <p:cNvPr id="38" name="Shape 1">
              <a:extLst>
                <a:ext uri="{FF2B5EF4-FFF2-40B4-BE49-F238E27FC236}">
                  <a16:creationId xmlns:a16="http://schemas.microsoft.com/office/drawing/2014/main" id="{99F1572B-04EB-4F06-9A81-68FCC3C4EFF1}"/>
                </a:ext>
              </a:extLst>
            </p:cNvPr>
            <p:cNvSpPr/>
            <p:nvPr/>
          </p:nvSpPr>
          <p:spPr>
            <a:xfrm>
              <a:off x="5947243" y="1558915"/>
              <a:ext cx="7710249" cy="6108981"/>
            </a:xfrm>
            <a:prstGeom prst="roundRect">
              <a:avLst>
                <a:gd name="adj" fmla="val 7099"/>
              </a:avLst>
            </a:prstGeom>
            <a:solidFill>
              <a:srgbClr val="BDD4FA"/>
            </a:solidFill>
            <a:ln w="7620">
              <a:solidFill>
                <a:srgbClr val="B2D4E5"/>
              </a:solidFill>
              <a:prstDash val="solid"/>
            </a:ln>
            <a:effectLst>
              <a:outerShdw blurRad="50800" dist="38100" dir="8100000" algn="tr" rotWithShape="0">
                <a:prstClr val="black">
                  <a:alpha val="40000"/>
                </a:prstClr>
              </a:outerShdw>
            </a:effectLst>
          </p:spPr>
          <p:txBody>
            <a:bodyPr/>
            <a:lstStyle/>
            <a:p>
              <a:r>
                <a:rPr lang="en-US" dirty="0"/>
                <a:t>#include &lt;iostream&gt;</a:t>
              </a:r>
            </a:p>
            <a:p>
              <a:r>
                <a:rPr lang="en-US" dirty="0"/>
                <a:t>using namespace std;</a:t>
              </a:r>
            </a:p>
            <a:p>
              <a:endParaRPr lang="en-US" dirty="0"/>
            </a:p>
            <a:p>
              <a:r>
                <a:rPr lang="en-US" dirty="0"/>
                <a:t>class test</a:t>
              </a:r>
            </a:p>
            <a:p>
              <a:r>
                <a:rPr lang="en-US" dirty="0"/>
                <a:t>{</a:t>
              </a:r>
            </a:p>
            <a:p>
              <a:r>
                <a:rPr lang="en-US" dirty="0"/>
                <a:t>     private:</a:t>
              </a:r>
            </a:p>
            <a:p>
              <a:r>
                <a:rPr lang="en-US" dirty="0"/>
                <a:t>         int testing;</a:t>
              </a:r>
            </a:p>
            <a:p>
              <a:r>
                <a:rPr lang="en-US" dirty="0"/>
                <a:t>     public:</a:t>
              </a:r>
            </a:p>
            <a:p>
              <a:r>
                <a:rPr lang="en-US" dirty="0"/>
                <a:t>         test()</a:t>
              </a:r>
            </a:p>
            <a:p>
              <a:r>
                <a:rPr lang="en-US" dirty="0"/>
                <a:t>         {</a:t>
              </a:r>
            </a:p>
            <a:p>
              <a:r>
                <a:rPr lang="en-US" dirty="0"/>
                <a:t>             testing = 0;</a:t>
              </a:r>
            </a:p>
            <a:p>
              <a:r>
                <a:rPr lang="en-US" dirty="0"/>
                <a:t>         }</a:t>
              </a:r>
            </a:p>
            <a:p>
              <a:r>
                <a:rPr lang="en-US" dirty="0"/>
                <a:t>         test(int t)</a:t>
              </a:r>
            </a:p>
            <a:p>
              <a:r>
                <a:rPr lang="en-US" dirty="0"/>
                <a:t>         {</a:t>
              </a:r>
            </a:p>
            <a:p>
              <a:r>
                <a:rPr lang="en-US" dirty="0"/>
                <a:t>              testing = t;</a:t>
              </a:r>
            </a:p>
            <a:p>
              <a:r>
                <a:rPr lang="en-US" dirty="0"/>
                <a:t>         }</a:t>
              </a:r>
            </a:p>
            <a:p>
              <a:r>
                <a:rPr lang="en-US" dirty="0"/>
                <a:t>         void </a:t>
              </a:r>
              <a:r>
                <a:rPr lang="en-US" dirty="0" err="1"/>
                <a:t>set_Test</a:t>
              </a:r>
              <a:r>
                <a:rPr lang="en-US" dirty="0"/>
                <a:t>(int t)</a:t>
              </a:r>
            </a:p>
            <a:p>
              <a:r>
                <a:rPr lang="en-US" dirty="0"/>
                <a:t>         {</a:t>
              </a:r>
            </a:p>
            <a:p>
              <a:r>
                <a:rPr lang="en-US" dirty="0"/>
                <a:t>              testing = t;</a:t>
              </a:r>
            </a:p>
            <a:p>
              <a:r>
                <a:rPr lang="en-US" dirty="0"/>
                <a:t>         }</a:t>
              </a:r>
            </a:p>
            <a:p>
              <a:r>
                <a:rPr lang="en-US" dirty="0"/>
                <a:t>         </a:t>
              </a:r>
            </a:p>
          </p:txBody>
        </p:sp>
        <p:sp>
          <p:nvSpPr>
            <p:cNvPr id="39" name="TextBox 38">
              <a:extLst>
                <a:ext uri="{FF2B5EF4-FFF2-40B4-BE49-F238E27FC236}">
                  <a16:creationId xmlns:a16="http://schemas.microsoft.com/office/drawing/2014/main" id="{104010F3-52E8-4224-A609-A3572E9A0BA9}"/>
                </a:ext>
              </a:extLst>
            </p:cNvPr>
            <p:cNvSpPr txBox="1"/>
            <p:nvPr/>
          </p:nvSpPr>
          <p:spPr>
            <a:xfrm>
              <a:off x="9980724" y="1738704"/>
              <a:ext cx="3304903" cy="5355312"/>
            </a:xfrm>
            <a:prstGeom prst="rect">
              <a:avLst/>
            </a:prstGeom>
            <a:noFill/>
          </p:spPr>
          <p:txBody>
            <a:bodyPr wrap="square" rtlCol="0">
              <a:spAutoFit/>
            </a:bodyPr>
            <a:lstStyle/>
            <a:p>
              <a:r>
                <a:rPr lang="en-US" dirty="0"/>
                <a:t>    int </a:t>
              </a:r>
              <a:r>
                <a:rPr lang="en-US" dirty="0" err="1"/>
                <a:t>get_Test</a:t>
              </a:r>
              <a:r>
                <a:rPr lang="en-US" dirty="0"/>
                <a:t>()</a:t>
              </a:r>
            </a:p>
            <a:p>
              <a:r>
                <a:rPr lang="en-US" dirty="0"/>
                <a:t>    {</a:t>
              </a:r>
            </a:p>
            <a:p>
              <a:r>
                <a:rPr lang="en-US" dirty="0"/>
                <a:t>        return testing;</a:t>
              </a:r>
            </a:p>
            <a:p>
              <a:r>
                <a:rPr lang="en-US" dirty="0"/>
                <a:t>    }</a:t>
              </a:r>
            </a:p>
            <a:p>
              <a:r>
                <a:rPr lang="en-US" dirty="0"/>
                <a:t>};</a:t>
              </a:r>
            </a:p>
            <a:p>
              <a:r>
                <a:rPr lang="en-US" dirty="0"/>
                <a:t>int main()</a:t>
              </a:r>
            </a:p>
            <a:p>
              <a:r>
                <a:rPr lang="en-US" dirty="0"/>
                <a:t>{</a:t>
              </a:r>
            </a:p>
            <a:p>
              <a:r>
                <a:rPr lang="en-US" dirty="0"/>
                <a:t>    test obj;</a:t>
              </a:r>
            </a:p>
            <a:p>
              <a:r>
                <a:rPr lang="en-US" dirty="0"/>
                <a:t>    test </a:t>
              </a:r>
              <a:r>
                <a:rPr lang="en-US" dirty="0" err="1"/>
                <a:t>objn</a:t>
              </a:r>
              <a:r>
                <a:rPr lang="en-US" dirty="0"/>
                <a:t>(1);</a:t>
              </a:r>
            </a:p>
            <a:p>
              <a:r>
                <a:rPr lang="en-US" dirty="0"/>
                <a:t>    test </a:t>
              </a:r>
              <a:r>
                <a:rPr lang="en-US" dirty="0" err="1"/>
                <a:t>objt</a:t>
              </a:r>
              <a:r>
                <a:rPr lang="en-US" dirty="0"/>
                <a:t>[5];</a:t>
              </a:r>
            </a:p>
            <a:p>
              <a:r>
                <a:rPr lang="en-US" dirty="0"/>
                <a:t>    for(int </a:t>
              </a:r>
              <a:r>
                <a:rPr lang="en-US" dirty="0" err="1"/>
                <a:t>i</a:t>
              </a:r>
              <a:r>
                <a:rPr lang="en-US" dirty="0"/>
                <a:t>=0, </a:t>
              </a:r>
              <a:r>
                <a:rPr lang="en-US" dirty="0" err="1"/>
                <a:t>i</a:t>
              </a:r>
              <a:r>
                <a:rPr lang="en-US" dirty="0"/>
                <a:t>&lt;5; </a:t>
              </a:r>
              <a:r>
                <a:rPr lang="en-US" dirty="0" err="1"/>
                <a:t>i</a:t>
              </a:r>
              <a:r>
                <a:rPr lang="en-US" dirty="0"/>
                <a:t>++)</a:t>
              </a:r>
            </a:p>
            <a:p>
              <a:r>
                <a:rPr lang="en-US" dirty="0"/>
                <a:t>        </a:t>
              </a:r>
              <a:r>
                <a:rPr lang="en-US" dirty="0" err="1"/>
                <a:t>objt</a:t>
              </a:r>
              <a:r>
                <a:rPr lang="en-US" dirty="0"/>
                <a:t>[</a:t>
              </a:r>
              <a:r>
                <a:rPr lang="en-US" dirty="0" err="1"/>
                <a:t>i</a:t>
              </a:r>
              <a:r>
                <a:rPr lang="en-US" dirty="0"/>
                <a:t>] = i+1;</a:t>
              </a:r>
            </a:p>
            <a:p>
              <a:r>
                <a:rPr lang="en-US" dirty="0"/>
                <a:t>    test </a:t>
              </a:r>
              <a:r>
                <a:rPr lang="en-US" dirty="0" err="1"/>
                <a:t>arr</a:t>
              </a:r>
              <a:r>
                <a:rPr lang="en-US" dirty="0"/>
                <a:t>[] = { test(10), test(20), </a:t>
              </a:r>
            </a:p>
            <a:p>
              <a:r>
                <a:rPr lang="en-US" dirty="0"/>
                <a:t>    test(30), test(40), test(50) };</a:t>
              </a:r>
            </a:p>
            <a:p>
              <a:r>
                <a:rPr lang="en-US" dirty="0"/>
                <a:t>    </a:t>
              </a:r>
              <a:r>
                <a:rPr lang="en-US" dirty="0" err="1"/>
                <a:t>cout</a:t>
              </a:r>
              <a:r>
                <a:rPr lang="en-US" dirty="0"/>
                <a:t> &lt;&lt; </a:t>
              </a:r>
              <a:r>
                <a:rPr lang="en-US" dirty="0" err="1"/>
                <a:t>arr</a:t>
              </a:r>
              <a:r>
                <a:rPr lang="en-US" dirty="0"/>
                <a:t>[1].</a:t>
              </a:r>
              <a:r>
                <a:rPr lang="en-US" dirty="0" err="1"/>
                <a:t>get_Test</a:t>
              </a:r>
              <a:r>
                <a:rPr lang="en-US" dirty="0"/>
                <a:t> &lt;&lt; </a:t>
              </a:r>
              <a:r>
                <a:rPr lang="en-US" dirty="0" err="1"/>
                <a:t>endl</a:t>
              </a:r>
              <a:r>
                <a:rPr lang="en-US" dirty="0"/>
                <a:t>;</a:t>
              </a:r>
            </a:p>
            <a:p>
              <a:r>
                <a:rPr lang="en-US" dirty="0"/>
                <a:t>    </a:t>
              </a:r>
              <a:r>
                <a:rPr lang="en-US" dirty="0" err="1"/>
                <a:t>arr</a:t>
              </a:r>
              <a:r>
                <a:rPr lang="en-US" dirty="0"/>
                <a:t>[0].</a:t>
              </a:r>
              <a:r>
                <a:rPr lang="en-US" dirty="0" err="1"/>
                <a:t>set_Test</a:t>
              </a:r>
              <a:r>
                <a:rPr lang="en-US" dirty="0"/>
                <a:t>(5);</a:t>
              </a:r>
            </a:p>
            <a:p>
              <a:r>
                <a:rPr lang="en-US" dirty="0"/>
                <a:t>    </a:t>
              </a:r>
              <a:r>
                <a:rPr lang="en-US" dirty="0" err="1"/>
                <a:t>cout</a:t>
              </a:r>
              <a:r>
                <a:rPr lang="en-US" dirty="0"/>
                <a:t> &lt;&lt; </a:t>
              </a:r>
              <a:r>
                <a:rPr lang="en-US" dirty="0" err="1"/>
                <a:t>arr</a:t>
              </a:r>
              <a:r>
                <a:rPr lang="en-US" dirty="0"/>
                <a:t>[0].</a:t>
              </a:r>
              <a:r>
                <a:rPr lang="en-US" dirty="0" err="1"/>
                <a:t>get_Test</a:t>
              </a:r>
              <a:r>
                <a:rPr lang="en-US" dirty="0"/>
                <a:t> &lt;&lt; </a:t>
              </a:r>
              <a:r>
                <a:rPr lang="en-US" dirty="0" err="1"/>
                <a:t>endl</a:t>
              </a:r>
              <a:r>
                <a:rPr lang="en-US" dirty="0"/>
                <a:t>;</a:t>
              </a:r>
            </a:p>
            <a:p>
              <a:r>
                <a:rPr lang="en-US" dirty="0"/>
                <a:t>    return 0;</a:t>
              </a:r>
            </a:p>
            <a:p>
              <a:r>
                <a:rPr lang="en-US" dirty="0"/>
                <a:t>}</a:t>
              </a:r>
            </a:p>
          </p:txBody>
        </p:sp>
      </p:grpSp>
      <p:grpSp>
        <p:nvGrpSpPr>
          <p:cNvPr id="41" name="Group 40">
            <a:extLst>
              <a:ext uri="{FF2B5EF4-FFF2-40B4-BE49-F238E27FC236}">
                <a16:creationId xmlns:a16="http://schemas.microsoft.com/office/drawing/2014/main" id="{0D2C2C58-7BE7-4244-B643-606C6282AC1C}"/>
              </a:ext>
            </a:extLst>
          </p:cNvPr>
          <p:cNvGrpSpPr/>
          <p:nvPr/>
        </p:nvGrpSpPr>
        <p:grpSpPr>
          <a:xfrm>
            <a:off x="15311564" y="1551661"/>
            <a:ext cx="7710249" cy="6108981"/>
            <a:chOff x="5947243" y="1558915"/>
            <a:chExt cx="7710249" cy="6108981"/>
          </a:xfrm>
        </p:grpSpPr>
        <p:sp>
          <p:nvSpPr>
            <p:cNvPr id="42" name="Shape 1">
              <a:extLst>
                <a:ext uri="{FF2B5EF4-FFF2-40B4-BE49-F238E27FC236}">
                  <a16:creationId xmlns:a16="http://schemas.microsoft.com/office/drawing/2014/main" id="{7AEA0F5E-7340-4A39-A00B-C055B6628CDA}"/>
                </a:ext>
              </a:extLst>
            </p:cNvPr>
            <p:cNvSpPr/>
            <p:nvPr/>
          </p:nvSpPr>
          <p:spPr>
            <a:xfrm>
              <a:off x="5947243" y="1558915"/>
              <a:ext cx="7710249" cy="6108981"/>
            </a:xfrm>
            <a:prstGeom prst="roundRect">
              <a:avLst>
                <a:gd name="adj" fmla="val 7099"/>
              </a:avLst>
            </a:prstGeom>
            <a:solidFill>
              <a:srgbClr val="BDD4FA"/>
            </a:solidFill>
            <a:ln w="7620">
              <a:solidFill>
                <a:srgbClr val="B2D4E5"/>
              </a:solidFill>
              <a:prstDash val="solid"/>
            </a:ln>
            <a:effectLst>
              <a:outerShdw blurRad="50800" dist="38100" dir="8100000" algn="tr" rotWithShape="0">
                <a:prstClr val="black">
                  <a:alpha val="40000"/>
                </a:prstClr>
              </a:outerShdw>
            </a:effectLst>
          </p:spPr>
          <p:txBody>
            <a:bodyPr/>
            <a:lstStyle/>
            <a:p>
              <a:r>
                <a:rPr lang="en-US" dirty="0"/>
                <a:t>#include &lt;iostream&gt;</a:t>
              </a:r>
            </a:p>
            <a:p>
              <a:r>
                <a:rPr lang="en-US" dirty="0"/>
                <a:t>using namespace std;</a:t>
              </a:r>
            </a:p>
            <a:p>
              <a:endParaRPr lang="en-US" dirty="0"/>
            </a:p>
            <a:p>
              <a:r>
                <a:rPr lang="en-US" dirty="0"/>
                <a:t>class test</a:t>
              </a:r>
            </a:p>
            <a:p>
              <a:r>
                <a:rPr lang="en-US" dirty="0"/>
                <a:t>{</a:t>
              </a:r>
            </a:p>
            <a:p>
              <a:r>
                <a:rPr lang="en-US" dirty="0"/>
                <a:t>     private:</a:t>
              </a:r>
            </a:p>
            <a:p>
              <a:r>
                <a:rPr lang="en-US" dirty="0"/>
                <a:t>         int testing;</a:t>
              </a:r>
            </a:p>
            <a:p>
              <a:r>
                <a:rPr lang="en-US" dirty="0"/>
                <a:t>     public:</a:t>
              </a:r>
            </a:p>
            <a:p>
              <a:r>
                <a:rPr lang="en-US" dirty="0"/>
                <a:t>         test()</a:t>
              </a:r>
            </a:p>
            <a:p>
              <a:r>
                <a:rPr lang="en-US" dirty="0"/>
                <a:t>         {</a:t>
              </a:r>
            </a:p>
            <a:p>
              <a:r>
                <a:rPr lang="en-US" dirty="0"/>
                <a:t>             testing = 0;</a:t>
              </a:r>
            </a:p>
            <a:p>
              <a:r>
                <a:rPr lang="en-US" dirty="0"/>
                <a:t>         }</a:t>
              </a:r>
            </a:p>
            <a:p>
              <a:r>
                <a:rPr lang="en-US" dirty="0"/>
                <a:t>         test(int t)</a:t>
              </a:r>
            </a:p>
            <a:p>
              <a:r>
                <a:rPr lang="en-US" dirty="0"/>
                <a:t>         {</a:t>
              </a:r>
            </a:p>
            <a:p>
              <a:r>
                <a:rPr lang="en-US" dirty="0"/>
                <a:t>              testing = t;</a:t>
              </a:r>
            </a:p>
            <a:p>
              <a:r>
                <a:rPr lang="en-US" dirty="0"/>
                <a:t>         }</a:t>
              </a:r>
            </a:p>
            <a:p>
              <a:r>
                <a:rPr lang="en-US" dirty="0"/>
                <a:t>         void </a:t>
              </a:r>
              <a:r>
                <a:rPr lang="en-US" dirty="0" err="1"/>
                <a:t>set_Test</a:t>
              </a:r>
              <a:r>
                <a:rPr lang="en-US" dirty="0"/>
                <a:t>(int t)</a:t>
              </a:r>
            </a:p>
            <a:p>
              <a:r>
                <a:rPr lang="en-US" dirty="0"/>
                <a:t>         {</a:t>
              </a:r>
            </a:p>
            <a:p>
              <a:r>
                <a:rPr lang="en-US" dirty="0"/>
                <a:t>              testing = t;</a:t>
              </a:r>
            </a:p>
            <a:p>
              <a:r>
                <a:rPr lang="en-US" dirty="0"/>
                <a:t>         }</a:t>
              </a:r>
            </a:p>
            <a:p>
              <a:r>
                <a:rPr lang="en-US" dirty="0"/>
                <a:t>         </a:t>
              </a:r>
            </a:p>
          </p:txBody>
        </p:sp>
        <p:sp>
          <p:nvSpPr>
            <p:cNvPr id="43" name="TextBox 42">
              <a:extLst>
                <a:ext uri="{FF2B5EF4-FFF2-40B4-BE49-F238E27FC236}">
                  <a16:creationId xmlns:a16="http://schemas.microsoft.com/office/drawing/2014/main" id="{906069C1-225F-4D54-9EC9-DD66B76790FF}"/>
                </a:ext>
              </a:extLst>
            </p:cNvPr>
            <p:cNvSpPr txBox="1"/>
            <p:nvPr/>
          </p:nvSpPr>
          <p:spPr>
            <a:xfrm>
              <a:off x="9980724" y="1738704"/>
              <a:ext cx="3304903" cy="4524315"/>
            </a:xfrm>
            <a:prstGeom prst="rect">
              <a:avLst/>
            </a:prstGeom>
            <a:noFill/>
          </p:spPr>
          <p:txBody>
            <a:bodyPr wrap="square" rtlCol="0">
              <a:spAutoFit/>
            </a:bodyPr>
            <a:lstStyle/>
            <a:p>
              <a:r>
                <a:rPr lang="en-US" dirty="0"/>
                <a:t>Int </a:t>
              </a:r>
              <a:r>
                <a:rPr lang="en-US" dirty="0" err="1"/>
                <a:t>get_Test</a:t>
              </a:r>
              <a:r>
                <a:rPr lang="en-US" dirty="0"/>
                <a:t>() { return testing; }</a:t>
              </a:r>
            </a:p>
            <a:p>
              <a:r>
                <a:rPr lang="en-US" dirty="0"/>
                <a:t>};</a:t>
              </a:r>
            </a:p>
            <a:p>
              <a:r>
                <a:rPr lang="en-US" dirty="0"/>
                <a:t>int main()</a:t>
              </a:r>
            </a:p>
            <a:p>
              <a:r>
                <a:rPr lang="en-US" dirty="0"/>
                <a:t>{</a:t>
              </a:r>
            </a:p>
            <a:p>
              <a:r>
                <a:rPr lang="en-US" dirty="0"/>
                <a:t>    int t;</a:t>
              </a:r>
            </a:p>
            <a:p>
              <a:r>
                <a:rPr lang="en-US" dirty="0"/>
                <a:t>    </a:t>
              </a:r>
              <a:r>
                <a:rPr lang="en-US" dirty="0" err="1"/>
                <a:t>cout</a:t>
              </a:r>
              <a:r>
                <a:rPr lang="en-US" dirty="0"/>
                <a:t> &lt;&lt; “Enter the Number: “;</a:t>
              </a:r>
            </a:p>
            <a:p>
              <a:r>
                <a:rPr lang="en-US" dirty="0"/>
                <a:t>    </a:t>
              </a:r>
              <a:r>
                <a:rPr lang="en-US" dirty="0" err="1"/>
                <a:t>cin</a:t>
              </a:r>
              <a:r>
                <a:rPr lang="en-US" dirty="0"/>
                <a:t> &gt;&gt; t;</a:t>
              </a:r>
            </a:p>
            <a:p>
              <a:r>
                <a:rPr lang="en-US" dirty="0"/>
                <a:t>    test obj[5];</a:t>
              </a:r>
            </a:p>
            <a:p>
              <a:r>
                <a:rPr lang="en-US" dirty="0"/>
                <a:t>    obj[0].</a:t>
              </a:r>
              <a:r>
                <a:rPr lang="en-US" dirty="0" err="1"/>
                <a:t>set_Test</a:t>
              </a:r>
              <a:r>
                <a:rPr lang="en-US" dirty="0"/>
                <a:t>(t);</a:t>
              </a:r>
            </a:p>
            <a:p>
              <a:r>
                <a:rPr lang="en-US" dirty="0"/>
                <a:t>    obj[1].</a:t>
              </a:r>
              <a:r>
                <a:rPr lang="en-US" dirty="0" err="1"/>
                <a:t>set_Test</a:t>
              </a:r>
              <a:r>
                <a:rPr lang="en-US" dirty="0"/>
                <a:t>(2);</a:t>
              </a:r>
            </a:p>
            <a:p>
              <a:r>
                <a:rPr lang="en-US" dirty="0"/>
                <a:t>    </a:t>
              </a:r>
              <a:r>
                <a:rPr lang="en-US" dirty="0" err="1"/>
                <a:t>cout</a:t>
              </a:r>
              <a:r>
                <a:rPr lang="en-US" dirty="0"/>
                <a:t> &lt;&lt; “OBJ[0]: “ &lt;&lt; obj[0].</a:t>
              </a:r>
              <a:r>
                <a:rPr lang="en-US" dirty="0" err="1"/>
                <a:t>get_Test</a:t>
              </a:r>
              <a:r>
                <a:rPr lang="en-US" dirty="0"/>
                <a:t> &lt;&lt; </a:t>
              </a:r>
              <a:r>
                <a:rPr lang="en-US" dirty="0" err="1"/>
                <a:t>endl</a:t>
              </a:r>
              <a:r>
                <a:rPr lang="en-US" dirty="0"/>
                <a:t>;</a:t>
              </a:r>
            </a:p>
            <a:p>
              <a:r>
                <a:rPr lang="en-US" dirty="0"/>
                <a:t>    </a:t>
              </a:r>
              <a:r>
                <a:rPr lang="en-US" dirty="0" err="1"/>
                <a:t>cout</a:t>
              </a:r>
              <a:r>
                <a:rPr lang="en-US" dirty="0"/>
                <a:t> &lt;&lt; “OBJ[1]: “ &lt;&lt; obj[1].</a:t>
              </a:r>
              <a:r>
                <a:rPr lang="en-US" dirty="0" err="1"/>
                <a:t>get_Test</a:t>
              </a:r>
              <a:r>
                <a:rPr lang="en-US" dirty="0"/>
                <a:t> &lt;&lt; </a:t>
              </a:r>
              <a:r>
                <a:rPr lang="en-US" dirty="0" err="1"/>
                <a:t>endl</a:t>
              </a:r>
              <a:r>
                <a:rPr lang="en-US" dirty="0"/>
                <a:t>;</a:t>
              </a:r>
            </a:p>
            <a:p>
              <a:r>
                <a:rPr lang="en-US" dirty="0"/>
                <a:t>    return 0;</a:t>
              </a:r>
            </a:p>
            <a:p>
              <a:r>
                <a:rPr lang="en-US" dirty="0"/>
                <a:t>}</a:t>
              </a:r>
            </a:p>
          </p:txBody>
        </p:sp>
      </p:grpSp>
      <p:pic>
        <p:nvPicPr>
          <p:cNvPr id="44" name="Image 0" descr="preencoded.png">
            <a:extLst>
              <a:ext uri="{FF2B5EF4-FFF2-40B4-BE49-F238E27FC236}">
                <a16:creationId xmlns:a16="http://schemas.microsoft.com/office/drawing/2014/main" id="{688A3EC0-4841-433C-AB49-AD0A4706D35A}"/>
              </a:ext>
            </a:extLst>
          </p:cNvPr>
          <p:cNvPicPr>
            <a:picLocks noChangeAspect="1"/>
          </p:cNvPicPr>
          <p:nvPr/>
        </p:nvPicPr>
        <p:blipFill>
          <a:blip r:embed="rId9">
            <a:duotone>
              <a:prstClr val="black"/>
              <a:schemeClr val="accent5">
                <a:tint val="45000"/>
                <a:satMod val="400000"/>
              </a:schemeClr>
            </a:duotone>
          </a:blip>
          <a:stretch>
            <a:fillRect/>
          </a:stretch>
        </p:blipFill>
        <p:spPr>
          <a:xfrm>
            <a:off x="-6200307" y="-530087"/>
            <a:ext cx="5486400" cy="9183757"/>
          </a:xfrm>
          <a:prstGeom prst="rect">
            <a:avLst/>
          </a:prstGeom>
          <a:ln>
            <a:noFill/>
          </a:ln>
          <a:effectLst>
            <a:softEdge rad="317500"/>
          </a:effectLst>
        </p:spPr>
      </p:pic>
      <p:pic>
        <p:nvPicPr>
          <p:cNvPr id="4" name="Picture 3">
            <a:extLst>
              <a:ext uri="{FF2B5EF4-FFF2-40B4-BE49-F238E27FC236}">
                <a16:creationId xmlns:a16="http://schemas.microsoft.com/office/drawing/2014/main" id="{B373C600-1E16-48B0-AB59-F9E8C8F7B08B}"/>
              </a:ext>
            </a:extLst>
          </p:cNvPr>
          <p:cNvPicPr>
            <a:picLocks noChangeAspect="1"/>
          </p:cNvPicPr>
          <p:nvPr/>
        </p:nvPicPr>
        <p:blipFill>
          <a:blip r:embed="rId10"/>
          <a:stretch>
            <a:fillRect/>
          </a:stretch>
        </p:blipFill>
        <p:spPr>
          <a:xfrm>
            <a:off x="1953686" y="1327777"/>
            <a:ext cx="4603647" cy="6090977"/>
          </a:xfrm>
          <a:prstGeom prst="rect">
            <a:avLst/>
          </a:prstGeom>
          <a:ln>
            <a:noFill/>
          </a:ln>
          <a:effectLst>
            <a:outerShdw blurRad="292100" dist="139700" dir="2700000" algn="tl" rotWithShape="0">
              <a:srgbClr val="333333">
                <a:alpha val="65000"/>
              </a:srgbClr>
            </a:outerShdw>
          </a:effectLst>
        </p:spPr>
      </p:pic>
      <p:pic>
        <p:nvPicPr>
          <p:cNvPr id="3" name="Picture 2">
            <a:extLst>
              <a:ext uri="{FF2B5EF4-FFF2-40B4-BE49-F238E27FC236}">
                <a16:creationId xmlns:a16="http://schemas.microsoft.com/office/drawing/2014/main" id="{2635423E-8C19-41CA-8D89-DDE38967E43F}"/>
              </a:ext>
            </a:extLst>
          </p:cNvPr>
          <p:cNvPicPr>
            <a:picLocks noChangeAspect="1"/>
          </p:cNvPicPr>
          <p:nvPr/>
        </p:nvPicPr>
        <p:blipFill>
          <a:blip r:embed="rId11"/>
          <a:stretch>
            <a:fillRect/>
          </a:stretch>
        </p:blipFill>
        <p:spPr>
          <a:xfrm>
            <a:off x="1786123" y="1336567"/>
            <a:ext cx="4817908" cy="6090977"/>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78EA466F-1F10-4B54-B47A-3F49B0A558A7}"/>
              </a:ext>
            </a:extLst>
          </p:cNvPr>
          <p:cNvPicPr>
            <a:picLocks noChangeAspect="1"/>
          </p:cNvPicPr>
          <p:nvPr/>
        </p:nvPicPr>
        <p:blipFill>
          <a:blip r:embed="rId12"/>
          <a:stretch>
            <a:fillRect/>
          </a:stretch>
        </p:blipFill>
        <p:spPr>
          <a:xfrm>
            <a:off x="8260795" y="1377886"/>
            <a:ext cx="5682358" cy="593005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5017768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B44567E-66ED-4DCC-9689-AC3D578871F2}"/>
              </a:ext>
            </a:extLst>
          </p:cNvPr>
          <p:cNvPicPr>
            <a:picLocks noChangeAspect="1"/>
          </p:cNvPicPr>
          <p:nvPr/>
        </p:nvPicPr>
        <p:blipFill>
          <a:blip r:embed="rId2"/>
          <a:stretch>
            <a:fillRect/>
          </a:stretch>
        </p:blipFill>
        <p:spPr>
          <a:xfrm>
            <a:off x="0" y="0"/>
            <a:ext cx="14630400" cy="8238744"/>
          </a:xfrm>
          <a:prstGeom prst="rect">
            <a:avLst/>
          </a:prstGeom>
        </p:spPr>
      </p:pic>
      <p:sp>
        <p:nvSpPr>
          <p:cNvPr id="5" name="Text 6">
            <a:extLst>
              <a:ext uri="{FF2B5EF4-FFF2-40B4-BE49-F238E27FC236}">
                <a16:creationId xmlns:a16="http://schemas.microsoft.com/office/drawing/2014/main" id="{92697262-D43A-4A33-A5FD-A5E86BC69C9A}"/>
              </a:ext>
            </a:extLst>
          </p:cNvPr>
          <p:cNvSpPr/>
          <p:nvPr/>
        </p:nvSpPr>
        <p:spPr>
          <a:xfrm>
            <a:off x="3303228" y="-75796"/>
            <a:ext cx="8042232" cy="1481328"/>
          </a:xfrm>
          <a:prstGeom prst="rect">
            <a:avLst/>
          </a:prstGeom>
          <a:noFill/>
          <a:ln/>
        </p:spPr>
        <p:txBody>
          <a:bodyPr wrap="square" lIns="0" tIns="0" rIns="0" bIns="0" rtlCol="0" anchor="ctr"/>
          <a:lstStyle/>
          <a:p>
            <a:pPr marL="0" indent="0" algn="l">
              <a:lnSpc>
                <a:spcPts val="5800"/>
              </a:lnSpc>
              <a:buNone/>
            </a:pPr>
            <a:r>
              <a:rPr lang="en-US" sz="4640" dirty="0">
                <a:solidFill>
                  <a:srgbClr val="0C266F"/>
                </a:solidFill>
                <a:latin typeface="Berlin Sans FB Demi" panose="020E0802020502020306" pitchFamily="34" charset="0"/>
                <a:ea typeface="思源宋体-思源宋体-SemiBold" pitchFamily="34" charset="-122"/>
              </a:rPr>
              <a:t>Arrays of Objects in Memory</a:t>
            </a:r>
            <a:endParaRPr lang="en-US" sz="4640" dirty="0">
              <a:latin typeface="Berlin Sans FB Demi" panose="020E0802020502020306" pitchFamily="34" charset="0"/>
            </a:endParaRPr>
          </a:p>
        </p:txBody>
      </p:sp>
      <p:pic>
        <p:nvPicPr>
          <p:cNvPr id="8" name="Image 1" descr="preencoded.png">
            <a:extLst>
              <a:ext uri="{FF2B5EF4-FFF2-40B4-BE49-F238E27FC236}">
                <a16:creationId xmlns:a16="http://schemas.microsoft.com/office/drawing/2014/main" id="{5448765A-A842-4A02-A776-8C3C09A547F8}"/>
              </a:ext>
            </a:extLst>
          </p:cNvPr>
          <p:cNvPicPr>
            <a:picLocks noChangeAspect="1"/>
          </p:cNvPicPr>
          <p:nvPr/>
        </p:nvPicPr>
        <p:blipFill>
          <a:blip r:embed="rId3"/>
          <a:stretch>
            <a:fillRect/>
          </a:stretch>
        </p:blipFill>
        <p:spPr>
          <a:xfrm>
            <a:off x="5285573" y="10645186"/>
            <a:ext cx="754380" cy="1597343"/>
          </a:xfrm>
          <a:prstGeom prst="rect">
            <a:avLst/>
          </a:prstGeom>
        </p:spPr>
      </p:pic>
      <p:sp>
        <p:nvSpPr>
          <p:cNvPr id="9" name="Text 1">
            <a:extLst>
              <a:ext uri="{FF2B5EF4-FFF2-40B4-BE49-F238E27FC236}">
                <a16:creationId xmlns:a16="http://schemas.microsoft.com/office/drawing/2014/main" id="{0206DD59-3508-4B8F-87EB-0E2E692E2FD2}"/>
              </a:ext>
            </a:extLst>
          </p:cNvPr>
          <p:cNvSpPr/>
          <p:nvPr/>
        </p:nvSpPr>
        <p:spPr>
          <a:xfrm>
            <a:off x="6266172" y="10796038"/>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Petrona Bold" pitchFamily="34" charset="0"/>
                <a:ea typeface="Petrona Bold" pitchFamily="34" charset="-122"/>
                <a:cs typeface="Petrona Bold" pitchFamily="34" charset="-120"/>
              </a:rPr>
              <a:t>Class Definition</a:t>
            </a:r>
            <a:endParaRPr lang="en-US" sz="1550" dirty="0"/>
          </a:p>
        </p:txBody>
      </p:sp>
      <p:sp>
        <p:nvSpPr>
          <p:cNvPr id="10" name="Shape 3">
            <a:extLst>
              <a:ext uri="{FF2B5EF4-FFF2-40B4-BE49-F238E27FC236}">
                <a16:creationId xmlns:a16="http://schemas.microsoft.com/office/drawing/2014/main" id="{9160C953-14D9-4F86-ABDF-9B76C76ACD96}"/>
              </a:ext>
            </a:extLst>
          </p:cNvPr>
          <p:cNvSpPr/>
          <p:nvPr/>
        </p:nvSpPr>
        <p:spPr>
          <a:xfrm>
            <a:off x="6258671" y="11213114"/>
            <a:ext cx="7457328" cy="467558"/>
          </a:xfrm>
          <a:prstGeom prst="roundRect">
            <a:avLst>
              <a:gd name="adj" fmla="val 21847"/>
            </a:avLst>
          </a:prstGeom>
          <a:solidFill>
            <a:srgbClr val="CCEEFF"/>
          </a:solidFill>
          <a:ln/>
        </p:spPr>
        <p:txBody>
          <a:bodyPr/>
          <a:lstStyle/>
          <a:p>
            <a:pPr lvl="0">
              <a:lnSpc>
                <a:spcPts val="1900"/>
              </a:lnSpc>
            </a:pPr>
            <a:r>
              <a:rPr lang="en-US" sz="1150" dirty="0">
                <a:solidFill>
                  <a:srgbClr val="272525"/>
                </a:solidFill>
                <a:highlight>
                  <a:srgbClr val="CCEEFF"/>
                </a:highlight>
                <a:latin typeface="Consolas" pitchFamily="34" charset="0"/>
                <a:ea typeface="Consolas" pitchFamily="34" charset="-122"/>
                <a:cs typeface="Consolas" pitchFamily="34" charset="-120"/>
              </a:rPr>
              <a:t>class Rectangle { float width; float height };</a:t>
            </a:r>
            <a:endParaRPr lang="en-US" sz="1150" dirty="0">
              <a:solidFill>
                <a:prstClr val="black"/>
              </a:solidFill>
            </a:endParaRPr>
          </a:p>
          <a:p>
            <a:endParaRPr lang="en-US" dirty="0"/>
          </a:p>
        </p:txBody>
      </p:sp>
      <p:sp>
        <p:nvSpPr>
          <p:cNvPr id="11" name="Text 5">
            <a:extLst>
              <a:ext uri="{FF2B5EF4-FFF2-40B4-BE49-F238E27FC236}">
                <a16:creationId xmlns:a16="http://schemas.microsoft.com/office/drawing/2014/main" id="{2CE74AFE-F9A9-4FA2-8693-17680789A668}"/>
              </a:ext>
            </a:extLst>
          </p:cNvPr>
          <p:cNvSpPr/>
          <p:nvPr/>
        </p:nvSpPr>
        <p:spPr>
          <a:xfrm>
            <a:off x="6266172" y="11850336"/>
            <a:ext cx="7449827" cy="322898"/>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Inter" pitchFamily="34" charset="0"/>
                <a:ea typeface="Inter" pitchFamily="34" charset="-122"/>
                <a:cs typeface="Inter" pitchFamily="34" charset="-120"/>
              </a:rPr>
              <a:t>Defines a simple Rectangle class with width, height, and area calculation.</a:t>
            </a:r>
            <a:endParaRPr lang="en-US" sz="1150" dirty="0"/>
          </a:p>
        </p:txBody>
      </p:sp>
      <p:pic>
        <p:nvPicPr>
          <p:cNvPr id="12" name="Image 2" descr="preencoded.png">
            <a:extLst>
              <a:ext uri="{FF2B5EF4-FFF2-40B4-BE49-F238E27FC236}">
                <a16:creationId xmlns:a16="http://schemas.microsoft.com/office/drawing/2014/main" id="{55F5943E-56BE-4267-88DF-FDFF4CFA0495}"/>
              </a:ext>
            </a:extLst>
          </p:cNvPr>
          <p:cNvPicPr>
            <a:picLocks noChangeAspect="1"/>
          </p:cNvPicPr>
          <p:nvPr/>
        </p:nvPicPr>
        <p:blipFill>
          <a:blip r:embed="rId4"/>
          <a:stretch>
            <a:fillRect/>
          </a:stretch>
        </p:blipFill>
        <p:spPr>
          <a:xfrm>
            <a:off x="5285573" y="12242528"/>
            <a:ext cx="754380" cy="1597343"/>
          </a:xfrm>
          <a:prstGeom prst="rect">
            <a:avLst/>
          </a:prstGeom>
        </p:spPr>
      </p:pic>
      <p:sp>
        <p:nvSpPr>
          <p:cNvPr id="13" name="Text 6">
            <a:extLst>
              <a:ext uri="{FF2B5EF4-FFF2-40B4-BE49-F238E27FC236}">
                <a16:creationId xmlns:a16="http://schemas.microsoft.com/office/drawing/2014/main" id="{99B08316-741F-47BB-A323-C94E94326C4A}"/>
              </a:ext>
            </a:extLst>
          </p:cNvPr>
          <p:cNvSpPr/>
          <p:nvPr/>
        </p:nvSpPr>
        <p:spPr>
          <a:xfrm>
            <a:off x="6266172" y="12393380"/>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Petrona Bold" pitchFamily="34" charset="0"/>
                <a:ea typeface="Petrona Bold" pitchFamily="34" charset="-122"/>
                <a:cs typeface="Petrona Bold" pitchFamily="34" charset="-120"/>
              </a:rPr>
              <a:t>Array Initialization</a:t>
            </a:r>
            <a:endParaRPr lang="en-US" sz="1550" dirty="0"/>
          </a:p>
        </p:txBody>
      </p:sp>
      <p:sp>
        <p:nvSpPr>
          <p:cNvPr id="14" name="Shape 7">
            <a:extLst>
              <a:ext uri="{FF2B5EF4-FFF2-40B4-BE49-F238E27FC236}">
                <a16:creationId xmlns:a16="http://schemas.microsoft.com/office/drawing/2014/main" id="{ED3E3E1E-313C-4759-8F4B-4A6E616AB237}"/>
              </a:ext>
            </a:extLst>
          </p:cNvPr>
          <p:cNvSpPr/>
          <p:nvPr/>
        </p:nvSpPr>
        <p:spPr>
          <a:xfrm>
            <a:off x="6266172" y="12810456"/>
            <a:ext cx="7449827" cy="467558"/>
          </a:xfrm>
          <a:prstGeom prst="roundRect">
            <a:avLst>
              <a:gd name="adj" fmla="val 30560"/>
            </a:avLst>
          </a:prstGeom>
          <a:solidFill>
            <a:srgbClr val="CCEEFF"/>
          </a:solidFill>
          <a:ln/>
        </p:spPr>
        <p:txBody>
          <a:bodyPr/>
          <a:lstStyle/>
          <a:p>
            <a:pPr lvl="0">
              <a:lnSpc>
                <a:spcPts val="1900"/>
              </a:lnSpc>
            </a:pPr>
            <a:r>
              <a:rPr lang="en-US" sz="1150" dirty="0">
                <a:solidFill>
                  <a:srgbClr val="272525"/>
                </a:solidFill>
                <a:highlight>
                  <a:srgbClr val="CCEEFF"/>
                </a:highlight>
                <a:latin typeface="Consolas" pitchFamily="34" charset="0"/>
                <a:ea typeface="Consolas" pitchFamily="34" charset="-122"/>
                <a:cs typeface="Consolas" pitchFamily="34" charset="-120"/>
              </a:rPr>
              <a:t>Rectangle </a:t>
            </a:r>
            <a:r>
              <a:rPr lang="en-US" sz="1150" dirty="0" err="1">
                <a:solidFill>
                  <a:srgbClr val="272525"/>
                </a:solidFill>
                <a:highlight>
                  <a:srgbClr val="CCEEFF"/>
                </a:highlight>
                <a:latin typeface="Consolas" pitchFamily="34" charset="0"/>
                <a:ea typeface="Consolas" pitchFamily="34" charset="-122"/>
                <a:cs typeface="Consolas" pitchFamily="34" charset="-120"/>
              </a:rPr>
              <a:t>rects</a:t>
            </a:r>
            <a:r>
              <a:rPr lang="en-US" sz="1150" dirty="0">
                <a:solidFill>
                  <a:srgbClr val="272525"/>
                </a:solidFill>
                <a:highlight>
                  <a:srgbClr val="CCEEFF"/>
                </a:highlight>
                <a:latin typeface="Consolas" pitchFamily="34" charset="0"/>
                <a:ea typeface="Consolas" pitchFamily="34" charset="-122"/>
                <a:cs typeface="Consolas" pitchFamily="34" charset="-120"/>
              </a:rPr>
              <a:t>[] = { Rectangle(2,3), Rectangle(4,5), Rectangle(6,7), Rectangle(8,9) };</a:t>
            </a:r>
            <a:endParaRPr lang="en-US" sz="1150" dirty="0">
              <a:solidFill>
                <a:prstClr val="black"/>
              </a:solidFill>
            </a:endParaRPr>
          </a:p>
          <a:p>
            <a:endParaRPr lang="en-US" dirty="0"/>
          </a:p>
        </p:txBody>
      </p:sp>
      <p:sp>
        <p:nvSpPr>
          <p:cNvPr id="15" name="Text 10">
            <a:extLst>
              <a:ext uri="{FF2B5EF4-FFF2-40B4-BE49-F238E27FC236}">
                <a16:creationId xmlns:a16="http://schemas.microsoft.com/office/drawing/2014/main" id="{19F22EB9-2502-4308-9356-094AD471BA49}"/>
              </a:ext>
            </a:extLst>
          </p:cNvPr>
          <p:cNvSpPr/>
          <p:nvPr/>
        </p:nvSpPr>
        <p:spPr>
          <a:xfrm>
            <a:off x="6266172" y="13447679"/>
            <a:ext cx="7449827" cy="322898"/>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Inter" pitchFamily="34" charset="0"/>
                <a:ea typeface="Inter" pitchFamily="34" charset="-122"/>
                <a:cs typeface="Inter" pitchFamily="34" charset="-120"/>
              </a:rPr>
              <a:t>Initializes an array of Rectangle objects using parameterized constructors.</a:t>
            </a:r>
            <a:endParaRPr lang="en-US" sz="1150" dirty="0"/>
          </a:p>
        </p:txBody>
      </p:sp>
      <p:pic>
        <p:nvPicPr>
          <p:cNvPr id="16" name="Image 3" descr="preencoded.png">
            <a:extLst>
              <a:ext uri="{FF2B5EF4-FFF2-40B4-BE49-F238E27FC236}">
                <a16:creationId xmlns:a16="http://schemas.microsoft.com/office/drawing/2014/main" id="{3CBED436-5910-4DBE-8EE3-BDB01580D17D}"/>
              </a:ext>
            </a:extLst>
          </p:cNvPr>
          <p:cNvPicPr>
            <a:picLocks noChangeAspect="1"/>
          </p:cNvPicPr>
          <p:nvPr/>
        </p:nvPicPr>
        <p:blipFill>
          <a:blip r:embed="rId5"/>
          <a:stretch>
            <a:fillRect/>
          </a:stretch>
        </p:blipFill>
        <p:spPr>
          <a:xfrm>
            <a:off x="5285573" y="13839871"/>
            <a:ext cx="754380" cy="1597343"/>
          </a:xfrm>
          <a:prstGeom prst="rect">
            <a:avLst/>
          </a:prstGeom>
        </p:spPr>
      </p:pic>
      <p:sp>
        <p:nvSpPr>
          <p:cNvPr id="17" name="Text 11">
            <a:extLst>
              <a:ext uri="{FF2B5EF4-FFF2-40B4-BE49-F238E27FC236}">
                <a16:creationId xmlns:a16="http://schemas.microsoft.com/office/drawing/2014/main" id="{C8493D1F-D63A-4DE7-9473-9A2D099EBEAF}"/>
              </a:ext>
            </a:extLst>
          </p:cNvPr>
          <p:cNvSpPr/>
          <p:nvPr/>
        </p:nvSpPr>
        <p:spPr>
          <a:xfrm>
            <a:off x="6266172" y="13990723"/>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Petrona Bold" pitchFamily="34" charset="0"/>
                <a:ea typeface="Petrona Bold" pitchFamily="34" charset="-122"/>
                <a:cs typeface="Petrona Bold" pitchFamily="34" charset="-120"/>
              </a:rPr>
              <a:t>Accessing Member</a:t>
            </a:r>
            <a:endParaRPr lang="en-US" sz="1550" dirty="0"/>
          </a:p>
        </p:txBody>
      </p:sp>
      <p:sp>
        <p:nvSpPr>
          <p:cNvPr id="18" name="Shape 12">
            <a:extLst>
              <a:ext uri="{FF2B5EF4-FFF2-40B4-BE49-F238E27FC236}">
                <a16:creationId xmlns:a16="http://schemas.microsoft.com/office/drawing/2014/main" id="{D4913B6E-C226-4092-9212-9BAD662D0599}"/>
              </a:ext>
            </a:extLst>
          </p:cNvPr>
          <p:cNvSpPr/>
          <p:nvPr/>
        </p:nvSpPr>
        <p:spPr>
          <a:xfrm>
            <a:off x="6266172" y="14407799"/>
            <a:ext cx="7449827" cy="467558"/>
          </a:xfrm>
          <a:prstGeom prst="roundRect">
            <a:avLst>
              <a:gd name="adj" fmla="val 27726"/>
            </a:avLst>
          </a:prstGeom>
          <a:solidFill>
            <a:srgbClr val="CCEEFF"/>
          </a:solidFill>
          <a:ln/>
        </p:spPr>
        <p:txBody>
          <a:bodyPr/>
          <a:lstStyle/>
          <a:p>
            <a:pPr lvl="0">
              <a:lnSpc>
                <a:spcPts val="1900"/>
              </a:lnSpc>
            </a:pPr>
            <a:r>
              <a:rPr lang="en-US" sz="1150" dirty="0" err="1">
                <a:solidFill>
                  <a:srgbClr val="272525"/>
                </a:solidFill>
                <a:highlight>
                  <a:srgbClr val="CCEEFF"/>
                </a:highlight>
                <a:latin typeface="Consolas" pitchFamily="34" charset="0"/>
                <a:ea typeface="Consolas" pitchFamily="34" charset="-122"/>
                <a:cs typeface="Consolas" pitchFamily="34" charset="-120"/>
              </a:rPr>
              <a:t>cout</a:t>
            </a:r>
            <a:r>
              <a:rPr lang="en-US" sz="1150" dirty="0">
                <a:solidFill>
                  <a:srgbClr val="272525"/>
                </a:solidFill>
                <a:highlight>
                  <a:srgbClr val="CCEEFF"/>
                </a:highlight>
                <a:latin typeface="Consolas" pitchFamily="34" charset="0"/>
                <a:ea typeface="Consolas" pitchFamily="34" charset="-122"/>
                <a:cs typeface="Consolas" pitchFamily="34" charset="-120"/>
              </a:rPr>
              <a:t> &lt;&lt; </a:t>
            </a:r>
            <a:r>
              <a:rPr lang="en-US" sz="1150" dirty="0" err="1">
                <a:solidFill>
                  <a:srgbClr val="272525"/>
                </a:solidFill>
                <a:highlight>
                  <a:srgbClr val="CCEEFF"/>
                </a:highlight>
                <a:latin typeface="Consolas" pitchFamily="34" charset="0"/>
                <a:ea typeface="Consolas" pitchFamily="34" charset="-122"/>
                <a:cs typeface="Consolas" pitchFamily="34" charset="-120"/>
              </a:rPr>
              <a:t>rects</a:t>
            </a:r>
            <a:r>
              <a:rPr lang="en-US" sz="1150" dirty="0">
                <a:solidFill>
                  <a:srgbClr val="272525"/>
                </a:solidFill>
                <a:highlight>
                  <a:srgbClr val="CCEEFF"/>
                </a:highlight>
                <a:latin typeface="Consolas" pitchFamily="34" charset="0"/>
                <a:ea typeface="Consolas" pitchFamily="34" charset="-122"/>
                <a:cs typeface="Consolas" pitchFamily="34" charset="-120"/>
              </a:rPr>
              <a:t>[2].area();</a:t>
            </a:r>
            <a:endParaRPr lang="en-US" sz="1150" dirty="0">
              <a:solidFill>
                <a:prstClr val="black"/>
              </a:solidFill>
            </a:endParaRPr>
          </a:p>
          <a:p>
            <a:endParaRPr lang="en-US" dirty="0"/>
          </a:p>
        </p:txBody>
      </p:sp>
      <p:sp>
        <p:nvSpPr>
          <p:cNvPr id="19" name="Text 15">
            <a:extLst>
              <a:ext uri="{FF2B5EF4-FFF2-40B4-BE49-F238E27FC236}">
                <a16:creationId xmlns:a16="http://schemas.microsoft.com/office/drawing/2014/main" id="{F86CE81C-1669-40F4-9D8E-AB283AB230DB}"/>
              </a:ext>
            </a:extLst>
          </p:cNvPr>
          <p:cNvSpPr/>
          <p:nvPr/>
        </p:nvSpPr>
        <p:spPr>
          <a:xfrm>
            <a:off x="6266173" y="15045021"/>
            <a:ext cx="7449826" cy="241340"/>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Inter" pitchFamily="34" charset="0"/>
                <a:ea typeface="Inter" pitchFamily="34" charset="-122"/>
                <a:cs typeface="Inter" pitchFamily="34" charset="-120"/>
              </a:rPr>
              <a:t>Accesses the </a:t>
            </a:r>
            <a:r>
              <a:rPr lang="en-US" sz="1150" b="1" dirty="0">
                <a:solidFill>
                  <a:srgbClr val="272525"/>
                </a:solidFill>
                <a:latin typeface="Inter" pitchFamily="34" charset="0"/>
                <a:ea typeface="Inter" pitchFamily="34" charset="-122"/>
                <a:cs typeface="Inter" pitchFamily="34" charset="-120"/>
              </a:rPr>
              <a:t>area()</a:t>
            </a:r>
            <a:r>
              <a:rPr lang="en-US" sz="1150" dirty="0">
                <a:solidFill>
                  <a:srgbClr val="272525"/>
                </a:solidFill>
                <a:latin typeface="Inter" pitchFamily="34" charset="0"/>
                <a:ea typeface="Inter" pitchFamily="34" charset="-122"/>
                <a:cs typeface="Inter" pitchFamily="34" charset="-120"/>
              </a:rPr>
              <a:t> method of the third Rectangle object, outputting 42.</a:t>
            </a:r>
            <a:endParaRPr lang="en-US" sz="1150" dirty="0"/>
          </a:p>
        </p:txBody>
      </p:sp>
      <p:pic>
        <p:nvPicPr>
          <p:cNvPr id="20" name="Image 1" descr="preencoded.png">
            <a:extLst>
              <a:ext uri="{FF2B5EF4-FFF2-40B4-BE49-F238E27FC236}">
                <a16:creationId xmlns:a16="http://schemas.microsoft.com/office/drawing/2014/main" id="{56D04FE5-6B96-4EAC-96C6-20629154540B}"/>
              </a:ext>
            </a:extLst>
          </p:cNvPr>
          <p:cNvPicPr>
            <a:picLocks noChangeAspect="1"/>
          </p:cNvPicPr>
          <p:nvPr/>
        </p:nvPicPr>
        <p:blipFill>
          <a:blip r:embed="rId6"/>
          <a:stretch>
            <a:fillRect/>
          </a:stretch>
        </p:blipFill>
        <p:spPr>
          <a:xfrm>
            <a:off x="5404104" y="9777006"/>
            <a:ext cx="3831336" cy="2532888"/>
          </a:xfrm>
          <a:prstGeom prst="rect">
            <a:avLst/>
          </a:prstGeom>
          <a:ln>
            <a:noFill/>
          </a:ln>
          <a:effectLst>
            <a:outerShdw blurRad="292100" dist="139700" dir="2700000" algn="tl" rotWithShape="0">
              <a:srgbClr val="333333">
                <a:alpha val="65000"/>
              </a:srgbClr>
            </a:outerShdw>
          </a:effectLst>
        </p:spPr>
      </p:pic>
      <p:pic>
        <p:nvPicPr>
          <p:cNvPr id="21" name="Image 2" descr="preencoded.png">
            <a:extLst>
              <a:ext uri="{FF2B5EF4-FFF2-40B4-BE49-F238E27FC236}">
                <a16:creationId xmlns:a16="http://schemas.microsoft.com/office/drawing/2014/main" id="{5EDC8161-1776-4DFA-8FF7-7D4D5DDBC9DC}"/>
              </a:ext>
            </a:extLst>
          </p:cNvPr>
          <p:cNvPicPr>
            <a:picLocks noChangeAspect="1"/>
          </p:cNvPicPr>
          <p:nvPr/>
        </p:nvPicPr>
        <p:blipFill>
          <a:blip r:embed="rId7"/>
          <a:stretch>
            <a:fillRect/>
          </a:stretch>
        </p:blipFill>
        <p:spPr>
          <a:xfrm>
            <a:off x="5330954" y="9777006"/>
            <a:ext cx="3831336" cy="2532888"/>
          </a:xfrm>
          <a:prstGeom prst="rect">
            <a:avLst/>
          </a:prstGeom>
          <a:ln>
            <a:noFill/>
          </a:ln>
          <a:effectLst>
            <a:outerShdw blurRad="292100" dist="139700" dir="2700000" algn="tl" rotWithShape="0">
              <a:srgbClr val="333333">
                <a:alpha val="65000"/>
              </a:srgbClr>
            </a:outerShdw>
          </a:effectLst>
        </p:spPr>
      </p:pic>
      <p:pic>
        <p:nvPicPr>
          <p:cNvPr id="22" name="Image 3" descr="preencoded.png">
            <a:extLst>
              <a:ext uri="{FF2B5EF4-FFF2-40B4-BE49-F238E27FC236}">
                <a16:creationId xmlns:a16="http://schemas.microsoft.com/office/drawing/2014/main" id="{DA04EA89-ED14-4173-9965-8496A9C0C47C}"/>
              </a:ext>
            </a:extLst>
          </p:cNvPr>
          <p:cNvPicPr>
            <a:picLocks noChangeAspect="1"/>
          </p:cNvPicPr>
          <p:nvPr/>
        </p:nvPicPr>
        <p:blipFill>
          <a:blip r:embed="rId8"/>
          <a:stretch>
            <a:fillRect/>
          </a:stretch>
        </p:blipFill>
        <p:spPr>
          <a:xfrm>
            <a:off x="5367529" y="9810724"/>
            <a:ext cx="3831336" cy="2532888"/>
          </a:xfrm>
          <a:prstGeom prst="rect">
            <a:avLst/>
          </a:prstGeom>
          <a:ln>
            <a:noFill/>
          </a:ln>
          <a:effectLst>
            <a:outerShdw blurRad="292100" dist="139700" dir="2700000" algn="tl" rotWithShape="0">
              <a:srgbClr val="333333">
                <a:alpha val="65000"/>
              </a:srgbClr>
            </a:outerShdw>
          </a:effectLst>
        </p:spPr>
      </p:pic>
      <p:sp>
        <p:nvSpPr>
          <p:cNvPr id="23" name="Text 1">
            <a:extLst>
              <a:ext uri="{FF2B5EF4-FFF2-40B4-BE49-F238E27FC236}">
                <a16:creationId xmlns:a16="http://schemas.microsoft.com/office/drawing/2014/main" id="{F9368570-F579-494D-8969-CA8C630C29EF}"/>
              </a:ext>
            </a:extLst>
          </p:cNvPr>
          <p:cNvSpPr/>
          <p:nvPr/>
        </p:nvSpPr>
        <p:spPr>
          <a:xfrm>
            <a:off x="5404104" y="13041414"/>
            <a:ext cx="3831336" cy="713232"/>
          </a:xfrm>
          <a:prstGeom prst="rect">
            <a:avLst/>
          </a:prstGeom>
          <a:noFill/>
          <a:ln/>
        </p:spPr>
        <p:txBody>
          <a:bodyPr wrap="square" lIns="0" tIns="0" rIns="0" bIns="0" rtlCol="0" anchor="ctr"/>
          <a:lstStyle/>
          <a:p>
            <a:pPr marL="0" indent="0" algn="ct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Memory is managed automatically.</a:t>
            </a:r>
            <a:endParaRPr lang="en-US" sz="1850" dirty="0"/>
          </a:p>
        </p:txBody>
      </p:sp>
      <p:sp>
        <p:nvSpPr>
          <p:cNvPr id="24" name="Text 2">
            <a:extLst>
              <a:ext uri="{FF2B5EF4-FFF2-40B4-BE49-F238E27FC236}">
                <a16:creationId xmlns:a16="http://schemas.microsoft.com/office/drawing/2014/main" id="{FBCEA72C-29CA-40EE-A477-4FA150C7D5A9}"/>
              </a:ext>
            </a:extLst>
          </p:cNvPr>
          <p:cNvSpPr/>
          <p:nvPr/>
        </p:nvSpPr>
        <p:spPr>
          <a:xfrm>
            <a:off x="5330954" y="13041414"/>
            <a:ext cx="3831336" cy="713232"/>
          </a:xfrm>
          <a:prstGeom prst="rect">
            <a:avLst/>
          </a:prstGeom>
          <a:noFill/>
          <a:ln/>
        </p:spPr>
        <p:txBody>
          <a:bodyPr wrap="square" lIns="0" tIns="0" rIns="0" bIns="0" rtlCol="0" anchor="ctr"/>
          <a:lstStyle/>
          <a:p>
            <a:pPr marL="0" indent="0" algn="ct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Require custom constructors and destructors.</a:t>
            </a:r>
            <a:endParaRPr lang="en-US" sz="1850" dirty="0"/>
          </a:p>
        </p:txBody>
      </p:sp>
      <p:sp>
        <p:nvSpPr>
          <p:cNvPr id="25" name="Text 3">
            <a:extLst>
              <a:ext uri="{FF2B5EF4-FFF2-40B4-BE49-F238E27FC236}">
                <a16:creationId xmlns:a16="http://schemas.microsoft.com/office/drawing/2014/main" id="{2BCB548D-F75C-48E2-B201-715EDA30E3F9}"/>
              </a:ext>
            </a:extLst>
          </p:cNvPr>
          <p:cNvSpPr/>
          <p:nvPr/>
        </p:nvSpPr>
        <p:spPr>
          <a:xfrm>
            <a:off x="5330954" y="12529350"/>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Complex Objects</a:t>
            </a:r>
            <a:endParaRPr lang="en-US" sz="2320" dirty="0"/>
          </a:p>
        </p:txBody>
      </p:sp>
      <p:sp>
        <p:nvSpPr>
          <p:cNvPr id="26" name="Text 5">
            <a:extLst>
              <a:ext uri="{FF2B5EF4-FFF2-40B4-BE49-F238E27FC236}">
                <a16:creationId xmlns:a16="http://schemas.microsoft.com/office/drawing/2014/main" id="{1AD4DBE3-9BCE-42CD-8DFE-266D2ED3272E}"/>
              </a:ext>
            </a:extLst>
          </p:cNvPr>
          <p:cNvSpPr/>
          <p:nvPr/>
        </p:nvSpPr>
        <p:spPr>
          <a:xfrm>
            <a:off x="5367529" y="12563068"/>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Dynamic Arrays</a:t>
            </a:r>
            <a:endParaRPr lang="en-US" sz="2320" dirty="0"/>
          </a:p>
        </p:txBody>
      </p:sp>
      <p:sp>
        <p:nvSpPr>
          <p:cNvPr id="27" name="Text 6">
            <a:extLst>
              <a:ext uri="{FF2B5EF4-FFF2-40B4-BE49-F238E27FC236}">
                <a16:creationId xmlns:a16="http://schemas.microsoft.com/office/drawing/2014/main" id="{43E47180-8A38-4293-A65C-AC2A8178669E}"/>
              </a:ext>
            </a:extLst>
          </p:cNvPr>
          <p:cNvSpPr/>
          <p:nvPr/>
        </p:nvSpPr>
        <p:spPr>
          <a:xfrm>
            <a:off x="5367529" y="13075132"/>
            <a:ext cx="3831336" cy="356616"/>
          </a:xfrm>
          <a:prstGeom prst="rect">
            <a:avLst/>
          </a:prstGeom>
          <a:noFill/>
          <a:ln/>
        </p:spPr>
        <p:txBody>
          <a:bodyPr wrap="none" lIns="0" tIns="0" rIns="0" bIns="0" rtlCol="0" anchor="ctr"/>
          <a:lstStyle/>
          <a:p>
            <a:pPr marL="0" indent="0" algn="ct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Use new and delete[] properly.</a:t>
            </a:r>
            <a:endParaRPr lang="en-US" sz="1850" dirty="0"/>
          </a:p>
        </p:txBody>
      </p:sp>
      <p:sp>
        <p:nvSpPr>
          <p:cNvPr id="28" name="Text 7">
            <a:extLst>
              <a:ext uri="{FF2B5EF4-FFF2-40B4-BE49-F238E27FC236}">
                <a16:creationId xmlns:a16="http://schemas.microsoft.com/office/drawing/2014/main" id="{22916248-AF17-4892-B52B-9E8DF88B7818}"/>
              </a:ext>
            </a:extLst>
          </p:cNvPr>
          <p:cNvSpPr/>
          <p:nvPr/>
        </p:nvSpPr>
        <p:spPr>
          <a:xfrm>
            <a:off x="5404104" y="12529350"/>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Static Arrays</a:t>
            </a:r>
            <a:endParaRPr lang="en-US" sz="2320" dirty="0"/>
          </a:p>
        </p:txBody>
      </p:sp>
      <p:sp>
        <p:nvSpPr>
          <p:cNvPr id="29" name="Text 0">
            <a:extLst>
              <a:ext uri="{FF2B5EF4-FFF2-40B4-BE49-F238E27FC236}">
                <a16:creationId xmlns:a16="http://schemas.microsoft.com/office/drawing/2014/main" id="{E65967D5-A31B-4F15-A517-027FFEA5F55F}"/>
              </a:ext>
            </a:extLst>
          </p:cNvPr>
          <p:cNvSpPr/>
          <p:nvPr/>
        </p:nvSpPr>
        <p:spPr>
          <a:xfrm>
            <a:off x="-4939110" y="4352176"/>
            <a:ext cx="3511296" cy="1417320"/>
          </a:xfrm>
          <a:prstGeom prst="rect">
            <a:avLst/>
          </a:prstGeom>
          <a:noFill/>
          <a:ln/>
        </p:spPr>
        <p:txBody>
          <a:bodyPr wrap="square" lIns="0" tIns="0" rIns="0" bIns="0" rtlCol="0" anchor="ctr"/>
          <a:lstStyle/>
          <a:p>
            <a:pPr marL="0" indent="0" algn="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Arrays of objects have dynamic storage capacities. The size can be determined at runtime, offering flexibility.</a:t>
            </a:r>
            <a:endParaRPr lang="en-US" sz="1850" dirty="0"/>
          </a:p>
        </p:txBody>
      </p:sp>
      <p:sp>
        <p:nvSpPr>
          <p:cNvPr id="30" name="Text 1">
            <a:extLst>
              <a:ext uri="{FF2B5EF4-FFF2-40B4-BE49-F238E27FC236}">
                <a16:creationId xmlns:a16="http://schemas.microsoft.com/office/drawing/2014/main" id="{666E205D-9F4B-4B4B-8B2A-CB76444F2187}"/>
              </a:ext>
            </a:extLst>
          </p:cNvPr>
          <p:cNvSpPr/>
          <p:nvPr/>
        </p:nvSpPr>
        <p:spPr>
          <a:xfrm>
            <a:off x="-4939110" y="3712096"/>
            <a:ext cx="3511296" cy="374904"/>
          </a:xfrm>
          <a:prstGeom prst="rect">
            <a:avLst/>
          </a:prstGeom>
          <a:noFill/>
          <a:ln/>
        </p:spPr>
        <p:txBody>
          <a:bodyPr wrap="none" lIns="0" tIns="0" rIns="0" bIns="0" rtlCol="0" anchor="ctr"/>
          <a:lstStyle/>
          <a:p>
            <a:pPr marL="0" indent="0" algn="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Dynamic Storage</a:t>
            </a:r>
            <a:endParaRPr lang="en-US" sz="2320" dirty="0"/>
          </a:p>
        </p:txBody>
      </p:sp>
      <p:sp>
        <p:nvSpPr>
          <p:cNvPr id="31" name="Text 2">
            <a:extLst>
              <a:ext uri="{FF2B5EF4-FFF2-40B4-BE49-F238E27FC236}">
                <a16:creationId xmlns:a16="http://schemas.microsoft.com/office/drawing/2014/main" id="{E1DBFAAF-AF4F-45F2-8E0D-92DA655C38CA}"/>
              </a:ext>
            </a:extLst>
          </p:cNvPr>
          <p:cNvSpPr/>
          <p:nvPr/>
        </p:nvSpPr>
        <p:spPr>
          <a:xfrm>
            <a:off x="17652161" y="5815216"/>
            <a:ext cx="3986784" cy="1417320"/>
          </a:xfrm>
          <a:prstGeom prst="rect">
            <a:avLst/>
          </a:prstGeom>
          <a:noFill/>
          <a:ln/>
        </p:spPr>
        <p:txBody>
          <a:bodyPr wrap="square" lIns="0" tIns="0" rIns="0" bIns="0" rtlCol="0" anchor="ctr"/>
          <a:lstStyle/>
          <a:p>
            <a:pPr marL="0" indent="0" algn="l">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Elements from the array can be treated uniformly using loops and algorithms, fostering efficient code design.</a:t>
            </a:r>
            <a:endParaRPr lang="en-US" sz="1850" dirty="0"/>
          </a:p>
        </p:txBody>
      </p:sp>
      <p:sp>
        <p:nvSpPr>
          <p:cNvPr id="32" name="Text 3">
            <a:extLst>
              <a:ext uri="{FF2B5EF4-FFF2-40B4-BE49-F238E27FC236}">
                <a16:creationId xmlns:a16="http://schemas.microsoft.com/office/drawing/2014/main" id="{D3E851DB-F601-4C21-A3D3-377761B16D2E}"/>
              </a:ext>
            </a:extLst>
          </p:cNvPr>
          <p:cNvSpPr/>
          <p:nvPr/>
        </p:nvSpPr>
        <p:spPr>
          <a:xfrm>
            <a:off x="17652161" y="2879992"/>
            <a:ext cx="3986784" cy="1417320"/>
          </a:xfrm>
          <a:prstGeom prst="rect">
            <a:avLst/>
          </a:prstGeom>
          <a:noFill/>
          <a:ln/>
        </p:spPr>
        <p:txBody>
          <a:bodyPr wrap="square" lIns="0" tIns="0" rIns="0" bIns="0" rtlCol="0" anchor="ctr"/>
          <a:lstStyle/>
          <a:p>
            <a:pPr marL="0" indent="0" algn="l">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Objects within the array are stored in a single contiguous block of memory, improving cache performance.</a:t>
            </a:r>
            <a:endParaRPr lang="en-US" sz="1850" dirty="0"/>
          </a:p>
        </p:txBody>
      </p:sp>
      <p:sp>
        <p:nvSpPr>
          <p:cNvPr id="33" name="Text 4">
            <a:extLst>
              <a:ext uri="{FF2B5EF4-FFF2-40B4-BE49-F238E27FC236}">
                <a16:creationId xmlns:a16="http://schemas.microsoft.com/office/drawing/2014/main" id="{49B98A74-6F0F-44B0-93BB-088465A248D5}"/>
              </a:ext>
            </a:extLst>
          </p:cNvPr>
          <p:cNvSpPr/>
          <p:nvPr/>
        </p:nvSpPr>
        <p:spPr>
          <a:xfrm>
            <a:off x="832104" y="-5347925"/>
            <a:ext cx="12984480" cy="740664"/>
          </a:xfrm>
          <a:prstGeom prst="rect">
            <a:avLst/>
          </a:prstGeom>
          <a:noFill/>
          <a:ln/>
        </p:spPr>
        <p:txBody>
          <a:bodyPr wrap="none" lIns="0" tIns="0" rIns="0" bIns="0" rtlCol="0" anchor="ctr"/>
          <a:lstStyle/>
          <a:p>
            <a:pPr marL="0" indent="0" algn="l">
              <a:lnSpc>
                <a:spcPts val="5800"/>
              </a:lnSpc>
              <a:buNone/>
            </a:pPr>
            <a:r>
              <a:rPr lang="en-US" sz="4640" dirty="0">
                <a:solidFill>
                  <a:srgbClr val="0C266F"/>
                </a:solidFill>
                <a:latin typeface="思源宋体-思源宋体-SemiBold" pitchFamily="34" charset="0"/>
                <a:ea typeface="思源宋体-思源宋体-SemiBold" pitchFamily="34" charset="-122"/>
                <a:cs typeface="思源宋体-思源宋体-SemiBold" pitchFamily="34" charset="-120"/>
              </a:rPr>
              <a:t>Properties of Arrays of Objects</a:t>
            </a:r>
            <a:endParaRPr lang="en-US" sz="4640" dirty="0"/>
          </a:p>
        </p:txBody>
      </p:sp>
      <p:sp>
        <p:nvSpPr>
          <p:cNvPr id="34" name="Text 5">
            <a:extLst>
              <a:ext uri="{FF2B5EF4-FFF2-40B4-BE49-F238E27FC236}">
                <a16:creationId xmlns:a16="http://schemas.microsoft.com/office/drawing/2014/main" id="{C2E1C242-DB3A-4F2F-9894-140B6A1E1848}"/>
              </a:ext>
            </a:extLst>
          </p:cNvPr>
          <p:cNvSpPr/>
          <p:nvPr/>
        </p:nvSpPr>
        <p:spPr>
          <a:xfrm>
            <a:off x="17652161" y="2249056"/>
            <a:ext cx="3986784" cy="374904"/>
          </a:xfrm>
          <a:prstGeom prst="rect">
            <a:avLst/>
          </a:prstGeom>
          <a:noFill/>
          <a:ln/>
        </p:spPr>
        <p:txBody>
          <a:bodyPr wrap="none" lIns="0" tIns="0" rIns="0" bIns="0" rtlCol="0" anchor="ctr"/>
          <a:lstStyle/>
          <a:p>
            <a:pPr marL="0" indent="0" algn="l">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Contiguous Memory</a:t>
            </a:r>
            <a:endParaRPr lang="en-US" sz="2320" dirty="0"/>
          </a:p>
        </p:txBody>
      </p:sp>
      <p:sp>
        <p:nvSpPr>
          <p:cNvPr id="35" name="Text 6">
            <a:extLst>
              <a:ext uri="{FF2B5EF4-FFF2-40B4-BE49-F238E27FC236}">
                <a16:creationId xmlns:a16="http://schemas.microsoft.com/office/drawing/2014/main" id="{F2D2178A-1AF0-4966-BA44-293A83372F83}"/>
              </a:ext>
            </a:extLst>
          </p:cNvPr>
          <p:cNvSpPr/>
          <p:nvPr/>
        </p:nvSpPr>
        <p:spPr>
          <a:xfrm>
            <a:off x="17652161" y="5184280"/>
            <a:ext cx="3986784" cy="374904"/>
          </a:xfrm>
          <a:prstGeom prst="rect">
            <a:avLst/>
          </a:prstGeom>
          <a:noFill/>
          <a:ln/>
        </p:spPr>
        <p:txBody>
          <a:bodyPr wrap="none" lIns="0" tIns="0" rIns="0" bIns="0" rtlCol="0" anchor="ctr"/>
          <a:lstStyle/>
          <a:p>
            <a:pPr marL="0" indent="0" algn="l">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Uniform Element Access</a:t>
            </a:r>
            <a:endParaRPr lang="en-US" sz="2320" dirty="0"/>
          </a:p>
        </p:txBody>
      </p:sp>
      <p:grpSp>
        <p:nvGrpSpPr>
          <p:cNvPr id="37" name="Group 36">
            <a:extLst>
              <a:ext uri="{FF2B5EF4-FFF2-40B4-BE49-F238E27FC236}">
                <a16:creationId xmlns:a16="http://schemas.microsoft.com/office/drawing/2014/main" id="{258024A0-60CE-4F48-893E-67676B07FA40}"/>
              </a:ext>
            </a:extLst>
          </p:cNvPr>
          <p:cNvGrpSpPr/>
          <p:nvPr/>
        </p:nvGrpSpPr>
        <p:grpSpPr>
          <a:xfrm>
            <a:off x="18988332" y="1551661"/>
            <a:ext cx="7710249" cy="6108981"/>
            <a:chOff x="5947243" y="1558915"/>
            <a:chExt cx="7710249" cy="6108981"/>
          </a:xfrm>
        </p:grpSpPr>
        <p:sp>
          <p:nvSpPr>
            <p:cNvPr id="38" name="Shape 1">
              <a:extLst>
                <a:ext uri="{FF2B5EF4-FFF2-40B4-BE49-F238E27FC236}">
                  <a16:creationId xmlns:a16="http://schemas.microsoft.com/office/drawing/2014/main" id="{99F1572B-04EB-4F06-9A81-68FCC3C4EFF1}"/>
                </a:ext>
              </a:extLst>
            </p:cNvPr>
            <p:cNvSpPr/>
            <p:nvPr/>
          </p:nvSpPr>
          <p:spPr>
            <a:xfrm>
              <a:off x="5947243" y="1558915"/>
              <a:ext cx="7710249" cy="6108981"/>
            </a:xfrm>
            <a:prstGeom prst="roundRect">
              <a:avLst>
                <a:gd name="adj" fmla="val 7099"/>
              </a:avLst>
            </a:prstGeom>
            <a:solidFill>
              <a:srgbClr val="BDD4FA"/>
            </a:solidFill>
            <a:ln w="7620">
              <a:solidFill>
                <a:srgbClr val="B2D4E5"/>
              </a:solidFill>
              <a:prstDash val="solid"/>
            </a:ln>
            <a:effectLst>
              <a:outerShdw blurRad="50800" dist="38100" dir="8100000" algn="tr" rotWithShape="0">
                <a:prstClr val="black">
                  <a:alpha val="40000"/>
                </a:prstClr>
              </a:outerShdw>
            </a:effectLst>
          </p:spPr>
          <p:txBody>
            <a:bodyPr/>
            <a:lstStyle/>
            <a:p>
              <a:r>
                <a:rPr lang="en-US" dirty="0"/>
                <a:t>#include &lt;iostream&gt;</a:t>
              </a:r>
            </a:p>
            <a:p>
              <a:r>
                <a:rPr lang="en-US" dirty="0"/>
                <a:t>using namespace std;</a:t>
              </a:r>
            </a:p>
            <a:p>
              <a:endParaRPr lang="en-US" dirty="0"/>
            </a:p>
            <a:p>
              <a:r>
                <a:rPr lang="en-US" dirty="0"/>
                <a:t>class test</a:t>
              </a:r>
            </a:p>
            <a:p>
              <a:r>
                <a:rPr lang="en-US" dirty="0"/>
                <a:t>{</a:t>
              </a:r>
            </a:p>
            <a:p>
              <a:r>
                <a:rPr lang="en-US" dirty="0"/>
                <a:t>     private:</a:t>
              </a:r>
            </a:p>
            <a:p>
              <a:r>
                <a:rPr lang="en-US" dirty="0"/>
                <a:t>         int testing;</a:t>
              </a:r>
            </a:p>
            <a:p>
              <a:r>
                <a:rPr lang="en-US" dirty="0"/>
                <a:t>     public:</a:t>
              </a:r>
            </a:p>
            <a:p>
              <a:r>
                <a:rPr lang="en-US" dirty="0"/>
                <a:t>         test()</a:t>
              </a:r>
            </a:p>
            <a:p>
              <a:r>
                <a:rPr lang="en-US" dirty="0"/>
                <a:t>         {</a:t>
              </a:r>
            </a:p>
            <a:p>
              <a:r>
                <a:rPr lang="en-US" dirty="0"/>
                <a:t>             testing = 0;</a:t>
              </a:r>
            </a:p>
            <a:p>
              <a:r>
                <a:rPr lang="en-US" dirty="0"/>
                <a:t>         }</a:t>
              </a:r>
            </a:p>
            <a:p>
              <a:r>
                <a:rPr lang="en-US" dirty="0"/>
                <a:t>         test(int t)</a:t>
              </a:r>
            </a:p>
            <a:p>
              <a:r>
                <a:rPr lang="en-US" dirty="0"/>
                <a:t>         {</a:t>
              </a:r>
            </a:p>
            <a:p>
              <a:r>
                <a:rPr lang="en-US" dirty="0"/>
                <a:t>              testing = t;</a:t>
              </a:r>
            </a:p>
            <a:p>
              <a:r>
                <a:rPr lang="en-US" dirty="0"/>
                <a:t>         }</a:t>
              </a:r>
            </a:p>
            <a:p>
              <a:r>
                <a:rPr lang="en-US" dirty="0"/>
                <a:t>         void </a:t>
              </a:r>
              <a:r>
                <a:rPr lang="en-US" dirty="0" err="1"/>
                <a:t>set_Test</a:t>
              </a:r>
              <a:r>
                <a:rPr lang="en-US" dirty="0"/>
                <a:t>(int t)</a:t>
              </a:r>
            </a:p>
            <a:p>
              <a:r>
                <a:rPr lang="en-US" dirty="0"/>
                <a:t>         {</a:t>
              </a:r>
            </a:p>
            <a:p>
              <a:r>
                <a:rPr lang="en-US" dirty="0"/>
                <a:t>              testing = t;</a:t>
              </a:r>
            </a:p>
            <a:p>
              <a:r>
                <a:rPr lang="en-US" dirty="0"/>
                <a:t>         }</a:t>
              </a:r>
            </a:p>
            <a:p>
              <a:r>
                <a:rPr lang="en-US" dirty="0"/>
                <a:t>         </a:t>
              </a:r>
            </a:p>
          </p:txBody>
        </p:sp>
        <p:sp>
          <p:nvSpPr>
            <p:cNvPr id="39" name="TextBox 38">
              <a:extLst>
                <a:ext uri="{FF2B5EF4-FFF2-40B4-BE49-F238E27FC236}">
                  <a16:creationId xmlns:a16="http://schemas.microsoft.com/office/drawing/2014/main" id="{104010F3-52E8-4224-A609-A3572E9A0BA9}"/>
                </a:ext>
              </a:extLst>
            </p:cNvPr>
            <p:cNvSpPr txBox="1"/>
            <p:nvPr/>
          </p:nvSpPr>
          <p:spPr>
            <a:xfrm>
              <a:off x="9980724" y="1738704"/>
              <a:ext cx="3304903" cy="5355312"/>
            </a:xfrm>
            <a:prstGeom prst="rect">
              <a:avLst/>
            </a:prstGeom>
            <a:noFill/>
          </p:spPr>
          <p:txBody>
            <a:bodyPr wrap="square" rtlCol="0">
              <a:spAutoFit/>
            </a:bodyPr>
            <a:lstStyle/>
            <a:p>
              <a:r>
                <a:rPr lang="en-US" dirty="0"/>
                <a:t>    int </a:t>
              </a:r>
              <a:r>
                <a:rPr lang="en-US" dirty="0" err="1"/>
                <a:t>get_Test</a:t>
              </a:r>
              <a:r>
                <a:rPr lang="en-US" dirty="0"/>
                <a:t>()</a:t>
              </a:r>
            </a:p>
            <a:p>
              <a:r>
                <a:rPr lang="en-US" dirty="0"/>
                <a:t>    {</a:t>
              </a:r>
            </a:p>
            <a:p>
              <a:r>
                <a:rPr lang="en-US" dirty="0"/>
                <a:t>        return testing;</a:t>
              </a:r>
            </a:p>
            <a:p>
              <a:r>
                <a:rPr lang="en-US" dirty="0"/>
                <a:t>    }</a:t>
              </a:r>
            </a:p>
            <a:p>
              <a:r>
                <a:rPr lang="en-US" dirty="0"/>
                <a:t>};</a:t>
              </a:r>
            </a:p>
            <a:p>
              <a:r>
                <a:rPr lang="en-US" dirty="0"/>
                <a:t>int main()</a:t>
              </a:r>
            </a:p>
            <a:p>
              <a:r>
                <a:rPr lang="en-US" dirty="0"/>
                <a:t>{</a:t>
              </a:r>
            </a:p>
            <a:p>
              <a:r>
                <a:rPr lang="en-US" dirty="0"/>
                <a:t>    test obj;</a:t>
              </a:r>
            </a:p>
            <a:p>
              <a:r>
                <a:rPr lang="en-US" dirty="0"/>
                <a:t>    test </a:t>
              </a:r>
              <a:r>
                <a:rPr lang="en-US" dirty="0" err="1"/>
                <a:t>objn</a:t>
              </a:r>
              <a:r>
                <a:rPr lang="en-US" dirty="0"/>
                <a:t>(1);</a:t>
              </a:r>
            </a:p>
            <a:p>
              <a:r>
                <a:rPr lang="en-US" dirty="0"/>
                <a:t>    test </a:t>
              </a:r>
              <a:r>
                <a:rPr lang="en-US" dirty="0" err="1"/>
                <a:t>objt</a:t>
              </a:r>
              <a:r>
                <a:rPr lang="en-US" dirty="0"/>
                <a:t>[5];</a:t>
              </a:r>
            </a:p>
            <a:p>
              <a:r>
                <a:rPr lang="en-US" dirty="0"/>
                <a:t>    for(int </a:t>
              </a:r>
              <a:r>
                <a:rPr lang="en-US" dirty="0" err="1"/>
                <a:t>i</a:t>
              </a:r>
              <a:r>
                <a:rPr lang="en-US" dirty="0"/>
                <a:t>=0, </a:t>
              </a:r>
              <a:r>
                <a:rPr lang="en-US" dirty="0" err="1"/>
                <a:t>i</a:t>
              </a:r>
              <a:r>
                <a:rPr lang="en-US" dirty="0"/>
                <a:t>&lt;5; </a:t>
              </a:r>
              <a:r>
                <a:rPr lang="en-US" dirty="0" err="1"/>
                <a:t>i</a:t>
              </a:r>
              <a:r>
                <a:rPr lang="en-US" dirty="0"/>
                <a:t>++)</a:t>
              </a:r>
            </a:p>
            <a:p>
              <a:r>
                <a:rPr lang="en-US" dirty="0"/>
                <a:t>        </a:t>
              </a:r>
              <a:r>
                <a:rPr lang="en-US" dirty="0" err="1"/>
                <a:t>objt</a:t>
              </a:r>
              <a:r>
                <a:rPr lang="en-US" dirty="0"/>
                <a:t>[</a:t>
              </a:r>
              <a:r>
                <a:rPr lang="en-US" dirty="0" err="1"/>
                <a:t>i</a:t>
              </a:r>
              <a:r>
                <a:rPr lang="en-US" dirty="0"/>
                <a:t>] = i+1;</a:t>
              </a:r>
            </a:p>
            <a:p>
              <a:r>
                <a:rPr lang="en-US" dirty="0"/>
                <a:t>    test </a:t>
              </a:r>
              <a:r>
                <a:rPr lang="en-US" dirty="0" err="1"/>
                <a:t>arr</a:t>
              </a:r>
              <a:r>
                <a:rPr lang="en-US" dirty="0"/>
                <a:t>[] = { test(10), test(20), </a:t>
              </a:r>
            </a:p>
            <a:p>
              <a:r>
                <a:rPr lang="en-US" dirty="0"/>
                <a:t>    test(30), test(40), test(50) };</a:t>
              </a:r>
            </a:p>
            <a:p>
              <a:r>
                <a:rPr lang="en-US" dirty="0"/>
                <a:t>    </a:t>
              </a:r>
              <a:r>
                <a:rPr lang="en-US" dirty="0" err="1"/>
                <a:t>cout</a:t>
              </a:r>
              <a:r>
                <a:rPr lang="en-US" dirty="0"/>
                <a:t> &lt;&lt; </a:t>
              </a:r>
              <a:r>
                <a:rPr lang="en-US" dirty="0" err="1"/>
                <a:t>arr</a:t>
              </a:r>
              <a:r>
                <a:rPr lang="en-US" dirty="0"/>
                <a:t>[1].</a:t>
              </a:r>
              <a:r>
                <a:rPr lang="en-US" dirty="0" err="1"/>
                <a:t>get_Test</a:t>
              </a:r>
              <a:r>
                <a:rPr lang="en-US" dirty="0"/>
                <a:t> &lt;&lt; </a:t>
              </a:r>
              <a:r>
                <a:rPr lang="en-US" dirty="0" err="1"/>
                <a:t>endl</a:t>
              </a:r>
              <a:r>
                <a:rPr lang="en-US" dirty="0"/>
                <a:t>;</a:t>
              </a:r>
            </a:p>
            <a:p>
              <a:r>
                <a:rPr lang="en-US" dirty="0"/>
                <a:t>    </a:t>
              </a:r>
              <a:r>
                <a:rPr lang="en-US" dirty="0" err="1"/>
                <a:t>arr</a:t>
              </a:r>
              <a:r>
                <a:rPr lang="en-US" dirty="0"/>
                <a:t>[0].</a:t>
              </a:r>
              <a:r>
                <a:rPr lang="en-US" dirty="0" err="1"/>
                <a:t>set_Test</a:t>
              </a:r>
              <a:r>
                <a:rPr lang="en-US" dirty="0"/>
                <a:t>(5);</a:t>
              </a:r>
            </a:p>
            <a:p>
              <a:r>
                <a:rPr lang="en-US" dirty="0"/>
                <a:t>    </a:t>
              </a:r>
              <a:r>
                <a:rPr lang="en-US" dirty="0" err="1"/>
                <a:t>cout</a:t>
              </a:r>
              <a:r>
                <a:rPr lang="en-US" dirty="0"/>
                <a:t> &lt;&lt; </a:t>
              </a:r>
              <a:r>
                <a:rPr lang="en-US" dirty="0" err="1"/>
                <a:t>arr</a:t>
              </a:r>
              <a:r>
                <a:rPr lang="en-US" dirty="0"/>
                <a:t>[0].</a:t>
              </a:r>
              <a:r>
                <a:rPr lang="en-US" dirty="0" err="1"/>
                <a:t>get_Test</a:t>
              </a:r>
              <a:r>
                <a:rPr lang="en-US" dirty="0"/>
                <a:t> &lt;&lt; </a:t>
              </a:r>
              <a:r>
                <a:rPr lang="en-US" dirty="0" err="1"/>
                <a:t>endl</a:t>
              </a:r>
              <a:r>
                <a:rPr lang="en-US" dirty="0"/>
                <a:t>;</a:t>
              </a:r>
            </a:p>
            <a:p>
              <a:r>
                <a:rPr lang="en-US" dirty="0"/>
                <a:t>    return 0;</a:t>
              </a:r>
            </a:p>
            <a:p>
              <a:r>
                <a:rPr lang="en-US" dirty="0"/>
                <a:t>}</a:t>
              </a:r>
            </a:p>
          </p:txBody>
        </p:sp>
      </p:grpSp>
      <p:grpSp>
        <p:nvGrpSpPr>
          <p:cNvPr id="41" name="Group 40">
            <a:extLst>
              <a:ext uri="{FF2B5EF4-FFF2-40B4-BE49-F238E27FC236}">
                <a16:creationId xmlns:a16="http://schemas.microsoft.com/office/drawing/2014/main" id="{0D2C2C58-7BE7-4244-B643-606C6282AC1C}"/>
              </a:ext>
            </a:extLst>
          </p:cNvPr>
          <p:cNvGrpSpPr/>
          <p:nvPr/>
        </p:nvGrpSpPr>
        <p:grpSpPr>
          <a:xfrm>
            <a:off x="15311564" y="1551661"/>
            <a:ext cx="7710249" cy="6108981"/>
            <a:chOff x="5947243" y="1558915"/>
            <a:chExt cx="7710249" cy="6108981"/>
          </a:xfrm>
        </p:grpSpPr>
        <p:sp>
          <p:nvSpPr>
            <p:cNvPr id="42" name="Shape 1">
              <a:extLst>
                <a:ext uri="{FF2B5EF4-FFF2-40B4-BE49-F238E27FC236}">
                  <a16:creationId xmlns:a16="http://schemas.microsoft.com/office/drawing/2014/main" id="{7AEA0F5E-7340-4A39-A00B-C055B6628CDA}"/>
                </a:ext>
              </a:extLst>
            </p:cNvPr>
            <p:cNvSpPr/>
            <p:nvPr/>
          </p:nvSpPr>
          <p:spPr>
            <a:xfrm>
              <a:off x="5947243" y="1558915"/>
              <a:ext cx="7710249" cy="6108981"/>
            </a:xfrm>
            <a:prstGeom prst="roundRect">
              <a:avLst>
                <a:gd name="adj" fmla="val 7099"/>
              </a:avLst>
            </a:prstGeom>
            <a:solidFill>
              <a:srgbClr val="BDD4FA"/>
            </a:solidFill>
            <a:ln w="7620">
              <a:solidFill>
                <a:srgbClr val="B2D4E5"/>
              </a:solidFill>
              <a:prstDash val="solid"/>
            </a:ln>
            <a:effectLst>
              <a:outerShdw blurRad="50800" dist="38100" dir="8100000" algn="tr" rotWithShape="0">
                <a:prstClr val="black">
                  <a:alpha val="40000"/>
                </a:prstClr>
              </a:outerShdw>
            </a:effectLst>
          </p:spPr>
          <p:txBody>
            <a:bodyPr/>
            <a:lstStyle/>
            <a:p>
              <a:r>
                <a:rPr lang="en-US" dirty="0"/>
                <a:t>#include &lt;iostream&gt;</a:t>
              </a:r>
            </a:p>
            <a:p>
              <a:r>
                <a:rPr lang="en-US" dirty="0"/>
                <a:t>using namespace std;</a:t>
              </a:r>
            </a:p>
            <a:p>
              <a:endParaRPr lang="en-US" dirty="0"/>
            </a:p>
            <a:p>
              <a:r>
                <a:rPr lang="en-US" dirty="0"/>
                <a:t>class test</a:t>
              </a:r>
            </a:p>
            <a:p>
              <a:r>
                <a:rPr lang="en-US" dirty="0"/>
                <a:t>{</a:t>
              </a:r>
            </a:p>
            <a:p>
              <a:r>
                <a:rPr lang="en-US" dirty="0"/>
                <a:t>     private:</a:t>
              </a:r>
            </a:p>
            <a:p>
              <a:r>
                <a:rPr lang="en-US" dirty="0"/>
                <a:t>         int testing;</a:t>
              </a:r>
            </a:p>
            <a:p>
              <a:r>
                <a:rPr lang="en-US" dirty="0"/>
                <a:t>     public:</a:t>
              </a:r>
            </a:p>
            <a:p>
              <a:r>
                <a:rPr lang="en-US" dirty="0"/>
                <a:t>         test()</a:t>
              </a:r>
            </a:p>
            <a:p>
              <a:r>
                <a:rPr lang="en-US" dirty="0"/>
                <a:t>         {</a:t>
              </a:r>
            </a:p>
            <a:p>
              <a:r>
                <a:rPr lang="en-US" dirty="0"/>
                <a:t>             testing = 0;</a:t>
              </a:r>
            </a:p>
            <a:p>
              <a:r>
                <a:rPr lang="en-US" dirty="0"/>
                <a:t>         }</a:t>
              </a:r>
            </a:p>
            <a:p>
              <a:r>
                <a:rPr lang="en-US" dirty="0"/>
                <a:t>         test(int t)</a:t>
              </a:r>
            </a:p>
            <a:p>
              <a:r>
                <a:rPr lang="en-US" dirty="0"/>
                <a:t>         {</a:t>
              </a:r>
            </a:p>
            <a:p>
              <a:r>
                <a:rPr lang="en-US" dirty="0"/>
                <a:t>              testing = t;</a:t>
              </a:r>
            </a:p>
            <a:p>
              <a:r>
                <a:rPr lang="en-US" dirty="0"/>
                <a:t>         }</a:t>
              </a:r>
            </a:p>
            <a:p>
              <a:r>
                <a:rPr lang="en-US" dirty="0"/>
                <a:t>         void </a:t>
              </a:r>
              <a:r>
                <a:rPr lang="en-US" dirty="0" err="1"/>
                <a:t>set_Test</a:t>
              </a:r>
              <a:r>
                <a:rPr lang="en-US" dirty="0"/>
                <a:t>(int t)</a:t>
              </a:r>
            </a:p>
            <a:p>
              <a:r>
                <a:rPr lang="en-US" dirty="0"/>
                <a:t>         {</a:t>
              </a:r>
            </a:p>
            <a:p>
              <a:r>
                <a:rPr lang="en-US" dirty="0"/>
                <a:t>              testing = t;</a:t>
              </a:r>
            </a:p>
            <a:p>
              <a:r>
                <a:rPr lang="en-US" dirty="0"/>
                <a:t>         }</a:t>
              </a:r>
            </a:p>
            <a:p>
              <a:r>
                <a:rPr lang="en-US" dirty="0"/>
                <a:t>         </a:t>
              </a:r>
            </a:p>
          </p:txBody>
        </p:sp>
        <p:sp>
          <p:nvSpPr>
            <p:cNvPr id="43" name="TextBox 42">
              <a:extLst>
                <a:ext uri="{FF2B5EF4-FFF2-40B4-BE49-F238E27FC236}">
                  <a16:creationId xmlns:a16="http://schemas.microsoft.com/office/drawing/2014/main" id="{906069C1-225F-4D54-9EC9-DD66B76790FF}"/>
                </a:ext>
              </a:extLst>
            </p:cNvPr>
            <p:cNvSpPr txBox="1"/>
            <p:nvPr/>
          </p:nvSpPr>
          <p:spPr>
            <a:xfrm>
              <a:off x="9980724" y="1738704"/>
              <a:ext cx="3304903" cy="4524315"/>
            </a:xfrm>
            <a:prstGeom prst="rect">
              <a:avLst/>
            </a:prstGeom>
            <a:noFill/>
          </p:spPr>
          <p:txBody>
            <a:bodyPr wrap="square" rtlCol="0">
              <a:spAutoFit/>
            </a:bodyPr>
            <a:lstStyle/>
            <a:p>
              <a:r>
                <a:rPr lang="en-US" dirty="0"/>
                <a:t>Int </a:t>
              </a:r>
              <a:r>
                <a:rPr lang="en-US" dirty="0" err="1"/>
                <a:t>get_Test</a:t>
              </a:r>
              <a:r>
                <a:rPr lang="en-US" dirty="0"/>
                <a:t>() { return testing; }</a:t>
              </a:r>
            </a:p>
            <a:p>
              <a:r>
                <a:rPr lang="en-US" dirty="0"/>
                <a:t>};</a:t>
              </a:r>
            </a:p>
            <a:p>
              <a:r>
                <a:rPr lang="en-US" dirty="0"/>
                <a:t>int main()</a:t>
              </a:r>
            </a:p>
            <a:p>
              <a:r>
                <a:rPr lang="en-US" dirty="0"/>
                <a:t>{</a:t>
              </a:r>
            </a:p>
            <a:p>
              <a:r>
                <a:rPr lang="en-US" dirty="0"/>
                <a:t>    int t;</a:t>
              </a:r>
            </a:p>
            <a:p>
              <a:r>
                <a:rPr lang="en-US" dirty="0"/>
                <a:t>    </a:t>
              </a:r>
              <a:r>
                <a:rPr lang="en-US" dirty="0" err="1"/>
                <a:t>cout</a:t>
              </a:r>
              <a:r>
                <a:rPr lang="en-US" dirty="0"/>
                <a:t> &lt;&lt; “Enter the Number: “;</a:t>
              </a:r>
            </a:p>
            <a:p>
              <a:r>
                <a:rPr lang="en-US" dirty="0"/>
                <a:t>    </a:t>
              </a:r>
              <a:r>
                <a:rPr lang="en-US" dirty="0" err="1"/>
                <a:t>cin</a:t>
              </a:r>
              <a:r>
                <a:rPr lang="en-US" dirty="0"/>
                <a:t> &gt;&gt; t;</a:t>
              </a:r>
            </a:p>
            <a:p>
              <a:r>
                <a:rPr lang="en-US" dirty="0"/>
                <a:t>    test obj[5];</a:t>
              </a:r>
            </a:p>
            <a:p>
              <a:r>
                <a:rPr lang="en-US" dirty="0"/>
                <a:t>    obj[0].</a:t>
              </a:r>
              <a:r>
                <a:rPr lang="en-US" dirty="0" err="1"/>
                <a:t>set_Test</a:t>
              </a:r>
              <a:r>
                <a:rPr lang="en-US" dirty="0"/>
                <a:t>(t);</a:t>
              </a:r>
            </a:p>
            <a:p>
              <a:r>
                <a:rPr lang="en-US" dirty="0"/>
                <a:t>    obj[1].</a:t>
              </a:r>
              <a:r>
                <a:rPr lang="en-US" dirty="0" err="1"/>
                <a:t>set_Test</a:t>
              </a:r>
              <a:r>
                <a:rPr lang="en-US" dirty="0"/>
                <a:t>(2);</a:t>
              </a:r>
            </a:p>
            <a:p>
              <a:r>
                <a:rPr lang="en-US" dirty="0"/>
                <a:t>    </a:t>
              </a:r>
              <a:r>
                <a:rPr lang="en-US" dirty="0" err="1"/>
                <a:t>cout</a:t>
              </a:r>
              <a:r>
                <a:rPr lang="en-US" dirty="0"/>
                <a:t> &lt;&lt; “OBJ[0]: “ &lt;&lt; obj[0].</a:t>
              </a:r>
              <a:r>
                <a:rPr lang="en-US" dirty="0" err="1"/>
                <a:t>get_Test</a:t>
              </a:r>
              <a:r>
                <a:rPr lang="en-US" dirty="0"/>
                <a:t> &lt;&lt; </a:t>
              </a:r>
              <a:r>
                <a:rPr lang="en-US" dirty="0" err="1"/>
                <a:t>endl</a:t>
              </a:r>
              <a:r>
                <a:rPr lang="en-US" dirty="0"/>
                <a:t>;</a:t>
              </a:r>
            </a:p>
            <a:p>
              <a:r>
                <a:rPr lang="en-US" dirty="0"/>
                <a:t>    </a:t>
              </a:r>
              <a:r>
                <a:rPr lang="en-US" dirty="0" err="1"/>
                <a:t>cout</a:t>
              </a:r>
              <a:r>
                <a:rPr lang="en-US" dirty="0"/>
                <a:t> &lt;&lt; “OBJ[1]: “ &lt;&lt; obj[1].</a:t>
              </a:r>
              <a:r>
                <a:rPr lang="en-US" dirty="0" err="1"/>
                <a:t>get_Test</a:t>
              </a:r>
              <a:r>
                <a:rPr lang="en-US" dirty="0"/>
                <a:t> &lt;&lt; </a:t>
              </a:r>
              <a:r>
                <a:rPr lang="en-US" dirty="0" err="1"/>
                <a:t>endl</a:t>
              </a:r>
              <a:r>
                <a:rPr lang="en-US" dirty="0"/>
                <a:t>;</a:t>
              </a:r>
            </a:p>
            <a:p>
              <a:r>
                <a:rPr lang="en-US" dirty="0"/>
                <a:t>    return 0;</a:t>
              </a:r>
            </a:p>
            <a:p>
              <a:r>
                <a:rPr lang="en-US" dirty="0"/>
                <a:t>}</a:t>
              </a:r>
            </a:p>
          </p:txBody>
        </p:sp>
      </p:grpSp>
      <p:pic>
        <p:nvPicPr>
          <p:cNvPr id="44" name="Image 0" descr="preencoded.png">
            <a:extLst>
              <a:ext uri="{FF2B5EF4-FFF2-40B4-BE49-F238E27FC236}">
                <a16:creationId xmlns:a16="http://schemas.microsoft.com/office/drawing/2014/main" id="{688A3EC0-4841-433C-AB49-AD0A4706D35A}"/>
              </a:ext>
            </a:extLst>
          </p:cNvPr>
          <p:cNvPicPr>
            <a:picLocks noChangeAspect="1"/>
          </p:cNvPicPr>
          <p:nvPr/>
        </p:nvPicPr>
        <p:blipFill>
          <a:blip r:embed="rId9">
            <a:duotone>
              <a:prstClr val="black"/>
              <a:schemeClr val="accent5">
                <a:tint val="45000"/>
                <a:satMod val="400000"/>
              </a:schemeClr>
            </a:duotone>
          </a:blip>
          <a:stretch>
            <a:fillRect/>
          </a:stretch>
        </p:blipFill>
        <p:spPr>
          <a:xfrm>
            <a:off x="-6200307" y="-530087"/>
            <a:ext cx="5486400" cy="9183757"/>
          </a:xfrm>
          <a:prstGeom prst="rect">
            <a:avLst/>
          </a:prstGeom>
          <a:ln>
            <a:noFill/>
          </a:ln>
          <a:effectLst>
            <a:softEdge rad="317500"/>
          </a:effectLst>
        </p:spPr>
      </p:pic>
      <p:pic>
        <p:nvPicPr>
          <p:cNvPr id="45" name="Picture 44">
            <a:extLst>
              <a:ext uri="{FF2B5EF4-FFF2-40B4-BE49-F238E27FC236}">
                <a16:creationId xmlns:a16="http://schemas.microsoft.com/office/drawing/2014/main" id="{D8D31BFE-BF34-47DE-B40D-E29686786534}"/>
              </a:ext>
            </a:extLst>
          </p:cNvPr>
          <p:cNvPicPr>
            <a:picLocks noChangeAspect="1"/>
          </p:cNvPicPr>
          <p:nvPr/>
        </p:nvPicPr>
        <p:blipFill>
          <a:blip r:embed="rId10"/>
          <a:stretch>
            <a:fillRect/>
          </a:stretch>
        </p:blipFill>
        <p:spPr>
          <a:xfrm>
            <a:off x="1416809" y="1490757"/>
            <a:ext cx="11796782" cy="2024047"/>
          </a:xfrm>
          <a:prstGeom prst="rect">
            <a:avLst/>
          </a:prstGeom>
          <a:ln>
            <a:noFill/>
          </a:ln>
          <a:effectLst>
            <a:outerShdw blurRad="292100" dist="139700" dir="2700000" algn="tl" rotWithShape="0">
              <a:srgbClr val="333333">
                <a:alpha val="65000"/>
              </a:srgbClr>
            </a:outerShdw>
          </a:effectLst>
        </p:spPr>
      </p:pic>
      <p:sp>
        <p:nvSpPr>
          <p:cNvPr id="47" name="Shape 1">
            <a:extLst>
              <a:ext uri="{FF2B5EF4-FFF2-40B4-BE49-F238E27FC236}">
                <a16:creationId xmlns:a16="http://schemas.microsoft.com/office/drawing/2014/main" id="{911BD80D-4DCA-4066-B4A1-3AC4C55F62DF}"/>
              </a:ext>
            </a:extLst>
          </p:cNvPr>
          <p:cNvSpPr/>
          <p:nvPr/>
        </p:nvSpPr>
        <p:spPr>
          <a:xfrm>
            <a:off x="1416810" y="4015366"/>
            <a:ext cx="11796781" cy="3645276"/>
          </a:xfrm>
          <a:prstGeom prst="roundRect">
            <a:avLst>
              <a:gd name="adj" fmla="val 7099"/>
            </a:avLst>
          </a:prstGeom>
          <a:solidFill>
            <a:srgbClr val="BDD4FA"/>
          </a:solidFill>
          <a:ln w="7620">
            <a:solidFill>
              <a:srgbClr val="B2D4E5"/>
            </a:solidFill>
            <a:prstDash val="solid"/>
          </a:ln>
          <a:effectLst>
            <a:outerShdw blurRad="50800" dist="38100" dir="8100000" algn="tr" rotWithShape="0">
              <a:prstClr val="black">
                <a:alpha val="40000"/>
              </a:prstClr>
            </a:outerShdw>
          </a:effectLst>
        </p:spPr>
        <p:txBody>
          <a:bodyPr/>
          <a:lstStyle/>
          <a:p>
            <a:r>
              <a:rPr lang="en-US" sz="1600" dirty="0">
                <a:latin typeface="Consolas" panose="020B0609020204030204" pitchFamily="49" charset="0"/>
              </a:rPr>
              <a:t> class Test</a:t>
            </a:r>
          </a:p>
          <a:p>
            <a:r>
              <a:rPr lang="en-US" sz="1600" dirty="0">
                <a:latin typeface="Consolas" panose="020B0609020204030204" pitchFamily="49" charset="0"/>
              </a:rPr>
              <a:t>{</a:t>
            </a:r>
          </a:p>
          <a:p>
            <a:r>
              <a:rPr lang="en-US" sz="1600" dirty="0">
                <a:latin typeface="Consolas" panose="020B0609020204030204" pitchFamily="49" charset="0"/>
              </a:rPr>
              <a:t>    public:</a:t>
            </a:r>
          </a:p>
          <a:p>
            <a:r>
              <a:rPr lang="en-US" sz="1600" dirty="0">
                <a:latin typeface="Consolas" panose="020B0609020204030204" pitchFamily="49" charset="0"/>
              </a:rPr>
              <a:t>        unsigned int A;</a:t>
            </a:r>
          </a:p>
          <a:p>
            <a:r>
              <a:rPr lang="en-US" sz="1600" dirty="0">
                <a:latin typeface="Consolas" panose="020B0609020204030204" pitchFamily="49" charset="0"/>
              </a:rPr>
              <a:t>        unsigned int B;</a:t>
            </a:r>
          </a:p>
          <a:p>
            <a:r>
              <a:rPr lang="en-US" sz="1600" dirty="0">
                <a:latin typeface="Consolas" panose="020B0609020204030204" pitchFamily="49" charset="0"/>
              </a:rPr>
              <a:t>};</a:t>
            </a:r>
          </a:p>
          <a:p>
            <a:r>
              <a:rPr lang="en-US" sz="1600" dirty="0">
                <a:latin typeface="Consolas" panose="020B0609020204030204" pitchFamily="49" charset="0"/>
              </a:rPr>
              <a:t>int main()</a:t>
            </a:r>
          </a:p>
          <a:p>
            <a:r>
              <a:rPr lang="en-US" sz="1600" dirty="0">
                <a:latin typeface="Consolas" panose="020B0609020204030204" pitchFamily="49" charset="0"/>
              </a:rPr>
              <a:t>{</a:t>
            </a:r>
          </a:p>
          <a:p>
            <a:r>
              <a:rPr lang="en-US" sz="1600" dirty="0">
                <a:latin typeface="Consolas" panose="020B0609020204030204" pitchFamily="49" charset="0"/>
              </a:rPr>
              <a:t>    Test Obj[2];</a:t>
            </a:r>
          </a:p>
          <a:p>
            <a:r>
              <a:rPr lang="en-US" sz="1600" dirty="0">
                <a:latin typeface="Consolas" panose="020B0609020204030204" pitchFamily="49" charset="0"/>
              </a:rPr>
              <a:t>    return 0;</a:t>
            </a:r>
          </a:p>
          <a:p>
            <a:r>
              <a:rPr lang="en-US" sz="1600" dirty="0">
                <a:latin typeface="Consolas" panose="020B0609020204030204" pitchFamily="49" charset="0"/>
              </a:rPr>
              <a:t>}</a:t>
            </a:r>
          </a:p>
        </p:txBody>
      </p:sp>
      <p:sp>
        <p:nvSpPr>
          <p:cNvPr id="49" name="TextBox 48">
            <a:extLst>
              <a:ext uri="{FF2B5EF4-FFF2-40B4-BE49-F238E27FC236}">
                <a16:creationId xmlns:a16="http://schemas.microsoft.com/office/drawing/2014/main" id="{F08D2A24-DA38-461B-9187-059C922FE8FD}"/>
              </a:ext>
            </a:extLst>
          </p:cNvPr>
          <p:cNvSpPr txBox="1"/>
          <p:nvPr/>
        </p:nvSpPr>
        <p:spPr>
          <a:xfrm>
            <a:off x="7256355" y="4152621"/>
            <a:ext cx="5682966" cy="2862322"/>
          </a:xfrm>
          <a:prstGeom prst="rect">
            <a:avLst/>
          </a:prstGeom>
          <a:noFill/>
        </p:spPr>
        <p:txBody>
          <a:bodyPr wrap="none" rtlCol="0">
            <a:spAutoFit/>
          </a:bodyPr>
          <a:lstStyle/>
          <a:p>
            <a:r>
              <a:rPr lang="en-US" sz="1600" dirty="0">
                <a:latin typeface="Consolas" panose="020B0609020204030204" pitchFamily="49" charset="0"/>
              </a:rPr>
              <a:t>Note: Arrays of objects can be accessed using two</a:t>
            </a:r>
          </a:p>
          <a:p>
            <a:r>
              <a:rPr lang="en-US" sz="1600" dirty="0">
                <a:latin typeface="Consolas" panose="020B0609020204030204" pitchFamily="49" charset="0"/>
              </a:rPr>
              <a:t>Notations:</a:t>
            </a:r>
          </a:p>
          <a:p>
            <a:r>
              <a:rPr lang="en-US" sz="1600" dirty="0">
                <a:latin typeface="Consolas" panose="020B0609020204030204" pitchFamily="49" charset="0"/>
              </a:rPr>
              <a:t>	Obj[</a:t>
            </a:r>
            <a:r>
              <a:rPr lang="en-US" sz="1600" dirty="0" err="1">
                <a:latin typeface="Consolas" panose="020B0609020204030204" pitchFamily="49" charset="0"/>
              </a:rPr>
              <a:t>i</a:t>
            </a:r>
            <a:r>
              <a:rPr lang="en-US" sz="1600" dirty="0">
                <a:latin typeface="Consolas" panose="020B0609020204030204" pitchFamily="49" charset="0"/>
              </a:rPr>
              <a:t>];</a:t>
            </a:r>
          </a:p>
          <a:p>
            <a:r>
              <a:rPr lang="en-US" sz="1600" dirty="0">
                <a:latin typeface="Consolas" panose="020B0609020204030204" pitchFamily="49" charset="0"/>
              </a:rPr>
              <a:t>	*Obj;	for the first array object</a:t>
            </a:r>
          </a:p>
          <a:p>
            <a:r>
              <a:rPr lang="en-US" sz="1600" dirty="0">
                <a:latin typeface="Consolas" panose="020B0609020204030204" pitchFamily="49" charset="0"/>
              </a:rPr>
              <a:t>	*(Obj + </a:t>
            </a:r>
            <a:r>
              <a:rPr lang="en-US" sz="1600" dirty="0" err="1">
                <a:latin typeface="Consolas" panose="020B0609020204030204" pitchFamily="49" charset="0"/>
              </a:rPr>
              <a:t>i</a:t>
            </a:r>
            <a:r>
              <a:rPr lang="en-US" sz="1600" dirty="0">
                <a:latin typeface="Consolas" panose="020B0609020204030204" pitchFamily="49" charset="0"/>
              </a:rPr>
              <a:t>)	for further objects</a:t>
            </a:r>
          </a:p>
          <a:p>
            <a:endParaRPr lang="en-US" sz="1600" dirty="0">
              <a:latin typeface="Consolas" panose="020B0609020204030204" pitchFamily="49" charset="0"/>
            </a:endParaRPr>
          </a:p>
          <a:p>
            <a:r>
              <a:rPr lang="en-US" sz="1600" dirty="0">
                <a:latin typeface="Consolas" panose="020B0609020204030204" pitchFamily="49" charset="0"/>
              </a:rPr>
              <a:t>Examples:</a:t>
            </a:r>
          </a:p>
          <a:p>
            <a:r>
              <a:rPr lang="en-US" sz="1600" dirty="0">
                <a:latin typeface="Consolas" panose="020B0609020204030204" pitchFamily="49" charset="0"/>
              </a:rPr>
              <a:t>	Test </a:t>
            </a:r>
            <a:r>
              <a:rPr lang="en-US" sz="1600" dirty="0" err="1">
                <a:latin typeface="Consolas" panose="020B0609020204030204" pitchFamily="49" charset="0"/>
              </a:rPr>
              <a:t>arr</a:t>
            </a:r>
            <a:r>
              <a:rPr lang="en-US" sz="1600" dirty="0">
                <a:latin typeface="Consolas" panose="020B0609020204030204" pitchFamily="49" charset="0"/>
              </a:rPr>
              <a:t>[5];</a:t>
            </a:r>
          </a:p>
          <a:p>
            <a:r>
              <a:rPr lang="en-US" sz="1600" dirty="0">
                <a:latin typeface="Consolas" panose="020B0609020204030204" pitchFamily="49" charset="0"/>
              </a:rPr>
              <a:t>	(*(</a:t>
            </a:r>
            <a:r>
              <a:rPr lang="en-US" sz="1600" dirty="0" err="1">
                <a:latin typeface="Consolas" panose="020B0609020204030204" pitchFamily="49" charset="0"/>
              </a:rPr>
              <a:t>arr</a:t>
            </a:r>
            <a:r>
              <a:rPr lang="en-US" sz="1600" dirty="0">
                <a:latin typeface="Consolas" panose="020B0609020204030204" pitchFamily="49" charset="0"/>
              </a:rPr>
              <a:t> + 1)).</a:t>
            </a:r>
            <a:r>
              <a:rPr lang="en-US" sz="1600" dirty="0" err="1">
                <a:latin typeface="Consolas" panose="020B0609020204030204" pitchFamily="49" charset="0"/>
              </a:rPr>
              <a:t>set_height</a:t>
            </a:r>
            <a:r>
              <a:rPr lang="en-US" sz="1600" dirty="0">
                <a:latin typeface="Consolas" panose="020B0609020204030204" pitchFamily="49" charset="0"/>
              </a:rPr>
              <a:t>();</a:t>
            </a:r>
          </a:p>
          <a:p>
            <a:r>
              <a:rPr lang="en-US" sz="1600" dirty="0">
                <a:latin typeface="Consolas" panose="020B0609020204030204" pitchFamily="49" charset="0"/>
              </a:rPr>
              <a:t>	Test* </a:t>
            </a:r>
            <a:r>
              <a:rPr lang="en-US" sz="1600" dirty="0" err="1">
                <a:latin typeface="Consolas" panose="020B0609020204030204" pitchFamily="49" charset="0"/>
              </a:rPr>
              <a:t>arr</a:t>
            </a:r>
            <a:r>
              <a:rPr lang="en-US" sz="1600" dirty="0">
                <a:latin typeface="Consolas" panose="020B0609020204030204" pitchFamily="49" charset="0"/>
              </a:rPr>
              <a:t> = new Test[5];</a:t>
            </a:r>
          </a:p>
          <a:p>
            <a:r>
              <a:rPr lang="en-US" sz="1600" dirty="0">
                <a:latin typeface="Consolas" panose="020B0609020204030204" pitchFamily="49" charset="0"/>
              </a:rPr>
              <a:t>	Test second = *(</a:t>
            </a:r>
            <a:r>
              <a:rPr lang="en-US" sz="1600" dirty="0" err="1">
                <a:latin typeface="Consolas" panose="020B0609020204030204" pitchFamily="49" charset="0"/>
              </a:rPr>
              <a:t>arr</a:t>
            </a:r>
            <a:r>
              <a:rPr lang="en-US" sz="1600" dirty="0">
                <a:latin typeface="Consolas" panose="020B0609020204030204" pitchFamily="49" charset="0"/>
              </a:rPr>
              <a:t> + 1);</a:t>
            </a:r>
          </a:p>
        </p:txBody>
      </p:sp>
    </p:spTree>
    <p:extLst>
      <p:ext uri="{BB962C8B-B14F-4D97-AF65-F5344CB8AC3E}">
        <p14:creationId xmlns:p14="http://schemas.microsoft.com/office/powerpoint/2010/main" val="323204443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B44567E-66ED-4DCC-9689-AC3D578871F2}"/>
              </a:ext>
            </a:extLst>
          </p:cNvPr>
          <p:cNvPicPr>
            <a:picLocks noChangeAspect="1"/>
          </p:cNvPicPr>
          <p:nvPr/>
        </p:nvPicPr>
        <p:blipFill>
          <a:blip r:embed="rId2"/>
          <a:stretch>
            <a:fillRect/>
          </a:stretch>
        </p:blipFill>
        <p:spPr>
          <a:xfrm>
            <a:off x="0" y="0"/>
            <a:ext cx="14630400" cy="8238744"/>
          </a:xfrm>
          <a:prstGeom prst="rect">
            <a:avLst/>
          </a:prstGeom>
        </p:spPr>
      </p:pic>
      <p:sp>
        <p:nvSpPr>
          <p:cNvPr id="5" name="Text 6">
            <a:extLst>
              <a:ext uri="{FF2B5EF4-FFF2-40B4-BE49-F238E27FC236}">
                <a16:creationId xmlns:a16="http://schemas.microsoft.com/office/drawing/2014/main" id="{92697262-D43A-4A33-A5FD-A5E86BC69C9A}"/>
              </a:ext>
            </a:extLst>
          </p:cNvPr>
          <p:cNvSpPr/>
          <p:nvPr/>
        </p:nvSpPr>
        <p:spPr>
          <a:xfrm>
            <a:off x="2658544" y="20142"/>
            <a:ext cx="9176156" cy="1481328"/>
          </a:xfrm>
          <a:prstGeom prst="rect">
            <a:avLst/>
          </a:prstGeom>
          <a:noFill/>
          <a:ln/>
        </p:spPr>
        <p:txBody>
          <a:bodyPr wrap="square" lIns="0" tIns="0" rIns="0" bIns="0" rtlCol="0" anchor="ctr"/>
          <a:lstStyle/>
          <a:p>
            <a:pPr marL="0" indent="0" algn="l">
              <a:lnSpc>
                <a:spcPts val="5800"/>
              </a:lnSpc>
              <a:buNone/>
            </a:pPr>
            <a:r>
              <a:rPr lang="en-US" sz="4640" dirty="0">
                <a:solidFill>
                  <a:srgbClr val="0C266F"/>
                </a:solidFill>
                <a:latin typeface="Berlin Sans FB Demi" panose="020E0802020502020306" pitchFamily="34" charset="0"/>
                <a:ea typeface="思源宋体-思源宋体-SemiBold" pitchFamily="34" charset="-122"/>
              </a:rPr>
              <a:t>Dynamic Object Arrays in Memory</a:t>
            </a:r>
            <a:endParaRPr lang="en-US" sz="4640" dirty="0">
              <a:latin typeface="Berlin Sans FB Demi" panose="020E0802020502020306" pitchFamily="34" charset="0"/>
            </a:endParaRPr>
          </a:p>
        </p:txBody>
      </p:sp>
      <p:pic>
        <p:nvPicPr>
          <p:cNvPr id="8" name="Image 1" descr="preencoded.png">
            <a:extLst>
              <a:ext uri="{FF2B5EF4-FFF2-40B4-BE49-F238E27FC236}">
                <a16:creationId xmlns:a16="http://schemas.microsoft.com/office/drawing/2014/main" id="{5448765A-A842-4A02-A776-8C3C09A547F8}"/>
              </a:ext>
            </a:extLst>
          </p:cNvPr>
          <p:cNvPicPr>
            <a:picLocks noChangeAspect="1"/>
          </p:cNvPicPr>
          <p:nvPr/>
        </p:nvPicPr>
        <p:blipFill>
          <a:blip r:embed="rId3"/>
          <a:stretch>
            <a:fillRect/>
          </a:stretch>
        </p:blipFill>
        <p:spPr>
          <a:xfrm>
            <a:off x="5285573" y="10645186"/>
            <a:ext cx="754380" cy="1597343"/>
          </a:xfrm>
          <a:prstGeom prst="rect">
            <a:avLst/>
          </a:prstGeom>
        </p:spPr>
      </p:pic>
      <p:sp>
        <p:nvSpPr>
          <p:cNvPr id="9" name="Text 1">
            <a:extLst>
              <a:ext uri="{FF2B5EF4-FFF2-40B4-BE49-F238E27FC236}">
                <a16:creationId xmlns:a16="http://schemas.microsoft.com/office/drawing/2014/main" id="{0206DD59-3508-4B8F-87EB-0E2E692E2FD2}"/>
              </a:ext>
            </a:extLst>
          </p:cNvPr>
          <p:cNvSpPr/>
          <p:nvPr/>
        </p:nvSpPr>
        <p:spPr>
          <a:xfrm>
            <a:off x="6266172" y="10796038"/>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Petrona Bold" pitchFamily="34" charset="0"/>
                <a:ea typeface="Petrona Bold" pitchFamily="34" charset="-122"/>
                <a:cs typeface="Petrona Bold" pitchFamily="34" charset="-120"/>
              </a:rPr>
              <a:t>Class Definition</a:t>
            </a:r>
            <a:endParaRPr lang="en-US" sz="1550" dirty="0"/>
          </a:p>
        </p:txBody>
      </p:sp>
      <p:sp>
        <p:nvSpPr>
          <p:cNvPr id="10" name="Shape 3">
            <a:extLst>
              <a:ext uri="{FF2B5EF4-FFF2-40B4-BE49-F238E27FC236}">
                <a16:creationId xmlns:a16="http://schemas.microsoft.com/office/drawing/2014/main" id="{9160C953-14D9-4F86-ABDF-9B76C76ACD96}"/>
              </a:ext>
            </a:extLst>
          </p:cNvPr>
          <p:cNvSpPr/>
          <p:nvPr/>
        </p:nvSpPr>
        <p:spPr>
          <a:xfrm>
            <a:off x="6258671" y="11213114"/>
            <a:ext cx="7457328" cy="467558"/>
          </a:xfrm>
          <a:prstGeom prst="roundRect">
            <a:avLst>
              <a:gd name="adj" fmla="val 21847"/>
            </a:avLst>
          </a:prstGeom>
          <a:solidFill>
            <a:srgbClr val="CCEEFF"/>
          </a:solidFill>
          <a:ln/>
        </p:spPr>
        <p:txBody>
          <a:bodyPr/>
          <a:lstStyle/>
          <a:p>
            <a:pPr lvl="0">
              <a:lnSpc>
                <a:spcPts val="1900"/>
              </a:lnSpc>
            </a:pPr>
            <a:r>
              <a:rPr lang="en-US" sz="1150" dirty="0">
                <a:solidFill>
                  <a:srgbClr val="272525"/>
                </a:solidFill>
                <a:highlight>
                  <a:srgbClr val="CCEEFF"/>
                </a:highlight>
                <a:latin typeface="Consolas" pitchFamily="34" charset="0"/>
                <a:ea typeface="Consolas" pitchFamily="34" charset="-122"/>
                <a:cs typeface="Consolas" pitchFamily="34" charset="-120"/>
              </a:rPr>
              <a:t>class Rectangle { float width; float height };</a:t>
            </a:r>
            <a:endParaRPr lang="en-US" sz="1150" dirty="0">
              <a:solidFill>
                <a:prstClr val="black"/>
              </a:solidFill>
            </a:endParaRPr>
          </a:p>
          <a:p>
            <a:endParaRPr lang="en-US" dirty="0"/>
          </a:p>
        </p:txBody>
      </p:sp>
      <p:sp>
        <p:nvSpPr>
          <p:cNvPr id="11" name="Text 5">
            <a:extLst>
              <a:ext uri="{FF2B5EF4-FFF2-40B4-BE49-F238E27FC236}">
                <a16:creationId xmlns:a16="http://schemas.microsoft.com/office/drawing/2014/main" id="{2CE74AFE-F9A9-4FA2-8693-17680789A668}"/>
              </a:ext>
            </a:extLst>
          </p:cNvPr>
          <p:cNvSpPr/>
          <p:nvPr/>
        </p:nvSpPr>
        <p:spPr>
          <a:xfrm>
            <a:off x="6266172" y="11850336"/>
            <a:ext cx="7449827" cy="322898"/>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Inter" pitchFamily="34" charset="0"/>
                <a:ea typeface="Inter" pitchFamily="34" charset="-122"/>
                <a:cs typeface="Inter" pitchFamily="34" charset="-120"/>
              </a:rPr>
              <a:t>Defines a simple Rectangle class with width, height, and area calculation.</a:t>
            </a:r>
            <a:endParaRPr lang="en-US" sz="1150" dirty="0"/>
          </a:p>
        </p:txBody>
      </p:sp>
      <p:pic>
        <p:nvPicPr>
          <p:cNvPr id="12" name="Image 2" descr="preencoded.png">
            <a:extLst>
              <a:ext uri="{FF2B5EF4-FFF2-40B4-BE49-F238E27FC236}">
                <a16:creationId xmlns:a16="http://schemas.microsoft.com/office/drawing/2014/main" id="{55F5943E-56BE-4267-88DF-FDFF4CFA0495}"/>
              </a:ext>
            </a:extLst>
          </p:cNvPr>
          <p:cNvPicPr>
            <a:picLocks noChangeAspect="1"/>
          </p:cNvPicPr>
          <p:nvPr/>
        </p:nvPicPr>
        <p:blipFill>
          <a:blip r:embed="rId4"/>
          <a:stretch>
            <a:fillRect/>
          </a:stretch>
        </p:blipFill>
        <p:spPr>
          <a:xfrm>
            <a:off x="5285573" y="12242528"/>
            <a:ext cx="754380" cy="1597343"/>
          </a:xfrm>
          <a:prstGeom prst="rect">
            <a:avLst/>
          </a:prstGeom>
        </p:spPr>
      </p:pic>
      <p:sp>
        <p:nvSpPr>
          <p:cNvPr id="13" name="Text 6">
            <a:extLst>
              <a:ext uri="{FF2B5EF4-FFF2-40B4-BE49-F238E27FC236}">
                <a16:creationId xmlns:a16="http://schemas.microsoft.com/office/drawing/2014/main" id="{99B08316-741F-47BB-A323-C94E94326C4A}"/>
              </a:ext>
            </a:extLst>
          </p:cNvPr>
          <p:cNvSpPr/>
          <p:nvPr/>
        </p:nvSpPr>
        <p:spPr>
          <a:xfrm>
            <a:off x="6266172" y="12393380"/>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Petrona Bold" pitchFamily="34" charset="0"/>
                <a:ea typeface="Petrona Bold" pitchFamily="34" charset="-122"/>
                <a:cs typeface="Petrona Bold" pitchFamily="34" charset="-120"/>
              </a:rPr>
              <a:t>Array Initialization</a:t>
            </a:r>
            <a:endParaRPr lang="en-US" sz="1550" dirty="0"/>
          </a:p>
        </p:txBody>
      </p:sp>
      <p:sp>
        <p:nvSpPr>
          <p:cNvPr id="14" name="Shape 7">
            <a:extLst>
              <a:ext uri="{FF2B5EF4-FFF2-40B4-BE49-F238E27FC236}">
                <a16:creationId xmlns:a16="http://schemas.microsoft.com/office/drawing/2014/main" id="{ED3E3E1E-313C-4759-8F4B-4A6E616AB237}"/>
              </a:ext>
            </a:extLst>
          </p:cNvPr>
          <p:cNvSpPr/>
          <p:nvPr/>
        </p:nvSpPr>
        <p:spPr>
          <a:xfrm>
            <a:off x="6266172" y="12810456"/>
            <a:ext cx="7449827" cy="467558"/>
          </a:xfrm>
          <a:prstGeom prst="roundRect">
            <a:avLst>
              <a:gd name="adj" fmla="val 30560"/>
            </a:avLst>
          </a:prstGeom>
          <a:solidFill>
            <a:srgbClr val="CCEEFF"/>
          </a:solidFill>
          <a:ln/>
        </p:spPr>
        <p:txBody>
          <a:bodyPr/>
          <a:lstStyle/>
          <a:p>
            <a:pPr lvl="0">
              <a:lnSpc>
                <a:spcPts val="1900"/>
              </a:lnSpc>
            </a:pPr>
            <a:r>
              <a:rPr lang="en-US" sz="1150" dirty="0">
                <a:solidFill>
                  <a:srgbClr val="272525"/>
                </a:solidFill>
                <a:highlight>
                  <a:srgbClr val="CCEEFF"/>
                </a:highlight>
                <a:latin typeface="Consolas" pitchFamily="34" charset="0"/>
                <a:ea typeface="Consolas" pitchFamily="34" charset="-122"/>
                <a:cs typeface="Consolas" pitchFamily="34" charset="-120"/>
              </a:rPr>
              <a:t>Rectangle </a:t>
            </a:r>
            <a:r>
              <a:rPr lang="en-US" sz="1150" dirty="0" err="1">
                <a:solidFill>
                  <a:srgbClr val="272525"/>
                </a:solidFill>
                <a:highlight>
                  <a:srgbClr val="CCEEFF"/>
                </a:highlight>
                <a:latin typeface="Consolas" pitchFamily="34" charset="0"/>
                <a:ea typeface="Consolas" pitchFamily="34" charset="-122"/>
                <a:cs typeface="Consolas" pitchFamily="34" charset="-120"/>
              </a:rPr>
              <a:t>rects</a:t>
            </a:r>
            <a:r>
              <a:rPr lang="en-US" sz="1150" dirty="0">
                <a:solidFill>
                  <a:srgbClr val="272525"/>
                </a:solidFill>
                <a:highlight>
                  <a:srgbClr val="CCEEFF"/>
                </a:highlight>
                <a:latin typeface="Consolas" pitchFamily="34" charset="0"/>
                <a:ea typeface="Consolas" pitchFamily="34" charset="-122"/>
                <a:cs typeface="Consolas" pitchFamily="34" charset="-120"/>
              </a:rPr>
              <a:t>[] = { Rectangle(2,3), Rectangle(4,5), Rectangle(6,7), Rectangle(8,9) };</a:t>
            </a:r>
            <a:endParaRPr lang="en-US" sz="1150" dirty="0">
              <a:solidFill>
                <a:prstClr val="black"/>
              </a:solidFill>
            </a:endParaRPr>
          </a:p>
          <a:p>
            <a:endParaRPr lang="en-US" dirty="0"/>
          </a:p>
        </p:txBody>
      </p:sp>
      <p:sp>
        <p:nvSpPr>
          <p:cNvPr id="15" name="Text 10">
            <a:extLst>
              <a:ext uri="{FF2B5EF4-FFF2-40B4-BE49-F238E27FC236}">
                <a16:creationId xmlns:a16="http://schemas.microsoft.com/office/drawing/2014/main" id="{19F22EB9-2502-4308-9356-094AD471BA49}"/>
              </a:ext>
            </a:extLst>
          </p:cNvPr>
          <p:cNvSpPr/>
          <p:nvPr/>
        </p:nvSpPr>
        <p:spPr>
          <a:xfrm>
            <a:off x="6266172" y="13447679"/>
            <a:ext cx="7449827" cy="322898"/>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Inter" pitchFamily="34" charset="0"/>
                <a:ea typeface="Inter" pitchFamily="34" charset="-122"/>
                <a:cs typeface="Inter" pitchFamily="34" charset="-120"/>
              </a:rPr>
              <a:t>Initializes an array of Rectangle objects using parameterized constructors.</a:t>
            </a:r>
            <a:endParaRPr lang="en-US" sz="1150" dirty="0"/>
          </a:p>
        </p:txBody>
      </p:sp>
      <p:pic>
        <p:nvPicPr>
          <p:cNvPr id="16" name="Image 3" descr="preencoded.png">
            <a:extLst>
              <a:ext uri="{FF2B5EF4-FFF2-40B4-BE49-F238E27FC236}">
                <a16:creationId xmlns:a16="http://schemas.microsoft.com/office/drawing/2014/main" id="{3CBED436-5910-4DBE-8EE3-BDB01580D17D}"/>
              </a:ext>
            </a:extLst>
          </p:cNvPr>
          <p:cNvPicPr>
            <a:picLocks noChangeAspect="1"/>
          </p:cNvPicPr>
          <p:nvPr/>
        </p:nvPicPr>
        <p:blipFill>
          <a:blip r:embed="rId5"/>
          <a:stretch>
            <a:fillRect/>
          </a:stretch>
        </p:blipFill>
        <p:spPr>
          <a:xfrm>
            <a:off x="5285573" y="13839871"/>
            <a:ext cx="754380" cy="1597343"/>
          </a:xfrm>
          <a:prstGeom prst="rect">
            <a:avLst/>
          </a:prstGeom>
        </p:spPr>
      </p:pic>
      <p:sp>
        <p:nvSpPr>
          <p:cNvPr id="17" name="Text 11">
            <a:extLst>
              <a:ext uri="{FF2B5EF4-FFF2-40B4-BE49-F238E27FC236}">
                <a16:creationId xmlns:a16="http://schemas.microsoft.com/office/drawing/2014/main" id="{C8493D1F-D63A-4DE7-9473-9A2D099EBEAF}"/>
              </a:ext>
            </a:extLst>
          </p:cNvPr>
          <p:cNvSpPr/>
          <p:nvPr/>
        </p:nvSpPr>
        <p:spPr>
          <a:xfrm>
            <a:off x="6266172" y="13990723"/>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Petrona Bold" pitchFamily="34" charset="0"/>
                <a:ea typeface="Petrona Bold" pitchFamily="34" charset="-122"/>
                <a:cs typeface="Petrona Bold" pitchFamily="34" charset="-120"/>
              </a:rPr>
              <a:t>Accessing Member</a:t>
            </a:r>
            <a:endParaRPr lang="en-US" sz="1550" dirty="0"/>
          </a:p>
        </p:txBody>
      </p:sp>
      <p:sp>
        <p:nvSpPr>
          <p:cNvPr id="18" name="Shape 12">
            <a:extLst>
              <a:ext uri="{FF2B5EF4-FFF2-40B4-BE49-F238E27FC236}">
                <a16:creationId xmlns:a16="http://schemas.microsoft.com/office/drawing/2014/main" id="{D4913B6E-C226-4092-9212-9BAD662D0599}"/>
              </a:ext>
            </a:extLst>
          </p:cNvPr>
          <p:cNvSpPr/>
          <p:nvPr/>
        </p:nvSpPr>
        <p:spPr>
          <a:xfrm>
            <a:off x="6266172" y="14407799"/>
            <a:ext cx="7449827" cy="467558"/>
          </a:xfrm>
          <a:prstGeom prst="roundRect">
            <a:avLst>
              <a:gd name="adj" fmla="val 27726"/>
            </a:avLst>
          </a:prstGeom>
          <a:solidFill>
            <a:srgbClr val="CCEEFF"/>
          </a:solidFill>
          <a:ln/>
        </p:spPr>
        <p:txBody>
          <a:bodyPr/>
          <a:lstStyle/>
          <a:p>
            <a:pPr lvl="0">
              <a:lnSpc>
                <a:spcPts val="1900"/>
              </a:lnSpc>
            </a:pPr>
            <a:r>
              <a:rPr lang="en-US" sz="1150" dirty="0" err="1">
                <a:solidFill>
                  <a:srgbClr val="272525"/>
                </a:solidFill>
                <a:highlight>
                  <a:srgbClr val="CCEEFF"/>
                </a:highlight>
                <a:latin typeface="Consolas" pitchFamily="34" charset="0"/>
                <a:ea typeface="Consolas" pitchFamily="34" charset="-122"/>
                <a:cs typeface="Consolas" pitchFamily="34" charset="-120"/>
              </a:rPr>
              <a:t>cout</a:t>
            </a:r>
            <a:r>
              <a:rPr lang="en-US" sz="1150" dirty="0">
                <a:solidFill>
                  <a:srgbClr val="272525"/>
                </a:solidFill>
                <a:highlight>
                  <a:srgbClr val="CCEEFF"/>
                </a:highlight>
                <a:latin typeface="Consolas" pitchFamily="34" charset="0"/>
                <a:ea typeface="Consolas" pitchFamily="34" charset="-122"/>
                <a:cs typeface="Consolas" pitchFamily="34" charset="-120"/>
              </a:rPr>
              <a:t> &lt;&lt; </a:t>
            </a:r>
            <a:r>
              <a:rPr lang="en-US" sz="1150" dirty="0" err="1">
                <a:solidFill>
                  <a:srgbClr val="272525"/>
                </a:solidFill>
                <a:highlight>
                  <a:srgbClr val="CCEEFF"/>
                </a:highlight>
                <a:latin typeface="Consolas" pitchFamily="34" charset="0"/>
                <a:ea typeface="Consolas" pitchFamily="34" charset="-122"/>
                <a:cs typeface="Consolas" pitchFamily="34" charset="-120"/>
              </a:rPr>
              <a:t>rects</a:t>
            </a:r>
            <a:r>
              <a:rPr lang="en-US" sz="1150" dirty="0">
                <a:solidFill>
                  <a:srgbClr val="272525"/>
                </a:solidFill>
                <a:highlight>
                  <a:srgbClr val="CCEEFF"/>
                </a:highlight>
                <a:latin typeface="Consolas" pitchFamily="34" charset="0"/>
                <a:ea typeface="Consolas" pitchFamily="34" charset="-122"/>
                <a:cs typeface="Consolas" pitchFamily="34" charset="-120"/>
              </a:rPr>
              <a:t>[2].area();</a:t>
            </a:r>
            <a:endParaRPr lang="en-US" sz="1150" dirty="0">
              <a:solidFill>
                <a:prstClr val="black"/>
              </a:solidFill>
            </a:endParaRPr>
          </a:p>
          <a:p>
            <a:endParaRPr lang="en-US" dirty="0"/>
          </a:p>
        </p:txBody>
      </p:sp>
      <p:sp>
        <p:nvSpPr>
          <p:cNvPr id="19" name="Text 15">
            <a:extLst>
              <a:ext uri="{FF2B5EF4-FFF2-40B4-BE49-F238E27FC236}">
                <a16:creationId xmlns:a16="http://schemas.microsoft.com/office/drawing/2014/main" id="{F86CE81C-1669-40F4-9D8E-AB283AB230DB}"/>
              </a:ext>
            </a:extLst>
          </p:cNvPr>
          <p:cNvSpPr/>
          <p:nvPr/>
        </p:nvSpPr>
        <p:spPr>
          <a:xfrm>
            <a:off x="6266173" y="15045021"/>
            <a:ext cx="7449826" cy="241340"/>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Inter" pitchFamily="34" charset="0"/>
                <a:ea typeface="Inter" pitchFamily="34" charset="-122"/>
                <a:cs typeface="Inter" pitchFamily="34" charset="-120"/>
              </a:rPr>
              <a:t>Accesses the </a:t>
            </a:r>
            <a:r>
              <a:rPr lang="en-US" sz="1150" b="1" dirty="0">
                <a:solidFill>
                  <a:srgbClr val="272525"/>
                </a:solidFill>
                <a:latin typeface="Inter" pitchFamily="34" charset="0"/>
                <a:ea typeface="Inter" pitchFamily="34" charset="-122"/>
                <a:cs typeface="Inter" pitchFamily="34" charset="-120"/>
              </a:rPr>
              <a:t>area()</a:t>
            </a:r>
            <a:r>
              <a:rPr lang="en-US" sz="1150" dirty="0">
                <a:solidFill>
                  <a:srgbClr val="272525"/>
                </a:solidFill>
                <a:latin typeface="Inter" pitchFamily="34" charset="0"/>
                <a:ea typeface="Inter" pitchFamily="34" charset="-122"/>
                <a:cs typeface="Inter" pitchFamily="34" charset="-120"/>
              </a:rPr>
              <a:t> method of the third Rectangle object, outputting 42.</a:t>
            </a:r>
            <a:endParaRPr lang="en-US" sz="1150" dirty="0"/>
          </a:p>
        </p:txBody>
      </p:sp>
      <p:pic>
        <p:nvPicPr>
          <p:cNvPr id="20" name="Image 1" descr="preencoded.png">
            <a:extLst>
              <a:ext uri="{FF2B5EF4-FFF2-40B4-BE49-F238E27FC236}">
                <a16:creationId xmlns:a16="http://schemas.microsoft.com/office/drawing/2014/main" id="{56D04FE5-6B96-4EAC-96C6-20629154540B}"/>
              </a:ext>
            </a:extLst>
          </p:cNvPr>
          <p:cNvPicPr>
            <a:picLocks noChangeAspect="1"/>
          </p:cNvPicPr>
          <p:nvPr/>
        </p:nvPicPr>
        <p:blipFill>
          <a:blip r:embed="rId6"/>
          <a:stretch>
            <a:fillRect/>
          </a:stretch>
        </p:blipFill>
        <p:spPr>
          <a:xfrm>
            <a:off x="5404104" y="9777006"/>
            <a:ext cx="3831336" cy="2532888"/>
          </a:xfrm>
          <a:prstGeom prst="rect">
            <a:avLst/>
          </a:prstGeom>
          <a:ln>
            <a:noFill/>
          </a:ln>
          <a:effectLst>
            <a:outerShdw blurRad="292100" dist="139700" dir="2700000" algn="tl" rotWithShape="0">
              <a:srgbClr val="333333">
                <a:alpha val="65000"/>
              </a:srgbClr>
            </a:outerShdw>
          </a:effectLst>
        </p:spPr>
      </p:pic>
      <p:pic>
        <p:nvPicPr>
          <p:cNvPr id="21" name="Image 2" descr="preencoded.png">
            <a:extLst>
              <a:ext uri="{FF2B5EF4-FFF2-40B4-BE49-F238E27FC236}">
                <a16:creationId xmlns:a16="http://schemas.microsoft.com/office/drawing/2014/main" id="{5EDC8161-1776-4DFA-8FF7-7D4D5DDBC9DC}"/>
              </a:ext>
            </a:extLst>
          </p:cNvPr>
          <p:cNvPicPr>
            <a:picLocks noChangeAspect="1"/>
          </p:cNvPicPr>
          <p:nvPr/>
        </p:nvPicPr>
        <p:blipFill>
          <a:blip r:embed="rId7"/>
          <a:stretch>
            <a:fillRect/>
          </a:stretch>
        </p:blipFill>
        <p:spPr>
          <a:xfrm>
            <a:off x="5330954" y="9777006"/>
            <a:ext cx="3831336" cy="2532888"/>
          </a:xfrm>
          <a:prstGeom prst="rect">
            <a:avLst/>
          </a:prstGeom>
          <a:ln>
            <a:noFill/>
          </a:ln>
          <a:effectLst>
            <a:outerShdw blurRad="292100" dist="139700" dir="2700000" algn="tl" rotWithShape="0">
              <a:srgbClr val="333333">
                <a:alpha val="65000"/>
              </a:srgbClr>
            </a:outerShdw>
          </a:effectLst>
        </p:spPr>
      </p:pic>
      <p:pic>
        <p:nvPicPr>
          <p:cNvPr id="22" name="Image 3" descr="preencoded.png">
            <a:extLst>
              <a:ext uri="{FF2B5EF4-FFF2-40B4-BE49-F238E27FC236}">
                <a16:creationId xmlns:a16="http://schemas.microsoft.com/office/drawing/2014/main" id="{DA04EA89-ED14-4173-9965-8496A9C0C47C}"/>
              </a:ext>
            </a:extLst>
          </p:cNvPr>
          <p:cNvPicPr>
            <a:picLocks noChangeAspect="1"/>
          </p:cNvPicPr>
          <p:nvPr/>
        </p:nvPicPr>
        <p:blipFill>
          <a:blip r:embed="rId8"/>
          <a:stretch>
            <a:fillRect/>
          </a:stretch>
        </p:blipFill>
        <p:spPr>
          <a:xfrm>
            <a:off x="5367529" y="9810724"/>
            <a:ext cx="3831336" cy="2532888"/>
          </a:xfrm>
          <a:prstGeom prst="rect">
            <a:avLst/>
          </a:prstGeom>
          <a:ln>
            <a:noFill/>
          </a:ln>
          <a:effectLst>
            <a:outerShdw blurRad="292100" dist="139700" dir="2700000" algn="tl" rotWithShape="0">
              <a:srgbClr val="333333">
                <a:alpha val="65000"/>
              </a:srgbClr>
            </a:outerShdw>
          </a:effectLst>
        </p:spPr>
      </p:pic>
      <p:sp>
        <p:nvSpPr>
          <p:cNvPr id="23" name="Text 1">
            <a:extLst>
              <a:ext uri="{FF2B5EF4-FFF2-40B4-BE49-F238E27FC236}">
                <a16:creationId xmlns:a16="http://schemas.microsoft.com/office/drawing/2014/main" id="{F9368570-F579-494D-8969-CA8C630C29EF}"/>
              </a:ext>
            </a:extLst>
          </p:cNvPr>
          <p:cNvSpPr/>
          <p:nvPr/>
        </p:nvSpPr>
        <p:spPr>
          <a:xfrm>
            <a:off x="5404104" y="13041414"/>
            <a:ext cx="3831336" cy="713232"/>
          </a:xfrm>
          <a:prstGeom prst="rect">
            <a:avLst/>
          </a:prstGeom>
          <a:noFill/>
          <a:ln/>
        </p:spPr>
        <p:txBody>
          <a:bodyPr wrap="square" lIns="0" tIns="0" rIns="0" bIns="0" rtlCol="0" anchor="ctr"/>
          <a:lstStyle/>
          <a:p>
            <a:pPr marL="0" indent="0" algn="ct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Memory is managed automatically.</a:t>
            </a:r>
            <a:endParaRPr lang="en-US" sz="1850" dirty="0"/>
          </a:p>
        </p:txBody>
      </p:sp>
      <p:sp>
        <p:nvSpPr>
          <p:cNvPr id="24" name="Text 2">
            <a:extLst>
              <a:ext uri="{FF2B5EF4-FFF2-40B4-BE49-F238E27FC236}">
                <a16:creationId xmlns:a16="http://schemas.microsoft.com/office/drawing/2014/main" id="{FBCEA72C-29CA-40EE-A477-4FA150C7D5A9}"/>
              </a:ext>
            </a:extLst>
          </p:cNvPr>
          <p:cNvSpPr/>
          <p:nvPr/>
        </p:nvSpPr>
        <p:spPr>
          <a:xfrm>
            <a:off x="5330954" y="13041414"/>
            <a:ext cx="3831336" cy="713232"/>
          </a:xfrm>
          <a:prstGeom prst="rect">
            <a:avLst/>
          </a:prstGeom>
          <a:noFill/>
          <a:ln/>
        </p:spPr>
        <p:txBody>
          <a:bodyPr wrap="square" lIns="0" tIns="0" rIns="0" bIns="0" rtlCol="0" anchor="ctr"/>
          <a:lstStyle/>
          <a:p>
            <a:pPr marL="0" indent="0" algn="ct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Require custom constructors and destructors.</a:t>
            </a:r>
            <a:endParaRPr lang="en-US" sz="1850" dirty="0"/>
          </a:p>
        </p:txBody>
      </p:sp>
      <p:sp>
        <p:nvSpPr>
          <p:cNvPr id="25" name="Text 3">
            <a:extLst>
              <a:ext uri="{FF2B5EF4-FFF2-40B4-BE49-F238E27FC236}">
                <a16:creationId xmlns:a16="http://schemas.microsoft.com/office/drawing/2014/main" id="{2BCB548D-F75C-48E2-B201-715EDA30E3F9}"/>
              </a:ext>
            </a:extLst>
          </p:cNvPr>
          <p:cNvSpPr/>
          <p:nvPr/>
        </p:nvSpPr>
        <p:spPr>
          <a:xfrm>
            <a:off x="5330954" y="12529350"/>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Complex Objects</a:t>
            </a:r>
            <a:endParaRPr lang="en-US" sz="2320" dirty="0"/>
          </a:p>
        </p:txBody>
      </p:sp>
      <p:sp>
        <p:nvSpPr>
          <p:cNvPr id="26" name="Text 5">
            <a:extLst>
              <a:ext uri="{FF2B5EF4-FFF2-40B4-BE49-F238E27FC236}">
                <a16:creationId xmlns:a16="http://schemas.microsoft.com/office/drawing/2014/main" id="{1AD4DBE3-9BCE-42CD-8DFE-266D2ED3272E}"/>
              </a:ext>
            </a:extLst>
          </p:cNvPr>
          <p:cNvSpPr/>
          <p:nvPr/>
        </p:nvSpPr>
        <p:spPr>
          <a:xfrm>
            <a:off x="5367529" y="12563068"/>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Dynamic Arrays</a:t>
            </a:r>
            <a:endParaRPr lang="en-US" sz="2320" dirty="0"/>
          </a:p>
        </p:txBody>
      </p:sp>
      <p:sp>
        <p:nvSpPr>
          <p:cNvPr id="27" name="Text 6">
            <a:extLst>
              <a:ext uri="{FF2B5EF4-FFF2-40B4-BE49-F238E27FC236}">
                <a16:creationId xmlns:a16="http://schemas.microsoft.com/office/drawing/2014/main" id="{43E47180-8A38-4293-A65C-AC2A8178669E}"/>
              </a:ext>
            </a:extLst>
          </p:cNvPr>
          <p:cNvSpPr/>
          <p:nvPr/>
        </p:nvSpPr>
        <p:spPr>
          <a:xfrm>
            <a:off x="5367529" y="13075132"/>
            <a:ext cx="3831336" cy="356616"/>
          </a:xfrm>
          <a:prstGeom prst="rect">
            <a:avLst/>
          </a:prstGeom>
          <a:noFill/>
          <a:ln/>
        </p:spPr>
        <p:txBody>
          <a:bodyPr wrap="none" lIns="0" tIns="0" rIns="0" bIns="0" rtlCol="0" anchor="ctr"/>
          <a:lstStyle/>
          <a:p>
            <a:pPr marL="0" indent="0" algn="ct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Use new and delete[] properly.</a:t>
            </a:r>
            <a:endParaRPr lang="en-US" sz="1850" dirty="0"/>
          </a:p>
        </p:txBody>
      </p:sp>
      <p:sp>
        <p:nvSpPr>
          <p:cNvPr id="28" name="Text 7">
            <a:extLst>
              <a:ext uri="{FF2B5EF4-FFF2-40B4-BE49-F238E27FC236}">
                <a16:creationId xmlns:a16="http://schemas.microsoft.com/office/drawing/2014/main" id="{22916248-AF17-4892-B52B-9E8DF88B7818}"/>
              </a:ext>
            </a:extLst>
          </p:cNvPr>
          <p:cNvSpPr/>
          <p:nvPr/>
        </p:nvSpPr>
        <p:spPr>
          <a:xfrm>
            <a:off x="5404104" y="12529350"/>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Static Arrays</a:t>
            </a:r>
            <a:endParaRPr lang="en-US" sz="2320" dirty="0"/>
          </a:p>
        </p:txBody>
      </p:sp>
      <p:sp>
        <p:nvSpPr>
          <p:cNvPr id="29" name="Text 0">
            <a:extLst>
              <a:ext uri="{FF2B5EF4-FFF2-40B4-BE49-F238E27FC236}">
                <a16:creationId xmlns:a16="http://schemas.microsoft.com/office/drawing/2014/main" id="{E65967D5-A31B-4F15-A517-027FFEA5F55F}"/>
              </a:ext>
            </a:extLst>
          </p:cNvPr>
          <p:cNvSpPr/>
          <p:nvPr/>
        </p:nvSpPr>
        <p:spPr>
          <a:xfrm>
            <a:off x="-4939110" y="4352176"/>
            <a:ext cx="3511296" cy="1417320"/>
          </a:xfrm>
          <a:prstGeom prst="rect">
            <a:avLst/>
          </a:prstGeom>
          <a:noFill/>
          <a:ln/>
        </p:spPr>
        <p:txBody>
          <a:bodyPr wrap="square" lIns="0" tIns="0" rIns="0" bIns="0" rtlCol="0" anchor="ctr"/>
          <a:lstStyle/>
          <a:p>
            <a:pPr marL="0" indent="0" algn="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Arrays of objects have dynamic storage capacities. The size can be determined at runtime, offering flexibility.</a:t>
            </a:r>
            <a:endParaRPr lang="en-US" sz="1850" dirty="0"/>
          </a:p>
        </p:txBody>
      </p:sp>
      <p:sp>
        <p:nvSpPr>
          <p:cNvPr id="30" name="Text 1">
            <a:extLst>
              <a:ext uri="{FF2B5EF4-FFF2-40B4-BE49-F238E27FC236}">
                <a16:creationId xmlns:a16="http://schemas.microsoft.com/office/drawing/2014/main" id="{666E205D-9F4B-4B4B-8B2A-CB76444F2187}"/>
              </a:ext>
            </a:extLst>
          </p:cNvPr>
          <p:cNvSpPr/>
          <p:nvPr/>
        </p:nvSpPr>
        <p:spPr>
          <a:xfrm>
            <a:off x="-4939110" y="3712096"/>
            <a:ext cx="3511296" cy="374904"/>
          </a:xfrm>
          <a:prstGeom prst="rect">
            <a:avLst/>
          </a:prstGeom>
          <a:noFill/>
          <a:ln/>
        </p:spPr>
        <p:txBody>
          <a:bodyPr wrap="none" lIns="0" tIns="0" rIns="0" bIns="0" rtlCol="0" anchor="ctr"/>
          <a:lstStyle/>
          <a:p>
            <a:pPr marL="0" indent="0" algn="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Dynamic Storage</a:t>
            </a:r>
            <a:endParaRPr lang="en-US" sz="2320" dirty="0"/>
          </a:p>
        </p:txBody>
      </p:sp>
      <p:sp>
        <p:nvSpPr>
          <p:cNvPr id="31" name="Text 2">
            <a:extLst>
              <a:ext uri="{FF2B5EF4-FFF2-40B4-BE49-F238E27FC236}">
                <a16:creationId xmlns:a16="http://schemas.microsoft.com/office/drawing/2014/main" id="{E1DBFAAF-AF4F-45F2-8E0D-92DA655C38CA}"/>
              </a:ext>
            </a:extLst>
          </p:cNvPr>
          <p:cNvSpPr/>
          <p:nvPr/>
        </p:nvSpPr>
        <p:spPr>
          <a:xfrm>
            <a:off x="17652161" y="5815216"/>
            <a:ext cx="3986784" cy="1417320"/>
          </a:xfrm>
          <a:prstGeom prst="rect">
            <a:avLst/>
          </a:prstGeom>
          <a:noFill/>
          <a:ln/>
        </p:spPr>
        <p:txBody>
          <a:bodyPr wrap="square" lIns="0" tIns="0" rIns="0" bIns="0" rtlCol="0" anchor="ctr"/>
          <a:lstStyle/>
          <a:p>
            <a:pPr marL="0" indent="0" algn="l">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Elements from the array can be treated uniformly using loops and algorithms, fostering efficient code design.</a:t>
            </a:r>
            <a:endParaRPr lang="en-US" sz="1850" dirty="0"/>
          </a:p>
        </p:txBody>
      </p:sp>
      <p:sp>
        <p:nvSpPr>
          <p:cNvPr id="32" name="Text 3">
            <a:extLst>
              <a:ext uri="{FF2B5EF4-FFF2-40B4-BE49-F238E27FC236}">
                <a16:creationId xmlns:a16="http://schemas.microsoft.com/office/drawing/2014/main" id="{D3E851DB-F601-4C21-A3D3-377761B16D2E}"/>
              </a:ext>
            </a:extLst>
          </p:cNvPr>
          <p:cNvSpPr/>
          <p:nvPr/>
        </p:nvSpPr>
        <p:spPr>
          <a:xfrm>
            <a:off x="17652161" y="2879992"/>
            <a:ext cx="3986784" cy="1417320"/>
          </a:xfrm>
          <a:prstGeom prst="rect">
            <a:avLst/>
          </a:prstGeom>
          <a:noFill/>
          <a:ln/>
        </p:spPr>
        <p:txBody>
          <a:bodyPr wrap="square" lIns="0" tIns="0" rIns="0" bIns="0" rtlCol="0" anchor="ctr"/>
          <a:lstStyle/>
          <a:p>
            <a:pPr marL="0" indent="0" algn="l">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Objects within the array are stored in a single contiguous block of memory, improving cache performance.</a:t>
            </a:r>
            <a:endParaRPr lang="en-US" sz="1850" dirty="0"/>
          </a:p>
        </p:txBody>
      </p:sp>
      <p:sp>
        <p:nvSpPr>
          <p:cNvPr id="33" name="Text 4">
            <a:extLst>
              <a:ext uri="{FF2B5EF4-FFF2-40B4-BE49-F238E27FC236}">
                <a16:creationId xmlns:a16="http://schemas.microsoft.com/office/drawing/2014/main" id="{49B98A74-6F0F-44B0-93BB-088465A248D5}"/>
              </a:ext>
            </a:extLst>
          </p:cNvPr>
          <p:cNvSpPr/>
          <p:nvPr/>
        </p:nvSpPr>
        <p:spPr>
          <a:xfrm>
            <a:off x="832104" y="-5347925"/>
            <a:ext cx="12984480" cy="740664"/>
          </a:xfrm>
          <a:prstGeom prst="rect">
            <a:avLst/>
          </a:prstGeom>
          <a:noFill/>
          <a:ln/>
        </p:spPr>
        <p:txBody>
          <a:bodyPr wrap="none" lIns="0" tIns="0" rIns="0" bIns="0" rtlCol="0" anchor="ctr"/>
          <a:lstStyle/>
          <a:p>
            <a:pPr marL="0" indent="0" algn="l">
              <a:lnSpc>
                <a:spcPts val="5800"/>
              </a:lnSpc>
              <a:buNone/>
            </a:pPr>
            <a:r>
              <a:rPr lang="en-US" sz="4640" dirty="0">
                <a:solidFill>
                  <a:srgbClr val="0C266F"/>
                </a:solidFill>
                <a:latin typeface="思源宋体-思源宋体-SemiBold" pitchFamily="34" charset="0"/>
                <a:ea typeface="思源宋体-思源宋体-SemiBold" pitchFamily="34" charset="-122"/>
                <a:cs typeface="思源宋体-思源宋体-SemiBold" pitchFamily="34" charset="-120"/>
              </a:rPr>
              <a:t>Properties of Arrays of Objects</a:t>
            </a:r>
            <a:endParaRPr lang="en-US" sz="4640" dirty="0"/>
          </a:p>
        </p:txBody>
      </p:sp>
      <p:sp>
        <p:nvSpPr>
          <p:cNvPr id="34" name="Text 5">
            <a:extLst>
              <a:ext uri="{FF2B5EF4-FFF2-40B4-BE49-F238E27FC236}">
                <a16:creationId xmlns:a16="http://schemas.microsoft.com/office/drawing/2014/main" id="{C2E1C242-DB3A-4F2F-9894-140B6A1E1848}"/>
              </a:ext>
            </a:extLst>
          </p:cNvPr>
          <p:cNvSpPr/>
          <p:nvPr/>
        </p:nvSpPr>
        <p:spPr>
          <a:xfrm>
            <a:off x="17652161" y="2249056"/>
            <a:ext cx="3986784" cy="374904"/>
          </a:xfrm>
          <a:prstGeom prst="rect">
            <a:avLst/>
          </a:prstGeom>
          <a:noFill/>
          <a:ln/>
        </p:spPr>
        <p:txBody>
          <a:bodyPr wrap="none" lIns="0" tIns="0" rIns="0" bIns="0" rtlCol="0" anchor="ctr"/>
          <a:lstStyle/>
          <a:p>
            <a:pPr marL="0" indent="0" algn="l">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Contiguous Memory</a:t>
            </a:r>
            <a:endParaRPr lang="en-US" sz="2320" dirty="0"/>
          </a:p>
        </p:txBody>
      </p:sp>
      <p:sp>
        <p:nvSpPr>
          <p:cNvPr id="35" name="Text 6">
            <a:extLst>
              <a:ext uri="{FF2B5EF4-FFF2-40B4-BE49-F238E27FC236}">
                <a16:creationId xmlns:a16="http://schemas.microsoft.com/office/drawing/2014/main" id="{F2D2178A-1AF0-4966-BA44-293A83372F83}"/>
              </a:ext>
            </a:extLst>
          </p:cNvPr>
          <p:cNvSpPr/>
          <p:nvPr/>
        </p:nvSpPr>
        <p:spPr>
          <a:xfrm>
            <a:off x="17652161" y="5184280"/>
            <a:ext cx="3986784" cy="374904"/>
          </a:xfrm>
          <a:prstGeom prst="rect">
            <a:avLst/>
          </a:prstGeom>
          <a:noFill/>
          <a:ln/>
        </p:spPr>
        <p:txBody>
          <a:bodyPr wrap="none" lIns="0" tIns="0" rIns="0" bIns="0" rtlCol="0" anchor="ctr"/>
          <a:lstStyle/>
          <a:p>
            <a:pPr marL="0" indent="0" algn="l">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Uniform Element Access</a:t>
            </a:r>
            <a:endParaRPr lang="en-US" sz="2320" dirty="0"/>
          </a:p>
        </p:txBody>
      </p:sp>
      <p:grpSp>
        <p:nvGrpSpPr>
          <p:cNvPr id="37" name="Group 36">
            <a:extLst>
              <a:ext uri="{FF2B5EF4-FFF2-40B4-BE49-F238E27FC236}">
                <a16:creationId xmlns:a16="http://schemas.microsoft.com/office/drawing/2014/main" id="{258024A0-60CE-4F48-893E-67676B07FA40}"/>
              </a:ext>
            </a:extLst>
          </p:cNvPr>
          <p:cNvGrpSpPr/>
          <p:nvPr/>
        </p:nvGrpSpPr>
        <p:grpSpPr>
          <a:xfrm>
            <a:off x="18988332" y="1551661"/>
            <a:ext cx="7710249" cy="6108981"/>
            <a:chOff x="5947243" y="1558915"/>
            <a:chExt cx="7710249" cy="6108981"/>
          </a:xfrm>
        </p:grpSpPr>
        <p:sp>
          <p:nvSpPr>
            <p:cNvPr id="38" name="Shape 1">
              <a:extLst>
                <a:ext uri="{FF2B5EF4-FFF2-40B4-BE49-F238E27FC236}">
                  <a16:creationId xmlns:a16="http://schemas.microsoft.com/office/drawing/2014/main" id="{99F1572B-04EB-4F06-9A81-68FCC3C4EFF1}"/>
                </a:ext>
              </a:extLst>
            </p:cNvPr>
            <p:cNvSpPr/>
            <p:nvPr/>
          </p:nvSpPr>
          <p:spPr>
            <a:xfrm>
              <a:off x="5947243" y="1558915"/>
              <a:ext cx="7710249" cy="6108981"/>
            </a:xfrm>
            <a:prstGeom prst="roundRect">
              <a:avLst>
                <a:gd name="adj" fmla="val 7099"/>
              </a:avLst>
            </a:prstGeom>
            <a:solidFill>
              <a:srgbClr val="BDD4FA"/>
            </a:solidFill>
            <a:ln w="7620">
              <a:solidFill>
                <a:srgbClr val="B2D4E5"/>
              </a:solidFill>
              <a:prstDash val="solid"/>
            </a:ln>
            <a:effectLst>
              <a:outerShdw blurRad="50800" dist="38100" dir="8100000" algn="tr" rotWithShape="0">
                <a:prstClr val="black">
                  <a:alpha val="40000"/>
                </a:prstClr>
              </a:outerShdw>
            </a:effectLst>
          </p:spPr>
          <p:txBody>
            <a:bodyPr/>
            <a:lstStyle/>
            <a:p>
              <a:r>
                <a:rPr lang="en-US" dirty="0"/>
                <a:t>#include &lt;iostream&gt;</a:t>
              </a:r>
            </a:p>
            <a:p>
              <a:r>
                <a:rPr lang="en-US" dirty="0"/>
                <a:t>using namespace std;</a:t>
              </a:r>
            </a:p>
            <a:p>
              <a:endParaRPr lang="en-US" dirty="0"/>
            </a:p>
            <a:p>
              <a:r>
                <a:rPr lang="en-US" dirty="0"/>
                <a:t>class test</a:t>
              </a:r>
            </a:p>
            <a:p>
              <a:r>
                <a:rPr lang="en-US" dirty="0"/>
                <a:t>{</a:t>
              </a:r>
            </a:p>
            <a:p>
              <a:r>
                <a:rPr lang="en-US" dirty="0"/>
                <a:t>     private:</a:t>
              </a:r>
            </a:p>
            <a:p>
              <a:r>
                <a:rPr lang="en-US" dirty="0"/>
                <a:t>         int testing;</a:t>
              </a:r>
            </a:p>
            <a:p>
              <a:r>
                <a:rPr lang="en-US" dirty="0"/>
                <a:t>     public:</a:t>
              </a:r>
            </a:p>
            <a:p>
              <a:r>
                <a:rPr lang="en-US" dirty="0"/>
                <a:t>         test()</a:t>
              </a:r>
            </a:p>
            <a:p>
              <a:r>
                <a:rPr lang="en-US" dirty="0"/>
                <a:t>         {</a:t>
              </a:r>
            </a:p>
            <a:p>
              <a:r>
                <a:rPr lang="en-US" dirty="0"/>
                <a:t>             testing = 0;</a:t>
              </a:r>
            </a:p>
            <a:p>
              <a:r>
                <a:rPr lang="en-US" dirty="0"/>
                <a:t>         }</a:t>
              </a:r>
            </a:p>
            <a:p>
              <a:r>
                <a:rPr lang="en-US" dirty="0"/>
                <a:t>         test(int t)</a:t>
              </a:r>
            </a:p>
            <a:p>
              <a:r>
                <a:rPr lang="en-US" dirty="0"/>
                <a:t>         {</a:t>
              </a:r>
            </a:p>
            <a:p>
              <a:r>
                <a:rPr lang="en-US" dirty="0"/>
                <a:t>              testing = t;</a:t>
              </a:r>
            </a:p>
            <a:p>
              <a:r>
                <a:rPr lang="en-US" dirty="0"/>
                <a:t>         }</a:t>
              </a:r>
            </a:p>
            <a:p>
              <a:r>
                <a:rPr lang="en-US" dirty="0"/>
                <a:t>         void </a:t>
              </a:r>
              <a:r>
                <a:rPr lang="en-US" dirty="0" err="1"/>
                <a:t>set_Test</a:t>
              </a:r>
              <a:r>
                <a:rPr lang="en-US" dirty="0"/>
                <a:t>(int t)</a:t>
              </a:r>
            </a:p>
            <a:p>
              <a:r>
                <a:rPr lang="en-US" dirty="0"/>
                <a:t>         {</a:t>
              </a:r>
            </a:p>
            <a:p>
              <a:r>
                <a:rPr lang="en-US" dirty="0"/>
                <a:t>              testing = t;</a:t>
              </a:r>
            </a:p>
            <a:p>
              <a:r>
                <a:rPr lang="en-US" dirty="0"/>
                <a:t>         }</a:t>
              </a:r>
            </a:p>
            <a:p>
              <a:r>
                <a:rPr lang="en-US" dirty="0"/>
                <a:t>         </a:t>
              </a:r>
            </a:p>
          </p:txBody>
        </p:sp>
        <p:sp>
          <p:nvSpPr>
            <p:cNvPr id="39" name="TextBox 38">
              <a:extLst>
                <a:ext uri="{FF2B5EF4-FFF2-40B4-BE49-F238E27FC236}">
                  <a16:creationId xmlns:a16="http://schemas.microsoft.com/office/drawing/2014/main" id="{104010F3-52E8-4224-A609-A3572E9A0BA9}"/>
                </a:ext>
              </a:extLst>
            </p:cNvPr>
            <p:cNvSpPr txBox="1"/>
            <p:nvPr/>
          </p:nvSpPr>
          <p:spPr>
            <a:xfrm>
              <a:off x="9980724" y="1738704"/>
              <a:ext cx="3304903" cy="5355312"/>
            </a:xfrm>
            <a:prstGeom prst="rect">
              <a:avLst/>
            </a:prstGeom>
            <a:noFill/>
          </p:spPr>
          <p:txBody>
            <a:bodyPr wrap="square" rtlCol="0">
              <a:spAutoFit/>
            </a:bodyPr>
            <a:lstStyle/>
            <a:p>
              <a:r>
                <a:rPr lang="en-US" dirty="0"/>
                <a:t>    int </a:t>
              </a:r>
              <a:r>
                <a:rPr lang="en-US" dirty="0" err="1"/>
                <a:t>get_Test</a:t>
              </a:r>
              <a:r>
                <a:rPr lang="en-US" dirty="0"/>
                <a:t>()</a:t>
              </a:r>
            </a:p>
            <a:p>
              <a:r>
                <a:rPr lang="en-US" dirty="0"/>
                <a:t>    {</a:t>
              </a:r>
            </a:p>
            <a:p>
              <a:r>
                <a:rPr lang="en-US" dirty="0"/>
                <a:t>        return testing;</a:t>
              </a:r>
            </a:p>
            <a:p>
              <a:r>
                <a:rPr lang="en-US" dirty="0"/>
                <a:t>    }</a:t>
              </a:r>
            </a:p>
            <a:p>
              <a:r>
                <a:rPr lang="en-US" dirty="0"/>
                <a:t>};</a:t>
              </a:r>
            </a:p>
            <a:p>
              <a:r>
                <a:rPr lang="en-US" dirty="0"/>
                <a:t>int main()</a:t>
              </a:r>
            </a:p>
            <a:p>
              <a:r>
                <a:rPr lang="en-US" dirty="0"/>
                <a:t>{</a:t>
              </a:r>
            </a:p>
            <a:p>
              <a:r>
                <a:rPr lang="en-US" dirty="0"/>
                <a:t>    test obj;</a:t>
              </a:r>
            </a:p>
            <a:p>
              <a:r>
                <a:rPr lang="en-US" dirty="0"/>
                <a:t>    test </a:t>
              </a:r>
              <a:r>
                <a:rPr lang="en-US" dirty="0" err="1"/>
                <a:t>objn</a:t>
              </a:r>
              <a:r>
                <a:rPr lang="en-US" dirty="0"/>
                <a:t>(1);</a:t>
              </a:r>
            </a:p>
            <a:p>
              <a:r>
                <a:rPr lang="en-US" dirty="0"/>
                <a:t>    test </a:t>
              </a:r>
              <a:r>
                <a:rPr lang="en-US" dirty="0" err="1"/>
                <a:t>objt</a:t>
              </a:r>
              <a:r>
                <a:rPr lang="en-US" dirty="0"/>
                <a:t>[5];</a:t>
              </a:r>
            </a:p>
            <a:p>
              <a:r>
                <a:rPr lang="en-US" dirty="0"/>
                <a:t>    for(int </a:t>
              </a:r>
              <a:r>
                <a:rPr lang="en-US" dirty="0" err="1"/>
                <a:t>i</a:t>
              </a:r>
              <a:r>
                <a:rPr lang="en-US" dirty="0"/>
                <a:t>=0, </a:t>
              </a:r>
              <a:r>
                <a:rPr lang="en-US" dirty="0" err="1"/>
                <a:t>i</a:t>
              </a:r>
              <a:r>
                <a:rPr lang="en-US" dirty="0"/>
                <a:t>&lt;5; </a:t>
              </a:r>
              <a:r>
                <a:rPr lang="en-US" dirty="0" err="1"/>
                <a:t>i</a:t>
              </a:r>
              <a:r>
                <a:rPr lang="en-US" dirty="0"/>
                <a:t>++)</a:t>
              </a:r>
            </a:p>
            <a:p>
              <a:r>
                <a:rPr lang="en-US" dirty="0"/>
                <a:t>        </a:t>
              </a:r>
              <a:r>
                <a:rPr lang="en-US" dirty="0" err="1"/>
                <a:t>objt</a:t>
              </a:r>
              <a:r>
                <a:rPr lang="en-US" dirty="0"/>
                <a:t>[</a:t>
              </a:r>
              <a:r>
                <a:rPr lang="en-US" dirty="0" err="1"/>
                <a:t>i</a:t>
              </a:r>
              <a:r>
                <a:rPr lang="en-US" dirty="0"/>
                <a:t>] = i+1;</a:t>
              </a:r>
            </a:p>
            <a:p>
              <a:r>
                <a:rPr lang="en-US" dirty="0"/>
                <a:t>    test </a:t>
              </a:r>
              <a:r>
                <a:rPr lang="en-US" dirty="0" err="1"/>
                <a:t>arr</a:t>
              </a:r>
              <a:r>
                <a:rPr lang="en-US" dirty="0"/>
                <a:t>[] = { test(10), test(20), </a:t>
              </a:r>
            </a:p>
            <a:p>
              <a:r>
                <a:rPr lang="en-US" dirty="0"/>
                <a:t>    test(30), test(40), test(50) };</a:t>
              </a:r>
            </a:p>
            <a:p>
              <a:r>
                <a:rPr lang="en-US" dirty="0"/>
                <a:t>    </a:t>
              </a:r>
              <a:r>
                <a:rPr lang="en-US" dirty="0" err="1"/>
                <a:t>cout</a:t>
              </a:r>
              <a:r>
                <a:rPr lang="en-US" dirty="0"/>
                <a:t> &lt;&lt; </a:t>
              </a:r>
              <a:r>
                <a:rPr lang="en-US" dirty="0" err="1"/>
                <a:t>arr</a:t>
              </a:r>
              <a:r>
                <a:rPr lang="en-US" dirty="0"/>
                <a:t>[1].</a:t>
              </a:r>
              <a:r>
                <a:rPr lang="en-US" dirty="0" err="1"/>
                <a:t>get_Test</a:t>
              </a:r>
              <a:r>
                <a:rPr lang="en-US" dirty="0"/>
                <a:t> &lt;&lt; </a:t>
              </a:r>
              <a:r>
                <a:rPr lang="en-US" dirty="0" err="1"/>
                <a:t>endl</a:t>
              </a:r>
              <a:r>
                <a:rPr lang="en-US" dirty="0"/>
                <a:t>;</a:t>
              </a:r>
            </a:p>
            <a:p>
              <a:r>
                <a:rPr lang="en-US" dirty="0"/>
                <a:t>    </a:t>
              </a:r>
              <a:r>
                <a:rPr lang="en-US" dirty="0" err="1"/>
                <a:t>arr</a:t>
              </a:r>
              <a:r>
                <a:rPr lang="en-US" dirty="0"/>
                <a:t>[0].</a:t>
              </a:r>
              <a:r>
                <a:rPr lang="en-US" dirty="0" err="1"/>
                <a:t>set_Test</a:t>
              </a:r>
              <a:r>
                <a:rPr lang="en-US" dirty="0"/>
                <a:t>(5);</a:t>
              </a:r>
            </a:p>
            <a:p>
              <a:r>
                <a:rPr lang="en-US" dirty="0"/>
                <a:t>    </a:t>
              </a:r>
              <a:r>
                <a:rPr lang="en-US" dirty="0" err="1"/>
                <a:t>cout</a:t>
              </a:r>
              <a:r>
                <a:rPr lang="en-US" dirty="0"/>
                <a:t> &lt;&lt; </a:t>
              </a:r>
              <a:r>
                <a:rPr lang="en-US" dirty="0" err="1"/>
                <a:t>arr</a:t>
              </a:r>
              <a:r>
                <a:rPr lang="en-US" dirty="0"/>
                <a:t>[0].</a:t>
              </a:r>
              <a:r>
                <a:rPr lang="en-US" dirty="0" err="1"/>
                <a:t>get_Test</a:t>
              </a:r>
              <a:r>
                <a:rPr lang="en-US" dirty="0"/>
                <a:t> &lt;&lt; </a:t>
              </a:r>
              <a:r>
                <a:rPr lang="en-US" dirty="0" err="1"/>
                <a:t>endl</a:t>
              </a:r>
              <a:r>
                <a:rPr lang="en-US" dirty="0"/>
                <a:t>;</a:t>
              </a:r>
            </a:p>
            <a:p>
              <a:r>
                <a:rPr lang="en-US" dirty="0"/>
                <a:t>    return 0;</a:t>
              </a:r>
            </a:p>
            <a:p>
              <a:r>
                <a:rPr lang="en-US" dirty="0"/>
                <a:t>}</a:t>
              </a:r>
            </a:p>
          </p:txBody>
        </p:sp>
      </p:grpSp>
      <p:grpSp>
        <p:nvGrpSpPr>
          <p:cNvPr id="41" name="Group 40">
            <a:extLst>
              <a:ext uri="{FF2B5EF4-FFF2-40B4-BE49-F238E27FC236}">
                <a16:creationId xmlns:a16="http://schemas.microsoft.com/office/drawing/2014/main" id="{0D2C2C58-7BE7-4244-B643-606C6282AC1C}"/>
              </a:ext>
            </a:extLst>
          </p:cNvPr>
          <p:cNvGrpSpPr/>
          <p:nvPr/>
        </p:nvGrpSpPr>
        <p:grpSpPr>
          <a:xfrm>
            <a:off x="15311564" y="1551661"/>
            <a:ext cx="7710249" cy="6108981"/>
            <a:chOff x="5947243" y="1558915"/>
            <a:chExt cx="7710249" cy="6108981"/>
          </a:xfrm>
        </p:grpSpPr>
        <p:sp>
          <p:nvSpPr>
            <p:cNvPr id="42" name="Shape 1">
              <a:extLst>
                <a:ext uri="{FF2B5EF4-FFF2-40B4-BE49-F238E27FC236}">
                  <a16:creationId xmlns:a16="http://schemas.microsoft.com/office/drawing/2014/main" id="{7AEA0F5E-7340-4A39-A00B-C055B6628CDA}"/>
                </a:ext>
              </a:extLst>
            </p:cNvPr>
            <p:cNvSpPr/>
            <p:nvPr/>
          </p:nvSpPr>
          <p:spPr>
            <a:xfrm>
              <a:off x="5947243" y="1558915"/>
              <a:ext cx="7710249" cy="6108981"/>
            </a:xfrm>
            <a:prstGeom prst="roundRect">
              <a:avLst>
                <a:gd name="adj" fmla="val 7099"/>
              </a:avLst>
            </a:prstGeom>
            <a:solidFill>
              <a:srgbClr val="BDD4FA"/>
            </a:solidFill>
            <a:ln w="7620">
              <a:solidFill>
                <a:srgbClr val="B2D4E5"/>
              </a:solidFill>
              <a:prstDash val="solid"/>
            </a:ln>
            <a:effectLst>
              <a:outerShdw blurRad="50800" dist="38100" dir="8100000" algn="tr" rotWithShape="0">
                <a:prstClr val="black">
                  <a:alpha val="40000"/>
                </a:prstClr>
              </a:outerShdw>
            </a:effectLst>
          </p:spPr>
          <p:txBody>
            <a:bodyPr/>
            <a:lstStyle/>
            <a:p>
              <a:r>
                <a:rPr lang="en-US" dirty="0"/>
                <a:t>#include &lt;iostream&gt;</a:t>
              </a:r>
            </a:p>
            <a:p>
              <a:r>
                <a:rPr lang="en-US" dirty="0"/>
                <a:t>using namespace std;</a:t>
              </a:r>
            </a:p>
            <a:p>
              <a:endParaRPr lang="en-US" dirty="0"/>
            </a:p>
            <a:p>
              <a:r>
                <a:rPr lang="en-US" dirty="0"/>
                <a:t>class test</a:t>
              </a:r>
            </a:p>
            <a:p>
              <a:r>
                <a:rPr lang="en-US" dirty="0"/>
                <a:t>{</a:t>
              </a:r>
            </a:p>
            <a:p>
              <a:r>
                <a:rPr lang="en-US" dirty="0"/>
                <a:t>     private:</a:t>
              </a:r>
            </a:p>
            <a:p>
              <a:r>
                <a:rPr lang="en-US" dirty="0"/>
                <a:t>         int testing;</a:t>
              </a:r>
            </a:p>
            <a:p>
              <a:r>
                <a:rPr lang="en-US" dirty="0"/>
                <a:t>     public:</a:t>
              </a:r>
            </a:p>
            <a:p>
              <a:r>
                <a:rPr lang="en-US" dirty="0"/>
                <a:t>         test()</a:t>
              </a:r>
            </a:p>
            <a:p>
              <a:r>
                <a:rPr lang="en-US" dirty="0"/>
                <a:t>         {</a:t>
              </a:r>
            </a:p>
            <a:p>
              <a:r>
                <a:rPr lang="en-US" dirty="0"/>
                <a:t>             testing = 0;</a:t>
              </a:r>
            </a:p>
            <a:p>
              <a:r>
                <a:rPr lang="en-US" dirty="0"/>
                <a:t>         }</a:t>
              </a:r>
            </a:p>
            <a:p>
              <a:r>
                <a:rPr lang="en-US" dirty="0"/>
                <a:t>         test(int t)</a:t>
              </a:r>
            </a:p>
            <a:p>
              <a:r>
                <a:rPr lang="en-US" dirty="0"/>
                <a:t>         {</a:t>
              </a:r>
            </a:p>
            <a:p>
              <a:r>
                <a:rPr lang="en-US" dirty="0"/>
                <a:t>              testing = t;</a:t>
              </a:r>
            </a:p>
            <a:p>
              <a:r>
                <a:rPr lang="en-US" dirty="0"/>
                <a:t>         }</a:t>
              </a:r>
            </a:p>
            <a:p>
              <a:r>
                <a:rPr lang="en-US" dirty="0"/>
                <a:t>         void </a:t>
              </a:r>
              <a:r>
                <a:rPr lang="en-US" dirty="0" err="1"/>
                <a:t>set_Test</a:t>
              </a:r>
              <a:r>
                <a:rPr lang="en-US" dirty="0"/>
                <a:t>(int t)</a:t>
              </a:r>
            </a:p>
            <a:p>
              <a:r>
                <a:rPr lang="en-US" dirty="0"/>
                <a:t>         {</a:t>
              </a:r>
            </a:p>
            <a:p>
              <a:r>
                <a:rPr lang="en-US" dirty="0"/>
                <a:t>              testing = t;</a:t>
              </a:r>
            </a:p>
            <a:p>
              <a:r>
                <a:rPr lang="en-US" dirty="0"/>
                <a:t>         }</a:t>
              </a:r>
            </a:p>
            <a:p>
              <a:r>
                <a:rPr lang="en-US" dirty="0"/>
                <a:t>         </a:t>
              </a:r>
            </a:p>
          </p:txBody>
        </p:sp>
        <p:sp>
          <p:nvSpPr>
            <p:cNvPr id="43" name="TextBox 42">
              <a:extLst>
                <a:ext uri="{FF2B5EF4-FFF2-40B4-BE49-F238E27FC236}">
                  <a16:creationId xmlns:a16="http://schemas.microsoft.com/office/drawing/2014/main" id="{906069C1-225F-4D54-9EC9-DD66B76790FF}"/>
                </a:ext>
              </a:extLst>
            </p:cNvPr>
            <p:cNvSpPr txBox="1"/>
            <p:nvPr/>
          </p:nvSpPr>
          <p:spPr>
            <a:xfrm>
              <a:off x="9980724" y="1738704"/>
              <a:ext cx="3304903" cy="4524315"/>
            </a:xfrm>
            <a:prstGeom prst="rect">
              <a:avLst/>
            </a:prstGeom>
            <a:noFill/>
          </p:spPr>
          <p:txBody>
            <a:bodyPr wrap="square" rtlCol="0">
              <a:spAutoFit/>
            </a:bodyPr>
            <a:lstStyle/>
            <a:p>
              <a:r>
                <a:rPr lang="en-US" dirty="0"/>
                <a:t>Int </a:t>
              </a:r>
              <a:r>
                <a:rPr lang="en-US" dirty="0" err="1"/>
                <a:t>get_Test</a:t>
              </a:r>
              <a:r>
                <a:rPr lang="en-US" dirty="0"/>
                <a:t>() { return testing; }</a:t>
              </a:r>
            </a:p>
            <a:p>
              <a:r>
                <a:rPr lang="en-US" dirty="0"/>
                <a:t>};</a:t>
              </a:r>
            </a:p>
            <a:p>
              <a:r>
                <a:rPr lang="en-US" dirty="0"/>
                <a:t>int main()</a:t>
              </a:r>
            </a:p>
            <a:p>
              <a:r>
                <a:rPr lang="en-US" dirty="0"/>
                <a:t>{</a:t>
              </a:r>
            </a:p>
            <a:p>
              <a:r>
                <a:rPr lang="en-US" dirty="0"/>
                <a:t>    int t;</a:t>
              </a:r>
            </a:p>
            <a:p>
              <a:r>
                <a:rPr lang="en-US" dirty="0"/>
                <a:t>    </a:t>
              </a:r>
              <a:r>
                <a:rPr lang="en-US" dirty="0" err="1"/>
                <a:t>cout</a:t>
              </a:r>
              <a:r>
                <a:rPr lang="en-US" dirty="0"/>
                <a:t> &lt;&lt; “Enter the Number: “;</a:t>
              </a:r>
            </a:p>
            <a:p>
              <a:r>
                <a:rPr lang="en-US" dirty="0"/>
                <a:t>    </a:t>
              </a:r>
              <a:r>
                <a:rPr lang="en-US" dirty="0" err="1"/>
                <a:t>cin</a:t>
              </a:r>
              <a:r>
                <a:rPr lang="en-US" dirty="0"/>
                <a:t> &gt;&gt; t;</a:t>
              </a:r>
            </a:p>
            <a:p>
              <a:r>
                <a:rPr lang="en-US" dirty="0"/>
                <a:t>    test obj[5];</a:t>
              </a:r>
            </a:p>
            <a:p>
              <a:r>
                <a:rPr lang="en-US" dirty="0"/>
                <a:t>    obj[0].</a:t>
              </a:r>
              <a:r>
                <a:rPr lang="en-US" dirty="0" err="1"/>
                <a:t>set_Test</a:t>
              </a:r>
              <a:r>
                <a:rPr lang="en-US" dirty="0"/>
                <a:t>(t);</a:t>
              </a:r>
            </a:p>
            <a:p>
              <a:r>
                <a:rPr lang="en-US" dirty="0"/>
                <a:t>    obj[1].</a:t>
              </a:r>
              <a:r>
                <a:rPr lang="en-US" dirty="0" err="1"/>
                <a:t>set_Test</a:t>
              </a:r>
              <a:r>
                <a:rPr lang="en-US" dirty="0"/>
                <a:t>(2);</a:t>
              </a:r>
            </a:p>
            <a:p>
              <a:r>
                <a:rPr lang="en-US" dirty="0"/>
                <a:t>    </a:t>
              </a:r>
              <a:r>
                <a:rPr lang="en-US" dirty="0" err="1"/>
                <a:t>cout</a:t>
              </a:r>
              <a:r>
                <a:rPr lang="en-US" dirty="0"/>
                <a:t> &lt;&lt; “OBJ[0]: “ &lt;&lt; obj[0].</a:t>
              </a:r>
              <a:r>
                <a:rPr lang="en-US" dirty="0" err="1"/>
                <a:t>get_Test</a:t>
              </a:r>
              <a:r>
                <a:rPr lang="en-US" dirty="0"/>
                <a:t> &lt;&lt; </a:t>
              </a:r>
              <a:r>
                <a:rPr lang="en-US" dirty="0" err="1"/>
                <a:t>endl</a:t>
              </a:r>
              <a:r>
                <a:rPr lang="en-US" dirty="0"/>
                <a:t>;</a:t>
              </a:r>
            </a:p>
            <a:p>
              <a:r>
                <a:rPr lang="en-US" dirty="0"/>
                <a:t>    </a:t>
              </a:r>
              <a:r>
                <a:rPr lang="en-US" dirty="0" err="1"/>
                <a:t>cout</a:t>
              </a:r>
              <a:r>
                <a:rPr lang="en-US" dirty="0"/>
                <a:t> &lt;&lt; “OBJ[1]: “ &lt;&lt; obj[1].</a:t>
              </a:r>
              <a:r>
                <a:rPr lang="en-US" dirty="0" err="1"/>
                <a:t>get_Test</a:t>
              </a:r>
              <a:r>
                <a:rPr lang="en-US" dirty="0"/>
                <a:t> &lt;&lt; </a:t>
              </a:r>
              <a:r>
                <a:rPr lang="en-US" dirty="0" err="1"/>
                <a:t>endl</a:t>
              </a:r>
              <a:r>
                <a:rPr lang="en-US" dirty="0"/>
                <a:t>;</a:t>
              </a:r>
            </a:p>
            <a:p>
              <a:r>
                <a:rPr lang="en-US" dirty="0"/>
                <a:t>    return 0;</a:t>
              </a:r>
            </a:p>
            <a:p>
              <a:r>
                <a:rPr lang="en-US" dirty="0"/>
                <a:t>}</a:t>
              </a:r>
            </a:p>
          </p:txBody>
        </p:sp>
      </p:grpSp>
      <p:pic>
        <p:nvPicPr>
          <p:cNvPr id="44" name="Image 0" descr="preencoded.png">
            <a:extLst>
              <a:ext uri="{FF2B5EF4-FFF2-40B4-BE49-F238E27FC236}">
                <a16:creationId xmlns:a16="http://schemas.microsoft.com/office/drawing/2014/main" id="{688A3EC0-4841-433C-AB49-AD0A4706D35A}"/>
              </a:ext>
            </a:extLst>
          </p:cNvPr>
          <p:cNvPicPr>
            <a:picLocks noChangeAspect="1"/>
          </p:cNvPicPr>
          <p:nvPr/>
        </p:nvPicPr>
        <p:blipFill>
          <a:blip r:embed="rId9">
            <a:duotone>
              <a:prstClr val="black"/>
              <a:schemeClr val="accent5">
                <a:tint val="45000"/>
                <a:satMod val="400000"/>
              </a:schemeClr>
            </a:duotone>
          </a:blip>
          <a:stretch>
            <a:fillRect/>
          </a:stretch>
        </p:blipFill>
        <p:spPr>
          <a:xfrm>
            <a:off x="-6200307" y="-530087"/>
            <a:ext cx="5486400" cy="9183757"/>
          </a:xfrm>
          <a:prstGeom prst="rect">
            <a:avLst/>
          </a:prstGeom>
          <a:ln>
            <a:noFill/>
          </a:ln>
          <a:effectLst>
            <a:softEdge rad="317500"/>
          </a:effectLst>
        </p:spPr>
      </p:pic>
      <p:pic>
        <p:nvPicPr>
          <p:cNvPr id="7" name="Picture 6">
            <a:extLst>
              <a:ext uri="{FF2B5EF4-FFF2-40B4-BE49-F238E27FC236}">
                <a16:creationId xmlns:a16="http://schemas.microsoft.com/office/drawing/2014/main" id="{0C0B17EE-990E-477F-9873-AA263AA66B32}"/>
              </a:ext>
            </a:extLst>
          </p:cNvPr>
          <p:cNvPicPr>
            <a:picLocks noChangeAspect="1"/>
          </p:cNvPicPr>
          <p:nvPr/>
        </p:nvPicPr>
        <p:blipFill>
          <a:blip r:embed="rId10"/>
          <a:stretch>
            <a:fillRect/>
          </a:stretch>
        </p:blipFill>
        <p:spPr>
          <a:xfrm>
            <a:off x="1187197" y="1115959"/>
            <a:ext cx="12192000" cy="5791200"/>
          </a:xfrm>
          <a:prstGeom prst="rect">
            <a:avLst/>
          </a:prstGeom>
        </p:spPr>
      </p:pic>
    </p:spTree>
    <p:extLst>
      <p:ext uri="{BB962C8B-B14F-4D97-AF65-F5344CB8AC3E}">
        <p14:creationId xmlns:p14="http://schemas.microsoft.com/office/powerpoint/2010/main" val="114189808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duotone>
              <a:prstClr val="black"/>
              <a:schemeClr val="accent5">
                <a:tint val="45000"/>
                <a:satMod val="400000"/>
              </a:schemeClr>
            </a:duotone>
          </a:blip>
          <a:stretch>
            <a:fillRect/>
          </a:stretch>
        </p:blipFill>
        <p:spPr>
          <a:xfrm>
            <a:off x="5047488" y="2350008"/>
            <a:ext cx="4544568" cy="4544568"/>
          </a:xfrm>
          <a:prstGeom prst="rect">
            <a:avLst/>
          </a:prstGeom>
          <a:ln>
            <a:noFill/>
          </a:ln>
          <a:effectLst>
            <a:outerShdw blurRad="292100" dist="139700" dir="2700000" algn="tl" rotWithShape="0">
              <a:srgbClr val="333333">
                <a:alpha val="65000"/>
              </a:srgbClr>
            </a:outerShdw>
          </a:effectLst>
        </p:spPr>
      </p:pic>
      <p:pic>
        <p:nvPicPr>
          <p:cNvPr id="4" name="Image 2" descr="preencoded.png"/>
          <p:cNvPicPr>
            <a:picLocks noChangeAspect="1"/>
          </p:cNvPicPr>
          <p:nvPr/>
        </p:nvPicPr>
        <p:blipFill>
          <a:blip r:embed="rId5">
            <a:duotone>
              <a:prstClr val="black"/>
              <a:schemeClr val="accent5">
                <a:tint val="45000"/>
                <a:satMod val="400000"/>
              </a:schemeClr>
            </a:duotone>
          </a:blip>
          <a:stretch>
            <a:fillRect/>
          </a:stretch>
        </p:blipFill>
        <p:spPr>
          <a:xfrm>
            <a:off x="5047488" y="2350008"/>
            <a:ext cx="4544568" cy="4544568"/>
          </a:xfrm>
          <a:prstGeom prst="rect">
            <a:avLst/>
          </a:prstGeom>
          <a:ln>
            <a:noFill/>
          </a:ln>
          <a:effectLst>
            <a:outerShdw blurRad="292100" dist="139700" dir="2700000" algn="tl" rotWithShape="0">
              <a:srgbClr val="333333">
                <a:alpha val="65000"/>
              </a:srgbClr>
            </a:outerShdw>
          </a:effectLst>
        </p:spPr>
      </p:pic>
      <p:pic>
        <p:nvPicPr>
          <p:cNvPr id="5" name="Image 3" descr="preencoded.png"/>
          <p:cNvPicPr>
            <a:picLocks noChangeAspect="1"/>
          </p:cNvPicPr>
          <p:nvPr/>
        </p:nvPicPr>
        <p:blipFill>
          <a:blip r:embed="rId6">
            <a:duotone>
              <a:prstClr val="black"/>
              <a:schemeClr val="accent5">
                <a:tint val="45000"/>
                <a:satMod val="400000"/>
              </a:schemeClr>
            </a:duotone>
          </a:blip>
          <a:stretch>
            <a:fillRect/>
          </a:stretch>
        </p:blipFill>
        <p:spPr>
          <a:xfrm>
            <a:off x="5047488" y="2350008"/>
            <a:ext cx="4544568" cy="4544568"/>
          </a:xfrm>
          <a:prstGeom prst="rect">
            <a:avLst/>
          </a:prstGeom>
          <a:ln>
            <a:noFill/>
          </a:ln>
          <a:effectLst>
            <a:outerShdw blurRad="292100" dist="139700" dir="2700000" algn="tl" rotWithShape="0">
              <a:srgbClr val="333333">
                <a:alpha val="65000"/>
              </a:srgbClr>
            </a:outerShdw>
          </a:effectLst>
        </p:spPr>
      </p:pic>
      <p:sp>
        <p:nvSpPr>
          <p:cNvPr id="6" name="Text 0"/>
          <p:cNvSpPr/>
          <p:nvPr/>
        </p:nvSpPr>
        <p:spPr>
          <a:xfrm>
            <a:off x="950976" y="4233672"/>
            <a:ext cx="3511296" cy="1417320"/>
          </a:xfrm>
          <a:prstGeom prst="rect">
            <a:avLst/>
          </a:prstGeom>
          <a:noFill/>
          <a:ln/>
        </p:spPr>
        <p:txBody>
          <a:bodyPr wrap="square" lIns="0" tIns="0" rIns="0" bIns="0" rtlCol="0" anchor="ctr"/>
          <a:lstStyle/>
          <a:p>
            <a:pPr marL="0" indent="0" algn="r">
              <a:lnSpc>
                <a:spcPts val="2780"/>
              </a:lnSpc>
              <a:buNone/>
            </a:pPr>
            <a:r>
              <a:rPr lang="en-US" sz="1850" dirty="0">
                <a:solidFill>
                  <a:srgbClr val="050B14"/>
                </a:solidFill>
                <a:latin typeface="Bodoni MT" panose="02070603080606020203" pitchFamily="18" charset="0"/>
                <a:ea typeface="思源宋体-思源宋体-Regular" pitchFamily="34" charset="-122"/>
                <a:cs typeface="思源宋体-思源宋体-Regular" pitchFamily="34" charset="-120"/>
              </a:rPr>
              <a:t>Arrays of objects have dynamic storage capacities. The size can be determined at runtime, offering flexibility.</a:t>
            </a:r>
            <a:endParaRPr lang="en-US" sz="1850" dirty="0">
              <a:latin typeface="Bodoni MT" panose="02070603080606020203" pitchFamily="18" charset="0"/>
            </a:endParaRPr>
          </a:p>
        </p:txBody>
      </p:sp>
      <p:sp>
        <p:nvSpPr>
          <p:cNvPr id="7" name="Text 1"/>
          <p:cNvSpPr/>
          <p:nvPr/>
        </p:nvSpPr>
        <p:spPr>
          <a:xfrm>
            <a:off x="950976" y="3593592"/>
            <a:ext cx="3511296" cy="374904"/>
          </a:xfrm>
          <a:prstGeom prst="rect">
            <a:avLst/>
          </a:prstGeom>
          <a:noFill/>
          <a:ln/>
        </p:spPr>
        <p:txBody>
          <a:bodyPr wrap="none" lIns="0" tIns="0" rIns="0" bIns="0" rtlCol="0" anchor="ctr"/>
          <a:lstStyle/>
          <a:p>
            <a:pPr marL="0" indent="0" algn="r">
              <a:lnSpc>
                <a:spcPts val="2900"/>
              </a:lnSpc>
              <a:buNone/>
            </a:pPr>
            <a:r>
              <a:rPr lang="en-US" sz="2320" dirty="0">
                <a:solidFill>
                  <a:srgbClr val="050B14"/>
                </a:solidFill>
                <a:latin typeface="Berlin Sans FB Demi" panose="020E0802020502020306" pitchFamily="34" charset="0"/>
                <a:ea typeface="思源宋体-思源宋体-SemiBold" pitchFamily="34" charset="-122"/>
                <a:cs typeface="思源宋体-思源宋体-SemiBold" pitchFamily="34" charset="-120"/>
              </a:rPr>
              <a:t>Dynamic Storage</a:t>
            </a:r>
            <a:endParaRPr lang="en-US" sz="2320" dirty="0">
              <a:latin typeface="Berlin Sans FB Demi" panose="020E0802020502020306" pitchFamily="34" charset="0"/>
            </a:endParaRPr>
          </a:p>
        </p:txBody>
      </p:sp>
      <p:sp>
        <p:nvSpPr>
          <p:cNvPr id="8" name="Text 2"/>
          <p:cNvSpPr/>
          <p:nvPr/>
        </p:nvSpPr>
        <p:spPr>
          <a:xfrm>
            <a:off x="9710928" y="5696712"/>
            <a:ext cx="3986784" cy="1417320"/>
          </a:xfrm>
          <a:prstGeom prst="rect">
            <a:avLst/>
          </a:prstGeom>
          <a:noFill/>
          <a:ln/>
        </p:spPr>
        <p:txBody>
          <a:bodyPr wrap="square" lIns="0" tIns="0" rIns="0" bIns="0" rtlCol="0" anchor="ctr"/>
          <a:lstStyle/>
          <a:p>
            <a:pPr marL="0" indent="0" algn="l">
              <a:lnSpc>
                <a:spcPts val="2780"/>
              </a:lnSpc>
              <a:buNone/>
            </a:pPr>
            <a:r>
              <a:rPr lang="en-US" sz="1850" dirty="0">
                <a:solidFill>
                  <a:srgbClr val="050B14"/>
                </a:solidFill>
                <a:latin typeface="Bodoni MT" panose="02070603080606020203" pitchFamily="18" charset="0"/>
                <a:ea typeface="思源宋体-思源宋体-Regular" pitchFamily="34" charset="-122"/>
                <a:cs typeface="思源宋体-思源宋体-Regular" pitchFamily="34" charset="-120"/>
              </a:rPr>
              <a:t>Elements from the array can be treated uniformly using loops and algorithms, fostering efficient code design.</a:t>
            </a:r>
            <a:endParaRPr lang="en-US" sz="1850" dirty="0">
              <a:latin typeface="Bodoni MT" panose="02070603080606020203" pitchFamily="18" charset="0"/>
            </a:endParaRPr>
          </a:p>
        </p:txBody>
      </p:sp>
      <p:sp>
        <p:nvSpPr>
          <p:cNvPr id="9" name="Text 3"/>
          <p:cNvSpPr/>
          <p:nvPr/>
        </p:nvSpPr>
        <p:spPr>
          <a:xfrm>
            <a:off x="9710928" y="2761488"/>
            <a:ext cx="3986784" cy="1417320"/>
          </a:xfrm>
          <a:prstGeom prst="rect">
            <a:avLst/>
          </a:prstGeom>
          <a:noFill/>
          <a:ln/>
        </p:spPr>
        <p:txBody>
          <a:bodyPr wrap="square" lIns="0" tIns="0" rIns="0" bIns="0" rtlCol="0" anchor="ctr"/>
          <a:lstStyle/>
          <a:p>
            <a:pPr marL="0" indent="0" algn="l">
              <a:lnSpc>
                <a:spcPts val="2780"/>
              </a:lnSpc>
              <a:buNone/>
            </a:pPr>
            <a:r>
              <a:rPr lang="en-US" sz="1850" dirty="0">
                <a:solidFill>
                  <a:srgbClr val="050B14"/>
                </a:solidFill>
                <a:latin typeface="Bodoni MT" panose="02070603080606020203" pitchFamily="18" charset="0"/>
                <a:ea typeface="思源宋体-思源宋体-Regular" pitchFamily="34" charset="-122"/>
                <a:cs typeface="思源宋体-思源宋体-Regular" pitchFamily="34" charset="-120"/>
              </a:rPr>
              <a:t>Objects within the array are stored in a single contiguous block of memory, improving cache performance.</a:t>
            </a:r>
            <a:endParaRPr lang="en-US" sz="1850" dirty="0">
              <a:latin typeface="Bodoni MT" panose="02070603080606020203" pitchFamily="18" charset="0"/>
            </a:endParaRPr>
          </a:p>
        </p:txBody>
      </p:sp>
      <p:sp>
        <p:nvSpPr>
          <p:cNvPr id="10" name="Text 4"/>
          <p:cNvSpPr/>
          <p:nvPr/>
        </p:nvSpPr>
        <p:spPr>
          <a:xfrm>
            <a:off x="832104" y="859536"/>
            <a:ext cx="12984480" cy="740664"/>
          </a:xfrm>
          <a:prstGeom prst="rect">
            <a:avLst/>
          </a:prstGeom>
          <a:noFill/>
          <a:ln/>
        </p:spPr>
        <p:txBody>
          <a:bodyPr wrap="none" lIns="0" tIns="0" rIns="0" bIns="0" rtlCol="0" anchor="ctr"/>
          <a:lstStyle/>
          <a:p>
            <a:pPr marL="0" indent="0" algn="l">
              <a:lnSpc>
                <a:spcPts val="5800"/>
              </a:lnSpc>
              <a:buNone/>
            </a:pPr>
            <a:r>
              <a:rPr lang="en-US" sz="4640" dirty="0">
                <a:solidFill>
                  <a:srgbClr val="0C266F"/>
                </a:solidFill>
                <a:latin typeface="Berlin Sans FB Demi" panose="020E0802020502020306" pitchFamily="34" charset="0"/>
                <a:ea typeface="思源宋体-思源宋体-SemiBold" pitchFamily="34" charset="-122"/>
                <a:cs typeface="思源宋体-思源宋体-SemiBold" pitchFamily="34" charset="-120"/>
              </a:rPr>
              <a:t>Properties of Arrays of Objects</a:t>
            </a:r>
            <a:endParaRPr lang="en-US" sz="4640" dirty="0">
              <a:latin typeface="Berlin Sans FB Demi" panose="020E0802020502020306" pitchFamily="34" charset="0"/>
            </a:endParaRPr>
          </a:p>
        </p:txBody>
      </p:sp>
      <p:sp>
        <p:nvSpPr>
          <p:cNvPr id="11" name="Text 5"/>
          <p:cNvSpPr/>
          <p:nvPr/>
        </p:nvSpPr>
        <p:spPr>
          <a:xfrm>
            <a:off x="9710928" y="2130552"/>
            <a:ext cx="3986784" cy="374904"/>
          </a:xfrm>
          <a:prstGeom prst="rect">
            <a:avLst/>
          </a:prstGeom>
          <a:noFill/>
          <a:ln/>
        </p:spPr>
        <p:txBody>
          <a:bodyPr wrap="none" lIns="0" tIns="0" rIns="0" bIns="0" rtlCol="0" anchor="ctr"/>
          <a:lstStyle/>
          <a:p>
            <a:pPr marL="0" indent="0" algn="l">
              <a:lnSpc>
                <a:spcPts val="2900"/>
              </a:lnSpc>
              <a:buNone/>
            </a:pPr>
            <a:r>
              <a:rPr lang="en-US" sz="2320" dirty="0">
                <a:solidFill>
                  <a:srgbClr val="050B14"/>
                </a:solidFill>
                <a:latin typeface="Berlin Sans FB Demi" panose="020E0802020502020306" pitchFamily="34" charset="0"/>
                <a:ea typeface="思源宋体-思源宋体-SemiBold" pitchFamily="34" charset="-122"/>
                <a:cs typeface="思源宋体-思源宋体-SemiBold" pitchFamily="34" charset="-120"/>
              </a:rPr>
              <a:t>Contiguous Memory</a:t>
            </a:r>
            <a:endParaRPr lang="en-US" sz="2320" dirty="0">
              <a:latin typeface="Berlin Sans FB Demi" panose="020E0802020502020306" pitchFamily="34" charset="0"/>
            </a:endParaRPr>
          </a:p>
        </p:txBody>
      </p:sp>
      <p:sp>
        <p:nvSpPr>
          <p:cNvPr id="12" name="Text 6"/>
          <p:cNvSpPr/>
          <p:nvPr/>
        </p:nvSpPr>
        <p:spPr>
          <a:xfrm>
            <a:off x="9710928" y="5065776"/>
            <a:ext cx="3986784" cy="374904"/>
          </a:xfrm>
          <a:prstGeom prst="rect">
            <a:avLst/>
          </a:prstGeom>
          <a:noFill/>
          <a:ln/>
        </p:spPr>
        <p:txBody>
          <a:bodyPr wrap="none" lIns="0" tIns="0" rIns="0" bIns="0" rtlCol="0" anchor="ctr"/>
          <a:lstStyle/>
          <a:p>
            <a:pPr marL="0" indent="0" algn="l">
              <a:lnSpc>
                <a:spcPts val="2900"/>
              </a:lnSpc>
              <a:buNone/>
            </a:pPr>
            <a:r>
              <a:rPr lang="en-US" sz="2320" dirty="0">
                <a:solidFill>
                  <a:srgbClr val="050B14"/>
                </a:solidFill>
                <a:latin typeface="Berlin Sans FB Demi" panose="020E0802020502020306" pitchFamily="34" charset="0"/>
                <a:ea typeface="思源宋体-思源宋体-SemiBold" pitchFamily="34" charset="-122"/>
                <a:cs typeface="思源宋体-思源宋体-SemiBold" pitchFamily="34" charset="-120"/>
              </a:rPr>
              <a:t>Uniform Element Access</a:t>
            </a:r>
            <a:endParaRPr lang="en-US" sz="2320" dirty="0">
              <a:latin typeface="Berlin Sans FB Demi" panose="020E0802020502020306" pitchFamily="34" charset="0"/>
            </a:endParaRPr>
          </a:p>
        </p:txBody>
      </p:sp>
      <p:sp>
        <p:nvSpPr>
          <p:cNvPr id="13" name="Text 7"/>
          <p:cNvSpPr/>
          <p:nvPr/>
        </p:nvSpPr>
        <p:spPr>
          <a:xfrm>
            <a:off x="7827264" y="5422392"/>
            <a:ext cx="164592" cy="438912"/>
          </a:xfrm>
          <a:prstGeom prst="rect">
            <a:avLst/>
          </a:prstGeom>
          <a:noFill/>
          <a:ln/>
        </p:spPr>
        <p:txBody>
          <a:bodyPr wrap="none" lIns="0" tIns="0" rIns="0" bIns="0" rtlCol="0" anchor="ctr"/>
          <a:lstStyle/>
          <a:p>
            <a:pPr marL="0" indent="0" algn="l">
              <a:lnSpc>
                <a:spcPts val="2780"/>
              </a:lnSpc>
              <a:buNone/>
            </a:pPr>
            <a:r>
              <a:rPr lang="en-US" sz="2320" dirty="0">
                <a:solidFill>
                  <a:srgbClr val="1C1C1C"/>
                </a:solidFill>
                <a:latin typeface="思源宋体-思源宋体-Regular" pitchFamily="34" charset="0"/>
                <a:ea typeface="思源宋体-思源宋体-Regular" pitchFamily="34" charset="-122"/>
                <a:cs typeface="思源宋体-思源宋体-Regular" pitchFamily="34" charset="-120"/>
              </a:rPr>
              <a:t>3</a:t>
            </a:r>
            <a:endParaRPr lang="en-US" sz="2320" dirty="0"/>
          </a:p>
        </p:txBody>
      </p:sp>
      <p:sp>
        <p:nvSpPr>
          <p:cNvPr id="14" name="Text 8"/>
          <p:cNvSpPr/>
          <p:nvPr/>
        </p:nvSpPr>
        <p:spPr>
          <a:xfrm>
            <a:off x="6071616" y="4407408"/>
            <a:ext cx="164592" cy="438912"/>
          </a:xfrm>
          <a:prstGeom prst="rect">
            <a:avLst/>
          </a:prstGeom>
          <a:noFill/>
          <a:ln/>
        </p:spPr>
        <p:txBody>
          <a:bodyPr wrap="none" lIns="0" tIns="0" rIns="0" bIns="0" rtlCol="0" anchor="ctr"/>
          <a:lstStyle/>
          <a:p>
            <a:pPr marL="0" indent="0" algn="l">
              <a:lnSpc>
                <a:spcPts val="2780"/>
              </a:lnSpc>
              <a:buNone/>
            </a:pPr>
            <a:r>
              <a:rPr lang="en-US" sz="2320" dirty="0">
                <a:solidFill>
                  <a:srgbClr val="262626"/>
                </a:solidFill>
                <a:latin typeface="思源宋体-思源宋体-Regular" pitchFamily="34" charset="0"/>
                <a:ea typeface="思源宋体-思源宋体-Regular" pitchFamily="34" charset="-122"/>
                <a:cs typeface="思源宋体-思源宋体-Regular" pitchFamily="34" charset="-120"/>
              </a:rPr>
              <a:t>1</a:t>
            </a:r>
            <a:endParaRPr lang="en-US" sz="2320" dirty="0"/>
          </a:p>
        </p:txBody>
      </p:sp>
      <p:sp>
        <p:nvSpPr>
          <p:cNvPr id="15" name="Text 9"/>
          <p:cNvSpPr/>
          <p:nvPr/>
        </p:nvSpPr>
        <p:spPr>
          <a:xfrm>
            <a:off x="7827264" y="3392424"/>
            <a:ext cx="164592" cy="438912"/>
          </a:xfrm>
          <a:prstGeom prst="rect">
            <a:avLst/>
          </a:prstGeom>
          <a:noFill/>
          <a:ln/>
        </p:spPr>
        <p:txBody>
          <a:bodyPr wrap="none" lIns="0" tIns="0" rIns="0" bIns="0" rtlCol="0" anchor="ctr"/>
          <a:lstStyle/>
          <a:p>
            <a:pPr marL="0" indent="0" algn="l">
              <a:lnSpc>
                <a:spcPts val="2780"/>
              </a:lnSpc>
              <a:buNone/>
            </a:pPr>
            <a:r>
              <a:rPr lang="en-US" sz="2320" dirty="0">
                <a:solidFill>
                  <a:srgbClr val="0A0A0A"/>
                </a:solidFill>
                <a:latin typeface="思源宋体-思源宋体-Regular" pitchFamily="34" charset="0"/>
                <a:ea typeface="思源宋体-思源宋体-Regular" pitchFamily="34" charset="-122"/>
                <a:cs typeface="思源宋体-思源宋体-Regular" pitchFamily="34" charset="-120"/>
              </a:rPr>
              <a:t>2</a:t>
            </a:r>
            <a:endParaRPr lang="en-US" sz="2320" dirty="0"/>
          </a:p>
        </p:txBody>
      </p:sp>
      <p:pic>
        <p:nvPicPr>
          <p:cNvPr id="16" name="Image 1" descr="preencoded.png">
            <a:extLst>
              <a:ext uri="{FF2B5EF4-FFF2-40B4-BE49-F238E27FC236}">
                <a16:creationId xmlns:a16="http://schemas.microsoft.com/office/drawing/2014/main" id="{0F8AFAA1-2D2F-434D-80E2-242507EECED5}"/>
              </a:ext>
            </a:extLst>
          </p:cNvPr>
          <p:cNvPicPr>
            <a:picLocks noChangeAspect="1"/>
          </p:cNvPicPr>
          <p:nvPr/>
        </p:nvPicPr>
        <p:blipFill>
          <a:blip r:embed="rId7"/>
          <a:stretch>
            <a:fillRect/>
          </a:stretch>
        </p:blipFill>
        <p:spPr>
          <a:xfrm>
            <a:off x="5285573" y="10645186"/>
            <a:ext cx="754380" cy="1597343"/>
          </a:xfrm>
          <a:prstGeom prst="rect">
            <a:avLst/>
          </a:prstGeom>
        </p:spPr>
      </p:pic>
      <p:sp>
        <p:nvSpPr>
          <p:cNvPr id="17" name="Text 1">
            <a:extLst>
              <a:ext uri="{FF2B5EF4-FFF2-40B4-BE49-F238E27FC236}">
                <a16:creationId xmlns:a16="http://schemas.microsoft.com/office/drawing/2014/main" id="{679FF479-CBE4-4D95-A34B-51095280CA97}"/>
              </a:ext>
            </a:extLst>
          </p:cNvPr>
          <p:cNvSpPr/>
          <p:nvPr/>
        </p:nvSpPr>
        <p:spPr>
          <a:xfrm>
            <a:off x="6266172" y="10796038"/>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Petrona Bold" pitchFamily="34" charset="0"/>
                <a:ea typeface="Petrona Bold" pitchFamily="34" charset="-122"/>
                <a:cs typeface="Petrona Bold" pitchFamily="34" charset="-120"/>
              </a:rPr>
              <a:t>Class Definition</a:t>
            </a:r>
            <a:endParaRPr lang="en-US" sz="1550" dirty="0"/>
          </a:p>
        </p:txBody>
      </p:sp>
      <p:sp>
        <p:nvSpPr>
          <p:cNvPr id="18" name="Shape 3">
            <a:extLst>
              <a:ext uri="{FF2B5EF4-FFF2-40B4-BE49-F238E27FC236}">
                <a16:creationId xmlns:a16="http://schemas.microsoft.com/office/drawing/2014/main" id="{FADADA45-795E-42A2-A4C8-6FAA43B50A2F}"/>
              </a:ext>
            </a:extLst>
          </p:cNvPr>
          <p:cNvSpPr/>
          <p:nvPr/>
        </p:nvSpPr>
        <p:spPr>
          <a:xfrm>
            <a:off x="6258671" y="11213114"/>
            <a:ext cx="7457328" cy="467558"/>
          </a:xfrm>
          <a:prstGeom prst="roundRect">
            <a:avLst>
              <a:gd name="adj" fmla="val 21847"/>
            </a:avLst>
          </a:prstGeom>
          <a:solidFill>
            <a:srgbClr val="CCEEFF"/>
          </a:solidFill>
          <a:ln/>
        </p:spPr>
        <p:txBody>
          <a:bodyPr/>
          <a:lstStyle/>
          <a:p>
            <a:pPr lvl="0">
              <a:lnSpc>
                <a:spcPts val="1900"/>
              </a:lnSpc>
            </a:pPr>
            <a:r>
              <a:rPr lang="en-US" sz="1150" dirty="0">
                <a:solidFill>
                  <a:srgbClr val="272525"/>
                </a:solidFill>
                <a:highlight>
                  <a:srgbClr val="CCEEFF"/>
                </a:highlight>
                <a:latin typeface="Consolas" pitchFamily="34" charset="0"/>
                <a:ea typeface="Consolas" pitchFamily="34" charset="-122"/>
                <a:cs typeface="Consolas" pitchFamily="34" charset="-120"/>
              </a:rPr>
              <a:t>class Rectangle { float width; float height };</a:t>
            </a:r>
            <a:endParaRPr lang="en-US" sz="1150" dirty="0">
              <a:solidFill>
                <a:prstClr val="black"/>
              </a:solidFill>
            </a:endParaRPr>
          </a:p>
          <a:p>
            <a:endParaRPr lang="en-US" dirty="0"/>
          </a:p>
        </p:txBody>
      </p:sp>
      <p:sp>
        <p:nvSpPr>
          <p:cNvPr id="19" name="Text 5">
            <a:extLst>
              <a:ext uri="{FF2B5EF4-FFF2-40B4-BE49-F238E27FC236}">
                <a16:creationId xmlns:a16="http://schemas.microsoft.com/office/drawing/2014/main" id="{70FD8261-9718-4832-92DD-0053EA648F6C}"/>
              </a:ext>
            </a:extLst>
          </p:cNvPr>
          <p:cNvSpPr/>
          <p:nvPr/>
        </p:nvSpPr>
        <p:spPr>
          <a:xfrm>
            <a:off x="6266172" y="11850336"/>
            <a:ext cx="7449827" cy="322898"/>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Inter" pitchFamily="34" charset="0"/>
                <a:ea typeface="Inter" pitchFamily="34" charset="-122"/>
                <a:cs typeface="Inter" pitchFamily="34" charset="-120"/>
              </a:rPr>
              <a:t>Defines a simple Rectangle class with width, height, and area calculation.</a:t>
            </a:r>
            <a:endParaRPr lang="en-US" sz="1150" dirty="0"/>
          </a:p>
        </p:txBody>
      </p:sp>
      <p:pic>
        <p:nvPicPr>
          <p:cNvPr id="20" name="Image 2" descr="preencoded.png">
            <a:extLst>
              <a:ext uri="{FF2B5EF4-FFF2-40B4-BE49-F238E27FC236}">
                <a16:creationId xmlns:a16="http://schemas.microsoft.com/office/drawing/2014/main" id="{9C65F01B-B0FD-43D7-AE9D-B35B8AC3B6F7}"/>
              </a:ext>
            </a:extLst>
          </p:cNvPr>
          <p:cNvPicPr>
            <a:picLocks noChangeAspect="1"/>
          </p:cNvPicPr>
          <p:nvPr/>
        </p:nvPicPr>
        <p:blipFill>
          <a:blip r:embed="rId8"/>
          <a:stretch>
            <a:fillRect/>
          </a:stretch>
        </p:blipFill>
        <p:spPr>
          <a:xfrm>
            <a:off x="5285573" y="12242528"/>
            <a:ext cx="754380" cy="1597343"/>
          </a:xfrm>
          <a:prstGeom prst="rect">
            <a:avLst/>
          </a:prstGeom>
        </p:spPr>
      </p:pic>
      <p:sp>
        <p:nvSpPr>
          <p:cNvPr id="21" name="Text 6">
            <a:extLst>
              <a:ext uri="{FF2B5EF4-FFF2-40B4-BE49-F238E27FC236}">
                <a16:creationId xmlns:a16="http://schemas.microsoft.com/office/drawing/2014/main" id="{FC6E9C3D-AAF6-407B-B94B-43BFB88B21A1}"/>
              </a:ext>
            </a:extLst>
          </p:cNvPr>
          <p:cNvSpPr/>
          <p:nvPr/>
        </p:nvSpPr>
        <p:spPr>
          <a:xfrm>
            <a:off x="6266172" y="12393380"/>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Petrona Bold" pitchFamily="34" charset="0"/>
                <a:ea typeface="Petrona Bold" pitchFamily="34" charset="-122"/>
                <a:cs typeface="Petrona Bold" pitchFamily="34" charset="-120"/>
              </a:rPr>
              <a:t>Array Initialization</a:t>
            </a:r>
            <a:endParaRPr lang="en-US" sz="1550" dirty="0"/>
          </a:p>
        </p:txBody>
      </p:sp>
      <p:sp>
        <p:nvSpPr>
          <p:cNvPr id="22" name="Shape 7">
            <a:extLst>
              <a:ext uri="{FF2B5EF4-FFF2-40B4-BE49-F238E27FC236}">
                <a16:creationId xmlns:a16="http://schemas.microsoft.com/office/drawing/2014/main" id="{C4645957-E082-48DE-ACE1-3034829A1359}"/>
              </a:ext>
            </a:extLst>
          </p:cNvPr>
          <p:cNvSpPr/>
          <p:nvPr/>
        </p:nvSpPr>
        <p:spPr>
          <a:xfrm>
            <a:off x="6266172" y="12810456"/>
            <a:ext cx="7449827" cy="467558"/>
          </a:xfrm>
          <a:prstGeom prst="roundRect">
            <a:avLst>
              <a:gd name="adj" fmla="val 30560"/>
            </a:avLst>
          </a:prstGeom>
          <a:solidFill>
            <a:srgbClr val="CCEEFF"/>
          </a:solidFill>
          <a:ln/>
        </p:spPr>
        <p:txBody>
          <a:bodyPr/>
          <a:lstStyle/>
          <a:p>
            <a:pPr lvl="0">
              <a:lnSpc>
                <a:spcPts val="1900"/>
              </a:lnSpc>
            </a:pPr>
            <a:r>
              <a:rPr lang="en-US" sz="1150" dirty="0">
                <a:solidFill>
                  <a:srgbClr val="272525"/>
                </a:solidFill>
                <a:highlight>
                  <a:srgbClr val="CCEEFF"/>
                </a:highlight>
                <a:latin typeface="Consolas" pitchFamily="34" charset="0"/>
                <a:ea typeface="Consolas" pitchFamily="34" charset="-122"/>
                <a:cs typeface="Consolas" pitchFamily="34" charset="-120"/>
              </a:rPr>
              <a:t>Rectangle </a:t>
            </a:r>
            <a:r>
              <a:rPr lang="en-US" sz="1150" dirty="0" err="1">
                <a:solidFill>
                  <a:srgbClr val="272525"/>
                </a:solidFill>
                <a:highlight>
                  <a:srgbClr val="CCEEFF"/>
                </a:highlight>
                <a:latin typeface="Consolas" pitchFamily="34" charset="0"/>
                <a:ea typeface="Consolas" pitchFamily="34" charset="-122"/>
                <a:cs typeface="Consolas" pitchFamily="34" charset="-120"/>
              </a:rPr>
              <a:t>rects</a:t>
            </a:r>
            <a:r>
              <a:rPr lang="en-US" sz="1150" dirty="0">
                <a:solidFill>
                  <a:srgbClr val="272525"/>
                </a:solidFill>
                <a:highlight>
                  <a:srgbClr val="CCEEFF"/>
                </a:highlight>
                <a:latin typeface="Consolas" pitchFamily="34" charset="0"/>
                <a:ea typeface="Consolas" pitchFamily="34" charset="-122"/>
                <a:cs typeface="Consolas" pitchFamily="34" charset="-120"/>
              </a:rPr>
              <a:t>[] = { Rectangle(2,3), Rectangle(4,5), Rectangle(6,7), Rectangle(8,9) };</a:t>
            </a:r>
            <a:endParaRPr lang="en-US" sz="1150" dirty="0">
              <a:solidFill>
                <a:prstClr val="black"/>
              </a:solidFill>
            </a:endParaRPr>
          </a:p>
          <a:p>
            <a:endParaRPr lang="en-US" dirty="0"/>
          </a:p>
        </p:txBody>
      </p:sp>
      <p:sp>
        <p:nvSpPr>
          <p:cNvPr id="23" name="Text 10">
            <a:extLst>
              <a:ext uri="{FF2B5EF4-FFF2-40B4-BE49-F238E27FC236}">
                <a16:creationId xmlns:a16="http://schemas.microsoft.com/office/drawing/2014/main" id="{42EB3DD0-474D-47AE-8381-4E92DBBB65D3}"/>
              </a:ext>
            </a:extLst>
          </p:cNvPr>
          <p:cNvSpPr/>
          <p:nvPr/>
        </p:nvSpPr>
        <p:spPr>
          <a:xfrm>
            <a:off x="6266172" y="13447679"/>
            <a:ext cx="7449827" cy="322898"/>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Inter" pitchFamily="34" charset="0"/>
                <a:ea typeface="Inter" pitchFamily="34" charset="-122"/>
                <a:cs typeface="Inter" pitchFamily="34" charset="-120"/>
              </a:rPr>
              <a:t>Initializes an array of Rectangle objects using parameterized constructors.</a:t>
            </a:r>
            <a:endParaRPr lang="en-US" sz="1150" dirty="0"/>
          </a:p>
        </p:txBody>
      </p:sp>
      <p:pic>
        <p:nvPicPr>
          <p:cNvPr id="24" name="Image 3" descr="preencoded.png">
            <a:extLst>
              <a:ext uri="{FF2B5EF4-FFF2-40B4-BE49-F238E27FC236}">
                <a16:creationId xmlns:a16="http://schemas.microsoft.com/office/drawing/2014/main" id="{ADFE1CB7-A905-4A81-B1AD-207CFB4E863A}"/>
              </a:ext>
            </a:extLst>
          </p:cNvPr>
          <p:cNvPicPr>
            <a:picLocks noChangeAspect="1"/>
          </p:cNvPicPr>
          <p:nvPr/>
        </p:nvPicPr>
        <p:blipFill>
          <a:blip r:embed="rId9"/>
          <a:stretch>
            <a:fillRect/>
          </a:stretch>
        </p:blipFill>
        <p:spPr>
          <a:xfrm>
            <a:off x="5285573" y="13839871"/>
            <a:ext cx="754380" cy="1597343"/>
          </a:xfrm>
          <a:prstGeom prst="rect">
            <a:avLst/>
          </a:prstGeom>
        </p:spPr>
      </p:pic>
      <p:sp>
        <p:nvSpPr>
          <p:cNvPr id="25" name="Text 11">
            <a:extLst>
              <a:ext uri="{FF2B5EF4-FFF2-40B4-BE49-F238E27FC236}">
                <a16:creationId xmlns:a16="http://schemas.microsoft.com/office/drawing/2014/main" id="{AA7F34C0-1DC8-44A2-8998-7E7E5618F7DC}"/>
              </a:ext>
            </a:extLst>
          </p:cNvPr>
          <p:cNvSpPr/>
          <p:nvPr/>
        </p:nvSpPr>
        <p:spPr>
          <a:xfrm>
            <a:off x="6266172" y="13990723"/>
            <a:ext cx="1980367" cy="247412"/>
          </a:xfrm>
          <a:prstGeom prst="rect">
            <a:avLst/>
          </a:prstGeom>
          <a:noFill/>
          <a:ln/>
        </p:spPr>
        <p:txBody>
          <a:bodyPr wrap="none" lIns="0" tIns="0" rIns="0" bIns="0" rtlCol="0" anchor="t"/>
          <a:lstStyle/>
          <a:p>
            <a:pPr marL="0" indent="0" algn="l">
              <a:lnSpc>
                <a:spcPts val="1900"/>
              </a:lnSpc>
              <a:buNone/>
            </a:pPr>
            <a:r>
              <a:rPr lang="en-US" sz="1550" b="1" dirty="0">
                <a:solidFill>
                  <a:srgbClr val="272525"/>
                </a:solidFill>
                <a:latin typeface="Petrona Bold" pitchFamily="34" charset="0"/>
                <a:ea typeface="Petrona Bold" pitchFamily="34" charset="-122"/>
                <a:cs typeface="Petrona Bold" pitchFamily="34" charset="-120"/>
              </a:rPr>
              <a:t>Accessing Member</a:t>
            </a:r>
            <a:endParaRPr lang="en-US" sz="1550" dirty="0"/>
          </a:p>
        </p:txBody>
      </p:sp>
      <p:sp>
        <p:nvSpPr>
          <p:cNvPr id="26" name="Shape 12">
            <a:extLst>
              <a:ext uri="{FF2B5EF4-FFF2-40B4-BE49-F238E27FC236}">
                <a16:creationId xmlns:a16="http://schemas.microsoft.com/office/drawing/2014/main" id="{ED33B280-DB11-44FE-8970-0EF37477D38A}"/>
              </a:ext>
            </a:extLst>
          </p:cNvPr>
          <p:cNvSpPr/>
          <p:nvPr/>
        </p:nvSpPr>
        <p:spPr>
          <a:xfrm>
            <a:off x="6266172" y="14407799"/>
            <a:ext cx="7449827" cy="467558"/>
          </a:xfrm>
          <a:prstGeom prst="roundRect">
            <a:avLst>
              <a:gd name="adj" fmla="val 27726"/>
            </a:avLst>
          </a:prstGeom>
          <a:solidFill>
            <a:srgbClr val="CCEEFF"/>
          </a:solidFill>
          <a:ln/>
        </p:spPr>
        <p:txBody>
          <a:bodyPr/>
          <a:lstStyle/>
          <a:p>
            <a:pPr lvl="0">
              <a:lnSpc>
                <a:spcPts val="1900"/>
              </a:lnSpc>
            </a:pPr>
            <a:r>
              <a:rPr lang="en-US" sz="1150" dirty="0" err="1">
                <a:solidFill>
                  <a:srgbClr val="272525"/>
                </a:solidFill>
                <a:highlight>
                  <a:srgbClr val="CCEEFF"/>
                </a:highlight>
                <a:latin typeface="Consolas" pitchFamily="34" charset="0"/>
                <a:ea typeface="Consolas" pitchFamily="34" charset="-122"/>
                <a:cs typeface="Consolas" pitchFamily="34" charset="-120"/>
              </a:rPr>
              <a:t>cout</a:t>
            </a:r>
            <a:r>
              <a:rPr lang="en-US" sz="1150" dirty="0">
                <a:solidFill>
                  <a:srgbClr val="272525"/>
                </a:solidFill>
                <a:highlight>
                  <a:srgbClr val="CCEEFF"/>
                </a:highlight>
                <a:latin typeface="Consolas" pitchFamily="34" charset="0"/>
                <a:ea typeface="Consolas" pitchFamily="34" charset="-122"/>
                <a:cs typeface="Consolas" pitchFamily="34" charset="-120"/>
              </a:rPr>
              <a:t> &lt;&lt; </a:t>
            </a:r>
            <a:r>
              <a:rPr lang="en-US" sz="1150" dirty="0" err="1">
                <a:solidFill>
                  <a:srgbClr val="272525"/>
                </a:solidFill>
                <a:highlight>
                  <a:srgbClr val="CCEEFF"/>
                </a:highlight>
                <a:latin typeface="Consolas" pitchFamily="34" charset="0"/>
                <a:ea typeface="Consolas" pitchFamily="34" charset="-122"/>
                <a:cs typeface="Consolas" pitchFamily="34" charset="-120"/>
              </a:rPr>
              <a:t>rects</a:t>
            </a:r>
            <a:r>
              <a:rPr lang="en-US" sz="1150" dirty="0">
                <a:solidFill>
                  <a:srgbClr val="272525"/>
                </a:solidFill>
                <a:highlight>
                  <a:srgbClr val="CCEEFF"/>
                </a:highlight>
                <a:latin typeface="Consolas" pitchFamily="34" charset="0"/>
                <a:ea typeface="Consolas" pitchFamily="34" charset="-122"/>
                <a:cs typeface="Consolas" pitchFamily="34" charset="-120"/>
              </a:rPr>
              <a:t>[2].area();</a:t>
            </a:r>
            <a:endParaRPr lang="en-US" sz="1150" dirty="0">
              <a:solidFill>
                <a:prstClr val="black"/>
              </a:solidFill>
            </a:endParaRPr>
          </a:p>
          <a:p>
            <a:endParaRPr lang="en-US" dirty="0"/>
          </a:p>
        </p:txBody>
      </p:sp>
      <p:sp>
        <p:nvSpPr>
          <p:cNvPr id="27" name="Text 15">
            <a:extLst>
              <a:ext uri="{FF2B5EF4-FFF2-40B4-BE49-F238E27FC236}">
                <a16:creationId xmlns:a16="http://schemas.microsoft.com/office/drawing/2014/main" id="{6CFC56DA-D656-492A-A552-81E6B3DAFCA0}"/>
              </a:ext>
            </a:extLst>
          </p:cNvPr>
          <p:cNvSpPr/>
          <p:nvPr/>
        </p:nvSpPr>
        <p:spPr>
          <a:xfrm>
            <a:off x="6266173" y="15045021"/>
            <a:ext cx="7449826" cy="241340"/>
          </a:xfrm>
          <a:prstGeom prst="rect">
            <a:avLst/>
          </a:prstGeom>
          <a:noFill/>
          <a:ln/>
        </p:spPr>
        <p:txBody>
          <a:bodyPr wrap="none" lIns="0" tIns="0" rIns="0" bIns="0" rtlCol="0" anchor="t"/>
          <a:lstStyle/>
          <a:p>
            <a:pPr marL="0" indent="0" algn="l">
              <a:lnSpc>
                <a:spcPts val="1900"/>
              </a:lnSpc>
              <a:buNone/>
            </a:pPr>
            <a:r>
              <a:rPr lang="en-US" sz="1150" dirty="0">
                <a:solidFill>
                  <a:srgbClr val="272525"/>
                </a:solidFill>
                <a:latin typeface="Inter" pitchFamily="34" charset="0"/>
                <a:ea typeface="Inter" pitchFamily="34" charset="-122"/>
                <a:cs typeface="Inter" pitchFamily="34" charset="-120"/>
              </a:rPr>
              <a:t>Accesses the </a:t>
            </a:r>
            <a:r>
              <a:rPr lang="en-US" sz="1150" b="1" dirty="0">
                <a:solidFill>
                  <a:srgbClr val="272525"/>
                </a:solidFill>
                <a:latin typeface="Inter" pitchFamily="34" charset="0"/>
                <a:ea typeface="Inter" pitchFamily="34" charset="-122"/>
                <a:cs typeface="Inter" pitchFamily="34" charset="-120"/>
              </a:rPr>
              <a:t>area()</a:t>
            </a:r>
            <a:r>
              <a:rPr lang="en-US" sz="1150" dirty="0">
                <a:solidFill>
                  <a:srgbClr val="272525"/>
                </a:solidFill>
                <a:latin typeface="Inter" pitchFamily="34" charset="0"/>
                <a:ea typeface="Inter" pitchFamily="34" charset="-122"/>
                <a:cs typeface="Inter" pitchFamily="34" charset="-120"/>
              </a:rPr>
              <a:t> method of the third Rectangle object, outputting 42.</a:t>
            </a:r>
            <a:endParaRPr lang="en-US" sz="1150" dirty="0"/>
          </a:p>
        </p:txBody>
      </p:sp>
      <p:pic>
        <p:nvPicPr>
          <p:cNvPr id="28" name="Image 0" descr="preencoded.png">
            <a:extLst>
              <a:ext uri="{FF2B5EF4-FFF2-40B4-BE49-F238E27FC236}">
                <a16:creationId xmlns:a16="http://schemas.microsoft.com/office/drawing/2014/main" id="{09E531D1-267B-469E-9182-97CBF6173EC9}"/>
              </a:ext>
            </a:extLst>
          </p:cNvPr>
          <p:cNvPicPr>
            <a:picLocks noChangeAspect="1"/>
          </p:cNvPicPr>
          <p:nvPr/>
        </p:nvPicPr>
        <p:blipFill>
          <a:blip r:embed="rId10">
            <a:duotone>
              <a:prstClr val="black"/>
              <a:schemeClr val="accent5">
                <a:tint val="45000"/>
                <a:satMod val="400000"/>
              </a:schemeClr>
            </a:duotone>
          </a:blip>
          <a:stretch>
            <a:fillRect/>
          </a:stretch>
        </p:blipFill>
        <p:spPr>
          <a:xfrm>
            <a:off x="-8037576" y="-530087"/>
            <a:ext cx="5486400" cy="9183757"/>
          </a:xfrm>
          <a:prstGeom prst="rect">
            <a:avLst/>
          </a:prstGeom>
          <a:ln>
            <a:noFill/>
          </a:ln>
          <a:effectLst>
            <a:softEdge rad="317500"/>
          </a:effectLst>
        </p:spPr>
      </p:pic>
      <p:pic>
        <p:nvPicPr>
          <p:cNvPr id="29" name="Image 1" descr="preencoded.png">
            <a:extLst>
              <a:ext uri="{FF2B5EF4-FFF2-40B4-BE49-F238E27FC236}">
                <a16:creationId xmlns:a16="http://schemas.microsoft.com/office/drawing/2014/main" id="{9954B673-9C65-427B-BFF5-2AFC6AFB25C3}"/>
              </a:ext>
            </a:extLst>
          </p:cNvPr>
          <p:cNvPicPr>
            <a:picLocks noChangeAspect="1"/>
          </p:cNvPicPr>
          <p:nvPr/>
        </p:nvPicPr>
        <p:blipFill>
          <a:blip r:embed="rId11"/>
          <a:stretch>
            <a:fillRect/>
          </a:stretch>
        </p:blipFill>
        <p:spPr>
          <a:xfrm>
            <a:off x="5404104" y="9777006"/>
            <a:ext cx="3831336" cy="2532888"/>
          </a:xfrm>
          <a:prstGeom prst="rect">
            <a:avLst/>
          </a:prstGeom>
          <a:ln>
            <a:noFill/>
          </a:ln>
          <a:effectLst>
            <a:outerShdw blurRad="292100" dist="139700" dir="2700000" algn="tl" rotWithShape="0">
              <a:srgbClr val="333333">
                <a:alpha val="65000"/>
              </a:srgbClr>
            </a:outerShdw>
          </a:effectLst>
        </p:spPr>
      </p:pic>
      <p:pic>
        <p:nvPicPr>
          <p:cNvPr id="30" name="Image 2" descr="preencoded.png">
            <a:extLst>
              <a:ext uri="{FF2B5EF4-FFF2-40B4-BE49-F238E27FC236}">
                <a16:creationId xmlns:a16="http://schemas.microsoft.com/office/drawing/2014/main" id="{6A0E4439-617A-4755-9E8D-CDFCB4D9F41A}"/>
              </a:ext>
            </a:extLst>
          </p:cNvPr>
          <p:cNvPicPr>
            <a:picLocks noChangeAspect="1"/>
          </p:cNvPicPr>
          <p:nvPr/>
        </p:nvPicPr>
        <p:blipFill>
          <a:blip r:embed="rId12"/>
          <a:stretch>
            <a:fillRect/>
          </a:stretch>
        </p:blipFill>
        <p:spPr>
          <a:xfrm>
            <a:off x="5330954" y="9777006"/>
            <a:ext cx="3831336" cy="2532888"/>
          </a:xfrm>
          <a:prstGeom prst="rect">
            <a:avLst/>
          </a:prstGeom>
          <a:ln>
            <a:noFill/>
          </a:ln>
          <a:effectLst>
            <a:outerShdw blurRad="292100" dist="139700" dir="2700000" algn="tl" rotWithShape="0">
              <a:srgbClr val="333333">
                <a:alpha val="65000"/>
              </a:srgbClr>
            </a:outerShdw>
          </a:effectLst>
        </p:spPr>
      </p:pic>
      <p:pic>
        <p:nvPicPr>
          <p:cNvPr id="31" name="Image 3" descr="preencoded.png">
            <a:extLst>
              <a:ext uri="{FF2B5EF4-FFF2-40B4-BE49-F238E27FC236}">
                <a16:creationId xmlns:a16="http://schemas.microsoft.com/office/drawing/2014/main" id="{4828D53F-C565-4482-A676-7F7FC0050B23}"/>
              </a:ext>
            </a:extLst>
          </p:cNvPr>
          <p:cNvPicPr>
            <a:picLocks noChangeAspect="1"/>
          </p:cNvPicPr>
          <p:nvPr/>
        </p:nvPicPr>
        <p:blipFill>
          <a:blip r:embed="rId13"/>
          <a:stretch>
            <a:fillRect/>
          </a:stretch>
        </p:blipFill>
        <p:spPr>
          <a:xfrm>
            <a:off x="5367529" y="9810724"/>
            <a:ext cx="3831336" cy="2532888"/>
          </a:xfrm>
          <a:prstGeom prst="rect">
            <a:avLst/>
          </a:prstGeom>
          <a:ln>
            <a:noFill/>
          </a:ln>
          <a:effectLst>
            <a:outerShdw blurRad="292100" dist="139700" dir="2700000" algn="tl" rotWithShape="0">
              <a:srgbClr val="333333">
                <a:alpha val="65000"/>
              </a:srgbClr>
            </a:outerShdw>
          </a:effectLst>
        </p:spPr>
      </p:pic>
      <p:sp>
        <p:nvSpPr>
          <p:cNvPr id="32" name="Text 1">
            <a:extLst>
              <a:ext uri="{FF2B5EF4-FFF2-40B4-BE49-F238E27FC236}">
                <a16:creationId xmlns:a16="http://schemas.microsoft.com/office/drawing/2014/main" id="{E7384854-2F00-4A7C-9111-F312A533F893}"/>
              </a:ext>
            </a:extLst>
          </p:cNvPr>
          <p:cNvSpPr/>
          <p:nvPr/>
        </p:nvSpPr>
        <p:spPr>
          <a:xfrm>
            <a:off x="5404104" y="13041414"/>
            <a:ext cx="3831336" cy="713232"/>
          </a:xfrm>
          <a:prstGeom prst="rect">
            <a:avLst/>
          </a:prstGeom>
          <a:noFill/>
          <a:ln/>
        </p:spPr>
        <p:txBody>
          <a:bodyPr wrap="square" lIns="0" tIns="0" rIns="0" bIns="0" rtlCol="0" anchor="ctr"/>
          <a:lstStyle/>
          <a:p>
            <a:pPr marL="0" indent="0" algn="ct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Memory is managed automatically.</a:t>
            </a:r>
            <a:endParaRPr lang="en-US" sz="1850" dirty="0"/>
          </a:p>
        </p:txBody>
      </p:sp>
      <p:sp>
        <p:nvSpPr>
          <p:cNvPr id="33" name="Text 2">
            <a:extLst>
              <a:ext uri="{FF2B5EF4-FFF2-40B4-BE49-F238E27FC236}">
                <a16:creationId xmlns:a16="http://schemas.microsoft.com/office/drawing/2014/main" id="{21DCDFFF-AEDF-436B-BDC7-E3EB0182A8BD}"/>
              </a:ext>
            </a:extLst>
          </p:cNvPr>
          <p:cNvSpPr/>
          <p:nvPr/>
        </p:nvSpPr>
        <p:spPr>
          <a:xfrm>
            <a:off x="5330954" y="13041414"/>
            <a:ext cx="3831336" cy="713232"/>
          </a:xfrm>
          <a:prstGeom prst="rect">
            <a:avLst/>
          </a:prstGeom>
          <a:noFill/>
          <a:ln/>
        </p:spPr>
        <p:txBody>
          <a:bodyPr wrap="square" lIns="0" tIns="0" rIns="0" bIns="0" rtlCol="0" anchor="ctr"/>
          <a:lstStyle/>
          <a:p>
            <a:pPr marL="0" indent="0" algn="ct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Require custom constructors and destructors.</a:t>
            </a:r>
            <a:endParaRPr lang="en-US" sz="1850" dirty="0"/>
          </a:p>
        </p:txBody>
      </p:sp>
      <p:sp>
        <p:nvSpPr>
          <p:cNvPr id="34" name="Text 3">
            <a:extLst>
              <a:ext uri="{FF2B5EF4-FFF2-40B4-BE49-F238E27FC236}">
                <a16:creationId xmlns:a16="http://schemas.microsoft.com/office/drawing/2014/main" id="{DD66D4B8-9610-43D7-902A-90CDB42E3929}"/>
              </a:ext>
            </a:extLst>
          </p:cNvPr>
          <p:cNvSpPr/>
          <p:nvPr/>
        </p:nvSpPr>
        <p:spPr>
          <a:xfrm>
            <a:off x="5330954" y="12529350"/>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Complex Objects</a:t>
            </a:r>
            <a:endParaRPr lang="en-US" sz="2320" dirty="0"/>
          </a:p>
        </p:txBody>
      </p:sp>
      <p:sp>
        <p:nvSpPr>
          <p:cNvPr id="35" name="Text 5">
            <a:extLst>
              <a:ext uri="{FF2B5EF4-FFF2-40B4-BE49-F238E27FC236}">
                <a16:creationId xmlns:a16="http://schemas.microsoft.com/office/drawing/2014/main" id="{EABED936-8A1D-4A03-BB83-EB48815A1E48}"/>
              </a:ext>
            </a:extLst>
          </p:cNvPr>
          <p:cNvSpPr/>
          <p:nvPr/>
        </p:nvSpPr>
        <p:spPr>
          <a:xfrm>
            <a:off x="5367529" y="12563068"/>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Dynamic Arrays</a:t>
            </a:r>
            <a:endParaRPr lang="en-US" sz="2320" dirty="0"/>
          </a:p>
        </p:txBody>
      </p:sp>
      <p:sp>
        <p:nvSpPr>
          <p:cNvPr id="36" name="Text 6">
            <a:extLst>
              <a:ext uri="{FF2B5EF4-FFF2-40B4-BE49-F238E27FC236}">
                <a16:creationId xmlns:a16="http://schemas.microsoft.com/office/drawing/2014/main" id="{60969CD2-01EF-4355-8F0D-B1E20913C01E}"/>
              </a:ext>
            </a:extLst>
          </p:cNvPr>
          <p:cNvSpPr/>
          <p:nvPr/>
        </p:nvSpPr>
        <p:spPr>
          <a:xfrm>
            <a:off x="5367529" y="13075132"/>
            <a:ext cx="3831336" cy="356616"/>
          </a:xfrm>
          <a:prstGeom prst="rect">
            <a:avLst/>
          </a:prstGeom>
          <a:noFill/>
          <a:ln/>
        </p:spPr>
        <p:txBody>
          <a:bodyPr wrap="none" lIns="0" tIns="0" rIns="0" bIns="0" rtlCol="0" anchor="ctr"/>
          <a:lstStyle/>
          <a:p>
            <a:pPr marL="0" indent="0" algn="ct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Use new and delete[] properly.</a:t>
            </a:r>
            <a:endParaRPr lang="en-US" sz="1850" dirty="0"/>
          </a:p>
        </p:txBody>
      </p:sp>
      <p:sp>
        <p:nvSpPr>
          <p:cNvPr id="37" name="Text 7">
            <a:extLst>
              <a:ext uri="{FF2B5EF4-FFF2-40B4-BE49-F238E27FC236}">
                <a16:creationId xmlns:a16="http://schemas.microsoft.com/office/drawing/2014/main" id="{F0126E73-51AA-4271-94BA-E55DD112DB1C}"/>
              </a:ext>
            </a:extLst>
          </p:cNvPr>
          <p:cNvSpPr/>
          <p:nvPr/>
        </p:nvSpPr>
        <p:spPr>
          <a:xfrm>
            <a:off x="5404104" y="12529350"/>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Static Arrays</a:t>
            </a:r>
            <a:endParaRPr lang="en-US" sz="2320"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5404104" y="3300984"/>
            <a:ext cx="3831336" cy="2532888"/>
          </a:xfrm>
          <a:prstGeom prst="rect">
            <a:avLst/>
          </a:prstGeom>
          <a:ln>
            <a:noFill/>
          </a:ln>
          <a:effectLst>
            <a:outerShdw blurRad="292100" dist="139700" dir="2700000" algn="tl" rotWithShape="0">
              <a:srgbClr val="333333">
                <a:alpha val="65000"/>
              </a:srgbClr>
            </a:outerShdw>
          </a:effectLst>
        </p:spPr>
      </p:pic>
      <p:pic>
        <p:nvPicPr>
          <p:cNvPr id="4" name="Image 2" descr="preencoded.png"/>
          <p:cNvPicPr>
            <a:picLocks noChangeAspect="1"/>
          </p:cNvPicPr>
          <p:nvPr/>
        </p:nvPicPr>
        <p:blipFill>
          <a:blip r:embed="rId5"/>
          <a:stretch>
            <a:fillRect/>
          </a:stretch>
        </p:blipFill>
        <p:spPr>
          <a:xfrm>
            <a:off x="9848088" y="3300984"/>
            <a:ext cx="3831336" cy="2532888"/>
          </a:xfrm>
          <a:prstGeom prst="rect">
            <a:avLst/>
          </a:prstGeom>
          <a:ln>
            <a:noFill/>
          </a:ln>
          <a:effectLst>
            <a:outerShdw blurRad="292100" dist="139700" dir="2700000" algn="tl" rotWithShape="0">
              <a:srgbClr val="333333">
                <a:alpha val="65000"/>
              </a:srgbClr>
            </a:outerShdw>
          </a:effectLst>
        </p:spPr>
      </p:pic>
      <p:pic>
        <p:nvPicPr>
          <p:cNvPr id="5" name="Image 3" descr="preencoded.png"/>
          <p:cNvPicPr>
            <a:picLocks noChangeAspect="1"/>
          </p:cNvPicPr>
          <p:nvPr/>
        </p:nvPicPr>
        <p:blipFill>
          <a:blip r:embed="rId6"/>
          <a:stretch>
            <a:fillRect/>
          </a:stretch>
        </p:blipFill>
        <p:spPr>
          <a:xfrm>
            <a:off x="960120" y="3300984"/>
            <a:ext cx="3831336" cy="2532888"/>
          </a:xfrm>
          <a:prstGeom prst="rect">
            <a:avLst/>
          </a:prstGeom>
          <a:ln>
            <a:noFill/>
          </a:ln>
          <a:effectLst>
            <a:outerShdw blurRad="292100" dist="139700" dir="2700000" algn="tl" rotWithShape="0">
              <a:srgbClr val="333333">
                <a:alpha val="65000"/>
              </a:srgbClr>
            </a:outerShdw>
          </a:effectLst>
        </p:spPr>
      </p:pic>
      <p:sp>
        <p:nvSpPr>
          <p:cNvPr id="6" name="Text 0"/>
          <p:cNvSpPr/>
          <p:nvPr/>
        </p:nvSpPr>
        <p:spPr>
          <a:xfrm>
            <a:off x="832104" y="1837944"/>
            <a:ext cx="12984480" cy="1069848"/>
          </a:xfrm>
          <a:prstGeom prst="rect">
            <a:avLst/>
          </a:prstGeom>
          <a:noFill/>
          <a:ln/>
        </p:spPr>
        <p:txBody>
          <a:bodyPr wrap="square" lIns="0" tIns="0" rIns="0" bIns="0" rtlCol="0" anchor="ctr"/>
          <a:lstStyle/>
          <a:p>
            <a:pPr marL="0" indent="0" algn="l">
              <a:lnSpc>
                <a:spcPts val="2780"/>
              </a:lnSpc>
              <a:buNone/>
            </a:pPr>
            <a:r>
              <a:rPr lang="en-US" sz="1850" dirty="0">
                <a:solidFill>
                  <a:srgbClr val="050B14"/>
                </a:solidFill>
                <a:latin typeface="Bodoni MT" panose="02070603080606020203" pitchFamily="18" charset="0"/>
                <a:ea typeface="思源宋体-思源宋体-Regular" pitchFamily="34" charset="-122"/>
                <a:cs typeface="思源宋体-思源宋体-Regular" pitchFamily="34" charset="-120"/>
              </a:rPr>
              <a:t>Efficient memory management is essential when using arrays of objects in C++. Dynamic arrays require careful handling to avoid memory leaks, while static arrays automatically manage memory. However, complex objects might still necessitate customized constructors and destructors for proper resource release.</a:t>
            </a:r>
            <a:endParaRPr lang="en-US" sz="1850" dirty="0">
              <a:latin typeface="Bodoni MT" panose="02070603080606020203" pitchFamily="18" charset="0"/>
            </a:endParaRPr>
          </a:p>
        </p:txBody>
      </p:sp>
      <p:sp>
        <p:nvSpPr>
          <p:cNvPr id="7" name="Text 1"/>
          <p:cNvSpPr/>
          <p:nvPr/>
        </p:nvSpPr>
        <p:spPr>
          <a:xfrm>
            <a:off x="5404104" y="6565392"/>
            <a:ext cx="3831336" cy="713232"/>
          </a:xfrm>
          <a:prstGeom prst="rect">
            <a:avLst/>
          </a:prstGeom>
          <a:noFill/>
          <a:ln/>
        </p:spPr>
        <p:txBody>
          <a:bodyPr wrap="square" lIns="0" tIns="0" rIns="0" bIns="0" rtlCol="0" anchor="ctr"/>
          <a:lstStyle/>
          <a:p>
            <a:pPr marL="0" indent="0" algn="ctr">
              <a:lnSpc>
                <a:spcPts val="2780"/>
              </a:lnSpc>
              <a:buNone/>
            </a:pPr>
            <a:r>
              <a:rPr lang="en-US" sz="1850" dirty="0">
                <a:solidFill>
                  <a:srgbClr val="050B14"/>
                </a:solidFill>
                <a:latin typeface="Bodoni MT" panose="02070603080606020203" pitchFamily="18" charset="0"/>
                <a:ea typeface="思源宋体-思源宋体-Regular" pitchFamily="34" charset="-122"/>
                <a:cs typeface="思源宋体-思源宋体-Regular" pitchFamily="34" charset="-120"/>
              </a:rPr>
              <a:t>Memory is managed automatically.</a:t>
            </a:r>
            <a:endParaRPr lang="en-US" sz="1850" dirty="0">
              <a:latin typeface="Bodoni MT" panose="02070603080606020203" pitchFamily="18" charset="0"/>
            </a:endParaRPr>
          </a:p>
        </p:txBody>
      </p:sp>
      <p:sp>
        <p:nvSpPr>
          <p:cNvPr id="8" name="Text 2"/>
          <p:cNvSpPr/>
          <p:nvPr/>
        </p:nvSpPr>
        <p:spPr>
          <a:xfrm>
            <a:off x="9848088" y="6565392"/>
            <a:ext cx="3831336" cy="713232"/>
          </a:xfrm>
          <a:prstGeom prst="rect">
            <a:avLst/>
          </a:prstGeom>
          <a:noFill/>
          <a:ln/>
        </p:spPr>
        <p:txBody>
          <a:bodyPr wrap="square" lIns="0" tIns="0" rIns="0" bIns="0" rtlCol="0" anchor="ctr"/>
          <a:lstStyle/>
          <a:p>
            <a:pPr marL="0" indent="0" algn="ctr">
              <a:lnSpc>
                <a:spcPts val="2780"/>
              </a:lnSpc>
              <a:buNone/>
            </a:pPr>
            <a:r>
              <a:rPr lang="en-US" sz="1850" dirty="0">
                <a:solidFill>
                  <a:srgbClr val="050B14"/>
                </a:solidFill>
                <a:latin typeface="Bodoni MT" panose="02070603080606020203" pitchFamily="18" charset="0"/>
                <a:ea typeface="思源宋体-思源宋体-Regular" pitchFamily="34" charset="-122"/>
                <a:cs typeface="思源宋体-思源宋体-Regular" pitchFamily="34" charset="-120"/>
              </a:rPr>
              <a:t>Require custom constructors and destructors.</a:t>
            </a:r>
            <a:endParaRPr lang="en-US" sz="1850" dirty="0">
              <a:latin typeface="Bodoni MT" panose="02070603080606020203" pitchFamily="18" charset="0"/>
            </a:endParaRPr>
          </a:p>
        </p:txBody>
      </p:sp>
      <p:sp>
        <p:nvSpPr>
          <p:cNvPr id="9" name="Text 3"/>
          <p:cNvSpPr/>
          <p:nvPr/>
        </p:nvSpPr>
        <p:spPr>
          <a:xfrm>
            <a:off x="9848088" y="6053328"/>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Berlin Sans FB Demi" panose="020E0802020502020306" pitchFamily="34" charset="0"/>
                <a:ea typeface="思源宋体-思源宋体-SemiBold" pitchFamily="34" charset="-122"/>
                <a:cs typeface="思源宋体-思源宋体-SemiBold" pitchFamily="34" charset="-120"/>
              </a:rPr>
              <a:t>Complex Objects</a:t>
            </a:r>
            <a:endParaRPr lang="en-US" sz="2320" dirty="0">
              <a:latin typeface="Berlin Sans FB Demi" panose="020E0802020502020306" pitchFamily="34" charset="0"/>
            </a:endParaRPr>
          </a:p>
        </p:txBody>
      </p:sp>
      <p:sp>
        <p:nvSpPr>
          <p:cNvPr id="10" name="Text 4"/>
          <p:cNvSpPr/>
          <p:nvPr/>
        </p:nvSpPr>
        <p:spPr>
          <a:xfrm>
            <a:off x="832104" y="832104"/>
            <a:ext cx="12984480" cy="740664"/>
          </a:xfrm>
          <a:prstGeom prst="rect">
            <a:avLst/>
          </a:prstGeom>
          <a:noFill/>
          <a:ln/>
        </p:spPr>
        <p:txBody>
          <a:bodyPr wrap="none" lIns="0" tIns="0" rIns="0" bIns="0" rtlCol="0" anchor="ctr"/>
          <a:lstStyle/>
          <a:p>
            <a:pPr marL="0" indent="0" algn="l">
              <a:lnSpc>
                <a:spcPts val="5800"/>
              </a:lnSpc>
              <a:buNone/>
            </a:pPr>
            <a:r>
              <a:rPr lang="en-US" sz="4640" dirty="0">
                <a:solidFill>
                  <a:srgbClr val="0C266F"/>
                </a:solidFill>
                <a:latin typeface="Berlin Sans FB Demi" panose="020E0802020502020306" pitchFamily="34" charset="0"/>
                <a:ea typeface="思源宋体-思源宋体-SemiBold" pitchFamily="34" charset="-122"/>
                <a:cs typeface="思源宋体-思源宋体-SemiBold" pitchFamily="34" charset="-120"/>
              </a:rPr>
              <a:t>Memory Management</a:t>
            </a:r>
            <a:endParaRPr lang="en-US" sz="4640" dirty="0">
              <a:latin typeface="Berlin Sans FB Demi" panose="020E0802020502020306" pitchFamily="34" charset="0"/>
            </a:endParaRPr>
          </a:p>
        </p:txBody>
      </p:sp>
      <p:sp>
        <p:nvSpPr>
          <p:cNvPr id="11" name="Text 5"/>
          <p:cNvSpPr/>
          <p:nvPr/>
        </p:nvSpPr>
        <p:spPr>
          <a:xfrm>
            <a:off x="960120" y="6053328"/>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Berlin Sans FB Demi" panose="020E0802020502020306" pitchFamily="34" charset="0"/>
                <a:ea typeface="思源宋体-思源宋体-SemiBold" pitchFamily="34" charset="-122"/>
                <a:cs typeface="思源宋体-思源宋体-SemiBold" pitchFamily="34" charset="-120"/>
              </a:rPr>
              <a:t>Dynamic Arrays</a:t>
            </a:r>
            <a:endParaRPr lang="en-US" sz="2320" dirty="0">
              <a:latin typeface="Berlin Sans FB Demi" panose="020E0802020502020306" pitchFamily="34" charset="0"/>
            </a:endParaRPr>
          </a:p>
        </p:txBody>
      </p:sp>
      <p:sp>
        <p:nvSpPr>
          <p:cNvPr id="12" name="Text 6"/>
          <p:cNvSpPr/>
          <p:nvPr/>
        </p:nvSpPr>
        <p:spPr>
          <a:xfrm>
            <a:off x="960120" y="6565392"/>
            <a:ext cx="3831336" cy="356616"/>
          </a:xfrm>
          <a:prstGeom prst="rect">
            <a:avLst/>
          </a:prstGeom>
          <a:noFill/>
          <a:ln/>
        </p:spPr>
        <p:txBody>
          <a:bodyPr wrap="none" lIns="0" tIns="0" rIns="0" bIns="0" rtlCol="0" anchor="ctr"/>
          <a:lstStyle/>
          <a:p>
            <a:pPr marL="0" indent="0" algn="ctr">
              <a:lnSpc>
                <a:spcPts val="2780"/>
              </a:lnSpc>
              <a:buNone/>
            </a:pPr>
            <a:r>
              <a:rPr lang="en-US" sz="1850" dirty="0">
                <a:solidFill>
                  <a:srgbClr val="050B14"/>
                </a:solidFill>
                <a:latin typeface="Bodoni MT" panose="02070603080606020203" pitchFamily="18" charset="0"/>
                <a:ea typeface="思源宋体-思源宋体-Regular" pitchFamily="34" charset="-122"/>
                <a:cs typeface="思源宋体-思源宋体-Regular" pitchFamily="34" charset="-120"/>
              </a:rPr>
              <a:t>Use new and delete[] properly.</a:t>
            </a:r>
            <a:endParaRPr lang="en-US" sz="1850" dirty="0">
              <a:latin typeface="Bodoni MT" panose="02070603080606020203" pitchFamily="18" charset="0"/>
            </a:endParaRPr>
          </a:p>
        </p:txBody>
      </p:sp>
      <p:sp>
        <p:nvSpPr>
          <p:cNvPr id="13" name="Text 7"/>
          <p:cNvSpPr/>
          <p:nvPr/>
        </p:nvSpPr>
        <p:spPr>
          <a:xfrm>
            <a:off x="5404104" y="6053328"/>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Berlin Sans FB Demi" panose="020E0802020502020306" pitchFamily="34" charset="0"/>
                <a:ea typeface="思源宋体-思源宋体-SemiBold" pitchFamily="34" charset="-122"/>
                <a:cs typeface="思源宋体-思源宋体-SemiBold" pitchFamily="34" charset="-120"/>
              </a:rPr>
              <a:t>Static Arrays</a:t>
            </a:r>
            <a:endParaRPr lang="en-US" sz="2320" dirty="0">
              <a:latin typeface="Berlin Sans FB Demi" panose="020E0802020502020306" pitchFamily="34" charset="0"/>
            </a:endParaRPr>
          </a:p>
        </p:txBody>
      </p:sp>
      <p:pic>
        <p:nvPicPr>
          <p:cNvPr id="14" name="Image 1" descr="preencoded.png">
            <a:extLst>
              <a:ext uri="{FF2B5EF4-FFF2-40B4-BE49-F238E27FC236}">
                <a16:creationId xmlns:a16="http://schemas.microsoft.com/office/drawing/2014/main" id="{E60F1DC5-CB9C-4C64-BB08-A65E132A917C}"/>
              </a:ext>
            </a:extLst>
          </p:cNvPr>
          <p:cNvPicPr>
            <a:picLocks noChangeAspect="1"/>
          </p:cNvPicPr>
          <p:nvPr/>
        </p:nvPicPr>
        <p:blipFill>
          <a:blip r:embed="rId7">
            <a:duotone>
              <a:prstClr val="black"/>
              <a:schemeClr val="accent5">
                <a:tint val="45000"/>
                <a:satMod val="400000"/>
              </a:schemeClr>
            </a:duotone>
          </a:blip>
          <a:stretch>
            <a:fillRect/>
          </a:stretch>
        </p:blipFill>
        <p:spPr>
          <a:xfrm>
            <a:off x="5047488" y="-8779432"/>
            <a:ext cx="4544568" cy="4544568"/>
          </a:xfrm>
          <a:prstGeom prst="rect">
            <a:avLst/>
          </a:prstGeom>
          <a:ln>
            <a:noFill/>
          </a:ln>
          <a:effectLst>
            <a:outerShdw blurRad="292100" dist="139700" dir="2700000" algn="tl" rotWithShape="0">
              <a:srgbClr val="333333">
                <a:alpha val="65000"/>
              </a:srgbClr>
            </a:outerShdw>
          </a:effectLst>
        </p:spPr>
      </p:pic>
      <p:pic>
        <p:nvPicPr>
          <p:cNvPr id="15" name="Image 2" descr="preencoded.png">
            <a:extLst>
              <a:ext uri="{FF2B5EF4-FFF2-40B4-BE49-F238E27FC236}">
                <a16:creationId xmlns:a16="http://schemas.microsoft.com/office/drawing/2014/main" id="{BC31932E-7C00-4A32-8FB2-A8920F2AFC85}"/>
              </a:ext>
            </a:extLst>
          </p:cNvPr>
          <p:cNvPicPr>
            <a:picLocks noChangeAspect="1"/>
          </p:cNvPicPr>
          <p:nvPr/>
        </p:nvPicPr>
        <p:blipFill>
          <a:blip r:embed="rId8">
            <a:duotone>
              <a:prstClr val="black"/>
              <a:schemeClr val="accent5">
                <a:tint val="45000"/>
                <a:satMod val="400000"/>
              </a:schemeClr>
            </a:duotone>
          </a:blip>
          <a:stretch>
            <a:fillRect/>
          </a:stretch>
        </p:blipFill>
        <p:spPr>
          <a:xfrm>
            <a:off x="5047488" y="-8779432"/>
            <a:ext cx="4544568" cy="4544568"/>
          </a:xfrm>
          <a:prstGeom prst="rect">
            <a:avLst/>
          </a:prstGeom>
          <a:ln>
            <a:noFill/>
          </a:ln>
          <a:effectLst>
            <a:outerShdw blurRad="292100" dist="139700" dir="2700000" algn="tl" rotWithShape="0">
              <a:srgbClr val="333333">
                <a:alpha val="65000"/>
              </a:srgbClr>
            </a:outerShdw>
          </a:effectLst>
        </p:spPr>
      </p:pic>
      <p:pic>
        <p:nvPicPr>
          <p:cNvPr id="16" name="Image 3" descr="preencoded.png">
            <a:extLst>
              <a:ext uri="{FF2B5EF4-FFF2-40B4-BE49-F238E27FC236}">
                <a16:creationId xmlns:a16="http://schemas.microsoft.com/office/drawing/2014/main" id="{CF4B682C-9639-4992-9778-DF9B8ADB378D}"/>
              </a:ext>
            </a:extLst>
          </p:cNvPr>
          <p:cNvPicPr>
            <a:picLocks noChangeAspect="1"/>
          </p:cNvPicPr>
          <p:nvPr/>
        </p:nvPicPr>
        <p:blipFill>
          <a:blip r:embed="rId9">
            <a:duotone>
              <a:prstClr val="black"/>
              <a:schemeClr val="accent5">
                <a:tint val="45000"/>
                <a:satMod val="400000"/>
              </a:schemeClr>
            </a:duotone>
          </a:blip>
          <a:stretch>
            <a:fillRect/>
          </a:stretch>
        </p:blipFill>
        <p:spPr>
          <a:xfrm>
            <a:off x="5047488" y="-8779432"/>
            <a:ext cx="4544568" cy="4544568"/>
          </a:xfrm>
          <a:prstGeom prst="rect">
            <a:avLst/>
          </a:prstGeom>
          <a:ln>
            <a:noFill/>
          </a:ln>
          <a:effectLst>
            <a:outerShdw blurRad="292100" dist="139700" dir="2700000" algn="tl" rotWithShape="0">
              <a:srgbClr val="333333">
                <a:alpha val="65000"/>
              </a:srgbClr>
            </a:outerShdw>
          </a:effectLst>
        </p:spPr>
      </p:pic>
      <p:sp>
        <p:nvSpPr>
          <p:cNvPr id="17" name="Text 7">
            <a:extLst>
              <a:ext uri="{FF2B5EF4-FFF2-40B4-BE49-F238E27FC236}">
                <a16:creationId xmlns:a16="http://schemas.microsoft.com/office/drawing/2014/main" id="{D06A1C9C-5676-4B62-B384-F7A36D4BEA4D}"/>
              </a:ext>
            </a:extLst>
          </p:cNvPr>
          <p:cNvSpPr/>
          <p:nvPr/>
        </p:nvSpPr>
        <p:spPr>
          <a:xfrm>
            <a:off x="7827264" y="-5707048"/>
            <a:ext cx="164592" cy="438912"/>
          </a:xfrm>
          <a:prstGeom prst="rect">
            <a:avLst/>
          </a:prstGeom>
          <a:noFill/>
          <a:ln/>
        </p:spPr>
        <p:txBody>
          <a:bodyPr wrap="none" lIns="0" tIns="0" rIns="0" bIns="0" rtlCol="0" anchor="ctr"/>
          <a:lstStyle/>
          <a:p>
            <a:pPr marL="0" indent="0" algn="l">
              <a:lnSpc>
                <a:spcPts val="2780"/>
              </a:lnSpc>
              <a:buNone/>
            </a:pPr>
            <a:r>
              <a:rPr lang="en-US" sz="2320" dirty="0">
                <a:solidFill>
                  <a:srgbClr val="1C1C1C"/>
                </a:solidFill>
                <a:latin typeface="思源宋体-思源宋体-Regular" pitchFamily="34" charset="0"/>
                <a:ea typeface="思源宋体-思源宋体-Regular" pitchFamily="34" charset="-122"/>
                <a:cs typeface="思源宋体-思源宋体-Regular" pitchFamily="34" charset="-120"/>
              </a:rPr>
              <a:t>3</a:t>
            </a:r>
            <a:endParaRPr lang="en-US" sz="2320" dirty="0"/>
          </a:p>
        </p:txBody>
      </p:sp>
      <p:sp>
        <p:nvSpPr>
          <p:cNvPr id="18" name="Text 8">
            <a:extLst>
              <a:ext uri="{FF2B5EF4-FFF2-40B4-BE49-F238E27FC236}">
                <a16:creationId xmlns:a16="http://schemas.microsoft.com/office/drawing/2014/main" id="{51B9CAE5-E6C7-4E3E-86EC-77A908E708A4}"/>
              </a:ext>
            </a:extLst>
          </p:cNvPr>
          <p:cNvSpPr/>
          <p:nvPr/>
        </p:nvSpPr>
        <p:spPr>
          <a:xfrm>
            <a:off x="6071616" y="-6722032"/>
            <a:ext cx="164592" cy="438912"/>
          </a:xfrm>
          <a:prstGeom prst="rect">
            <a:avLst/>
          </a:prstGeom>
          <a:noFill/>
          <a:ln/>
        </p:spPr>
        <p:txBody>
          <a:bodyPr wrap="none" lIns="0" tIns="0" rIns="0" bIns="0" rtlCol="0" anchor="ctr"/>
          <a:lstStyle/>
          <a:p>
            <a:pPr marL="0" indent="0" algn="l">
              <a:lnSpc>
                <a:spcPts val="2780"/>
              </a:lnSpc>
              <a:buNone/>
            </a:pPr>
            <a:r>
              <a:rPr lang="en-US" sz="2320" dirty="0">
                <a:solidFill>
                  <a:srgbClr val="262626"/>
                </a:solidFill>
                <a:latin typeface="思源宋体-思源宋体-Regular" pitchFamily="34" charset="0"/>
                <a:ea typeface="思源宋体-思源宋体-Regular" pitchFamily="34" charset="-122"/>
                <a:cs typeface="思源宋体-思源宋体-Regular" pitchFamily="34" charset="-120"/>
              </a:rPr>
              <a:t>1</a:t>
            </a:r>
            <a:endParaRPr lang="en-US" sz="2320" dirty="0"/>
          </a:p>
        </p:txBody>
      </p:sp>
      <p:sp>
        <p:nvSpPr>
          <p:cNvPr id="19" name="Text 9">
            <a:extLst>
              <a:ext uri="{FF2B5EF4-FFF2-40B4-BE49-F238E27FC236}">
                <a16:creationId xmlns:a16="http://schemas.microsoft.com/office/drawing/2014/main" id="{B78DF5DB-3045-46E6-80DD-F4EB4DADE9EB}"/>
              </a:ext>
            </a:extLst>
          </p:cNvPr>
          <p:cNvSpPr/>
          <p:nvPr/>
        </p:nvSpPr>
        <p:spPr>
          <a:xfrm>
            <a:off x="7827264" y="-7737016"/>
            <a:ext cx="164592" cy="438912"/>
          </a:xfrm>
          <a:prstGeom prst="rect">
            <a:avLst/>
          </a:prstGeom>
          <a:noFill/>
          <a:ln/>
        </p:spPr>
        <p:txBody>
          <a:bodyPr wrap="none" lIns="0" tIns="0" rIns="0" bIns="0" rtlCol="0" anchor="ctr"/>
          <a:lstStyle/>
          <a:p>
            <a:pPr marL="0" indent="0" algn="l">
              <a:lnSpc>
                <a:spcPts val="2780"/>
              </a:lnSpc>
              <a:buNone/>
            </a:pPr>
            <a:r>
              <a:rPr lang="en-US" sz="2320" dirty="0">
                <a:solidFill>
                  <a:srgbClr val="0A0A0A"/>
                </a:solidFill>
                <a:latin typeface="思源宋体-思源宋体-Regular" pitchFamily="34" charset="0"/>
                <a:ea typeface="思源宋体-思源宋体-Regular" pitchFamily="34" charset="-122"/>
                <a:cs typeface="思源宋体-思源宋体-Regular" pitchFamily="34" charset="-120"/>
              </a:rPr>
              <a:t>2</a:t>
            </a:r>
            <a:endParaRPr lang="en-US" sz="2320"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458200"/>
          </a:xfrm>
          <a:prstGeom prst="rect">
            <a:avLst/>
          </a:prstGeom>
        </p:spPr>
      </p:pic>
      <p:pic>
        <p:nvPicPr>
          <p:cNvPr id="3" name="Image 1" descr="preencoded.png"/>
          <p:cNvPicPr>
            <a:picLocks noChangeAspect="1"/>
          </p:cNvPicPr>
          <p:nvPr/>
        </p:nvPicPr>
        <p:blipFill>
          <a:blip r:embed="rId4">
            <a:duotone>
              <a:prstClr val="black"/>
              <a:schemeClr val="accent5">
                <a:tint val="45000"/>
                <a:satMod val="400000"/>
              </a:schemeClr>
            </a:duotone>
          </a:blip>
          <a:stretch>
            <a:fillRect/>
          </a:stretch>
        </p:blipFill>
        <p:spPr>
          <a:xfrm>
            <a:off x="5047488" y="3127248"/>
            <a:ext cx="4544568" cy="4544568"/>
          </a:xfrm>
          <a:prstGeom prst="rect">
            <a:avLst/>
          </a:prstGeom>
          <a:ln>
            <a:noFill/>
          </a:ln>
          <a:effectLst>
            <a:outerShdw blurRad="292100" dist="139700" dir="2700000" algn="tl" rotWithShape="0">
              <a:srgbClr val="333333">
                <a:alpha val="65000"/>
              </a:srgbClr>
            </a:outerShdw>
          </a:effectLst>
        </p:spPr>
      </p:pic>
      <p:pic>
        <p:nvPicPr>
          <p:cNvPr id="4" name="Image 2" descr="preencoded.png"/>
          <p:cNvPicPr>
            <a:picLocks noChangeAspect="1"/>
          </p:cNvPicPr>
          <p:nvPr/>
        </p:nvPicPr>
        <p:blipFill>
          <a:blip r:embed="rId5">
            <a:duotone>
              <a:prstClr val="black"/>
              <a:schemeClr val="accent5">
                <a:tint val="45000"/>
                <a:satMod val="400000"/>
              </a:schemeClr>
            </a:duotone>
          </a:blip>
          <a:stretch>
            <a:fillRect/>
          </a:stretch>
        </p:blipFill>
        <p:spPr>
          <a:xfrm>
            <a:off x="5047488" y="3127248"/>
            <a:ext cx="4544568" cy="4544568"/>
          </a:xfrm>
          <a:prstGeom prst="rect">
            <a:avLst/>
          </a:prstGeom>
          <a:ln>
            <a:noFill/>
          </a:ln>
          <a:effectLst>
            <a:outerShdw blurRad="292100" dist="139700" dir="2700000" algn="tl" rotWithShape="0">
              <a:srgbClr val="333333">
                <a:alpha val="65000"/>
              </a:srgbClr>
            </a:outerShdw>
          </a:effectLst>
        </p:spPr>
      </p:pic>
      <p:pic>
        <p:nvPicPr>
          <p:cNvPr id="5" name="Image 3" descr="preencoded.png"/>
          <p:cNvPicPr>
            <a:picLocks noChangeAspect="1"/>
          </p:cNvPicPr>
          <p:nvPr/>
        </p:nvPicPr>
        <p:blipFill>
          <a:blip r:embed="rId6">
            <a:duotone>
              <a:prstClr val="black"/>
              <a:schemeClr val="accent5">
                <a:tint val="45000"/>
                <a:satMod val="400000"/>
              </a:schemeClr>
            </a:duotone>
          </a:blip>
          <a:stretch>
            <a:fillRect/>
          </a:stretch>
        </p:blipFill>
        <p:spPr>
          <a:xfrm>
            <a:off x="5047488" y="3127248"/>
            <a:ext cx="4544568" cy="4544568"/>
          </a:xfrm>
          <a:prstGeom prst="rect">
            <a:avLst/>
          </a:prstGeom>
          <a:ln>
            <a:noFill/>
          </a:ln>
          <a:effectLst>
            <a:outerShdw blurRad="292100" dist="139700" dir="2700000" algn="tl" rotWithShape="0">
              <a:srgbClr val="333333">
                <a:alpha val="65000"/>
              </a:srgbClr>
            </a:outerShdw>
          </a:effectLst>
        </p:spPr>
      </p:pic>
      <p:sp>
        <p:nvSpPr>
          <p:cNvPr id="6" name="Text 0"/>
          <p:cNvSpPr/>
          <p:nvPr/>
        </p:nvSpPr>
        <p:spPr>
          <a:xfrm>
            <a:off x="832104" y="649224"/>
            <a:ext cx="12984480" cy="740664"/>
          </a:xfrm>
          <a:prstGeom prst="rect">
            <a:avLst/>
          </a:prstGeom>
          <a:noFill/>
          <a:ln/>
        </p:spPr>
        <p:txBody>
          <a:bodyPr wrap="none" lIns="0" tIns="0" rIns="0" bIns="0" rtlCol="0" anchor="ctr"/>
          <a:lstStyle/>
          <a:p>
            <a:pPr marL="0" indent="0" algn="l">
              <a:lnSpc>
                <a:spcPts val="5800"/>
              </a:lnSpc>
              <a:buNone/>
            </a:pPr>
            <a:r>
              <a:rPr lang="en-US" sz="4640" dirty="0">
                <a:solidFill>
                  <a:srgbClr val="0C266F"/>
                </a:solidFill>
                <a:latin typeface="Berlin Sans FB Demi" panose="020E0802020502020306" pitchFamily="34" charset="0"/>
                <a:ea typeface="思源宋体-思源宋体-SemiBold" pitchFamily="34" charset="-122"/>
                <a:cs typeface="思源宋体-思源宋体-SemiBold" pitchFamily="34" charset="-120"/>
              </a:rPr>
              <a:t>Use Cases of Arrays of Objects</a:t>
            </a:r>
            <a:endParaRPr lang="en-US" sz="4640" dirty="0">
              <a:latin typeface="Berlin Sans FB Demi" panose="020E0802020502020306" pitchFamily="34" charset="0"/>
            </a:endParaRPr>
          </a:p>
        </p:txBody>
      </p:sp>
      <p:sp>
        <p:nvSpPr>
          <p:cNvPr id="7" name="Text 1"/>
          <p:cNvSpPr/>
          <p:nvPr/>
        </p:nvSpPr>
        <p:spPr>
          <a:xfrm>
            <a:off x="9710928" y="3960810"/>
            <a:ext cx="3986784" cy="713232"/>
          </a:xfrm>
          <a:prstGeom prst="rect">
            <a:avLst/>
          </a:prstGeom>
          <a:noFill/>
          <a:ln/>
        </p:spPr>
        <p:txBody>
          <a:bodyPr wrap="square" lIns="0" tIns="0" rIns="0" bIns="0" rtlCol="0" anchor="ctr"/>
          <a:lstStyle/>
          <a:p>
            <a:pPr marL="0" indent="0" algn="l">
              <a:lnSpc>
                <a:spcPts val="2780"/>
              </a:lnSpc>
              <a:buNone/>
            </a:pPr>
            <a:r>
              <a:rPr lang="en-US" sz="1850" dirty="0">
                <a:solidFill>
                  <a:srgbClr val="050B14"/>
                </a:solidFill>
                <a:latin typeface="Bodoni MT" panose="02070603080606020203" pitchFamily="18" charset="0"/>
                <a:ea typeface="思源宋体-思源宋体-Regular" pitchFamily="34" charset="-122"/>
                <a:cs typeface="思源宋体-思源宋体-Regular" pitchFamily="34" charset="-120"/>
              </a:rPr>
              <a:t>Creating environments where multiple entities interact.</a:t>
            </a:r>
            <a:endParaRPr lang="en-US" sz="1850" dirty="0">
              <a:latin typeface="Bodoni MT" panose="02070603080606020203" pitchFamily="18" charset="0"/>
            </a:endParaRPr>
          </a:p>
        </p:txBody>
      </p:sp>
      <p:sp>
        <p:nvSpPr>
          <p:cNvPr id="8" name="Text 2"/>
          <p:cNvSpPr/>
          <p:nvPr/>
        </p:nvSpPr>
        <p:spPr>
          <a:xfrm>
            <a:off x="9710928" y="5477256"/>
            <a:ext cx="3986784" cy="740664"/>
          </a:xfrm>
          <a:prstGeom prst="rect">
            <a:avLst/>
          </a:prstGeom>
          <a:noFill/>
          <a:ln/>
        </p:spPr>
        <p:txBody>
          <a:bodyPr wrap="square" lIns="0" tIns="0" rIns="0" bIns="0" rtlCol="0" anchor="ctr"/>
          <a:lstStyle/>
          <a:p>
            <a:pPr marL="0" indent="0" algn="l">
              <a:lnSpc>
                <a:spcPts val="2900"/>
              </a:lnSpc>
              <a:buNone/>
            </a:pPr>
            <a:r>
              <a:rPr lang="en-US" sz="2320" dirty="0">
                <a:solidFill>
                  <a:srgbClr val="050B14"/>
                </a:solidFill>
                <a:latin typeface="Berlin Sans FB Demi" panose="020E0802020502020306" pitchFamily="34" charset="0"/>
                <a:ea typeface="思源宋体-思源宋体-SemiBold" pitchFamily="34" charset="-122"/>
                <a:cs typeface="思源宋体-思源宋体-SemiBold" pitchFamily="34" charset="-120"/>
              </a:rPr>
              <a:t>Performance Enhancement</a:t>
            </a:r>
            <a:endParaRPr lang="en-US" sz="2320" dirty="0">
              <a:latin typeface="Berlin Sans FB Demi" panose="020E0802020502020306" pitchFamily="34" charset="0"/>
            </a:endParaRPr>
          </a:p>
        </p:txBody>
      </p:sp>
      <p:sp>
        <p:nvSpPr>
          <p:cNvPr id="9" name="Text 3"/>
          <p:cNvSpPr/>
          <p:nvPr/>
        </p:nvSpPr>
        <p:spPr>
          <a:xfrm>
            <a:off x="9712518" y="6254496"/>
            <a:ext cx="3986784" cy="1069848"/>
          </a:xfrm>
          <a:prstGeom prst="rect">
            <a:avLst/>
          </a:prstGeom>
          <a:noFill/>
          <a:ln/>
        </p:spPr>
        <p:txBody>
          <a:bodyPr wrap="square" lIns="0" tIns="0" rIns="0" bIns="0" rtlCol="0" anchor="ctr"/>
          <a:lstStyle/>
          <a:p>
            <a:pPr marL="0" indent="0" algn="l">
              <a:lnSpc>
                <a:spcPts val="2780"/>
              </a:lnSpc>
              <a:buNone/>
            </a:pPr>
            <a:r>
              <a:rPr lang="en-US" sz="1850" dirty="0">
                <a:solidFill>
                  <a:srgbClr val="050B14"/>
                </a:solidFill>
                <a:latin typeface="Bodoni MT" panose="02070603080606020203" pitchFamily="18" charset="0"/>
                <a:ea typeface="思源宋体-思源宋体-Regular" pitchFamily="34" charset="-122"/>
                <a:cs typeface="思源宋体-思源宋体-Regular" pitchFamily="34" charset="-120"/>
              </a:rPr>
              <a:t>Ensuring data integrity and improving application performance.</a:t>
            </a:r>
            <a:endParaRPr lang="en-US" sz="1850" dirty="0">
              <a:latin typeface="Bodoni MT" panose="02070603080606020203" pitchFamily="18" charset="0"/>
            </a:endParaRPr>
          </a:p>
        </p:txBody>
      </p:sp>
      <p:sp>
        <p:nvSpPr>
          <p:cNvPr id="10" name="Text 4"/>
          <p:cNvSpPr/>
          <p:nvPr/>
        </p:nvSpPr>
        <p:spPr>
          <a:xfrm>
            <a:off x="9710928" y="3246120"/>
            <a:ext cx="3986784" cy="374904"/>
          </a:xfrm>
          <a:prstGeom prst="rect">
            <a:avLst/>
          </a:prstGeom>
          <a:noFill/>
          <a:ln/>
        </p:spPr>
        <p:txBody>
          <a:bodyPr wrap="none" lIns="0" tIns="0" rIns="0" bIns="0" rtlCol="0" anchor="ctr"/>
          <a:lstStyle/>
          <a:p>
            <a:pPr marL="0" indent="0" algn="l">
              <a:lnSpc>
                <a:spcPts val="2900"/>
              </a:lnSpc>
              <a:buNone/>
            </a:pPr>
            <a:r>
              <a:rPr lang="en-US" sz="2320" dirty="0">
                <a:solidFill>
                  <a:srgbClr val="050B14"/>
                </a:solidFill>
                <a:latin typeface="Berlin Sans FB Demi" panose="020E0802020502020306" pitchFamily="34" charset="0"/>
                <a:ea typeface="思源宋体-思源宋体-SemiBold" pitchFamily="34" charset="-122"/>
                <a:cs typeface="思源宋体-思源宋体-SemiBold" pitchFamily="34" charset="-120"/>
              </a:rPr>
              <a:t>Simulations</a:t>
            </a:r>
            <a:endParaRPr lang="en-US" sz="2320" dirty="0">
              <a:latin typeface="Berlin Sans FB Demi" panose="020E0802020502020306" pitchFamily="34" charset="0"/>
            </a:endParaRPr>
          </a:p>
        </p:txBody>
      </p:sp>
      <p:sp>
        <p:nvSpPr>
          <p:cNvPr id="11" name="Text 5"/>
          <p:cNvSpPr/>
          <p:nvPr/>
        </p:nvSpPr>
        <p:spPr>
          <a:xfrm>
            <a:off x="950976" y="5120640"/>
            <a:ext cx="3511296" cy="1069848"/>
          </a:xfrm>
          <a:prstGeom prst="rect">
            <a:avLst/>
          </a:prstGeom>
          <a:noFill/>
          <a:ln/>
        </p:spPr>
        <p:txBody>
          <a:bodyPr wrap="square" lIns="0" tIns="0" rIns="0" bIns="0" rtlCol="0" anchor="ctr"/>
          <a:lstStyle/>
          <a:p>
            <a:pPr marL="0" indent="0" algn="r">
              <a:lnSpc>
                <a:spcPts val="2780"/>
              </a:lnSpc>
              <a:buNone/>
            </a:pPr>
            <a:r>
              <a:rPr lang="en-US" sz="1850" dirty="0">
                <a:solidFill>
                  <a:srgbClr val="050B14"/>
                </a:solidFill>
                <a:latin typeface="Bodoni MT" panose="02070603080606020203" pitchFamily="18" charset="0"/>
                <a:ea typeface="思源宋体-思源宋体-Regular" pitchFamily="34" charset="-122"/>
                <a:cs typeface="思源宋体-思源宋体-Regular" pitchFamily="34" charset="-120"/>
              </a:rPr>
              <a:t>Managing collections such as employees, products, or students.</a:t>
            </a:r>
            <a:endParaRPr lang="en-US" sz="1850" dirty="0">
              <a:latin typeface="Bodoni MT" panose="02070603080606020203" pitchFamily="18" charset="0"/>
            </a:endParaRPr>
          </a:p>
        </p:txBody>
      </p:sp>
      <p:sp>
        <p:nvSpPr>
          <p:cNvPr id="12" name="Text 6"/>
          <p:cNvSpPr/>
          <p:nvPr/>
        </p:nvSpPr>
        <p:spPr>
          <a:xfrm>
            <a:off x="950976" y="4544568"/>
            <a:ext cx="3511296" cy="374904"/>
          </a:xfrm>
          <a:prstGeom prst="rect">
            <a:avLst/>
          </a:prstGeom>
          <a:noFill/>
          <a:ln/>
        </p:spPr>
        <p:txBody>
          <a:bodyPr wrap="none" lIns="0" tIns="0" rIns="0" bIns="0" rtlCol="0" anchor="ctr"/>
          <a:lstStyle/>
          <a:p>
            <a:pPr marL="0" indent="0" algn="r">
              <a:lnSpc>
                <a:spcPts val="2900"/>
              </a:lnSpc>
              <a:buNone/>
            </a:pPr>
            <a:r>
              <a:rPr lang="en-US" sz="2320" dirty="0">
                <a:solidFill>
                  <a:srgbClr val="050B14"/>
                </a:solidFill>
                <a:latin typeface="Berlin Sans FB Demi" panose="020E0802020502020306" pitchFamily="34" charset="0"/>
                <a:ea typeface="思源宋体-思源宋体-SemiBold" pitchFamily="34" charset="-122"/>
                <a:cs typeface="思源宋体-思源宋体-SemiBold" pitchFamily="34" charset="-120"/>
              </a:rPr>
              <a:t>Data Management</a:t>
            </a:r>
            <a:endParaRPr lang="en-US" sz="2320" dirty="0">
              <a:latin typeface="Berlin Sans FB Demi" panose="020E0802020502020306" pitchFamily="34" charset="0"/>
            </a:endParaRPr>
          </a:p>
        </p:txBody>
      </p:sp>
      <p:sp>
        <p:nvSpPr>
          <p:cNvPr id="13" name="Text 7"/>
          <p:cNvSpPr/>
          <p:nvPr/>
        </p:nvSpPr>
        <p:spPr>
          <a:xfrm>
            <a:off x="832104" y="1655064"/>
            <a:ext cx="12984480" cy="1069848"/>
          </a:xfrm>
          <a:prstGeom prst="rect">
            <a:avLst/>
          </a:prstGeom>
          <a:noFill/>
          <a:ln/>
        </p:spPr>
        <p:txBody>
          <a:bodyPr wrap="square" lIns="0" tIns="0" rIns="0" bIns="0" rtlCol="0" anchor="ctr"/>
          <a:lstStyle/>
          <a:p>
            <a:pPr marL="0" indent="0" algn="l">
              <a:lnSpc>
                <a:spcPts val="2780"/>
              </a:lnSpc>
              <a:buNone/>
            </a:pPr>
            <a:r>
              <a:rPr lang="en-US" sz="1850" dirty="0">
                <a:solidFill>
                  <a:srgbClr val="050B14"/>
                </a:solidFill>
                <a:latin typeface="Bodoni MT" panose="02070603080606020203" pitchFamily="18" charset="0"/>
                <a:ea typeface="思源宋体-思源宋体-Regular" pitchFamily="34" charset="-122"/>
                <a:cs typeface="思源宋体-思源宋体-Regular" pitchFamily="34" charset="-120"/>
              </a:rPr>
              <a:t>Arrays of objects are powerful tools for organizing and managing complex data structures. They facilitate the efficient handling of large volumes of data through clear and structured formats, enabling enhanced performance and data integrity across various applications.</a:t>
            </a:r>
            <a:endParaRPr lang="en-US" sz="1850" dirty="0">
              <a:latin typeface="Bodoni MT" panose="02070603080606020203" pitchFamily="18" charset="0"/>
            </a:endParaRPr>
          </a:p>
        </p:txBody>
      </p:sp>
      <p:sp>
        <p:nvSpPr>
          <p:cNvPr id="14" name="Text 8"/>
          <p:cNvSpPr/>
          <p:nvPr/>
        </p:nvSpPr>
        <p:spPr>
          <a:xfrm>
            <a:off x="7781544" y="6675120"/>
            <a:ext cx="164592" cy="438912"/>
          </a:xfrm>
          <a:prstGeom prst="rect">
            <a:avLst/>
          </a:prstGeom>
          <a:noFill/>
          <a:ln/>
        </p:spPr>
        <p:txBody>
          <a:bodyPr wrap="none" lIns="0" tIns="0" rIns="0" bIns="0" rtlCol="0" anchor="ctr"/>
          <a:lstStyle/>
          <a:p>
            <a:pPr marL="0" indent="0" algn="l">
              <a:lnSpc>
                <a:spcPts val="2780"/>
              </a:lnSpc>
              <a:buNone/>
            </a:pPr>
            <a:r>
              <a:rPr lang="en-US" sz="2320" dirty="0">
                <a:solidFill>
                  <a:srgbClr val="1C1C1C"/>
                </a:solidFill>
                <a:latin typeface="思源宋体-思源宋体-Regular" pitchFamily="34" charset="0"/>
                <a:ea typeface="思源宋体-思源宋体-Regular" pitchFamily="34" charset="-122"/>
                <a:cs typeface="思源宋体-思源宋体-Regular" pitchFamily="34" charset="-120"/>
              </a:rPr>
              <a:t>3</a:t>
            </a:r>
            <a:endParaRPr lang="en-US" sz="2320" dirty="0"/>
          </a:p>
        </p:txBody>
      </p:sp>
      <p:sp>
        <p:nvSpPr>
          <p:cNvPr id="15" name="Text 9"/>
          <p:cNvSpPr/>
          <p:nvPr/>
        </p:nvSpPr>
        <p:spPr>
          <a:xfrm>
            <a:off x="8257032" y="3959352"/>
            <a:ext cx="164592" cy="438912"/>
          </a:xfrm>
          <a:prstGeom prst="rect">
            <a:avLst/>
          </a:prstGeom>
          <a:noFill/>
          <a:ln/>
        </p:spPr>
        <p:txBody>
          <a:bodyPr wrap="none" lIns="0" tIns="0" rIns="0" bIns="0" rtlCol="0" anchor="ctr"/>
          <a:lstStyle/>
          <a:p>
            <a:pPr marL="0" indent="0" algn="l">
              <a:lnSpc>
                <a:spcPts val="2780"/>
              </a:lnSpc>
              <a:buNone/>
            </a:pPr>
            <a:r>
              <a:rPr lang="en-US" sz="2320" dirty="0">
                <a:solidFill>
                  <a:srgbClr val="0A0A0A"/>
                </a:solidFill>
                <a:latin typeface="思源宋体-思源宋体-Regular" pitchFamily="34" charset="0"/>
                <a:ea typeface="思源宋体-思源宋体-Regular" pitchFamily="34" charset="-122"/>
                <a:cs typeface="思源宋体-思源宋体-Regular" pitchFamily="34" charset="-120"/>
              </a:rPr>
              <a:t>2</a:t>
            </a:r>
            <a:endParaRPr lang="en-US" sz="2320" dirty="0"/>
          </a:p>
        </p:txBody>
      </p:sp>
      <p:sp>
        <p:nvSpPr>
          <p:cNvPr id="16" name="Text 10"/>
          <p:cNvSpPr/>
          <p:nvPr/>
        </p:nvSpPr>
        <p:spPr>
          <a:xfrm>
            <a:off x="5669280" y="4901184"/>
            <a:ext cx="164592" cy="438912"/>
          </a:xfrm>
          <a:prstGeom prst="rect">
            <a:avLst/>
          </a:prstGeom>
          <a:noFill/>
          <a:ln/>
        </p:spPr>
        <p:txBody>
          <a:bodyPr wrap="none" lIns="0" tIns="0" rIns="0" bIns="0" rtlCol="0" anchor="ctr"/>
          <a:lstStyle/>
          <a:p>
            <a:pPr marL="0" indent="0" algn="l">
              <a:lnSpc>
                <a:spcPts val="2780"/>
              </a:lnSpc>
              <a:buNone/>
            </a:pPr>
            <a:r>
              <a:rPr lang="en-US" sz="2320" dirty="0">
                <a:solidFill>
                  <a:srgbClr val="262626"/>
                </a:solidFill>
                <a:latin typeface="思源宋体-思源宋体-Regular" pitchFamily="34" charset="0"/>
                <a:ea typeface="思源宋体-思源宋体-Regular" pitchFamily="34" charset="-122"/>
                <a:cs typeface="思源宋体-思源宋体-Regular" pitchFamily="34" charset="-120"/>
              </a:rPr>
              <a:t>1</a:t>
            </a:r>
            <a:endParaRPr lang="en-US" sz="2320" dirty="0"/>
          </a:p>
        </p:txBody>
      </p:sp>
      <p:sp>
        <p:nvSpPr>
          <p:cNvPr id="17" name="Text 0">
            <a:extLst>
              <a:ext uri="{FF2B5EF4-FFF2-40B4-BE49-F238E27FC236}">
                <a16:creationId xmlns:a16="http://schemas.microsoft.com/office/drawing/2014/main" id="{E14A5351-FE3C-4E20-9EEF-A9BE762BA1A6}"/>
              </a:ext>
            </a:extLst>
          </p:cNvPr>
          <p:cNvSpPr/>
          <p:nvPr/>
        </p:nvSpPr>
        <p:spPr>
          <a:xfrm>
            <a:off x="-14023847" y="927735"/>
            <a:ext cx="6063853" cy="744260"/>
          </a:xfrm>
          <a:prstGeom prst="rect">
            <a:avLst/>
          </a:prstGeom>
          <a:noFill/>
          <a:ln/>
        </p:spPr>
        <p:txBody>
          <a:bodyPr wrap="none" lIns="0" tIns="0" rIns="0" bIns="0" rtlCol="0" anchor="t"/>
          <a:lstStyle/>
          <a:p>
            <a:pPr marL="0" indent="0" algn="l">
              <a:lnSpc>
                <a:spcPts val="5850"/>
              </a:lnSpc>
              <a:buNone/>
            </a:pPr>
            <a:r>
              <a:rPr lang="en-US" sz="4650" b="1" dirty="0">
                <a:solidFill>
                  <a:srgbClr val="000000"/>
                </a:solidFill>
                <a:latin typeface="Petrona Bold" pitchFamily="34" charset="0"/>
                <a:ea typeface="Petrona Bold" pitchFamily="34" charset="-122"/>
                <a:cs typeface="Petrona Bold" pitchFamily="34" charset="-120"/>
              </a:rPr>
              <a:t>Practical Applications</a:t>
            </a:r>
            <a:endParaRPr lang="en-US" sz="4650" dirty="0"/>
          </a:p>
        </p:txBody>
      </p:sp>
      <p:pic>
        <p:nvPicPr>
          <p:cNvPr id="18" name="Image 0" descr="preencoded.png">
            <a:extLst>
              <a:ext uri="{FF2B5EF4-FFF2-40B4-BE49-F238E27FC236}">
                <a16:creationId xmlns:a16="http://schemas.microsoft.com/office/drawing/2014/main" id="{C00F068B-2CA3-426A-AC59-BB1F8DA23C87}"/>
              </a:ext>
            </a:extLst>
          </p:cNvPr>
          <p:cNvPicPr>
            <a:picLocks noChangeAspect="1"/>
          </p:cNvPicPr>
          <p:nvPr/>
        </p:nvPicPr>
        <p:blipFill>
          <a:blip r:embed="rId7">
            <a:duotone>
              <a:prstClr val="black"/>
              <a:schemeClr val="accent1">
                <a:tint val="45000"/>
                <a:satMod val="400000"/>
              </a:schemeClr>
            </a:duotone>
          </a:blip>
          <a:stretch>
            <a:fillRect/>
          </a:stretch>
        </p:blipFill>
        <p:spPr>
          <a:xfrm>
            <a:off x="-20097178" y="2125623"/>
            <a:ext cx="2152055" cy="1687592"/>
          </a:xfrm>
          <a:prstGeom prst="rect">
            <a:avLst/>
          </a:prstGeom>
          <a:ln>
            <a:noFill/>
          </a:ln>
          <a:effectLst>
            <a:outerShdw blurRad="50800" dist="38100" dir="8100000" algn="tr" rotWithShape="0">
              <a:prstClr val="black">
                <a:alpha val="40000"/>
              </a:prstClr>
            </a:outerShdw>
          </a:effectLst>
        </p:spPr>
      </p:pic>
      <p:pic>
        <p:nvPicPr>
          <p:cNvPr id="19" name="Image 1" descr="preencoded.png">
            <a:extLst>
              <a:ext uri="{FF2B5EF4-FFF2-40B4-BE49-F238E27FC236}">
                <a16:creationId xmlns:a16="http://schemas.microsoft.com/office/drawing/2014/main" id="{560518D0-BBC2-477C-B928-906A080D825E}"/>
              </a:ext>
            </a:extLst>
          </p:cNvPr>
          <p:cNvPicPr>
            <a:picLocks noChangeAspect="1"/>
          </p:cNvPicPr>
          <p:nvPr/>
        </p:nvPicPr>
        <p:blipFill>
          <a:blip r:embed="rId8">
            <a:duotone>
              <a:prstClr val="black"/>
              <a:schemeClr val="accent4">
                <a:lumMod val="75000"/>
                <a:tint val="45000"/>
                <a:satMod val="400000"/>
              </a:schemeClr>
            </a:duotone>
          </a:blip>
          <a:stretch>
            <a:fillRect/>
          </a:stretch>
        </p:blipFill>
        <p:spPr>
          <a:xfrm>
            <a:off x="-19180634" y="2989183"/>
            <a:ext cx="318968" cy="398621"/>
          </a:xfrm>
          <a:prstGeom prst="rect">
            <a:avLst/>
          </a:prstGeom>
        </p:spPr>
      </p:pic>
      <p:sp>
        <p:nvSpPr>
          <p:cNvPr id="20" name="Text 1">
            <a:extLst>
              <a:ext uri="{FF2B5EF4-FFF2-40B4-BE49-F238E27FC236}">
                <a16:creationId xmlns:a16="http://schemas.microsoft.com/office/drawing/2014/main" id="{A0184FF3-8C3F-4595-A77E-5F86CE34977D}"/>
              </a:ext>
            </a:extLst>
          </p:cNvPr>
          <p:cNvSpPr/>
          <p:nvPr/>
        </p:nvSpPr>
        <p:spPr>
          <a:xfrm>
            <a:off x="-14403776" y="2666319"/>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Game Development</a:t>
            </a:r>
            <a:endParaRPr lang="en-US" sz="2300" dirty="0"/>
          </a:p>
        </p:txBody>
      </p:sp>
      <p:sp>
        <p:nvSpPr>
          <p:cNvPr id="21" name="Text 2">
            <a:extLst>
              <a:ext uri="{FF2B5EF4-FFF2-40B4-BE49-F238E27FC236}">
                <a16:creationId xmlns:a16="http://schemas.microsoft.com/office/drawing/2014/main" id="{F033C80B-1657-4E0A-B53B-73A7FC719280}"/>
              </a:ext>
            </a:extLst>
          </p:cNvPr>
          <p:cNvSpPr/>
          <p:nvPr/>
        </p:nvSpPr>
        <p:spPr>
          <a:xfrm>
            <a:off x="-14403776" y="3174478"/>
            <a:ext cx="7492365"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Manage collections of enemies, items, or player characters efficiently.</a:t>
            </a:r>
            <a:endParaRPr lang="en-US" sz="1750" dirty="0"/>
          </a:p>
        </p:txBody>
      </p:sp>
      <p:sp>
        <p:nvSpPr>
          <p:cNvPr id="22" name="Shape 3">
            <a:extLst>
              <a:ext uri="{FF2B5EF4-FFF2-40B4-BE49-F238E27FC236}">
                <a16:creationId xmlns:a16="http://schemas.microsoft.com/office/drawing/2014/main" id="{2EA153C8-C4B5-4364-BC84-C81FC3C24DAA}"/>
              </a:ext>
            </a:extLst>
          </p:cNvPr>
          <p:cNvSpPr/>
          <p:nvPr/>
        </p:nvSpPr>
        <p:spPr>
          <a:xfrm>
            <a:off x="-17888449" y="3826312"/>
            <a:ext cx="8592860" cy="15240"/>
          </a:xfrm>
          <a:prstGeom prst="roundRect">
            <a:avLst>
              <a:gd name="adj" fmla="val 625116"/>
            </a:avLst>
          </a:prstGeom>
          <a:solidFill>
            <a:srgbClr val="8BA6E8"/>
          </a:solidFill>
          <a:ln/>
          <a:effectLst>
            <a:outerShdw blurRad="50800" dist="38100" dir="8100000" algn="tr" rotWithShape="0">
              <a:prstClr val="black">
                <a:alpha val="40000"/>
              </a:prstClr>
            </a:outerShdw>
          </a:effectLst>
        </p:spPr>
      </p:sp>
      <p:pic>
        <p:nvPicPr>
          <p:cNvPr id="23" name="Image 2" descr="preencoded.png">
            <a:extLst>
              <a:ext uri="{FF2B5EF4-FFF2-40B4-BE49-F238E27FC236}">
                <a16:creationId xmlns:a16="http://schemas.microsoft.com/office/drawing/2014/main" id="{D3EE7219-2B77-4790-B669-66BDC56FE565}"/>
              </a:ext>
            </a:extLst>
          </p:cNvPr>
          <p:cNvPicPr>
            <a:picLocks noChangeAspect="1"/>
          </p:cNvPicPr>
          <p:nvPr/>
        </p:nvPicPr>
        <p:blipFill>
          <a:blip r:embed="rId9">
            <a:duotone>
              <a:prstClr val="black"/>
              <a:schemeClr val="accent1">
                <a:tint val="45000"/>
                <a:satMod val="400000"/>
              </a:schemeClr>
            </a:duotone>
          </a:blip>
          <a:stretch>
            <a:fillRect/>
          </a:stretch>
        </p:blipFill>
        <p:spPr>
          <a:xfrm>
            <a:off x="-17662553" y="3869888"/>
            <a:ext cx="4304109" cy="1687592"/>
          </a:xfrm>
          <a:prstGeom prst="rect">
            <a:avLst/>
          </a:prstGeom>
          <a:ln>
            <a:noFill/>
          </a:ln>
          <a:effectLst>
            <a:outerShdw blurRad="50800" dist="38100" dir="8100000" algn="tr" rotWithShape="0">
              <a:prstClr val="black">
                <a:alpha val="40000"/>
              </a:prstClr>
            </a:outerShdw>
          </a:effectLst>
        </p:spPr>
      </p:pic>
      <p:pic>
        <p:nvPicPr>
          <p:cNvPr id="24" name="Image 3" descr="preencoded.png">
            <a:extLst>
              <a:ext uri="{FF2B5EF4-FFF2-40B4-BE49-F238E27FC236}">
                <a16:creationId xmlns:a16="http://schemas.microsoft.com/office/drawing/2014/main" id="{1C2666B5-075F-42E8-BB6A-0FB5544789D2}"/>
              </a:ext>
            </a:extLst>
          </p:cNvPr>
          <p:cNvPicPr>
            <a:picLocks noChangeAspect="1"/>
          </p:cNvPicPr>
          <p:nvPr/>
        </p:nvPicPr>
        <p:blipFill>
          <a:blip r:embed="rId10">
            <a:duotone>
              <a:prstClr val="black"/>
              <a:schemeClr val="accent4">
                <a:lumMod val="75000"/>
                <a:tint val="45000"/>
                <a:satMod val="400000"/>
              </a:schemeClr>
            </a:duotone>
          </a:blip>
          <a:stretch>
            <a:fillRect/>
          </a:stretch>
        </p:blipFill>
        <p:spPr>
          <a:xfrm>
            <a:off x="-15670042" y="4514374"/>
            <a:ext cx="318968" cy="398621"/>
          </a:xfrm>
          <a:prstGeom prst="rect">
            <a:avLst/>
          </a:prstGeom>
        </p:spPr>
      </p:pic>
      <p:sp>
        <p:nvSpPr>
          <p:cNvPr id="25" name="Text 4">
            <a:extLst>
              <a:ext uri="{FF2B5EF4-FFF2-40B4-BE49-F238E27FC236}">
                <a16:creationId xmlns:a16="http://schemas.microsoft.com/office/drawing/2014/main" id="{E05DB837-717D-4828-9285-B0F3D7B473B1}"/>
              </a:ext>
            </a:extLst>
          </p:cNvPr>
          <p:cNvSpPr/>
          <p:nvPr/>
        </p:nvSpPr>
        <p:spPr>
          <a:xfrm>
            <a:off x="-18305967" y="4177701"/>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Data Processing</a:t>
            </a:r>
            <a:endParaRPr lang="en-US" sz="2300" dirty="0"/>
          </a:p>
        </p:txBody>
      </p:sp>
      <p:sp>
        <p:nvSpPr>
          <p:cNvPr id="26" name="Text 5">
            <a:extLst>
              <a:ext uri="{FF2B5EF4-FFF2-40B4-BE49-F238E27FC236}">
                <a16:creationId xmlns:a16="http://schemas.microsoft.com/office/drawing/2014/main" id="{5221D782-DF94-428D-A84C-1309258896DA}"/>
              </a:ext>
            </a:extLst>
          </p:cNvPr>
          <p:cNvSpPr/>
          <p:nvPr/>
        </p:nvSpPr>
        <p:spPr>
          <a:xfrm>
            <a:off x="-18305967" y="4685860"/>
            <a:ext cx="6250305"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Store and manipulate datasets as arrays of record objects.</a:t>
            </a:r>
            <a:endParaRPr lang="en-US" sz="1750" dirty="0"/>
          </a:p>
        </p:txBody>
      </p:sp>
      <p:sp>
        <p:nvSpPr>
          <p:cNvPr id="27" name="Shape 6">
            <a:extLst>
              <a:ext uri="{FF2B5EF4-FFF2-40B4-BE49-F238E27FC236}">
                <a16:creationId xmlns:a16="http://schemas.microsoft.com/office/drawing/2014/main" id="{21BE449A-3DA0-445E-8125-7C6F04B4F94A}"/>
              </a:ext>
            </a:extLst>
          </p:cNvPr>
          <p:cNvSpPr/>
          <p:nvPr/>
        </p:nvSpPr>
        <p:spPr>
          <a:xfrm>
            <a:off x="-13301770" y="5570577"/>
            <a:ext cx="7516773" cy="15240"/>
          </a:xfrm>
          <a:prstGeom prst="roundRect">
            <a:avLst>
              <a:gd name="adj" fmla="val 625116"/>
            </a:avLst>
          </a:prstGeom>
          <a:solidFill>
            <a:srgbClr val="8BA6E8"/>
          </a:solidFill>
          <a:ln/>
          <a:effectLst>
            <a:outerShdw blurRad="50800" dist="38100" dir="8100000" algn="tr" rotWithShape="0">
              <a:prstClr val="black">
                <a:alpha val="40000"/>
              </a:prstClr>
            </a:outerShdw>
          </a:effectLst>
        </p:spPr>
      </p:sp>
      <p:pic>
        <p:nvPicPr>
          <p:cNvPr id="28" name="Image 4" descr="preencoded.png">
            <a:extLst>
              <a:ext uri="{FF2B5EF4-FFF2-40B4-BE49-F238E27FC236}">
                <a16:creationId xmlns:a16="http://schemas.microsoft.com/office/drawing/2014/main" id="{B5CC83A2-FD4D-4665-80FD-E23D54E7A5F5}"/>
              </a:ext>
            </a:extLst>
          </p:cNvPr>
          <p:cNvPicPr>
            <a:picLocks noChangeAspect="1"/>
          </p:cNvPicPr>
          <p:nvPr/>
        </p:nvPicPr>
        <p:blipFill>
          <a:blip r:embed="rId11">
            <a:duotone>
              <a:prstClr val="black"/>
              <a:schemeClr val="accent1">
                <a:tint val="45000"/>
                <a:satMod val="400000"/>
              </a:schemeClr>
            </a:duotone>
          </a:blip>
          <a:stretch>
            <a:fillRect/>
          </a:stretch>
        </p:blipFill>
        <p:spPr>
          <a:xfrm>
            <a:off x="-13991343" y="5614154"/>
            <a:ext cx="6456164" cy="1687592"/>
          </a:xfrm>
          <a:prstGeom prst="rect">
            <a:avLst/>
          </a:prstGeom>
          <a:ln>
            <a:noFill/>
          </a:ln>
          <a:effectLst>
            <a:outerShdw blurRad="50800" dist="38100" dir="8100000" algn="tr" rotWithShape="0">
              <a:prstClr val="black">
                <a:alpha val="40000"/>
              </a:prstClr>
            </a:outerShdw>
          </a:effectLst>
        </p:spPr>
      </p:pic>
      <p:pic>
        <p:nvPicPr>
          <p:cNvPr id="29" name="Image 5" descr="preencoded.png">
            <a:extLst>
              <a:ext uri="{FF2B5EF4-FFF2-40B4-BE49-F238E27FC236}">
                <a16:creationId xmlns:a16="http://schemas.microsoft.com/office/drawing/2014/main" id="{D1877D81-DDD2-4BB9-9020-C47AD29F1368}"/>
              </a:ext>
            </a:extLst>
          </p:cNvPr>
          <p:cNvPicPr>
            <a:picLocks noChangeAspect="1"/>
          </p:cNvPicPr>
          <p:nvPr/>
        </p:nvPicPr>
        <p:blipFill>
          <a:blip r:embed="rId12">
            <a:duotone>
              <a:prstClr val="black"/>
              <a:schemeClr val="accent4">
                <a:lumMod val="75000"/>
                <a:tint val="45000"/>
                <a:satMod val="400000"/>
              </a:schemeClr>
            </a:duotone>
          </a:blip>
          <a:stretch>
            <a:fillRect/>
          </a:stretch>
        </p:blipFill>
        <p:spPr>
          <a:xfrm>
            <a:off x="-10922864" y="6258639"/>
            <a:ext cx="318968" cy="398621"/>
          </a:xfrm>
          <a:prstGeom prst="rect">
            <a:avLst/>
          </a:prstGeom>
        </p:spPr>
      </p:pic>
      <p:sp>
        <p:nvSpPr>
          <p:cNvPr id="30" name="Text 7">
            <a:extLst>
              <a:ext uri="{FF2B5EF4-FFF2-40B4-BE49-F238E27FC236}">
                <a16:creationId xmlns:a16="http://schemas.microsoft.com/office/drawing/2014/main" id="{D1AEFDA9-0C53-46A5-A927-7EF3A5E5CD83}"/>
              </a:ext>
            </a:extLst>
          </p:cNvPr>
          <p:cNvSpPr/>
          <p:nvPr/>
        </p:nvSpPr>
        <p:spPr>
          <a:xfrm>
            <a:off x="-14403776" y="5898047"/>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Simulation</a:t>
            </a:r>
            <a:endParaRPr lang="en-US" sz="2300" dirty="0"/>
          </a:p>
        </p:txBody>
      </p:sp>
      <p:sp>
        <p:nvSpPr>
          <p:cNvPr id="31" name="Text 8">
            <a:extLst>
              <a:ext uri="{FF2B5EF4-FFF2-40B4-BE49-F238E27FC236}">
                <a16:creationId xmlns:a16="http://schemas.microsoft.com/office/drawing/2014/main" id="{16E23ACB-121E-470B-AEBC-75F6188EAE83}"/>
              </a:ext>
            </a:extLst>
          </p:cNvPr>
          <p:cNvSpPr/>
          <p:nvPr/>
        </p:nvSpPr>
        <p:spPr>
          <a:xfrm>
            <a:off x="-14403776" y="6406206"/>
            <a:ext cx="6100524"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Model complex systems with multiple interacting components.</a:t>
            </a:r>
            <a:endParaRPr lang="en-US" sz="1750" dirty="0"/>
          </a:p>
        </p:txBody>
      </p:sp>
    </p:spTree>
  </p:cSld>
  <p:clrMapOvr>
    <a:masterClrMapping/>
  </p:clrMapOvr>
  <p:transition spd="med">
    <p:push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458200"/>
          </a:xfrm>
          <a:prstGeom prst="rect">
            <a:avLst/>
          </a:prstGeom>
        </p:spPr>
      </p:pic>
      <p:sp>
        <p:nvSpPr>
          <p:cNvPr id="17" name="Text 0">
            <a:extLst>
              <a:ext uri="{FF2B5EF4-FFF2-40B4-BE49-F238E27FC236}">
                <a16:creationId xmlns:a16="http://schemas.microsoft.com/office/drawing/2014/main" id="{5008B541-0E37-42CF-B1D9-5EAAF8F29C67}"/>
              </a:ext>
            </a:extLst>
          </p:cNvPr>
          <p:cNvSpPr/>
          <p:nvPr/>
        </p:nvSpPr>
        <p:spPr>
          <a:xfrm>
            <a:off x="793790" y="927735"/>
            <a:ext cx="6063853" cy="744260"/>
          </a:xfrm>
          <a:prstGeom prst="rect">
            <a:avLst/>
          </a:prstGeom>
          <a:noFill/>
          <a:ln/>
        </p:spPr>
        <p:txBody>
          <a:bodyPr wrap="none" lIns="0" tIns="0" rIns="0" bIns="0" rtlCol="0" anchor="t"/>
          <a:lstStyle/>
          <a:p>
            <a:pPr marL="0" indent="0" algn="l">
              <a:lnSpc>
                <a:spcPts val="5850"/>
              </a:lnSpc>
              <a:buNone/>
            </a:pPr>
            <a:r>
              <a:rPr lang="en-US" sz="4650" b="1" dirty="0">
                <a:solidFill>
                  <a:srgbClr val="000000"/>
                </a:solidFill>
                <a:latin typeface="Berlin Sans FB Demi" panose="020E0802020502020306" pitchFamily="34" charset="0"/>
                <a:ea typeface="Petrona Bold" pitchFamily="34" charset="-122"/>
                <a:cs typeface="Petrona Bold" pitchFamily="34" charset="-120"/>
              </a:rPr>
              <a:t>Practical Applications</a:t>
            </a:r>
            <a:endParaRPr lang="en-US" sz="4650" dirty="0">
              <a:latin typeface="Berlin Sans FB Demi" panose="020E0802020502020306" pitchFamily="34" charset="0"/>
            </a:endParaRPr>
          </a:p>
        </p:txBody>
      </p:sp>
      <p:pic>
        <p:nvPicPr>
          <p:cNvPr id="18" name="Image 0" descr="preencoded.png">
            <a:extLst>
              <a:ext uri="{FF2B5EF4-FFF2-40B4-BE49-F238E27FC236}">
                <a16:creationId xmlns:a16="http://schemas.microsoft.com/office/drawing/2014/main" id="{FF2CA432-ABCC-4C27-B562-496BF71F6F16}"/>
              </a:ext>
            </a:extLst>
          </p:cNvPr>
          <p:cNvPicPr>
            <a:picLocks noChangeAspect="1"/>
          </p:cNvPicPr>
          <p:nvPr/>
        </p:nvPicPr>
        <p:blipFill>
          <a:blip r:embed="rId4">
            <a:duotone>
              <a:prstClr val="black"/>
              <a:schemeClr val="accent5">
                <a:tint val="45000"/>
                <a:satMod val="400000"/>
              </a:schemeClr>
            </a:duotone>
          </a:blip>
          <a:stretch>
            <a:fillRect/>
          </a:stretch>
        </p:blipFill>
        <p:spPr>
          <a:xfrm>
            <a:off x="2978348" y="2125623"/>
            <a:ext cx="2152055" cy="1687592"/>
          </a:xfrm>
          <a:prstGeom prst="rect">
            <a:avLst/>
          </a:prstGeom>
          <a:ln>
            <a:noFill/>
          </a:ln>
          <a:effectLst>
            <a:outerShdw blurRad="50800" dist="38100" dir="8100000" algn="tr" rotWithShape="0">
              <a:prstClr val="black">
                <a:alpha val="40000"/>
              </a:prstClr>
            </a:outerShdw>
          </a:effectLst>
        </p:spPr>
      </p:pic>
      <p:pic>
        <p:nvPicPr>
          <p:cNvPr id="19" name="Image 1" descr="preencoded.png">
            <a:extLst>
              <a:ext uri="{FF2B5EF4-FFF2-40B4-BE49-F238E27FC236}">
                <a16:creationId xmlns:a16="http://schemas.microsoft.com/office/drawing/2014/main" id="{7A912C69-A992-4628-A0EB-354596A214D4}"/>
              </a:ext>
            </a:extLst>
          </p:cNvPr>
          <p:cNvPicPr>
            <a:picLocks noChangeAspect="1"/>
          </p:cNvPicPr>
          <p:nvPr/>
        </p:nvPicPr>
        <p:blipFill>
          <a:blip r:embed="rId5">
            <a:duotone>
              <a:prstClr val="black"/>
              <a:schemeClr val="accent5">
                <a:tint val="45000"/>
                <a:satMod val="400000"/>
              </a:schemeClr>
            </a:duotone>
          </a:blip>
          <a:stretch>
            <a:fillRect/>
          </a:stretch>
        </p:blipFill>
        <p:spPr>
          <a:xfrm>
            <a:off x="3894892" y="2989183"/>
            <a:ext cx="318968" cy="398621"/>
          </a:xfrm>
          <a:prstGeom prst="rect">
            <a:avLst/>
          </a:prstGeom>
        </p:spPr>
      </p:pic>
      <p:sp>
        <p:nvSpPr>
          <p:cNvPr id="20" name="Text 1">
            <a:extLst>
              <a:ext uri="{FF2B5EF4-FFF2-40B4-BE49-F238E27FC236}">
                <a16:creationId xmlns:a16="http://schemas.microsoft.com/office/drawing/2014/main" id="{3B797B9D-7F9F-4C51-B68C-EA1F913D7923}"/>
              </a:ext>
            </a:extLst>
          </p:cNvPr>
          <p:cNvSpPr/>
          <p:nvPr/>
        </p:nvSpPr>
        <p:spPr>
          <a:xfrm>
            <a:off x="5357217" y="2533888"/>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Berlin Sans FB Demi" panose="020E0802020502020306" pitchFamily="34" charset="0"/>
                <a:ea typeface="Petrona Bold" pitchFamily="34" charset="-122"/>
                <a:cs typeface="Petrona Bold" pitchFamily="34" charset="-120"/>
              </a:rPr>
              <a:t>Game Development</a:t>
            </a:r>
            <a:endParaRPr lang="en-US" sz="2300" dirty="0">
              <a:latin typeface="Berlin Sans FB Demi" panose="020E0802020502020306" pitchFamily="34" charset="0"/>
            </a:endParaRPr>
          </a:p>
        </p:txBody>
      </p:sp>
      <p:sp>
        <p:nvSpPr>
          <p:cNvPr id="21" name="Text 2">
            <a:extLst>
              <a:ext uri="{FF2B5EF4-FFF2-40B4-BE49-F238E27FC236}">
                <a16:creationId xmlns:a16="http://schemas.microsoft.com/office/drawing/2014/main" id="{4F0E5694-B35F-4DA1-886B-DBCD55207F09}"/>
              </a:ext>
            </a:extLst>
          </p:cNvPr>
          <p:cNvSpPr/>
          <p:nvPr/>
        </p:nvSpPr>
        <p:spPr>
          <a:xfrm>
            <a:off x="5357217" y="3042047"/>
            <a:ext cx="7492365"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Bodoni MT" panose="02070603080606020203" pitchFamily="18" charset="0"/>
                <a:ea typeface="Inter" pitchFamily="34" charset="-122"/>
                <a:cs typeface="Inter" pitchFamily="34" charset="-120"/>
              </a:rPr>
              <a:t>Manage collections of enemies, items, or player characters efficiently.</a:t>
            </a:r>
            <a:endParaRPr lang="en-US" sz="1750" dirty="0">
              <a:latin typeface="Bodoni MT" panose="02070603080606020203" pitchFamily="18" charset="0"/>
            </a:endParaRPr>
          </a:p>
        </p:txBody>
      </p:sp>
      <p:sp>
        <p:nvSpPr>
          <p:cNvPr id="22" name="Shape 3">
            <a:extLst>
              <a:ext uri="{FF2B5EF4-FFF2-40B4-BE49-F238E27FC236}">
                <a16:creationId xmlns:a16="http://schemas.microsoft.com/office/drawing/2014/main" id="{CBEDE096-8DDA-4498-AD91-60CBA3C20F21}"/>
              </a:ext>
            </a:extLst>
          </p:cNvPr>
          <p:cNvSpPr/>
          <p:nvPr/>
        </p:nvSpPr>
        <p:spPr>
          <a:xfrm>
            <a:off x="5187077" y="3826312"/>
            <a:ext cx="8592860" cy="15240"/>
          </a:xfrm>
          <a:prstGeom prst="roundRect">
            <a:avLst>
              <a:gd name="adj" fmla="val 625116"/>
            </a:avLst>
          </a:prstGeom>
          <a:solidFill>
            <a:srgbClr val="8BA6E8"/>
          </a:solidFill>
          <a:ln/>
          <a:effectLst>
            <a:outerShdw blurRad="50800" dist="38100" dir="8100000" algn="tr" rotWithShape="0">
              <a:prstClr val="black">
                <a:alpha val="40000"/>
              </a:prstClr>
            </a:outerShdw>
          </a:effectLst>
        </p:spPr>
      </p:sp>
      <p:pic>
        <p:nvPicPr>
          <p:cNvPr id="23" name="Image 2" descr="preencoded.png">
            <a:extLst>
              <a:ext uri="{FF2B5EF4-FFF2-40B4-BE49-F238E27FC236}">
                <a16:creationId xmlns:a16="http://schemas.microsoft.com/office/drawing/2014/main" id="{188A8C4E-96E5-4005-A739-FA260BB880E0}"/>
              </a:ext>
            </a:extLst>
          </p:cNvPr>
          <p:cNvPicPr>
            <a:picLocks noChangeAspect="1"/>
          </p:cNvPicPr>
          <p:nvPr/>
        </p:nvPicPr>
        <p:blipFill>
          <a:blip r:embed="rId6">
            <a:duotone>
              <a:prstClr val="black"/>
              <a:schemeClr val="accent5">
                <a:tint val="45000"/>
                <a:satMod val="400000"/>
              </a:schemeClr>
            </a:duotone>
          </a:blip>
          <a:stretch>
            <a:fillRect/>
          </a:stretch>
        </p:blipFill>
        <p:spPr>
          <a:xfrm>
            <a:off x="1902381" y="3869888"/>
            <a:ext cx="4304109" cy="1687592"/>
          </a:xfrm>
          <a:prstGeom prst="rect">
            <a:avLst/>
          </a:prstGeom>
          <a:ln>
            <a:noFill/>
          </a:ln>
          <a:effectLst>
            <a:outerShdw blurRad="50800" dist="38100" dir="8100000" algn="tr" rotWithShape="0">
              <a:prstClr val="black">
                <a:alpha val="40000"/>
              </a:prstClr>
            </a:outerShdw>
          </a:effectLst>
        </p:spPr>
      </p:pic>
      <p:pic>
        <p:nvPicPr>
          <p:cNvPr id="24" name="Image 3" descr="preencoded.png">
            <a:extLst>
              <a:ext uri="{FF2B5EF4-FFF2-40B4-BE49-F238E27FC236}">
                <a16:creationId xmlns:a16="http://schemas.microsoft.com/office/drawing/2014/main" id="{2E7712F1-EBBD-4579-98B4-08EEE33C2990}"/>
              </a:ext>
            </a:extLst>
          </p:cNvPr>
          <p:cNvPicPr>
            <a:picLocks noChangeAspect="1"/>
          </p:cNvPicPr>
          <p:nvPr/>
        </p:nvPicPr>
        <p:blipFill>
          <a:blip r:embed="rId7">
            <a:duotone>
              <a:prstClr val="black"/>
              <a:schemeClr val="accent5">
                <a:tint val="45000"/>
                <a:satMod val="400000"/>
              </a:schemeClr>
            </a:duotone>
          </a:blip>
          <a:stretch>
            <a:fillRect/>
          </a:stretch>
        </p:blipFill>
        <p:spPr>
          <a:xfrm>
            <a:off x="3894892" y="4514374"/>
            <a:ext cx="318968" cy="398621"/>
          </a:xfrm>
          <a:prstGeom prst="rect">
            <a:avLst/>
          </a:prstGeom>
        </p:spPr>
      </p:pic>
      <p:sp>
        <p:nvSpPr>
          <p:cNvPr id="25" name="Text 4">
            <a:extLst>
              <a:ext uri="{FF2B5EF4-FFF2-40B4-BE49-F238E27FC236}">
                <a16:creationId xmlns:a16="http://schemas.microsoft.com/office/drawing/2014/main" id="{99DD01F7-75A7-42C9-9264-8A33EF0E6383}"/>
              </a:ext>
            </a:extLst>
          </p:cNvPr>
          <p:cNvSpPr/>
          <p:nvPr/>
        </p:nvSpPr>
        <p:spPr>
          <a:xfrm>
            <a:off x="6433304" y="4278154"/>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Berlin Sans FB Demi" panose="020E0802020502020306" pitchFamily="34" charset="0"/>
                <a:ea typeface="Petrona Bold" pitchFamily="34" charset="-122"/>
                <a:cs typeface="Petrona Bold" pitchFamily="34" charset="-120"/>
              </a:rPr>
              <a:t>Data Processing</a:t>
            </a:r>
            <a:endParaRPr lang="en-US" sz="2300" dirty="0">
              <a:latin typeface="Berlin Sans FB Demi" panose="020E0802020502020306" pitchFamily="34" charset="0"/>
            </a:endParaRPr>
          </a:p>
        </p:txBody>
      </p:sp>
      <p:sp>
        <p:nvSpPr>
          <p:cNvPr id="26" name="Text 5">
            <a:extLst>
              <a:ext uri="{FF2B5EF4-FFF2-40B4-BE49-F238E27FC236}">
                <a16:creationId xmlns:a16="http://schemas.microsoft.com/office/drawing/2014/main" id="{316DCD0A-E8C2-4AE3-89E8-8CAB31404608}"/>
              </a:ext>
            </a:extLst>
          </p:cNvPr>
          <p:cNvSpPr/>
          <p:nvPr/>
        </p:nvSpPr>
        <p:spPr>
          <a:xfrm>
            <a:off x="6433304" y="4786313"/>
            <a:ext cx="6250305"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Bodoni MT" panose="02070603080606020203" pitchFamily="18" charset="0"/>
                <a:ea typeface="Inter" pitchFamily="34" charset="-122"/>
                <a:cs typeface="Inter" pitchFamily="34" charset="-120"/>
              </a:rPr>
              <a:t>Store and manipulate datasets as arrays of record objects.</a:t>
            </a:r>
            <a:endParaRPr lang="en-US" sz="1750" dirty="0">
              <a:latin typeface="Bodoni MT" panose="02070603080606020203" pitchFamily="18" charset="0"/>
            </a:endParaRPr>
          </a:p>
        </p:txBody>
      </p:sp>
      <p:sp>
        <p:nvSpPr>
          <p:cNvPr id="27" name="Shape 6">
            <a:extLst>
              <a:ext uri="{FF2B5EF4-FFF2-40B4-BE49-F238E27FC236}">
                <a16:creationId xmlns:a16="http://schemas.microsoft.com/office/drawing/2014/main" id="{AAA39653-0BAA-436B-9E06-897BB3D70CFA}"/>
              </a:ext>
            </a:extLst>
          </p:cNvPr>
          <p:cNvSpPr/>
          <p:nvPr/>
        </p:nvSpPr>
        <p:spPr>
          <a:xfrm>
            <a:off x="6263164" y="5570577"/>
            <a:ext cx="7516773" cy="15240"/>
          </a:xfrm>
          <a:prstGeom prst="roundRect">
            <a:avLst>
              <a:gd name="adj" fmla="val 625116"/>
            </a:avLst>
          </a:prstGeom>
          <a:solidFill>
            <a:srgbClr val="8BA6E8"/>
          </a:solidFill>
          <a:ln/>
          <a:effectLst>
            <a:outerShdw blurRad="50800" dist="38100" dir="8100000" algn="tr" rotWithShape="0">
              <a:prstClr val="black">
                <a:alpha val="40000"/>
              </a:prstClr>
            </a:outerShdw>
          </a:effectLst>
        </p:spPr>
      </p:sp>
      <p:pic>
        <p:nvPicPr>
          <p:cNvPr id="28" name="Image 4" descr="preencoded.png">
            <a:extLst>
              <a:ext uri="{FF2B5EF4-FFF2-40B4-BE49-F238E27FC236}">
                <a16:creationId xmlns:a16="http://schemas.microsoft.com/office/drawing/2014/main" id="{31525DDF-8CDC-4681-A511-67B1648F50EF}"/>
              </a:ext>
            </a:extLst>
          </p:cNvPr>
          <p:cNvPicPr>
            <a:picLocks noChangeAspect="1"/>
          </p:cNvPicPr>
          <p:nvPr/>
        </p:nvPicPr>
        <p:blipFill>
          <a:blip r:embed="rId8">
            <a:duotone>
              <a:prstClr val="black"/>
              <a:schemeClr val="accent5">
                <a:tint val="45000"/>
                <a:satMod val="400000"/>
              </a:schemeClr>
            </a:duotone>
          </a:blip>
          <a:stretch>
            <a:fillRect/>
          </a:stretch>
        </p:blipFill>
        <p:spPr>
          <a:xfrm>
            <a:off x="826294" y="5614154"/>
            <a:ext cx="6456164" cy="1687592"/>
          </a:xfrm>
          <a:prstGeom prst="rect">
            <a:avLst/>
          </a:prstGeom>
          <a:ln>
            <a:noFill/>
          </a:ln>
          <a:effectLst>
            <a:outerShdw blurRad="50800" dist="38100" dir="8100000" algn="tr" rotWithShape="0">
              <a:prstClr val="black">
                <a:alpha val="40000"/>
              </a:prstClr>
            </a:outerShdw>
          </a:effectLst>
        </p:spPr>
      </p:pic>
      <p:pic>
        <p:nvPicPr>
          <p:cNvPr id="29" name="Image 5" descr="preencoded.png">
            <a:extLst>
              <a:ext uri="{FF2B5EF4-FFF2-40B4-BE49-F238E27FC236}">
                <a16:creationId xmlns:a16="http://schemas.microsoft.com/office/drawing/2014/main" id="{BDB96765-5C8D-4847-BE43-6E98741A2C67}"/>
              </a:ext>
            </a:extLst>
          </p:cNvPr>
          <p:cNvPicPr>
            <a:picLocks noChangeAspect="1"/>
          </p:cNvPicPr>
          <p:nvPr/>
        </p:nvPicPr>
        <p:blipFill>
          <a:blip r:embed="rId9">
            <a:duotone>
              <a:prstClr val="black"/>
              <a:schemeClr val="accent5">
                <a:tint val="45000"/>
                <a:satMod val="400000"/>
              </a:schemeClr>
            </a:duotone>
          </a:blip>
          <a:stretch>
            <a:fillRect/>
          </a:stretch>
        </p:blipFill>
        <p:spPr>
          <a:xfrm>
            <a:off x="3894773" y="6258639"/>
            <a:ext cx="318968" cy="398621"/>
          </a:xfrm>
          <a:prstGeom prst="rect">
            <a:avLst/>
          </a:prstGeom>
        </p:spPr>
      </p:pic>
      <p:sp>
        <p:nvSpPr>
          <p:cNvPr id="30" name="Text 7">
            <a:extLst>
              <a:ext uri="{FF2B5EF4-FFF2-40B4-BE49-F238E27FC236}">
                <a16:creationId xmlns:a16="http://schemas.microsoft.com/office/drawing/2014/main" id="{B0F7D455-5ADD-4040-BF10-FC86043D8948}"/>
              </a:ext>
            </a:extLst>
          </p:cNvPr>
          <p:cNvSpPr/>
          <p:nvPr/>
        </p:nvSpPr>
        <p:spPr>
          <a:xfrm>
            <a:off x="7509272" y="5840968"/>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Berlin Sans FB Demi" panose="020E0802020502020306" pitchFamily="34" charset="0"/>
                <a:ea typeface="Petrona Bold" pitchFamily="34" charset="-122"/>
                <a:cs typeface="Petrona Bold" pitchFamily="34" charset="-120"/>
              </a:rPr>
              <a:t>Simulation</a:t>
            </a:r>
            <a:endParaRPr lang="en-US" sz="2300" dirty="0">
              <a:latin typeface="Berlin Sans FB Demi" panose="020E0802020502020306" pitchFamily="34" charset="0"/>
            </a:endParaRPr>
          </a:p>
        </p:txBody>
      </p:sp>
      <p:sp>
        <p:nvSpPr>
          <p:cNvPr id="31" name="Text 8">
            <a:extLst>
              <a:ext uri="{FF2B5EF4-FFF2-40B4-BE49-F238E27FC236}">
                <a16:creationId xmlns:a16="http://schemas.microsoft.com/office/drawing/2014/main" id="{908ACA67-947D-40D2-ADDB-9A21F641A351}"/>
              </a:ext>
            </a:extLst>
          </p:cNvPr>
          <p:cNvSpPr/>
          <p:nvPr/>
        </p:nvSpPr>
        <p:spPr>
          <a:xfrm>
            <a:off x="7509272" y="6349127"/>
            <a:ext cx="6100524"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Bodoni MT" panose="02070603080606020203" pitchFamily="18" charset="0"/>
                <a:ea typeface="Inter" pitchFamily="34" charset="-122"/>
                <a:cs typeface="Inter" pitchFamily="34" charset="-120"/>
              </a:rPr>
              <a:t>Model complex systems with multiple interacting components.</a:t>
            </a:r>
            <a:endParaRPr lang="en-US" sz="1750" dirty="0">
              <a:latin typeface="Bodoni MT" panose="02070603080606020203" pitchFamily="18" charset="0"/>
            </a:endParaRPr>
          </a:p>
        </p:txBody>
      </p:sp>
    </p:spTree>
    <p:extLst>
      <p:ext uri="{BB962C8B-B14F-4D97-AF65-F5344CB8AC3E}">
        <p14:creationId xmlns:p14="http://schemas.microsoft.com/office/powerpoint/2010/main" val="110044755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6748272" y="2971800"/>
            <a:ext cx="1152144" cy="1152144"/>
          </a:xfrm>
          <a:prstGeom prst="rect">
            <a:avLst/>
          </a:prstGeom>
          <a:ln>
            <a:noFill/>
          </a:ln>
          <a:effectLst>
            <a:outerShdw blurRad="292100" dist="139700" dir="2700000" algn="tl" rotWithShape="0">
              <a:srgbClr val="333333">
                <a:alpha val="65000"/>
              </a:srgbClr>
            </a:outerShdw>
          </a:effectLst>
        </p:spPr>
      </p:pic>
      <p:pic>
        <p:nvPicPr>
          <p:cNvPr id="4" name="Image 2" descr="preencoded.png"/>
          <p:cNvPicPr>
            <a:picLocks noChangeAspect="1"/>
          </p:cNvPicPr>
          <p:nvPr/>
        </p:nvPicPr>
        <p:blipFill>
          <a:blip r:embed="rId5"/>
          <a:stretch>
            <a:fillRect/>
          </a:stretch>
        </p:blipFill>
        <p:spPr>
          <a:xfrm>
            <a:off x="11192256" y="2971800"/>
            <a:ext cx="1152144" cy="1152144"/>
          </a:xfrm>
          <a:prstGeom prst="rect">
            <a:avLst/>
          </a:prstGeom>
          <a:ln>
            <a:noFill/>
          </a:ln>
          <a:effectLst>
            <a:outerShdw blurRad="292100" dist="139700" dir="2700000" algn="tl" rotWithShape="0">
              <a:srgbClr val="333333">
                <a:alpha val="65000"/>
              </a:srgbClr>
            </a:outerShdw>
          </a:effectLst>
        </p:spPr>
      </p:pic>
      <p:pic>
        <p:nvPicPr>
          <p:cNvPr id="5" name="Image 3" descr="preencoded.png"/>
          <p:cNvPicPr>
            <a:picLocks noChangeAspect="1"/>
          </p:cNvPicPr>
          <p:nvPr/>
        </p:nvPicPr>
        <p:blipFill>
          <a:blip r:embed="rId6"/>
          <a:stretch>
            <a:fillRect/>
          </a:stretch>
        </p:blipFill>
        <p:spPr>
          <a:xfrm>
            <a:off x="2304288" y="2971800"/>
            <a:ext cx="1152144" cy="1152144"/>
          </a:xfrm>
          <a:prstGeom prst="rect">
            <a:avLst/>
          </a:prstGeom>
          <a:ln>
            <a:noFill/>
          </a:ln>
          <a:effectLst>
            <a:outerShdw blurRad="292100" dist="139700" dir="2700000" algn="tl" rotWithShape="0">
              <a:srgbClr val="333333">
                <a:alpha val="65000"/>
              </a:srgbClr>
            </a:outerShdw>
          </a:effectLst>
        </p:spPr>
      </p:pic>
      <p:sp>
        <p:nvSpPr>
          <p:cNvPr id="6" name="Text 0"/>
          <p:cNvSpPr/>
          <p:nvPr/>
        </p:nvSpPr>
        <p:spPr>
          <a:xfrm>
            <a:off x="9848088" y="4864608"/>
            <a:ext cx="3831336" cy="1417320"/>
          </a:xfrm>
          <a:prstGeom prst="rect">
            <a:avLst/>
          </a:prstGeom>
          <a:noFill/>
          <a:ln/>
        </p:spPr>
        <p:txBody>
          <a:bodyPr wrap="square" lIns="0" tIns="0" rIns="0" bIns="0" rtlCol="0" anchor="ctr"/>
          <a:lstStyle/>
          <a:p>
            <a:pPr marL="0" indent="0" algn="ctr">
              <a:lnSpc>
                <a:spcPts val="2780"/>
              </a:lnSpc>
              <a:buNone/>
            </a:pPr>
            <a:r>
              <a:rPr lang="en-US" sz="1850" dirty="0">
                <a:solidFill>
                  <a:srgbClr val="050B14"/>
                </a:solidFill>
                <a:latin typeface="Bodoni MT" panose="02070603080606020203" pitchFamily="18" charset="0"/>
                <a:ea typeface="思源宋体-思源宋体-Regular" pitchFamily="34" charset="-122"/>
                <a:cs typeface="思源宋体-思源宋体-Regular" pitchFamily="34" charset="-120"/>
              </a:rPr>
              <a:t>Mastering array creation, access, and management enhances coding skills and optimizes solutions.</a:t>
            </a:r>
            <a:endParaRPr lang="en-US" sz="1850" dirty="0">
              <a:latin typeface="Bodoni MT" panose="02070603080606020203" pitchFamily="18" charset="0"/>
            </a:endParaRPr>
          </a:p>
        </p:txBody>
      </p:sp>
      <p:sp>
        <p:nvSpPr>
          <p:cNvPr id="7" name="Text 1"/>
          <p:cNvSpPr/>
          <p:nvPr/>
        </p:nvSpPr>
        <p:spPr>
          <a:xfrm>
            <a:off x="9848088" y="4352544"/>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Berlin Sans FB Demi" panose="020E0802020502020306" pitchFamily="34" charset="0"/>
                <a:ea typeface="思源宋体-思源宋体-SemiBold" pitchFamily="34" charset="-122"/>
                <a:cs typeface="思源宋体-思源宋体-SemiBold" pitchFamily="34" charset="-120"/>
              </a:rPr>
              <a:t>Developer Empowerment</a:t>
            </a:r>
            <a:endParaRPr lang="en-US" sz="2320" dirty="0">
              <a:latin typeface="Berlin Sans FB Demi" panose="020E0802020502020306" pitchFamily="34" charset="0"/>
            </a:endParaRPr>
          </a:p>
        </p:txBody>
      </p:sp>
      <p:sp>
        <p:nvSpPr>
          <p:cNvPr id="8" name="Text 2"/>
          <p:cNvSpPr/>
          <p:nvPr/>
        </p:nvSpPr>
        <p:spPr>
          <a:xfrm>
            <a:off x="960120" y="4864608"/>
            <a:ext cx="3831336" cy="1069848"/>
          </a:xfrm>
          <a:prstGeom prst="rect">
            <a:avLst/>
          </a:prstGeom>
          <a:noFill/>
          <a:ln/>
        </p:spPr>
        <p:txBody>
          <a:bodyPr wrap="square" lIns="0" tIns="0" rIns="0" bIns="0" rtlCol="0" anchor="ctr"/>
          <a:lstStyle/>
          <a:p>
            <a:pPr marL="0" indent="0" algn="ctr">
              <a:lnSpc>
                <a:spcPts val="2780"/>
              </a:lnSpc>
              <a:buNone/>
            </a:pPr>
            <a:r>
              <a:rPr lang="en-US" sz="1850" dirty="0">
                <a:solidFill>
                  <a:srgbClr val="050B14"/>
                </a:solidFill>
                <a:latin typeface="Bodoni MT" panose="02070603080606020203" pitchFamily="18" charset="0"/>
                <a:ea typeface="思源宋体-思源宋体-Regular" pitchFamily="34" charset="-122"/>
                <a:cs typeface="思源宋体-思源宋体-Regular" pitchFamily="34" charset="-120"/>
              </a:rPr>
              <a:t>Arrays of objects in C++ enable efficient management of multiple class instances.</a:t>
            </a:r>
            <a:endParaRPr lang="en-US" sz="1850" dirty="0">
              <a:latin typeface="Bodoni MT" panose="02070603080606020203" pitchFamily="18" charset="0"/>
            </a:endParaRPr>
          </a:p>
        </p:txBody>
      </p:sp>
      <p:sp>
        <p:nvSpPr>
          <p:cNvPr id="9" name="Text 3"/>
          <p:cNvSpPr/>
          <p:nvPr/>
        </p:nvSpPr>
        <p:spPr>
          <a:xfrm>
            <a:off x="832104" y="1828800"/>
            <a:ext cx="12984480" cy="740664"/>
          </a:xfrm>
          <a:prstGeom prst="rect">
            <a:avLst/>
          </a:prstGeom>
          <a:noFill/>
          <a:ln/>
        </p:spPr>
        <p:txBody>
          <a:bodyPr wrap="none" lIns="0" tIns="0" rIns="0" bIns="0" rtlCol="0" anchor="ctr"/>
          <a:lstStyle/>
          <a:p>
            <a:pPr marL="0" indent="0" algn="l">
              <a:lnSpc>
                <a:spcPts val="5800"/>
              </a:lnSpc>
              <a:buNone/>
            </a:pPr>
            <a:r>
              <a:rPr lang="en-US" sz="4640" dirty="0">
                <a:solidFill>
                  <a:srgbClr val="0C266F"/>
                </a:solidFill>
                <a:latin typeface="Berlin Sans FB Demi" panose="020E0802020502020306" pitchFamily="34" charset="0"/>
                <a:ea typeface="思源宋体-思源宋体-SemiBold" pitchFamily="34" charset="-122"/>
                <a:cs typeface="思源宋体-思源宋体-SemiBold" pitchFamily="34" charset="-120"/>
              </a:rPr>
              <a:t>Conclusion on Arrays of Objects in C++</a:t>
            </a:r>
            <a:endParaRPr lang="en-US" sz="4640" dirty="0">
              <a:latin typeface="Berlin Sans FB Demi" panose="020E0802020502020306" pitchFamily="34" charset="0"/>
            </a:endParaRPr>
          </a:p>
        </p:txBody>
      </p:sp>
      <p:sp>
        <p:nvSpPr>
          <p:cNvPr id="10" name="Text 4"/>
          <p:cNvSpPr/>
          <p:nvPr/>
        </p:nvSpPr>
        <p:spPr>
          <a:xfrm>
            <a:off x="5404104" y="4352544"/>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Berlin Sans FB Demi" panose="020E0802020502020306" pitchFamily="34" charset="0"/>
                <a:ea typeface="思源宋体-思源宋体-SemiBold" pitchFamily="34" charset="-122"/>
                <a:cs typeface="思源宋体-思源宋体-SemiBold" pitchFamily="34" charset="-120"/>
              </a:rPr>
              <a:t>Ease of Use</a:t>
            </a:r>
            <a:endParaRPr lang="en-US" sz="2320" dirty="0">
              <a:latin typeface="Berlin Sans FB Demi" panose="020E0802020502020306" pitchFamily="34" charset="0"/>
            </a:endParaRPr>
          </a:p>
        </p:txBody>
      </p:sp>
      <p:sp>
        <p:nvSpPr>
          <p:cNvPr id="11" name="Text 5"/>
          <p:cNvSpPr/>
          <p:nvPr/>
        </p:nvSpPr>
        <p:spPr>
          <a:xfrm>
            <a:off x="960120" y="4352544"/>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Berlin Sans FB Demi" panose="020E0802020502020306" pitchFamily="34" charset="0"/>
                <a:ea typeface="思源宋体-思源宋体-SemiBold" pitchFamily="34" charset="-122"/>
                <a:cs typeface="思源宋体-思源宋体-SemiBold" pitchFamily="34" charset="-120"/>
              </a:rPr>
              <a:t>Powerful Feature</a:t>
            </a:r>
            <a:endParaRPr lang="en-US" sz="2320" dirty="0">
              <a:latin typeface="Berlin Sans FB Demi" panose="020E0802020502020306" pitchFamily="34" charset="0"/>
            </a:endParaRPr>
          </a:p>
        </p:txBody>
      </p:sp>
      <p:sp>
        <p:nvSpPr>
          <p:cNvPr id="12" name="Text 6"/>
          <p:cNvSpPr/>
          <p:nvPr/>
        </p:nvSpPr>
        <p:spPr>
          <a:xfrm>
            <a:off x="5404104" y="4864608"/>
            <a:ext cx="3831336" cy="1069848"/>
          </a:xfrm>
          <a:prstGeom prst="rect">
            <a:avLst/>
          </a:prstGeom>
          <a:noFill/>
          <a:ln/>
        </p:spPr>
        <p:txBody>
          <a:bodyPr wrap="square" lIns="0" tIns="0" rIns="0" bIns="0" rtlCol="0" anchor="ctr"/>
          <a:lstStyle/>
          <a:p>
            <a:pPr marL="0" indent="0" algn="ctr">
              <a:lnSpc>
                <a:spcPts val="2780"/>
              </a:lnSpc>
              <a:buNone/>
            </a:pPr>
            <a:r>
              <a:rPr lang="en-US" sz="1850" dirty="0">
                <a:solidFill>
                  <a:srgbClr val="050B14"/>
                </a:solidFill>
                <a:latin typeface="Bodoni MT" panose="02070603080606020203" pitchFamily="18" charset="0"/>
                <a:ea typeface="思源宋体-思源宋体-Regular" pitchFamily="34" charset="-122"/>
                <a:cs typeface="思源宋体-思源宋体-Regular" pitchFamily="34" charset="-120"/>
              </a:rPr>
              <a:t>Their usability and bulk operation capabilities make them essential in programming.</a:t>
            </a:r>
            <a:endParaRPr lang="en-US" sz="1850" dirty="0">
              <a:latin typeface="Bodoni MT" panose="02070603080606020203" pitchFamily="18" charset="0"/>
            </a:endParaRPr>
          </a:p>
        </p:txBody>
      </p:sp>
      <p:pic>
        <p:nvPicPr>
          <p:cNvPr id="25" name="Image 0" descr="preencoded.png">
            <a:extLst>
              <a:ext uri="{FF2B5EF4-FFF2-40B4-BE49-F238E27FC236}">
                <a16:creationId xmlns:a16="http://schemas.microsoft.com/office/drawing/2014/main" id="{77E1684B-C8D7-4641-BFBD-85E4A62AB1F8}"/>
              </a:ext>
            </a:extLst>
          </p:cNvPr>
          <p:cNvPicPr>
            <a:picLocks noChangeAspect="1"/>
          </p:cNvPicPr>
          <p:nvPr/>
        </p:nvPicPr>
        <p:blipFill>
          <a:blip r:embed="rId7">
            <a:duotone>
              <a:prstClr val="black"/>
              <a:schemeClr val="accent5">
                <a:tint val="45000"/>
                <a:satMod val="400000"/>
              </a:schemeClr>
            </a:duotone>
            <a:extLst>
              <a:ext uri="{BEBA8EAE-BF5A-486C-A8C5-ECC9F3942E4B}">
                <a14:imgProps xmlns:a14="http://schemas.microsoft.com/office/drawing/2010/main">
                  <a14:imgLayer r:embed="rId8">
                    <a14:imgEffect>
                      <a14:artisticFilmGrain/>
                    </a14:imgEffect>
                    <a14:imgEffect>
                      <a14:sharpenSoften amount="-14000"/>
                    </a14:imgEffect>
                    <a14:imgEffect>
                      <a14:saturation sat="400000"/>
                    </a14:imgEffect>
                  </a14:imgLayer>
                </a14:imgProps>
              </a:ext>
            </a:extLst>
          </a:blip>
          <a:stretch>
            <a:fillRect/>
          </a:stretch>
        </p:blipFill>
        <p:spPr>
          <a:xfrm>
            <a:off x="-12387272" y="-1033670"/>
            <a:ext cx="7377836" cy="11066755"/>
          </a:xfrm>
          <a:prstGeom prst="rect">
            <a:avLst/>
          </a:prstGeom>
          <a:ln>
            <a:noFill/>
          </a:ln>
          <a:effectLst>
            <a:softEdge rad="635000"/>
          </a:effectLst>
        </p:spPr>
      </p:pic>
      <p:sp>
        <p:nvSpPr>
          <p:cNvPr id="13" name="Shape 1">
            <a:extLst>
              <a:ext uri="{FF2B5EF4-FFF2-40B4-BE49-F238E27FC236}">
                <a16:creationId xmlns:a16="http://schemas.microsoft.com/office/drawing/2014/main" id="{2C383B79-7317-46E5-8609-DCFF8EBECB70}"/>
              </a:ext>
            </a:extLst>
          </p:cNvPr>
          <p:cNvSpPr/>
          <p:nvPr/>
        </p:nvSpPr>
        <p:spPr>
          <a:xfrm>
            <a:off x="-32162126" y="2265447"/>
            <a:ext cx="156805" cy="803315"/>
          </a:xfrm>
          <a:prstGeom prst="roundRect">
            <a:avLst>
              <a:gd name="adj" fmla="val 56034"/>
            </a:avLst>
          </a:prstGeom>
          <a:solidFill>
            <a:srgbClr val="EBDC44"/>
          </a:solidFill>
          <a:ln w="7620">
            <a:noFill/>
            <a:prstDash val="solid"/>
          </a:ln>
          <a:effectLst>
            <a:outerShdw blurRad="50800" dist="38100" dir="8100000" algn="tr" rotWithShape="0">
              <a:prstClr val="black">
                <a:alpha val="40000"/>
              </a:prstClr>
            </a:outerShdw>
          </a:effectLst>
        </p:spPr>
      </p:sp>
      <p:sp>
        <p:nvSpPr>
          <p:cNvPr id="14" name="Text 2">
            <a:extLst>
              <a:ext uri="{FF2B5EF4-FFF2-40B4-BE49-F238E27FC236}">
                <a16:creationId xmlns:a16="http://schemas.microsoft.com/office/drawing/2014/main" id="{EF69600B-39FD-4B06-A225-94EE110C3186}"/>
              </a:ext>
            </a:extLst>
          </p:cNvPr>
          <p:cNvSpPr/>
          <p:nvPr/>
        </p:nvSpPr>
        <p:spPr>
          <a:xfrm>
            <a:off x="-31691591" y="2265447"/>
            <a:ext cx="2745700" cy="343138"/>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Petrona Bold" pitchFamily="34" charset="0"/>
                <a:ea typeface="Petrona Bold" pitchFamily="34" charset="-122"/>
                <a:cs typeface="Petrona Bold" pitchFamily="34" charset="-120"/>
              </a:rPr>
              <a:t>Efficient Storage</a:t>
            </a:r>
            <a:endParaRPr lang="en-US" sz="2150" dirty="0"/>
          </a:p>
        </p:txBody>
      </p:sp>
      <p:sp>
        <p:nvSpPr>
          <p:cNvPr id="15" name="Text 3">
            <a:extLst>
              <a:ext uri="{FF2B5EF4-FFF2-40B4-BE49-F238E27FC236}">
                <a16:creationId xmlns:a16="http://schemas.microsoft.com/office/drawing/2014/main" id="{6CE5FBE0-51A7-4590-A48E-70836F412A8B}"/>
              </a:ext>
            </a:extLst>
          </p:cNvPr>
          <p:cNvSpPr/>
          <p:nvPr/>
        </p:nvSpPr>
        <p:spPr>
          <a:xfrm>
            <a:off x="-31691591" y="2721662"/>
            <a:ext cx="7209234" cy="334685"/>
          </a:xfrm>
          <a:prstGeom prst="rect">
            <a:avLst/>
          </a:prstGeom>
          <a:noFill/>
          <a:ln/>
        </p:spPr>
        <p:txBody>
          <a:bodyPr wrap="non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Arrays of objects are perfect for managing multiple class instances.</a:t>
            </a:r>
            <a:endParaRPr lang="en-US" sz="1600" dirty="0"/>
          </a:p>
        </p:txBody>
      </p:sp>
      <p:sp>
        <p:nvSpPr>
          <p:cNvPr id="16" name="Shape 4">
            <a:extLst>
              <a:ext uri="{FF2B5EF4-FFF2-40B4-BE49-F238E27FC236}">
                <a16:creationId xmlns:a16="http://schemas.microsoft.com/office/drawing/2014/main" id="{9F7922DA-A3FE-44F8-A2A3-C3AADF835110}"/>
              </a:ext>
            </a:extLst>
          </p:cNvPr>
          <p:cNvSpPr/>
          <p:nvPr/>
        </p:nvSpPr>
        <p:spPr>
          <a:xfrm>
            <a:off x="-26788407" y="3277954"/>
            <a:ext cx="156805" cy="803315"/>
          </a:xfrm>
          <a:prstGeom prst="roundRect">
            <a:avLst>
              <a:gd name="adj" fmla="val 56034"/>
            </a:avLst>
          </a:prstGeom>
          <a:solidFill>
            <a:srgbClr val="EBDC44"/>
          </a:solidFill>
          <a:ln w="7620">
            <a:noFill/>
            <a:prstDash val="solid"/>
          </a:ln>
          <a:effectLst>
            <a:outerShdw blurRad="50800" dist="38100" dir="8100000" algn="tr" rotWithShape="0">
              <a:prstClr val="black">
                <a:alpha val="40000"/>
              </a:prstClr>
            </a:outerShdw>
          </a:effectLst>
        </p:spPr>
      </p:sp>
      <p:sp>
        <p:nvSpPr>
          <p:cNvPr id="17" name="Text 5">
            <a:extLst>
              <a:ext uri="{FF2B5EF4-FFF2-40B4-BE49-F238E27FC236}">
                <a16:creationId xmlns:a16="http://schemas.microsoft.com/office/drawing/2014/main" id="{A229021F-AF9A-4A91-8280-9600813325AE}"/>
              </a:ext>
            </a:extLst>
          </p:cNvPr>
          <p:cNvSpPr/>
          <p:nvPr/>
        </p:nvSpPr>
        <p:spPr>
          <a:xfrm>
            <a:off x="-26317872" y="3277954"/>
            <a:ext cx="2745700" cy="343138"/>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Petrona Bold" pitchFamily="34" charset="0"/>
                <a:ea typeface="Petrona Bold" pitchFamily="34" charset="-122"/>
                <a:cs typeface="Petrona Bold" pitchFamily="34" charset="-120"/>
              </a:rPr>
              <a:t>Crucial Details</a:t>
            </a:r>
            <a:endParaRPr lang="en-US" sz="2150" dirty="0"/>
          </a:p>
        </p:txBody>
      </p:sp>
      <p:sp>
        <p:nvSpPr>
          <p:cNvPr id="18" name="Text 6">
            <a:extLst>
              <a:ext uri="{FF2B5EF4-FFF2-40B4-BE49-F238E27FC236}">
                <a16:creationId xmlns:a16="http://schemas.microsoft.com/office/drawing/2014/main" id="{ED2C4548-A393-4FAE-B43B-0932E4BF4B2B}"/>
              </a:ext>
            </a:extLst>
          </p:cNvPr>
          <p:cNvSpPr/>
          <p:nvPr/>
        </p:nvSpPr>
        <p:spPr>
          <a:xfrm>
            <a:off x="-26317872" y="3746584"/>
            <a:ext cx="6895505" cy="334685"/>
          </a:xfrm>
          <a:prstGeom prst="rect">
            <a:avLst/>
          </a:prstGeom>
          <a:noFill/>
          <a:ln/>
        </p:spPr>
        <p:txBody>
          <a:bodyPr wrap="non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Proper initialization and correct member access are vital for success.</a:t>
            </a:r>
            <a:endParaRPr lang="en-US" sz="1600" dirty="0"/>
          </a:p>
        </p:txBody>
      </p:sp>
      <p:sp>
        <p:nvSpPr>
          <p:cNvPr id="19" name="Shape 7">
            <a:extLst>
              <a:ext uri="{FF2B5EF4-FFF2-40B4-BE49-F238E27FC236}">
                <a16:creationId xmlns:a16="http://schemas.microsoft.com/office/drawing/2014/main" id="{39AC01DA-C1D2-48AA-9187-7EF954896084}"/>
              </a:ext>
            </a:extLst>
          </p:cNvPr>
          <p:cNvSpPr/>
          <p:nvPr/>
        </p:nvSpPr>
        <p:spPr>
          <a:xfrm>
            <a:off x="-20510530" y="4290462"/>
            <a:ext cx="156805" cy="1137999"/>
          </a:xfrm>
          <a:prstGeom prst="roundRect">
            <a:avLst>
              <a:gd name="adj" fmla="val 56034"/>
            </a:avLst>
          </a:prstGeom>
          <a:solidFill>
            <a:srgbClr val="EBDC44"/>
          </a:solidFill>
          <a:ln w="7620">
            <a:noFill/>
            <a:prstDash val="solid"/>
          </a:ln>
          <a:effectLst>
            <a:outerShdw blurRad="50800" dist="38100" dir="8100000" algn="tr" rotWithShape="0">
              <a:prstClr val="black">
                <a:alpha val="40000"/>
              </a:prstClr>
            </a:outerShdw>
          </a:effectLst>
        </p:spPr>
      </p:sp>
      <p:sp>
        <p:nvSpPr>
          <p:cNvPr id="20" name="Text 8">
            <a:extLst>
              <a:ext uri="{FF2B5EF4-FFF2-40B4-BE49-F238E27FC236}">
                <a16:creationId xmlns:a16="http://schemas.microsoft.com/office/drawing/2014/main" id="{1474AE11-EA57-49CE-BD96-8CA313B5DB17}"/>
              </a:ext>
            </a:extLst>
          </p:cNvPr>
          <p:cNvSpPr/>
          <p:nvPr/>
        </p:nvSpPr>
        <p:spPr>
          <a:xfrm>
            <a:off x="-20039995" y="4290462"/>
            <a:ext cx="2745700" cy="343138"/>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Petrona Bold" pitchFamily="34" charset="0"/>
                <a:ea typeface="Petrona Bold" pitchFamily="34" charset="-122"/>
                <a:cs typeface="Petrona Bold" pitchFamily="34" charset="-120"/>
              </a:rPr>
              <a:t>Powerful Tool</a:t>
            </a:r>
            <a:endParaRPr lang="en-US" sz="2150" dirty="0"/>
          </a:p>
        </p:txBody>
      </p:sp>
      <p:sp>
        <p:nvSpPr>
          <p:cNvPr id="21" name="Text 9">
            <a:extLst>
              <a:ext uri="{FF2B5EF4-FFF2-40B4-BE49-F238E27FC236}">
                <a16:creationId xmlns:a16="http://schemas.microsoft.com/office/drawing/2014/main" id="{9BC5EB99-E865-40F7-B0E3-3101B87FFF31}"/>
              </a:ext>
            </a:extLst>
          </p:cNvPr>
          <p:cNvSpPr/>
          <p:nvPr/>
        </p:nvSpPr>
        <p:spPr>
          <a:xfrm>
            <a:off x="-20039995" y="4759092"/>
            <a:ext cx="6581656" cy="669369"/>
          </a:xfrm>
          <a:prstGeom prst="rect">
            <a:avLst/>
          </a:prstGeom>
          <a:noFill/>
          <a:ln/>
        </p:spPr>
        <p:txBody>
          <a:bodyPr wrap="squar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Mastering this concept unlocks capabilities for complex C++ applications.</a:t>
            </a:r>
            <a:endParaRPr lang="en-US" sz="1600" dirty="0"/>
          </a:p>
        </p:txBody>
      </p:sp>
      <p:sp>
        <p:nvSpPr>
          <p:cNvPr id="22" name="Shape 10">
            <a:extLst>
              <a:ext uri="{FF2B5EF4-FFF2-40B4-BE49-F238E27FC236}">
                <a16:creationId xmlns:a16="http://schemas.microsoft.com/office/drawing/2014/main" id="{BDC54B7E-2D51-4CFB-9B1B-84063C00859F}"/>
              </a:ext>
            </a:extLst>
          </p:cNvPr>
          <p:cNvSpPr/>
          <p:nvPr/>
        </p:nvSpPr>
        <p:spPr>
          <a:xfrm>
            <a:off x="-13928874" y="5637654"/>
            <a:ext cx="156805" cy="803315"/>
          </a:xfrm>
          <a:prstGeom prst="roundRect">
            <a:avLst>
              <a:gd name="adj" fmla="val 56034"/>
            </a:avLst>
          </a:prstGeom>
          <a:solidFill>
            <a:srgbClr val="EBDC44"/>
          </a:solidFill>
          <a:ln w="7620">
            <a:noFill/>
            <a:prstDash val="solid"/>
          </a:ln>
          <a:effectLst>
            <a:outerShdw blurRad="50800" dist="38100" dir="8100000" algn="tr" rotWithShape="0">
              <a:prstClr val="black">
                <a:alpha val="40000"/>
              </a:prstClr>
            </a:outerShdw>
          </a:effectLst>
        </p:spPr>
      </p:sp>
      <p:sp>
        <p:nvSpPr>
          <p:cNvPr id="23" name="Text 11">
            <a:extLst>
              <a:ext uri="{FF2B5EF4-FFF2-40B4-BE49-F238E27FC236}">
                <a16:creationId xmlns:a16="http://schemas.microsoft.com/office/drawing/2014/main" id="{511522AF-FBE2-4222-A832-43006154DB6D}"/>
              </a:ext>
            </a:extLst>
          </p:cNvPr>
          <p:cNvSpPr/>
          <p:nvPr/>
        </p:nvSpPr>
        <p:spPr>
          <a:xfrm>
            <a:off x="-13458339" y="5637654"/>
            <a:ext cx="2745700" cy="343138"/>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Petrona Bold" pitchFamily="34" charset="0"/>
                <a:ea typeface="Petrona Bold" pitchFamily="34" charset="-122"/>
                <a:cs typeface="Petrona Bold" pitchFamily="34" charset="-120"/>
              </a:rPr>
              <a:t>Next Steps</a:t>
            </a:r>
            <a:endParaRPr lang="en-US" sz="2150" dirty="0"/>
          </a:p>
        </p:txBody>
      </p:sp>
      <p:sp>
        <p:nvSpPr>
          <p:cNvPr id="24" name="Text 12">
            <a:extLst>
              <a:ext uri="{FF2B5EF4-FFF2-40B4-BE49-F238E27FC236}">
                <a16:creationId xmlns:a16="http://schemas.microsoft.com/office/drawing/2014/main" id="{7E6C4038-2B0F-41DB-A3C1-CCCDB9F248A8}"/>
              </a:ext>
            </a:extLst>
          </p:cNvPr>
          <p:cNvSpPr/>
          <p:nvPr/>
        </p:nvSpPr>
        <p:spPr>
          <a:xfrm>
            <a:off x="-13458339" y="6106284"/>
            <a:ext cx="6267926" cy="334685"/>
          </a:xfrm>
          <a:prstGeom prst="rect">
            <a:avLst/>
          </a:prstGeom>
          <a:noFill/>
          <a:ln/>
        </p:spPr>
        <p:txBody>
          <a:bodyPr wrap="non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Explore dynamic arrays like </a:t>
            </a:r>
            <a:r>
              <a:rPr lang="en-US" sz="1600" b="1" dirty="0">
                <a:solidFill>
                  <a:srgbClr val="272525"/>
                </a:solidFill>
                <a:latin typeface="Inter" pitchFamily="34" charset="0"/>
                <a:ea typeface="Inter" pitchFamily="34" charset="-122"/>
                <a:cs typeface="Inter" pitchFamily="34" charset="-120"/>
              </a:rPr>
              <a:t>std::vector</a:t>
            </a:r>
            <a:r>
              <a:rPr lang="en-US" sz="1600" dirty="0">
                <a:solidFill>
                  <a:srgbClr val="272525"/>
                </a:solidFill>
                <a:latin typeface="Inter" pitchFamily="34" charset="0"/>
                <a:ea typeface="Inter" pitchFamily="34" charset="-122"/>
                <a:cs typeface="Inter" pitchFamily="34" charset="-120"/>
              </a:rPr>
              <a:t> for flexible sizing.</a:t>
            </a:r>
            <a:endParaRPr lang="en-US" sz="1600" dirty="0"/>
          </a:p>
        </p:txBody>
      </p:sp>
    </p:spTree>
  </p:cSld>
  <p:clrMapOvr>
    <a:masterClrMapping/>
  </p:clrMapOvr>
  <p:transition spd="med">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16" name="Image 0" descr="preencoded.png">
            <a:extLst>
              <a:ext uri="{FF2B5EF4-FFF2-40B4-BE49-F238E27FC236}">
                <a16:creationId xmlns:a16="http://schemas.microsoft.com/office/drawing/2014/main" id="{BAEB7545-B072-48EA-B5FD-F6CD77A38F96}"/>
              </a:ext>
            </a:extLst>
          </p:cNvPr>
          <p:cNvPicPr>
            <a:picLocks noChangeAspect="1"/>
          </p:cNvPicPr>
          <p:nvPr/>
        </p:nvPicPr>
        <p:blipFill>
          <a:blip r:embed="rId4">
            <a:duotone>
              <a:prstClr val="black"/>
              <a:schemeClr val="accent5">
                <a:tint val="45000"/>
                <a:satMod val="400000"/>
              </a:schemeClr>
            </a:duotone>
            <a:extLst>
              <a:ext uri="{BEBA8EAE-BF5A-486C-A8C5-ECC9F3942E4B}">
                <a14:imgProps xmlns:a14="http://schemas.microsoft.com/office/drawing/2010/main">
                  <a14:imgLayer r:embed="rId5">
                    <a14:imgEffect>
                      <a14:artisticFilmGrain/>
                    </a14:imgEffect>
                    <a14:imgEffect>
                      <a14:sharpenSoften amount="-14000"/>
                    </a14:imgEffect>
                    <a14:imgEffect>
                      <a14:saturation sat="400000"/>
                    </a14:imgEffect>
                  </a14:imgLayer>
                </a14:imgProps>
              </a:ext>
            </a:extLst>
          </a:blip>
          <a:stretch>
            <a:fillRect/>
          </a:stretch>
        </p:blipFill>
        <p:spPr>
          <a:xfrm>
            <a:off x="-1897490" y="-1033670"/>
            <a:ext cx="7377836" cy="11066755"/>
          </a:xfrm>
          <a:prstGeom prst="rect">
            <a:avLst/>
          </a:prstGeom>
          <a:ln>
            <a:noFill/>
          </a:ln>
          <a:effectLst>
            <a:softEdge rad="635000"/>
          </a:effectLst>
        </p:spPr>
      </p:pic>
      <p:sp>
        <p:nvSpPr>
          <p:cNvPr id="17" name="Text 0">
            <a:extLst>
              <a:ext uri="{FF2B5EF4-FFF2-40B4-BE49-F238E27FC236}">
                <a16:creationId xmlns:a16="http://schemas.microsoft.com/office/drawing/2014/main" id="{DD3124A5-DDD3-455C-A417-9F20161EF89D}"/>
              </a:ext>
            </a:extLst>
          </p:cNvPr>
          <p:cNvSpPr/>
          <p:nvPr/>
        </p:nvSpPr>
        <p:spPr>
          <a:xfrm>
            <a:off x="5853671" y="1265322"/>
            <a:ext cx="7335679" cy="686395"/>
          </a:xfrm>
          <a:prstGeom prst="rect">
            <a:avLst/>
          </a:prstGeom>
          <a:noFill/>
          <a:ln/>
        </p:spPr>
        <p:txBody>
          <a:bodyPr wrap="none" lIns="0" tIns="0" rIns="0" bIns="0" rtlCol="0" anchor="t"/>
          <a:lstStyle/>
          <a:p>
            <a:pPr marL="0" indent="0" algn="l">
              <a:lnSpc>
                <a:spcPts val="5400"/>
              </a:lnSpc>
              <a:buNone/>
            </a:pPr>
            <a:r>
              <a:rPr lang="en-US" sz="4300" b="1" dirty="0">
                <a:solidFill>
                  <a:srgbClr val="000000"/>
                </a:solidFill>
                <a:latin typeface="Berlin Sans FB Demi" panose="020E0802020502020306" pitchFamily="34" charset="0"/>
                <a:ea typeface="Petrona Bold" pitchFamily="34" charset="-122"/>
                <a:cs typeface="Petrona Bold" pitchFamily="34" charset="-120"/>
              </a:rPr>
              <a:t>Summary and Key Takeaways</a:t>
            </a:r>
            <a:endParaRPr lang="en-US" sz="4300" dirty="0">
              <a:latin typeface="Berlin Sans FB Demi" panose="020E0802020502020306" pitchFamily="34" charset="0"/>
            </a:endParaRPr>
          </a:p>
        </p:txBody>
      </p:sp>
      <p:pic>
        <p:nvPicPr>
          <p:cNvPr id="32" name="Image 1" descr="preencoded.png">
            <a:extLst>
              <a:ext uri="{FF2B5EF4-FFF2-40B4-BE49-F238E27FC236}">
                <a16:creationId xmlns:a16="http://schemas.microsoft.com/office/drawing/2014/main" id="{BC8CEA4A-D1F4-411F-A8DF-EE21D1A28534}"/>
              </a:ext>
            </a:extLst>
          </p:cNvPr>
          <p:cNvPicPr>
            <a:picLocks noChangeAspect="1"/>
          </p:cNvPicPr>
          <p:nvPr/>
        </p:nvPicPr>
        <p:blipFill>
          <a:blip r:embed="rId6"/>
          <a:stretch>
            <a:fillRect/>
          </a:stretch>
        </p:blipFill>
        <p:spPr>
          <a:xfrm>
            <a:off x="-5516951" y="0"/>
            <a:ext cx="4974336" cy="8238744"/>
          </a:xfrm>
          <a:prstGeom prst="rect">
            <a:avLst/>
          </a:prstGeom>
        </p:spPr>
      </p:pic>
      <p:pic>
        <p:nvPicPr>
          <p:cNvPr id="30" name="Image 1" descr="preencoded.png">
            <a:extLst>
              <a:ext uri="{FF2B5EF4-FFF2-40B4-BE49-F238E27FC236}">
                <a16:creationId xmlns:a16="http://schemas.microsoft.com/office/drawing/2014/main" id="{217BE252-1AE9-44B1-9BC3-71751C4A2D21}"/>
              </a:ext>
            </a:extLst>
          </p:cNvPr>
          <p:cNvPicPr>
            <a:picLocks noChangeAspect="1"/>
          </p:cNvPicPr>
          <p:nvPr/>
        </p:nvPicPr>
        <p:blipFill>
          <a:blip r:embed="rId7"/>
          <a:stretch>
            <a:fillRect/>
          </a:stretch>
        </p:blipFill>
        <p:spPr>
          <a:xfrm>
            <a:off x="6748272" y="10783250"/>
            <a:ext cx="1152144" cy="1152144"/>
          </a:xfrm>
          <a:prstGeom prst="rect">
            <a:avLst/>
          </a:prstGeom>
          <a:ln>
            <a:noFill/>
          </a:ln>
          <a:effectLst>
            <a:outerShdw blurRad="292100" dist="139700" dir="2700000" algn="tl" rotWithShape="0">
              <a:srgbClr val="333333">
                <a:alpha val="65000"/>
              </a:srgbClr>
            </a:outerShdw>
          </a:effectLst>
        </p:spPr>
      </p:pic>
      <p:pic>
        <p:nvPicPr>
          <p:cNvPr id="31" name="Image 2" descr="preencoded.png">
            <a:extLst>
              <a:ext uri="{FF2B5EF4-FFF2-40B4-BE49-F238E27FC236}">
                <a16:creationId xmlns:a16="http://schemas.microsoft.com/office/drawing/2014/main" id="{33264301-4928-43DB-9EDD-E0FF612F7419}"/>
              </a:ext>
            </a:extLst>
          </p:cNvPr>
          <p:cNvPicPr>
            <a:picLocks noChangeAspect="1"/>
          </p:cNvPicPr>
          <p:nvPr/>
        </p:nvPicPr>
        <p:blipFill>
          <a:blip r:embed="rId8"/>
          <a:stretch>
            <a:fillRect/>
          </a:stretch>
        </p:blipFill>
        <p:spPr>
          <a:xfrm>
            <a:off x="6689442" y="10783250"/>
            <a:ext cx="1152144" cy="1152144"/>
          </a:xfrm>
          <a:prstGeom prst="rect">
            <a:avLst/>
          </a:prstGeom>
          <a:ln>
            <a:noFill/>
          </a:ln>
          <a:effectLst>
            <a:outerShdw blurRad="292100" dist="139700" dir="2700000" algn="tl" rotWithShape="0">
              <a:srgbClr val="333333">
                <a:alpha val="65000"/>
              </a:srgbClr>
            </a:outerShdw>
          </a:effectLst>
        </p:spPr>
      </p:pic>
      <p:pic>
        <p:nvPicPr>
          <p:cNvPr id="33" name="Image 3" descr="preencoded.png">
            <a:extLst>
              <a:ext uri="{FF2B5EF4-FFF2-40B4-BE49-F238E27FC236}">
                <a16:creationId xmlns:a16="http://schemas.microsoft.com/office/drawing/2014/main" id="{4E055723-1084-4A75-B59F-96AA705D1659}"/>
              </a:ext>
            </a:extLst>
          </p:cNvPr>
          <p:cNvPicPr>
            <a:picLocks noChangeAspect="1"/>
          </p:cNvPicPr>
          <p:nvPr/>
        </p:nvPicPr>
        <p:blipFill>
          <a:blip r:embed="rId9"/>
          <a:stretch>
            <a:fillRect/>
          </a:stretch>
        </p:blipFill>
        <p:spPr>
          <a:xfrm>
            <a:off x="6689442" y="10783250"/>
            <a:ext cx="1152144" cy="1152144"/>
          </a:xfrm>
          <a:prstGeom prst="rect">
            <a:avLst/>
          </a:prstGeom>
          <a:ln>
            <a:noFill/>
          </a:ln>
          <a:effectLst>
            <a:outerShdw blurRad="292100" dist="139700" dir="2700000" algn="tl" rotWithShape="0">
              <a:srgbClr val="333333">
                <a:alpha val="65000"/>
              </a:srgbClr>
            </a:outerShdw>
          </a:effectLst>
        </p:spPr>
      </p:pic>
      <p:sp>
        <p:nvSpPr>
          <p:cNvPr id="34" name="Text 0">
            <a:extLst>
              <a:ext uri="{FF2B5EF4-FFF2-40B4-BE49-F238E27FC236}">
                <a16:creationId xmlns:a16="http://schemas.microsoft.com/office/drawing/2014/main" id="{20321EE2-3D27-42DC-8399-335473A075C9}"/>
              </a:ext>
            </a:extLst>
          </p:cNvPr>
          <p:cNvSpPr/>
          <p:nvPr/>
        </p:nvSpPr>
        <p:spPr>
          <a:xfrm>
            <a:off x="5238570" y="12676058"/>
            <a:ext cx="3831336" cy="1417320"/>
          </a:xfrm>
          <a:prstGeom prst="rect">
            <a:avLst/>
          </a:prstGeom>
          <a:noFill/>
          <a:ln/>
        </p:spPr>
        <p:txBody>
          <a:bodyPr wrap="square" lIns="0" tIns="0" rIns="0" bIns="0" rtlCol="0" anchor="ctr"/>
          <a:lstStyle/>
          <a:p>
            <a:pPr marL="0" indent="0" algn="ct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Mastering array creation, access, and management enhances coding skills and optimizes solutions.</a:t>
            </a:r>
            <a:endParaRPr lang="en-US" sz="1850" dirty="0"/>
          </a:p>
        </p:txBody>
      </p:sp>
      <p:sp>
        <p:nvSpPr>
          <p:cNvPr id="35" name="Text 1">
            <a:extLst>
              <a:ext uri="{FF2B5EF4-FFF2-40B4-BE49-F238E27FC236}">
                <a16:creationId xmlns:a16="http://schemas.microsoft.com/office/drawing/2014/main" id="{F20A8764-F881-44EE-9958-35FFAA478D0A}"/>
              </a:ext>
            </a:extLst>
          </p:cNvPr>
          <p:cNvSpPr/>
          <p:nvPr/>
        </p:nvSpPr>
        <p:spPr>
          <a:xfrm>
            <a:off x="5345274" y="12163994"/>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Developer Empowerment</a:t>
            </a:r>
            <a:endParaRPr lang="en-US" sz="2320" dirty="0"/>
          </a:p>
        </p:txBody>
      </p:sp>
      <p:sp>
        <p:nvSpPr>
          <p:cNvPr id="36" name="Text 2">
            <a:extLst>
              <a:ext uri="{FF2B5EF4-FFF2-40B4-BE49-F238E27FC236}">
                <a16:creationId xmlns:a16="http://schemas.microsoft.com/office/drawing/2014/main" id="{7A805D6D-145F-4655-BF8A-6CEF425CBEA6}"/>
              </a:ext>
            </a:extLst>
          </p:cNvPr>
          <p:cNvSpPr/>
          <p:nvPr/>
        </p:nvSpPr>
        <p:spPr>
          <a:xfrm>
            <a:off x="5345274" y="12676058"/>
            <a:ext cx="3831336" cy="1069848"/>
          </a:xfrm>
          <a:prstGeom prst="rect">
            <a:avLst/>
          </a:prstGeom>
          <a:noFill/>
          <a:ln/>
        </p:spPr>
        <p:txBody>
          <a:bodyPr wrap="square" lIns="0" tIns="0" rIns="0" bIns="0" rtlCol="0" anchor="ctr"/>
          <a:lstStyle/>
          <a:p>
            <a:pPr marL="0" indent="0" algn="ct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Arrays of objects in C++ enable efficient management of multiple class instances.</a:t>
            </a:r>
            <a:endParaRPr lang="en-US" sz="1850" dirty="0"/>
          </a:p>
        </p:txBody>
      </p:sp>
      <p:sp>
        <p:nvSpPr>
          <p:cNvPr id="37" name="Text 4">
            <a:extLst>
              <a:ext uri="{FF2B5EF4-FFF2-40B4-BE49-F238E27FC236}">
                <a16:creationId xmlns:a16="http://schemas.microsoft.com/office/drawing/2014/main" id="{5B7E678A-C4AE-44B0-A85B-8FC16864AC24}"/>
              </a:ext>
            </a:extLst>
          </p:cNvPr>
          <p:cNvSpPr/>
          <p:nvPr/>
        </p:nvSpPr>
        <p:spPr>
          <a:xfrm>
            <a:off x="5404104" y="12163994"/>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Ease of Use</a:t>
            </a:r>
            <a:endParaRPr lang="en-US" sz="2320" dirty="0"/>
          </a:p>
        </p:txBody>
      </p:sp>
      <p:sp>
        <p:nvSpPr>
          <p:cNvPr id="38" name="Text 5">
            <a:extLst>
              <a:ext uri="{FF2B5EF4-FFF2-40B4-BE49-F238E27FC236}">
                <a16:creationId xmlns:a16="http://schemas.microsoft.com/office/drawing/2014/main" id="{1D7F02C8-038B-4395-A2F3-83AA83D1B00C}"/>
              </a:ext>
            </a:extLst>
          </p:cNvPr>
          <p:cNvSpPr/>
          <p:nvPr/>
        </p:nvSpPr>
        <p:spPr>
          <a:xfrm>
            <a:off x="5345274" y="12163994"/>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050B14"/>
                </a:solidFill>
                <a:latin typeface="思源宋体-思源宋体-SemiBold" pitchFamily="34" charset="0"/>
                <a:ea typeface="思源宋体-思源宋体-SemiBold" pitchFamily="34" charset="-122"/>
                <a:cs typeface="思源宋体-思源宋体-SemiBold" pitchFamily="34" charset="-120"/>
              </a:rPr>
              <a:t>Powerful Feature</a:t>
            </a:r>
            <a:endParaRPr lang="en-US" sz="2320" dirty="0"/>
          </a:p>
        </p:txBody>
      </p:sp>
      <p:sp>
        <p:nvSpPr>
          <p:cNvPr id="39" name="Text 6">
            <a:extLst>
              <a:ext uri="{FF2B5EF4-FFF2-40B4-BE49-F238E27FC236}">
                <a16:creationId xmlns:a16="http://schemas.microsoft.com/office/drawing/2014/main" id="{C726A24A-D968-40D6-BF9B-1AF5B48F2EB9}"/>
              </a:ext>
            </a:extLst>
          </p:cNvPr>
          <p:cNvSpPr/>
          <p:nvPr/>
        </p:nvSpPr>
        <p:spPr>
          <a:xfrm>
            <a:off x="5404104" y="12676058"/>
            <a:ext cx="3831336" cy="1069848"/>
          </a:xfrm>
          <a:prstGeom prst="rect">
            <a:avLst/>
          </a:prstGeom>
          <a:noFill/>
          <a:ln/>
        </p:spPr>
        <p:txBody>
          <a:bodyPr wrap="square" lIns="0" tIns="0" rIns="0" bIns="0" rtlCol="0" anchor="ctr"/>
          <a:lstStyle/>
          <a:p>
            <a:pPr marL="0" indent="0" algn="ctr">
              <a:lnSpc>
                <a:spcPts val="2780"/>
              </a:lnSpc>
              <a:buNone/>
            </a:pPr>
            <a:r>
              <a:rPr lang="en-US" sz="1850" dirty="0">
                <a:solidFill>
                  <a:srgbClr val="050B14"/>
                </a:solidFill>
                <a:latin typeface="思源宋体-思源宋体-Regular" pitchFamily="34" charset="0"/>
                <a:ea typeface="思源宋体-思源宋体-Regular" pitchFamily="34" charset="-122"/>
                <a:cs typeface="思源宋体-思源宋体-Regular" pitchFamily="34" charset="-120"/>
              </a:rPr>
              <a:t>Their usability and bulk operation capabilities make them essential in programming.</a:t>
            </a:r>
            <a:endParaRPr lang="en-US" sz="1850" dirty="0"/>
          </a:p>
        </p:txBody>
      </p:sp>
      <p:sp>
        <p:nvSpPr>
          <p:cNvPr id="18" name="Shape 1">
            <a:extLst>
              <a:ext uri="{FF2B5EF4-FFF2-40B4-BE49-F238E27FC236}">
                <a16:creationId xmlns:a16="http://schemas.microsoft.com/office/drawing/2014/main" id="{3BCC409B-7ECE-4C3F-BE72-9FC6B267E19A}"/>
              </a:ext>
            </a:extLst>
          </p:cNvPr>
          <p:cNvSpPr/>
          <p:nvPr/>
        </p:nvSpPr>
        <p:spPr>
          <a:xfrm>
            <a:off x="5853671" y="2265447"/>
            <a:ext cx="156805" cy="803315"/>
          </a:xfrm>
          <a:prstGeom prst="roundRect">
            <a:avLst>
              <a:gd name="adj" fmla="val 56034"/>
            </a:avLst>
          </a:prstGeom>
          <a:solidFill>
            <a:srgbClr val="EBDC44"/>
          </a:solidFill>
          <a:ln w="7620">
            <a:noFill/>
            <a:prstDash val="solid"/>
          </a:ln>
          <a:effectLst>
            <a:outerShdw blurRad="50800" dist="38100" dir="8100000" algn="tr" rotWithShape="0">
              <a:prstClr val="black">
                <a:alpha val="40000"/>
              </a:prstClr>
            </a:outerShdw>
          </a:effectLst>
        </p:spPr>
      </p:sp>
      <p:sp>
        <p:nvSpPr>
          <p:cNvPr id="19" name="Text 2">
            <a:extLst>
              <a:ext uri="{FF2B5EF4-FFF2-40B4-BE49-F238E27FC236}">
                <a16:creationId xmlns:a16="http://schemas.microsoft.com/office/drawing/2014/main" id="{B6EE534F-3EDD-4DB5-89CA-692F814476E5}"/>
              </a:ext>
            </a:extLst>
          </p:cNvPr>
          <p:cNvSpPr/>
          <p:nvPr/>
        </p:nvSpPr>
        <p:spPr>
          <a:xfrm>
            <a:off x="6324206" y="2265447"/>
            <a:ext cx="2745700" cy="343138"/>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Berlin Sans FB Demi" panose="020E0802020502020306" pitchFamily="34" charset="0"/>
                <a:ea typeface="Petrona Bold" pitchFamily="34" charset="-122"/>
                <a:cs typeface="Petrona Bold" pitchFamily="34" charset="-120"/>
              </a:rPr>
              <a:t>Efficient Storage</a:t>
            </a:r>
            <a:endParaRPr lang="en-US" sz="2150" dirty="0">
              <a:latin typeface="Berlin Sans FB Demi" panose="020E0802020502020306" pitchFamily="34" charset="0"/>
            </a:endParaRPr>
          </a:p>
        </p:txBody>
      </p:sp>
      <p:sp>
        <p:nvSpPr>
          <p:cNvPr id="20" name="Text 3">
            <a:extLst>
              <a:ext uri="{FF2B5EF4-FFF2-40B4-BE49-F238E27FC236}">
                <a16:creationId xmlns:a16="http://schemas.microsoft.com/office/drawing/2014/main" id="{5750F9D6-4E4B-4D12-8D07-4CC7B46DEEAC}"/>
              </a:ext>
            </a:extLst>
          </p:cNvPr>
          <p:cNvSpPr/>
          <p:nvPr/>
        </p:nvSpPr>
        <p:spPr>
          <a:xfrm>
            <a:off x="6324206" y="2734077"/>
            <a:ext cx="7209234" cy="334685"/>
          </a:xfrm>
          <a:prstGeom prst="rect">
            <a:avLst/>
          </a:prstGeom>
          <a:noFill/>
          <a:ln/>
        </p:spPr>
        <p:txBody>
          <a:bodyPr wrap="none" lIns="0" tIns="0" rIns="0" bIns="0" rtlCol="0" anchor="t"/>
          <a:lstStyle/>
          <a:p>
            <a:pPr marL="0" indent="0" algn="l">
              <a:lnSpc>
                <a:spcPts val="2600"/>
              </a:lnSpc>
              <a:buNone/>
            </a:pPr>
            <a:r>
              <a:rPr lang="en-US" sz="1600" dirty="0">
                <a:solidFill>
                  <a:srgbClr val="272525"/>
                </a:solidFill>
                <a:latin typeface="Bodoni MT" panose="02070603080606020203" pitchFamily="18" charset="0"/>
                <a:ea typeface="Inter" pitchFamily="34" charset="-122"/>
                <a:cs typeface="Inter" pitchFamily="34" charset="-120"/>
              </a:rPr>
              <a:t>Arrays of objects are perfect for managing multiple class instances.</a:t>
            </a:r>
            <a:endParaRPr lang="en-US" sz="1600" dirty="0">
              <a:latin typeface="Bodoni MT" panose="02070603080606020203" pitchFamily="18" charset="0"/>
            </a:endParaRPr>
          </a:p>
        </p:txBody>
      </p:sp>
      <p:sp>
        <p:nvSpPr>
          <p:cNvPr id="21" name="Shape 4">
            <a:extLst>
              <a:ext uri="{FF2B5EF4-FFF2-40B4-BE49-F238E27FC236}">
                <a16:creationId xmlns:a16="http://schemas.microsoft.com/office/drawing/2014/main" id="{3680BC50-F68C-40C0-819A-9EC4BD5EA6C3}"/>
              </a:ext>
            </a:extLst>
          </p:cNvPr>
          <p:cNvSpPr/>
          <p:nvPr/>
        </p:nvSpPr>
        <p:spPr>
          <a:xfrm>
            <a:off x="6167401" y="3277954"/>
            <a:ext cx="156805" cy="803315"/>
          </a:xfrm>
          <a:prstGeom prst="roundRect">
            <a:avLst>
              <a:gd name="adj" fmla="val 56034"/>
            </a:avLst>
          </a:prstGeom>
          <a:solidFill>
            <a:srgbClr val="EBDC44"/>
          </a:solidFill>
          <a:ln w="7620">
            <a:noFill/>
            <a:prstDash val="solid"/>
          </a:ln>
          <a:effectLst>
            <a:outerShdw blurRad="50800" dist="38100" dir="8100000" algn="tr" rotWithShape="0">
              <a:prstClr val="black">
                <a:alpha val="40000"/>
              </a:prstClr>
            </a:outerShdw>
          </a:effectLst>
        </p:spPr>
      </p:sp>
      <p:sp>
        <p:nvSpPr>
          <p:cNvPr id="22" name="Text 5">
            <a:extLst>
              <a:ext uri="{FF2B5EF4-FFF2-40B4-BE49-F238E27FC236}">
                <a16:creationId xmlns:a16="http://schemas.microsoft.com/office/drawing/2014/main" id="{AA64E268-7E2C-4BCC-878D-4E267FE0F6F9}"/>
              </a:ext>
            </a:extLst>
          </p:cNvPr>
          <p:cNvSpPr/>
          <p:nvPr/>
        </p:nvSpPr>
        <p:spPr>
          <a:xfrm>
            <a:off x="6637936" y="3277954"/>
            <a:ext cx="2745700" cy="343138"/>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Berlin Sans FB Demi" panose="020E0802020502020306" pitchFamily="34" charset="0"/>
                <a:ea typeface="Petrona Bold" pitchFamily="34" charset="-122"/>
                <a:cs typeface="Petrona Bold" pitchFamily="34" charset="-120"/>
              </a:rPr>
              <a:t>Crucial Details</a:t>
            </a:r>
            <a:endParaRPr lang="en-US" sz="2150" dirty="0">
              <a:latin typeface="Berlin Sans FB Demi" panose="020E0802020502020306" pitchFamily="34" charset="0"/>
            </a:endParaRPr>
          </a:p>
        </p:txBody>
      </p:sp>
      <p:sp>
        <p:nvSpPr>
          <p:cNvPr id="23" name="Text 6">
            <a:extLst>
              <a:ext uri="{FF2B5EF4-FFF2-40B4-BE49-F238E27FC236}">
                <a16:creationId xmlns:a16="http://schemas.microsoft.com/office/drawing/2014/main" id="{CC8439EA-E311-4B15-9171-24BFB643A30F}"/>
              </a:ext>
            </a:extLst>
          </p:cNvPr>
          <p:cNvSpPr/>
          <p:nvPr/>
        </p:nvSpPr>
        <p:spPr>
          <a:xfrm>
            <a:off x="6637936" y="3746584"/>
            <a:ext cx="6895505" cy="334685"/>
          </a:xfrm>
          <a:prstGeom prst="rect">
            <a:avLst/>
          </a:prstGeom>
          <a:noFill/>
          <a:ln/>
        </p:spPr>
        <p:txBody>
          <a:bodyPr wrap="none" lIns="0" tIns="0" rIns="0" bIns="0" rtlCol="0" anchor="t"/>
          <a:lstStyle/>
          <a:p>
            <a:pPr marL="0" indent="0" algn="l">
              <a:lnSpc>
                <a:spcPts val="2600"/>
              </a:lnSpc>
              <a:buNone/>
            </a:pPr>
            <a:r>
              <a:rPr lang="en-US" sz="1600" dirty="0">
                <a:solidFill>
                  <a:srgbClr val="272525"/>
                </a:solidFill>
                <a:latin typeface="Bodoni MT" panose="02070603080606020203" pitchFamily="18" charset="0"/>
                <a:ea typeface="Inter" pitchFamily="34" charset="-122"/>
                <a:cs typeface="Inter" pitchFamily="34" charset="-120"/>
              </a:rPr>
              <a:t>Proper initialization and correct member access are vital for success.</a:t>
            </a:r>
            <a:endParaRPr lang="en-US" sz="1600" dirty="0">
              <a:latin typeface="Bodoni MT" panose="02070603080606020203" pitchFamily="18" charset="0"/>
            </a:endParaRPr>
          </a:p>
        </p:txBody>
      </p:sp>
      <p:sp>
        <p:nvSpPr>
          <p:cNvPr id="24" name="Shape 7">
            <a:extLst>
              <a:ext uri="{FF2B5EF4-FFF2-40B4-BE49-F238E27FC236}">
                <a16:creationId xmlns:a16="http://schemas.microsoft.com/office/drawing/2014/main" id="{AAF51F26-925B-44F0-BDDA-96A2925E58A2}"/>
              </a:ext>
            </a:extLst>
          </p:cNvPr>
          <p:cNvSpPr/>
          <p:nvPr/>
        </p:nvSpPr>
        <p:spPr>
          <a:xfrm>
            <a:off x="6481250" y="4290462"/>
            <a:ext cx="156805" cy="1137999"/>
          </a:xfrm>
          <a:prstGeom prst="roundRect">
            <a:avLst>
              <a:gd name="adj" fmla="val 56034"/>
            </a:avLst>
          </a:prstGeom>
          <a:solidFill>
            <a:srgbClr val="EBDC44"/>
          </a:solidFill>
          <a:ln w="7620">
            <a:noFill/>
            <a:prstDash val="solid"/>
          </a:ln>
          <a:effectLst>
            <a:outerShdw blurRad="50800" dist="38100" dir="8100000" algn="tr" rotWithShape="0">
              <a:prstClr val="black">
                <a:alpha val="40000"/>
              </a:prstClr>
            </a:outerShdw>
          </a:effectLst>
        </p:spPr>
      </p:sp>
      <p:sp>
        <p:nvSpPr>
          <p:cNvPr id="25" name="Text 8">
            <a:extLst>
              <a:ext uri="{FF2B5EF4-FFF2-40B4-BE49-F238E27FC236}">
                <a16:creationId xmlns:a16="http://schemas.microsoft.com/office/drawing/2014/main" id="{1C0D82C7-92C7-4FFD-967E-6A9E7396E36C}"/>
              </a:ext>
            </a:extLst>
          </p:cNvPr>
          <p:cNvSpPr/>
          <p:nvPr/>
        </p:nvSpPr>
        <p:spPr>
          <a:xfrm>
            <a:off x="6951785" y="4290462"/>
            <a:ext cx="2745700" cy="343138"/>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Berlin Sans FB Demi" panose="020E0802020502020306" pitchFamily="34" charset="0"/>
                <a:ea typeface="Petrona Bold" pitchFamily="34" charset="-122"/>
                <a:cs typeface="Petrona Bold" pitchFamily="34" charset="-120"/>
              </a:rPr>
              <a:t>Powerful Tool</a:t>
            </a:r>
            <a:endParaRPr lang="en-US" sz="2150" dirty="0">
              <a:latin typeface="Berlin Sans FB Demi" panose="020E0802020502020306" pitchFamily="34" charset="0"/>
            </a:endParaRPr>
          </a:p>
        </p:txBody>
      </p:sp>
      <p:sp>
        <p:nvSpPr>
          <p:cNvPr id="26" name="Text 9">
            <a:extLst>
              <a:ext uri="{FF2B5EF4-FFF2-40B4-BE49-F238E27FC236}">
                <a16:creationId xmlns:a16="http://schemas.microsoft.com/office/drawing/2014/main" id="{757A9A22-30C3-4D5F-B6B6-3A0A9988D496}"/>
              </a:ext>
            </a:extLst>
          </p:cNvPr>
          <p:cNvSpPr/>
          <p:nvPr/>
        </p:nvSpPr>
        <p:spPr>
          <a:xfrm>
            <a:off x="6951785" y="4759092"/>
            <a:ext cx="6581656" cy="669369"/>
          </a:xfrm>
          <a:prstGeom prst="rect">
            <a:avLst/>
          </a:prstGeom>
          <a:noFill/>
          <a:ln/>
        </p:spPr>
        <p:txBody>
          <a:bodyPr wrap="square" lIns="0" tIns="0" rIns="0" bIns="0" rtlCol="0" anchor="t"/>
          <a:lstStyle/>
          <a:p>
            <a:pPr marL="0" indent="0" algn="l">
              <a:lnSpc>
                <a:spcPts val="2600"/>
              </a:lnSpc>
              <a:buNone/>
            </a:pPr>
            <a:r>
              <a:rPr lang="en-US" sz="1600" dirty="0">
                <a:solidFill>
                  <a:srgbClr val="272525"/>
                </a:solidFill>
                <a:latin typeface="Bodoni MT" panose="02070603080606020203" pitchFamily="18" charset="0"/>
                <a:ea typeface="Inter" pitchFamily="34" charset="-122"/>
                <a:cs typeface="Inter" pitchFamily="34" charset="-120"/>
              </a:rPr>
              <a:t>Mastering this concept unlocks capabilities for complex C++ applications.</a:t>
            </a:r>
            <a:endParaRPr lang="en-US" sz="1600" dirty="0">
              <a:latin typeface="Bodoni MT" panose="02070603080606020203" pitchFamily="18" charset="0"/>
            </a:endParaRPr>
          </a:p>
        </p:txBody>
      </p:sp>
      <p:sp>
        <p:nvSpPr>
          <p:cNvPr id="27" name="Shape 10">
            <a:extLst>
              <a:ext uri="{FF2B5EF4-FFF2-40B4-BE49-F238E27FC236}">
                <a16:creationId xmlns:a16="http://schemas.microsoft.com/office/drawing/2014/main" id="{E01FD24A-AEF5-421C-A9A9-A1893F38816D}"/>
              </a:ext>
            </a:extLst>
          </p:cNvPr>
          <p:cNvSpPr/>
          <p:nvPr/>
        </p:nvSpPr>
        <p:spPr>
          <a:xfrm>
            <a:off x="6794979" y="5637654"/>
            <a:ext cx="156805" cy="803315"/>
          </a:xfrm>
          <a:prstGeom prst="roundRect">
            <a:avLst>
              <a:gd name="adj" fmla="val 56034"/>
            </a:avLst>
          </a:prstGeom>
          <a:solidFill>
            <a:srgbClr val="EBDC44"/>
          </a:solidFill>
          <a:ln w="7620">
            <a:noFill/>
            <a:prstDash val="solid"/>
          </a:ln>
          <a:effectLst>
            <a:outerShdw blurRad="50800" dist="38100" dir="8100000" algn="tr" rotWithShape="0">
              <a:prstClr val="black">
                <a:alpha val="40000"/>
              </a:prstClr>
            </a:outerShdw>
          </a:effectLst>
        </p:spPr>
      </p:sp>
      <p:sp>
        <p:nvSpPr>
          <p:cNvPr id="28" name="Text 11">
            <a:extLst>
              <a:ext uri="{FF2B5EF4-FFF2-40B4-BE49-F238E27FC236}">
                <a16:creationId xmlns:a16="http://schemas.microsoft.com/office/drawing/2014/main" id="{7578C5AD-CFAD-4172-9BE3-FB80D324403D}"/>
              </a:ext>
            </a:extLst>
          </p:cNvPr>
          <p:cNvSpPr/>
          <p:nvPr/>
        </p:nvSpPr>
        <p:spPr>
          <a:xfrm>
            <a:off x="7265514" y="5637654"/>
            <a:ext cx="2745700" cy="343138"/>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Berlin Sans FB Demi" panose="020E0802020502020306" pitchFamily="34" charset="0"/>
                <a:ea typeface="Petrona Bold" pitchFamily="34" charset="-122"/>
                <a:cs typeface="Petrona Bold" pitchFamily="34" charset="-120"/>
              </a:rPr>
              <a:t>Next Steps</a:t>
            </a:r>
            <a:endParaRPr lang="en-US" sz="2150" dirty="0">
              <a:latin typeface="Berlin Sans FB Demi" panose="020E0802020502020306" pitchFamily="34" charset="0"/>
            </a:endParaRPr>
          </a:p>
        </p:txBody>
      </p:sp>
      <p:sp>
        <p:nvSpPr>
          <p:cNvPr id="29" name="Text 12">
            <a:extLst>
              <a:ext uri="{FF2B5EF4-FFF2-40B4-BE49-F238E27FC236}">
                <a16:creationId xmlns:a16="http://schemas.microsoft.com/office/drawing/2014/main" id="{6FA40BDF-0283-4D73-BEFB-2B9197E79142}"/>
              </a:ext>
            </a:extLst>
          </p:cNvPr>
          <p:cNvSpPr/>
          <p:nvPr/>
        </p:nvSpPr>
        <p:spPr>
          <a:xfrm>
            <a:off x="7265514" y="6106284"/>
            <a:ext cx="6267926" cy="334685"/>
          </a:xfrm>
          <a:prstGeom prst="rect">
            <a:avLst/>
          </a:prstGeom>
          <a:noFill/>
          <a:ln/>
        </p:spPr>
        <p:txBody>
          <a:bodyPr wrap="none" lIns="0" tIns="0" rIns="0" bIns="0" rtlCol="0" anchor="t"/>
          <a:lstStyle/>
          <a:p>
            <a:pPr marL="0" indent="0" algn="l">
              <a:lnSpc>
                <a:spcPts val="2600"/>
              </a:lnSpc>
              <a:buNone/>
            </a:pPr>
            <a:r>
              <a:rPr lang="en-US" sz="1600" dirty="0">
                <a:solidFill>
                  <a:srgbClr val="272525"/>
                </a:solidFill>
                <a:latin typeface="Bodoni MT" panose="02070603080606020203" pitchFamily="18" charset="0"/>
                <a:ea typeface="Inter" pitchFamily="34" charset="-122"/>
                <a:cs typeface="Inter" pitchFamily="34" charset="-120"/>
              </a:rPr>
              <a:t>Explore dynamic arrays like </a:t>
            </a:r>
            <a:r>
              <a:rPr lang="en-US" sz="1600" b="1" dirty="0">
                <a:solidFill>
                  <a:srgbClr val="272525"/>
                </a:solidFill>
                <a:latin typeface="Bodoni MT" panose="02070603080606020203" pitchFamily="18" charset="0"/>
                <a:ea typeface="Inter" pitchFamily="34" charset="-122"/>
                <a:cs typeface="Inter" pitchFamily="34" charset="-120"/>
              </a:rPr>
              <a:t>std::vector</a:t>
            </a:r>
            <a:r>
              <a:rPr lang="en-US" sz="1600" dirty="0">
                <a:solidFill>
                  <a:srgbClr val="272525"/>
                </a:solidFill>
                <a:latin typeface="Bodoni MT" panose="02070603080606020203" pitchFamily="18" charset="0"/>
                <a:ea typeface="Inter" pitchFamily="34" charset="-122"/>
                <a:cs typeface="Inter" pitchFamily="34" charset="-120"/>
              </a:rPr>
              <a:t> for flexible sizing.</a:t>
            </a:r>
            <a:endParaRPr lang="en-US" sz="1600" dirty="0">
              <a:latin typeface="Bodoni MT" panose="02070603080606020203" pitchFamily="18" charset="0"/>
            </a:endParaRPr>
          </a:p>
        </p:txBody>
      </p:sp>
    </p:spTree>
    <p:extLst>
      <p:ext uri="{BB962C8B-B14F-4D97-AF65-F5344CB8AC3E}">
        <p14:creationId xmlns:p14="http://schemas.microsoft.com/office/powerpoint/2010/main" val="337960457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sp>
        <p:nvSpPr>
          <p:cNvPr id="4" name="Text 0"/>
          <p:cNvSpPr/>
          <p:nvPr/>
        </p:nvSpPr>
        <p:spPr>
          <a:xfrm>
            <a:off x="10058400" y="5175504"/>
            <a:ext cx="3502152" cy="374904"/>
          </a:xfrm>
          <a:prstGeom prst="rect">
            <a:avLst/>
          </a:prstGeom>
          <a:noFill/>
          <a:ln/>
        </p:spPr>
        <p:txBody>
          <a:bodyPr wrap="none" lIns="0" tIns="0" rIns="0" bIns="0" rtlCol="0" anchor="ctr"/>
          <a:lstStyle/>
          <a:p>
            <a:pPr marL="0" indent="0" algn="l">
              <a:lnSpc>
                <a:spcPts val="2900"/>
              </a:lnSpc>
              <a:buNone/>
            </a:pPr>
            <a:r>
              <a:rPr lang="en-US" sz="2320" dirty="0">
                <a:solidFill>
                  <a:srgbClr val="050B14"/>
                </a:solidFill>
                <a:latin typeface="Berlin Sans FB Demi" panose="020E0802020502020306" pitchFamily="34" charset="0"/>
                <a:ea typeface="思源宋体-思源宋体-SemiBold" pitchFamily="34" charset="-122"/>
                <a:cs typeface="思源宋体-思源宋体-SemiBold" pitchFamily="34" charset="-120"/>
              </a:rPr>
              <a:t>Any Queries</a:t>
            </a:r>
            <a:endParaRPr lang="en-US" sz="2320" dirty="0">
              <a:latin typeface="Berlin Sans FB Demi" panose="020E0802020502020306" pitchFamily="34" charset="0"/>
            </a:endParaRPr>
          </a:p>
        </p:txBody>
      </p:sp>
      <p:sp>
        <p:nvSpPr>
          <p:cNvPr id="5" name="Text 1"/>
          <p:cNvSpPr/>
          <p:nvPr/>
        </p:nvSpPr>
        <p:spPr>
          <a:xfrm>
            <a:off x="6053328" y="3831336"/>
            <a:ext cx="3502152" cy="713232"/>
          </a:xfrm>
          <a:prstGeom prst="rect">
            <a:avLst/>
          </a:prstGeom>
          <a:noFill/>
          <a:ln/>
        </p:spPr>
        <p:txBody>
          <a:bodyPr wrap="square" lIns="0" tIns="0" rIns="0" bIns="0" rtlCol="0" anchor="ctr"/>
          <a:lstStyle/>
          <a:p>
            <a:pPr marL="0" indent="0" algn="l">
              <a:lnSpc>
                <a:spcPts val="2780"/>
              </a:lnSpc>
              <a:buNone/>
            </a:pPr>
            <a:r>
              <a:rPr lang="en-US" sz="1850" dirty="0">
                <a:solidFill>
                  <a:srgbClr val="050B14"/>
                </a:solidFill>
                <a:latin typeface="Bodoni MT" panose="02070603080606020203" pitchFamily="18" charset="0"/>
                <a:ea typeface="思源宋体-思源宋体-Regular" pitchFamily="34" charset="-122"/>
                <a:cs typeface="思源宋体-思源宋体-Regular" pitchFamily="34" charset="-120"/>
              </a:rPr>
              <a:t>Thank you for your active participation!</a:t>
            </a:r>
            <a:endParaRPr lang="en-US" sz="1850" dirty="0">
              <a:latin typeface="Bodoni MT" panose="02070603080606020203" pitchFamily="18" charset="0"/>
            </a:endParaRPr>
          </a:p>
        </p:txBody>
      </p:sp>
      <p:sp>
        <p:nvSpPr>
          <p:cNvPr id="6" name="Text 2"/>
          <p:cNvSpPr/>
          <p:nvPr/>
        </p:nvSpPr>
        <p:spPr>
          <a:xfrm>
            <a:off x="10058400" y="3319272"/>
            <a:ext cx="3502152" cy="740664"/>
          </a:xfrm>
          <a:prstGeom prst="rect">
            <a:avLst/>
          </a:prstGeom>
          <a:noFill/>
          <a:ln/>
        </p:spPr>
        <p:txBody>
          <a:bodyPr wrap="square" lIns="0" tIns="0" rIns="0" bIns="0" rtlCol="0" anchor="ctr"/>
          <a:lstStyle/>
          <a:p>
            <a:pPr marL="0" indent="0" algn="l">
              <a:lnSpc>
                <a:spcPts val="2900"/>
              </a:lnSpc>
              <a:buNone/>
            </a:pPr>
            <a:r>
              <a:rPr lang="en-US" sz="2320" dirty="0">
                <a:solidFill>
                  <a:srgbClr val="050B14"/>
                </a:solidFill>
                <a:latin typeface="Berlin Sans FB Demi" panose="020E0802020502020306" pitchFamily="34" charset="0"/>
                <a:ea typeface="思源宋体-思源宋体-SemiBold" pitchFamily="34" charset="-122"/>
                <a:cs typeface="思源宋体-思源宋体-SemiBold" pitchFamily="34" charset="-120"/>
              </a:rPr>
              <a:t>Encouragement to Experiment</a:t>
            </a:r>
            <a:endParaRPr lang="en-US" sz="2320" dirty="0">
              <a:latin typeface="Berlin Sans FB Demi" panose="020E0802020502020306" pitchFamily="34" charset="0"/>
            </a:endParaRPr>
          </a:p>
        </p:txBody>
      </p:sp>
      <p:sp>
        <p:nvSpPr>
          <p:cNvPr id="7" name="Text 3"/>
          <p:cNvSpPr/>
          <p:nvPr/>
        </p:nvSpPr>
        <p:spPr>
          <a:xfrm>
            <a:off x="10058400" y="5687568"/>
            <a:ext cx="3502152" cy="1309580"/>
          </a:xfrm>
          <a:prstGeom prst="rect">
            <a:avLst/>
          </a:prstGeom>
          <a:noFill/>
          <a:ln/>
        </p:spPr>
        <p:txBody>
          <a:bodyPr wrap="square" lIns="0" tIns="0" rIns="0" bIns="0" rtlCol="0" anchor="ctr"/>
          <a:lstStyle/>
          <a:p>
            <a:pPr marL="0" indent="0" algn="l">
              <a:lnSpc>
                <a:spcPts val="2780"/>
              </a:lnSpc>
              <a:buNone/>
            </a:pPr>
            <a:r>
              <a:rPr lang="en-US" sz="1850" dirty="0">
                <a:solidFill>
                  <a:srgbClr val="050B14"/>
                </a:solidFill>
                <a:latin typeface="Bodoni MT" panose="02070603080606020203" pitchFamily="18" charset="0"/>
                <a:ea typeface="思源宋体-思源宋体-Regular" pitchFamily="34" charset="-122"/>
                <a:cs typeface="思源宋体-思源宋体-Regular" pitchFamily="34" charset="-120"/>
              </a:rPr>
              <a:t>If You have any queries, please let me know. Questioning widens our field of knowledge and allows us to obtain answers to many quests</a:t>
            </a:r>
            <a:endParaRPr lang="en-US" sz="1850" dirty="0">
              <a:latin typeface="Bodoni MT" panose="02070603080606020203" pitchFamily="18" charset="0"/>
            </a:endParaRPr>
          </a:p>
        </p:txBody>
      </p:sp>
      <p:sp>
        <p:nvSpPr>
          <p:cNvPr id="8" name="Text 4"/>
          <p:cNvSpPr/>
          <p:nvPr/>
        </p:nvSpPr>
        <p:spPr>
          <a:xfrm>
            <a:off x="5806440" y="1453896"/>
            <a:ext cx="8010144" cy="1481328"/>
          </a:xfrm>
          <a:prstGeom prst="rect">
            <a:avLst/>
          </a:prstGeom>
          <a:noFill/>
          <a:ln/>
        </p:spPr>
        <p:txBody>
          <a:bodyPr wrap="square" lIns="0" tIns="0" rIns="0" bIns="0" rtlCol="0" anchor="ctr"/>
          <a:lstStyle/>
          <a:p>
            <a:pPr marL="0" indent="0" algn="l">
              <a:lnSpc>
                <a:spcPts val="5800"/>
              </a:lnSpc>
              <a:buNone/>
            </a:pPr>
            <a:r>
              <a:rPr lang="en-US" sz="4640" dirty="0">
                <a:solidFill>
                  <a:srgbClr val="0C266F"/>
                </a:solidFill>
                <a:latin typeface="Berlin Sans FB Demi" panose="020E0802020502020306" pitchFamily="34" charset="0"/>
                <a:ea typeface="思源宋体-思源宋体-SemiBold" pitchFamily="34" charset="-122"/>
                <a:cs typeface="思源宋体-思源宋体-SemiBold" pitchFamily="34" charset="-120"/>
              </a:rPr>
              <a:t>Thank You for Your Attention</a:t>
            </a:r>
            <a:endParaRPr lang="en-US" sz="4640" dirty="0">
              <a:latin typeface="Berlin Sans FB Demi" panose="020E0802020502020306" pitchFamily="34" charset="0"/>
            </a:endParaRPr>
          </a:p>
        </p:txBody>
      </p:sp>
      <p:sp>
        <p:nvSpPr>
          <p:cNvPr id="9" name="Text 5"/>
          <p:cNvSpPr/>
          <p:nvPr/>
        </p:nvSpPr>
        <p:spPr>
          <a:xfrm>
            <a:off x="10058400" y="4206240"/>
            <a:ext cx="3502152" cy="713232"/>
          </a:xfrm>
          <a:prstGeom prst="rect">
            <a:avLst/>
          </a:prstGeom>
          <a:noFill/>
          <a:ln/>
        </p:spPr>
        <p:txBody>
          <a:bodyPr wrap="square" lIns="0" tIns="0" rIns="0" bIns="0" rtlCol="0" anchor="ctr"/>
          <a:lstStyle/>
          <a:p>
            <a:pPr marL="0" indent="0" algn="l">
              <a:lnSpc>
                <a:spcPts val="2780"/>
              </a:lnSpc>
              <a:buNone/>
            </a:pPr>
            <a:r>
              <a:rPr lang="en-US" sz="1850" dirty="0">
                <a:solidFill>
                  <a:srgbClr val="050B14"/>
                </a:solidFill>
                <a:latin typeface="Bodoni MT" panose="02070603080606020203" pitchFamily="18" charset="0"/>
                <a:ea typeface="思源宋体-思源宋体-Regular" pitchFamily="34" charset="-122"/>
                <a:cs typeface="思源宋体-思源宋体-Regular" pitchFamily="34" charset="-120"/>
              </a:rPr>
              <a:t>Explore arrays of objects in C++ for your projects.</a:t>
            </a:r>
            <a:endParaRPr lang="en-US" sz="1850" dirty="0">
              <a:latin typeface="Bodoni MT" panose="02070603080606020203" pitchFamily="18" charset="0"/>
            </a:endParaRPr>
          </a:p>
        </p:txBody>
      </p:sp>
      <p:sp>
        <p:nvSpPr>
          <p:cNvPr id="10" name="Text 6"/>
          <p:cNvSpPr/>
          <p:nvPr/>
        </p:nvSpPr>
        <p:spPr>
          <a:xfrm>
            <a:off x="6053328" y="5687567"/>
            <a:ext cx="3502152" cy="1309579"/>
          </a:xfrm>
          <a:prstGeom prst="rect">
            <a:avLst/>
          </a:prstGeom>
          <a:noFill/>
          <a:ln/>
        </p:spPr>
        <p:txBody>
          <a:bodyPr wrap="square" lIns="0" tIns="0" rIns="0" bIns="0" rtlCol="0" anchor="ctr"/>
          <a:lstStyle/>
          <a:p>
            <a:pPr marL="0" indent="0" algn="l">
              <a:lnSpc>
                <a:spcPts val="2780"/>
              </a:lnSpc>
              <a:buNone/>
            </a:pPr>
            <a:r>
              <a:rPr lang="en-US" sz="1850" dirty="0">
                <a:solidFill>
                  <a:srgbClr val="050B14"/>
                </a:solidFill>
                <a:latin typeface="Bodoni MT" panose="02070603080606020203" pitchFamily="18" charset="0"/>
                <a:ea typeface="思源宋体-思源宋体-Regular" pitchFamily="34" charset="-122"/>
                <a:cs typeface="思源宋体-思源宋体-Regular" pitchFamily="34" charset="-120"/>
              </a:rPr>
              <a:t>Feel free to reach out for any clarifications. Clearing Confusions helps to understand the topics better.</a:t>
            </a:r>
            <a:endParaRPr lang="en-US" sz="1850" dirty="0">
              <a:latin typeface="Bodoni MT" panose="02070603080606020203" pitchFamily="18" charset="0"/>
            </a:endParaRPr>
          </a:p>
        </p:txBody>
      </p:sp>
      <p:sp>
        <p:nvSpPr>
          <p:cNvPr id="11" name="Text 7"/>
          <p:cNvSpPr/>
          <p:nvPr/>
        </p:nvSpPr>
        <p:spPr>
          <a:xfrm>
            <a:off x="6053328" y="5175504"/>
            <a:ext cx="3502152" cy="374904"/>
          </a:xfrm>
          <a:prstGeom prst="rect">
            <a:avLst/>
          </a:prstGeom>
          <a:noFill/>
          <a:ln/>
        </p:spPr>
        <p:txBody>
          <a:bodyPr wrap="none" lIns="0" tIns="0" rIns="0" bIns="0" rtlCol="0" anchor="ctr"/>
          <a:lstStyle/>
          <a:p>
            <a:pPr marL="0" indent="0" algn="l">
              <a:lnSpc>
                <a:spcPts val="2900"/>
              </a:lnSpc>
              <a:buNone/>
            </a:pPr>
            <a:r>
              <a:rPr lang="en-US" sz="2320" dirty="0">
                <a:solidFill>
                  <a:srgbClr val="050B14"/>
                </a:solidFill>
                <a:latin typeface="Berlin Sans FB Demi" panose="020E0802020502020306" pitchFamily="34" charset="0"/>
                <a:ea typeface="思源宋体-思源宋体-SemiBold" pitchFamily="34" charset="-122"/>
                <a:cs typeface="思源宋体-思源宋体-SemiBold" pitchFamily="34" charset="-120"/>
              </a:rPr>
              <a:t>Further Discussions</a:t>
            </a:r>
            <a:endParaRPr lang="en-US" sz="2320" dirty="0">
              <a:latin typeface="Berlin Sans FB Demi" panose="020E0802020502020306" pitchFamily="34" charset="0"/>
            </a:endParaRPr>
          </a:p>
        </p:txBody>
      </p:sp>
      <p:sp>
        <p:nvSpPr>
          <p:cNvPr id="12" name="Text 8"/>
          <p:cNvSpPr/>
          <p:nvPr/>
        </p:nvSpPr>
        <p:spPr>
          <a:xfrm>
            <a:off x="6053328" y="3319272"/>
            <a:ext cx="3502152" cy="374904"/>
          </a:xfrm>
          <a:prstGeom prst="rect">
            <a:avLst/>
          </a:prstGeom>
          <a:noFill/>
          <a:ln/>
        </p:spPr>
        <p:txBody>
          <a:bodyPr wrap="none" lIns="0" tIns="0" rIns="0" bIns="0" rtlCol="0" anchor="ctr"/>
          <a:lstStyle/>
          <a:p>
            <a:pPr marL="0" indent="0" algn="l">
              <a:lnSpc>
                <a:spcPts val="2900"/>
              </a:lnSpc>
              <a:buNone/>
            </a:pPr>
            <a:r>
              <a:rPr lang="en-US" sz="2320" dirty="0">
                <a:solidFill>
                  <a:srgbClr val="050B14"/>
                </a:solidFill>
                <a:latin typeface="Berlin Sans FB Demi" panose="020E0802020502020306" pitchFamily="34" charset="0"/>
                <a:ea typeface="思源宋体-思源宋体-SemiBold" pitchFamily="34" charset="-122"/>
                <a:cs typeface="思源宋体-思源宋体-SemiBold" pitchFamily="34" charset="-120"/>
              </a:rPr>
              <a:t>Audience Appreciation</a:t>
            </a:r>
            <a:endParaRPr lang="en-US" sz="2320" dirty="0">
              <a:latin typeface="Berlin Sans FB Demi" panose="020E0802020502020306" pitchFamily="34" charset="0"/>
            </a:endParaRPr>
          </a:p>
        </p:txBody>
      </p:sp>
      <p:pic>
        <p:nvPicPr>
          <p:cNvPr id="13" name="Image 0" descr="preencoded.png">
            <a:extLst>
              <a:ext uri="{FF2B5EF4-FFF2-40B4-BE49-F238E27FC236}">
                <a16:creationId xmlns:a16="http://schemas.microsoft.com/office/drawing/2014/main" id="{BB12CA33-D817-4E10-9E33-D9A2327930F9}"/>
              </a:ext>
            </a:extLst>
          </p:cNvPr>
          <p:cNvPicPr>
            <a:picLocks noChangeAspect="1"/>
          </p:cNvPicPr>
          <p:nvPr/>
        </p:nvPicPr>
        <p:blipFill>
          <a:blip r:embed="rId4">
            <a:duotone>
              <a:prstClr val="black"/>
              <a:schemeClr val="accent5">
                <a:tint val="45000"/>
                <a:satMod val="400000"/>
              </a:schemeClr>
            </a:duotone>
            <a:extLst>
              <a:ext uri="{BEBA8EAE-BF5A-486C-A8C5-ECC9F3942E4B}">
                <a14:imgProps xmlns:a14="http://schemas.microsoft.com/office/drawing/2010/main">
                  <a14:imgLayer r:embed="rId5">
                    <a14:imgEffect>
                      <a14:artisticFilmGrain/>
                    </a14:imgEffect>
                    <a14:imgEffect>
                      <a14:sharpenSoften amount="-14000"/>
                    </a14:imgEffect>
                    <a14:imgEffect>
                      <a14:saturation sat="400000"/>
                    </a14:imgEffect>
                  </a14:imgLayer>
                </a14:imgProps>
              </a:ext>
            </a:extLst>
          </a:blip>
          <a:stretch>
            <a:fillRect/>
          </a:stretch>
        </p:blipFill>
        <p:spPr>
          <a:xfrm>
            <a:off x="-8191652" y="-1033670"/>
            <a:ext cx="7377836" cy="11066755"/>
          </a:xfrm>
          <a:prstGeom prst="rect">
            <a:avLst/>
          </a:prstGeom>
          <a:ln>
            <a:noFill/>
          </a:ln>
          <a:effectLst>
            <a:softEdge rad="635000"/>
          </a:effectLst>
        </p:spPr>
      </p:pic>
      <p:sp>
        <p:nvSpPr>
          <p:cNvPr id="14" name="Text 0">
            <a:extLst>
              <a:ext uri="{FF2B5EF4-FFF2-40B4-BE49-F238E27FC236}">
                <a16:creationId xmlns:a16="http://schemas.microsoft.com/office/drawing/2014/main" id="{88AB380E-5FEA-4059-AC55-FF1816972559}"/>
              </a:ext>
            </a:extLst>
          </p:cNvPr>
          <p:cNvSpPr/>
          <p:nvPr/>
        </p:nvSpPr>
        <p:spPr>
          <a:xfrm>
            <a:off x="17052373" y="1265322"/>
            <a:ext cx="7335679" cy="686395"/>
          </a:xfrm>
          <a:prstGeom prst="rect">
            <a:avLst/>
          </a:prstGeom>
          <a:noFill/>
          <a:ln/>
        </p:spPr>
        <p:txBody>
          <a:bodyPr wrap="none" lIns="0" tIns="0" rIns="0" bIns="0" rtlCol="0" anchor="t"/>
          <a:lstStyle/>
          <a:p>
            <a:pPr marL="0" indent="0" algn="l">
              <a:lnSpc>
                <a:spcPts val="5400"/>
              </a:lnSpc>
              <a:buNone/>
            </a:pPr>
            <a:r>
              <a:rPr lang="en-US" sz="4300" b="1" dirty="0">
                <a:solidFill>
                  <a:srgbClr val="000000"/>
                </a:solidFill>
                <a:latin typeface="Petrona Bold" pitchFamily="34" charset="0"/>
                <a:ea typeface="Petrona Bold" pitchFamily="34" charset="-122"/>
                <a:cs typeface="Petrona Bold" pitchFamily="34" charset="-120"/>
              </a:rPr>
              <a:t>Summary and Key Takeaways</a:t>
            </a:r>
            <a:endParaRPr lang="en-US" sz="4300" dirty="0"/>
          </a:p>
        </p:txBody>
      </p:sp>
      <p:sp>
        <p:nvSpPr>
          <p:cNvPr id="15" name="Shape 1">
            <a:extLst>
              <a:ext uri="{FF2B5EF4-FFF2-40B4-BE49-F238E27FC236}">
                <a16:creationId xmlns:a16="http://schemas.microsoft.com/office/drawing/2014/main" id="{C326C32F-ADF9-4B13-87B6-389E0D6C969D}"/>
              </a:ext>
            </a:extLst>
          </p:cNvPr>
          <p:cNvSpPr/>
          <p:nvPr/>
        </p:nvSpPr>
        <p:spPr>
          <a:xfrm>
            <a:off x="19200487" y="2265447"/>
            <a:ext cx="156805" cy="803315"/>
          </a:xfrm>
          <a:prstGeom prst="roundRect">
            <a:avLst>
              <a:gd name="adj" fmla="val 56034"/>
            </a:avLst>
          </a:prstGeom>
          <a:solidFill>
            <a:srgbClr val="EBDC44"/>
          </a:solidFill>
          <a:ln w="7620">
            <a:noFill/>
            <a:prstDash val="solid"/>
          </a:ln>
          <a:effectLst>
            <a:outerShdw blurRad="50800" dist="38100" dir="8100000" algn="tr" rotWithShape="0">
              <a:prstClr val="black">
                <a:alpha val="40000"/>
              </a:prstClr>
            </a:outerShdw>
          </a:effectLst>
        </p:spPr>
      </p:sp>
      <p:sp>
        <p:nvSpPr>
          <p:cNvPr id="16" name="Text 2">
            <a:extLst>
              <a:ext uri="{FF2B5EF4-FFF2-40B4-BE49-F238E27FC236}">
                <a16:creationId xmlns:a16="http://schemas.microsoft.com/office/drawing/2014/main" id="{3F2507A2-7FBD-4A34-A9BA-E797C3AF5804}"/>
              </a:ext>
            </a:extLst>
          </p:cNvPr>
          <p:cNvSpPr/>
          <p:nvPr/>
        </p:nvSpPr>
        <p:spPr>
          <a:xfrm>
            <a:off x="19671022" y="2265447"/>
            <a:ext cx="2745700" cy="343138"/>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Petrona Bold" pitchFamily="34" charset="0"/>
                <a:ea typeface="Petrona Bold" pitchFamily="34" charset="-122"/>
                <a:cs typeface="Petrona Bold" pitchFamily="34" charset="-120"/>
              </a:rPr>
              <a:t>Efficient Storage</a:t>
            </a:r>
            <a:endParaRPr lang="en-US" sz="2150" dirty="0"/>
          </a:p>
        </p:txBody>
      </p:sp>
      <p:sp>
        <p:nvSpPr>
          <p:cNvPr id="17" name="Text 3">
            <a:extLst>
              <a:ext uri="{FF2B5EF4-FFF2-40B4-BE49-F238E27FC236}">
                <a16:creationId xmlns:a16="http://schemas.microsoft.com/office/drawing/2014/main" id="{AB78FF47-67B8-4483-B3B4-75A597CB5260}"/>
              </a:ext>
            </a:extLst>
          </p:cNvPr>
          <p:cNvSpPr/>
          <p:nvPr/>
        </p:nvSpPr>
        <p:spPr>
          <a:xfrm>
            <a:off x="19671022" y="2734077"/>
            <a:ext cx="7209234" cy="334685"/>
          </a:xfrm>
          <a:prstGeom prst="rect">
            <a:avLst/>
          </a:prstGeom>
          <a:noFill/>
          <a:ln/>
        </p:spPr>
        <p:txBody>
          <a:bodyPr wrap="non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Arrays of objects are perfect for managing multiple class instances.</a:t>
            </a:r>
            <a:endParaRPr lang="en-US" sz="1600" dirty="0"/>
          </a:p>
        </p:txBody>
      </p:sp>
      <p:sp>
        <p:nvSpPr>
          <p:cNvPr id="18" name="Shape 4">
            <a:extLst>
              <a:ext uri="{FF2B5EF4-FFF2-40B4-BE49-F238E27FC236}">
                <a16:creationId xmlns:a16="http://schemas.microsoft.com/office/drawing/2014/main" id="{4A8A26E0-0AF3-4310-AEAF-F8FBEF475C3D}"/>
              </a:ext>
            </a:extLst>
          </p:cNvPr>
          <p:cNvSpPr/>
          <p:nvPr/>
        </p:nvSpPr>
        <p:spPr>
          <a:xfrm>
            <a:off x="21120777" y="3277954"/>
            <a:ext cx="156805" cy="803315"/>
          </a:xfrm>
          <a:prstGeom prst="roundRect">
            <a:avLst>
              <a:gd name="adj" fmla="val 56034"/>
            </a:avLst>
          </a:prstGeom>
          <a:solidFill>
            <a:srgbClr val="EBDC44"/>
          </a:solidFill>
          <a:ln w="7620">
            <a:noFill/>
            <a:prstDash val="solid"/>
          </a:ln>
          <a:effectLst>
            <a:outerShdw blurRad="50800" dist="38100" dir="8100000" algn="tr" rotWithShape="0">
              <a:prstClr val="black">
                <a:alpha val="40000"/>
              </a:prstClr>
            </a:outerShdw>
          </a:effectLst>
        </p:spPr>
      </p:sp>
      <p:sp>
        <p:nvSpPr>
          <p:cNvPr id="19" name="Text 5">
            <a:extLst>
              <a:ext uri="{FF2B5EF4-FFF2-40B4-BE49-F238E27FC236}">
                <a16:creationId xmlns:a16="http://schemas.microsoft.com/office/drawing/2014/main" id="{79410C31-2812-41A7-9A75-71CD517CCC22}"/>
              </a:ext>
            </a:extLst>
          </p:cNvPr>
          <p:cNvSpPr/>
          <p:nvPr/>
        </p:nvSpPr>
        <p:spPr>
          <a:xfrm>
            <a:off x="21591312" y="3277954"/>
            <a:ext cx="2745700" cy="343138"/>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Petrona Bold" pitchFamily="34" charset="0"/>
                <a:ea typeface="Petrona Bold" pitchFamily="34" charset="-122"/>
                <a:cs typeface="Petrona Bold" pitchFamily="34" charset="-120"/>
              </a:rPr>
              <a:t>Crucial Details</a:t>
            </a:r>
            <a:endParaRPr lang="en-US" sz="2150" dirty="0"/>
          </a:p>
        </p:txBody>
      </p:sp>
      <p:sp>
        <p:nvSpPr>
          <p:cNvPr id="20" name="Text 6">
            <a:extLst>
              <a:ext uri="{FF2B5EF4-FFF2-40B4-BE49-F238E27FC236}">
                <a16:creationId xmlns:a16="http://schemas.microsoft.com/office/drawing/2014/main" id="{B88D58A1-EB26-4D1D-8243-357B885B1F1C}"/>
              </a:ext>
            </a:extLst>
          </p:cNvPr>
          <p:cNvSpPr/>
          <p:nvPr/>
        </p:nvSpPr>
        <p:spPr>
          <a:xfrm>
            <a:off x="22060295" y="3746584"/>
            <a:ext cx="6895505" cy="334685"/>
          </a:xfrm>
          <a:prstGeom prst="rect">
            <a:avLst/>
          </a:prstGeom>
          <a:noFill/>
          <a:ln/>
        </p:spPr>
        <p:txBody>
          <a:bodyPr wrap="non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Proper initialization and correct member access are vital for success.</a:t>
            </a:r>
            <a:endParaRPr lang="en-US" sz="1600" dirty="0"/>
          </a:p>
        </p:txBody>
      </p:sp>
      <p:sp>
        <p:nvSpPr>
          <p:cNvPr id="21" name="Shape 7">
            <a:extLst>
              <a:ext uri="{FF2B5EF4-FFF2-40B4-BE49-F238E27FC236}">
                <a16:creationId xmlns:a16="http://schemas.microsoft.com/office/drawing/2014/main" id="{52F83388-A1D9-4DDE-B931-96A537171216}"/>
              </a:ext>
            </a:extLst>
          </p:cNvPr>
          <p:cNvSpPr/>
          <p:nvPr/>
        </p:nvSpPr>
        <p:spPr>
          <a:xfrm>
            <a:off x="23195380" y="4290462"/>
            <a:ext cx="156805" cy="1137999"/>
          </a:xfrm>
          <a:prstGeom prst="roundRect">
            <a:avLst>
              <a:gd name="adj" fmla="val 56034"/>
            </a:avLst>
          </a:prstGeom>
          <a:solidFill>
            <a:srgbClr val="EBDC44"/>
          </a:solidFill>
          <a:ln w="7620">
            <a:noFill/>
            <a:prstDash val="solid"/>
          </a:ln>
          <a:effectLst>
            <a:outerShdw blurRad="50800" dist="38100" dir="8100000" algn="tr" rotWithShape="0">
              <a:prstClr val="black">
                <a:alpha val="40000"/>
              </a:prstClr>
            </a:outerShdw>
          </a:effectLst>
        </p:spPr>
      </p:sp>
      <p:sp>
        <p:nvSpPr>
          <p:cNvPr id="22" name="Text 8">
            <a:extLst>
              <a:ext uri="{FF2B5EF4-FFF2-40B4-BE49-F238E27FC236}">
                <a16:creationId xmlns:a16="http://schemas.microsoft.com/office/drawing/2014/main" id="{1F88618B-5B46-4AD7-B58C-73AFBAC61808}"/>
              </a:ext>
            </a:extLst>
          </p:cNvPr>
          <p:cNvSpPr/>
          <p:nvPr/>
        </p:nvSpPr>
        <p:spPr>
          <a:xfrm>
            <a:off x="23665915" y="4290462"/>
            <a:ext cx="2745700" cy="343138"/>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Petrona Bold" pitchFamily="34" charset="0"/>
                <a:ea typeface="Petrona Bold" pitchFamily="34" charset="-122"/>
                <a:cs typeface="Petrona Bold" pitchFamily="34" charset="-120"/>
              </a:rPr>
              <a:t>Powerful Tool</a:t>
            </a:r>
            <a:endParaRPr lang="en-US" sz="2150" dirty="0"/>
          </a:p>
        </p:txBody>
      </p:sp>
      <p:sp>
        <p:nvSpPr>
          <p:cNvPr id="23" name="Text 9">
            <a:extLst>
              <a:ext uri="{FF2B5EF4-FFF2-40B4-BE49-F238E27FC236}">
                <a16:creationId xmlns:a16="http://schemas.microsoft.com/office/drawing/2014/main" id="{3F9CAE51-CF89-4EE6-9DE9-E966CC246307}"/>
              </a:ext>
            </a:extLst>
          </p:cNvPr>
          <p:cNvSpPr/>
          <p:nvPr/>
        </p:nvSpPr>
        <p:spPr>
          <a:xfrm>
            <a:off x="23665915" y="4759092"/>
            <a:ext cx="6581656" cy="669369"/>
          </a:xfrm>
          <a:prstGeom prst="rect">
            <a:avLst/>
          </a:prstGeom>
          <a:noFill/>
          <a:ln/>
        </p:spPr>
        <p:txBody>
          <a:bodyPr wrap="squar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Mastering this concept unlocks capabilities for complex C++ applications.</a:t>
            </a:r>
            <a:endParaRPr lang="en-US" sz="1600" dirty="0"/>
          </a:p>
        </p:txBody>
      </p:sp>
      <p:sp>
        <p:nvSpPr>
          <p:cNvPr id="24" name="Shape 10">
            <a:extLst>
              <a:ext uri="{FF2B5EF4-FFF2-40B4-BE49-F238E27FC236}">
                <a16:creationId xmlns:a16="http://schemas.microsoft.com/office/drawing/2014/main" id="{B0E0CDB7-A612-4905-99FF-F1EA91326D9A}"/>
              </a:ext>
            </a:extLst>
          </p:cNvPr>
          <p:cNvSpPr/>
          <p:nvPr/>
        </p:nvSpPr>
        <p:spPr>
          <a:xfrm>
            <a:off x="25149224" y="5637654"/>
            <a:ext cx="156805" cy="803315"/>
          </a:xfrm>
          <a:prstGeom prst="roundRect">
            <a:avLst>
              <a:gd name="adj" fmla="val 56034"/>
            </a:avLst>
          </a:prstGeom>
          <a:solidFill>
            <a:srgbClr val="EBDC44"/>
          </a:solidFill>
          <a:ln w="7620">
            <a:noFill/>
            <a:prstDash val="solid"/>
          </a:ln>
          <a:effectLst>
            <a:outerShdw blurRad="50800" dist="38100" dir="8100000" algn="tr" rotWithShape="0">
              <a:prstClr val="black">
                <a:alpha val="40000"/>
              </a:prstClr>
            </a:outerShdw>
          </a:effectLst>
        </p:spPr>
      </p:sp>
      <p:sp>
        <p:nvSpPr>
          <p:cNvPr id="25" name="Text 11">
            <a:extLst>
              <a:ext uri="{FF2B5EF4-FFF2-40B4-BE49-F238E27FC236}">
                <a16:creationId xmlns:a16="http://schemas.microsoft.com/office/drawing/2014/main" id="{82168149-23A2-4B8F-A959-EE503F3A3CE4}"/>
              </a:ext>
            </a:extLst>
          </p:cNvPr>
          <p:cNvSpPr/>
          <p:nvPr/>
        </p:nvSpPr>
        <p:spPr>
          <a:xfrm>
            <a:off x="25619759" y="5637654"/>
            <a:ext cx="2745700" cy="343138"/>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Petrona Bold" pitchFamily="34" charset="0"/>
                <a:ea typeface="Petrona Bold" pitchFamily="34" charset="-122"/>
                <a:cs typeface="Petrona Bold" pitchFamily="34" charset="-120"/>
              </a:rPr>
              <a:t>Next Steps</a:t>
            </a:r>
            <a:endParaRPr lang="en-US" sz="2150" dirty="0"/>
          </a:p>
        </p:txBody>
      </p:sp>
      <p:sp>
        <p:nvSpPr>
          <p:cNvPr id="26" name="Text 12">
            <a:extLst>
              <a:ext uri="{FF2B5EF4-FFF2-40B4-BE49-F238E27FC236}">
                <a16:creationId xmlns:a16="http://schemas.microsoft.com/office/drawing/2014/main" id="{3215998D-61A4-4144-8976-9EA2AE409C36}"/>
              </a:ext>
            </a:extLst>
          </p:cNvPr>
          <p:cNvSpPr/>
          <p:nvPr/>
        </p:nvSpPr>
        <p:spPr>
          <a:xfrm>
            <a:off x="25619759" y="6106284"/>
            <a:ext cx="6267926" cy="334685"/>
          </a:xfrm>
          <a:prstGeom prst="rect">
            <a:avLst/>
          </a:prstGeom>
          <a:noFill/>
          <a:ln/>
        </p:spPr>
        <p:txBody>
          <a:bodyPr wrap="non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Explore dynamic arrays like </a:t>
            </a:r>
            <a:r>
              <a:rPr lang="en-US" sz="1600" b="1" dirty="0">
                <a:solidFill>
                  <a:srgbClr val="272525"/>
                </a:solidFill>
                <a:latin typeface="Inter" pitchFamily="34" charset="0"/>
                <a:ea typeface="Inter" pitchFamily="34" charset="-122"/>
                <a:cs typeface="Inter" pitchFamily="34" charset="-120"/>
              </a:rPr>
              <a:t>std::vector</a:t>
            </a:r>
            <a:r>
              <a:rPr lang="en-US" sz="1600" dirty="0">
                <a:solidFill>
                  <a:srgbClr val="272525"/>
                </a:solidFill>
                <a:latin typeface="Inter" pitchFamily="34" charset="0"/>
                <a:ea typeface="Inter" pitchFamily="34" charset="-122"/>
                <a:cs typeface="Inter" pitchFamily="34" charset="-120"/>
              </a:rPr>
              <a:t> for flexible sizing.</a:t>
            </a:r>
            <a:endParaRPr lang="en-US" sz="1600" dirty="0"/>
          </a:p>
        </p:txBody>
      </p:sp>
      <p:pic>
        <p:nvPicPr>
          <p:cNvPr id="3" name="Image 1" descr="preencoded.png"/>
          <p:cNvPicPr>
            <a:picLocks noChangeAspect="1"/>
          </p:cNvPicPr>
          <p:nvPr/>
        </p:nvPicPr>
        <p:blipFill>
          <a:blip r:embed="rId6"/>
          <a:stretch>
            <a:fillRect/>
          </a:stretch>
        </p:blipFill>
        <p:spPr>
          <a:xfrm>
            <a:off x="0" y="0"/>
            <a:ext cx="4974336" cy="823874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2903680"/>
      </p:ext>
    </p:extLst>
  </p:cSld>
  <p:clrMapOvr>
    <a:masterClrMapping/>
  </p:clrMapOvr>
  <p:transition spd="slow">
    <p:split dir="in"/>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507</TotalTime>
  <Words>5058</Words>
  <Application>Microsoft Office PowerPoint</Application>
  <PresentationFormat>Custom</PresentationFormat>
  <Paragraphs>844</Paragraphs>
  <Slides>21</Slides>
  <Notes>14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21</vt:i4>
      </vt:variant>
    </vt:vector>
  </HeadingPairs>
  <TitlesOfParts>
    <vt:vector size="33" baseType="lpstr">
      <vt:lpstr>Arial</vt:lpstr>
      <vt:lpstr>Berlin Sans FB Demi</vt:lpstr>
      <vt:lpstr>Bernard MT Condensed</vt:lpstr>
      <vt:lpstr>Bodoni MT</vt:lpstr>
      <vt:lpstr>Calibri</vt:lpstr>
      <vt:lpstr>Consolas</vt:lpstr>
      <vt:lpstr>Inter</vt:lpstr>
      <vt:lpstr>Open Sans Bold</vt:lpstr>
      <vt:lpstr>Petrona Bold</vt:lpstr>
      <vt:lpstr>思源宋体-思源宋体-Regular</vt:lpstr>
      <vt:lpstr>思源宋体-思源宋体-SemiBold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cp:lastModifiedBy>
  <cp:revision>54</cp:revision>
  <dcterms:created xsi:type="dcterms:W3CDTF">2025-06-01T16:08:33Z</dcterms:created>
  <dcterms:modified xsi:type="dcterms:W3CDTF">2025-06-11T07:33:39Z</dcterms:modified>
</cp:coreProperties>
</file>