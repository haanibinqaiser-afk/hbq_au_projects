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sldIdLst>
    <p:sldId id="282" r:id="rId2"/>
    <p:sldId id="256" r:id="rId3"/>
    <p:sldId id="257" r:id="rId4"/>
    <p:sldId id="271" r:id="rId5"/>
    <p:sldId id="258" r:id="rId6"/>
    <p:sldId id="272" r:id="rId7"/>
    <p:sldId id="275" r:id="rId8"/>
    <p:sldId id="259" r:id="rId9"/>
    <p:sldId id="261" r:id="rId10"/>
    <p:sldId id="274" r:id="rId11"/>
    <p:sldId id="273" r:id="rId12"/>
    <p:sldId id="276" r:id="rId13"/>
    <p:sldId id="260" r:id="rId14"/>
    <p:sldId id="277" r:id="rId15"/>
    <p:sldId id="262" r:id="rId16"/>
    <p:sldId id="263" r:id="rId17"/>
    <p:sldId id="264" r:id="rId18"/>
    <p:sldId id="265" r:id="rId19"/>
    <p:sldId id="279" r:id="rId20"/>
    <p:sldId id="269" r:id="rId21"/>
    <p:sldId id="283" r:id="rId22"/>
    <p:sldId id="280" r:id="rId23"/>
    <p:sldId id="281" r:id="rId24"/>
  </p:sldIdLst>
  <p:sldSz cx="18288000" cy="10287000"/>
  <p:notesSz cx="6858000" cy="9144000"/>
  <p:embeddedFontLst>
    <p:embeddedFont>
      <p:font typeface="Inter" panose="020B0604020202020204" charset="0"/>
      <p:regular r:id="rId26"/>
      <p:bold r:id="rId27"/>
      <p:italic r:id="rId28"/>
      <p:boldItalic r:id="rId29"/>
    </p:embeddedFont>
    <p:embeddedFont>
      <p:font typeface="Poppins" panose="00000500000000000000" pitchFamily="2" charset="0"/>
      <p:regular r:id="rId30"/>
      <p:bold r:id="rId31"/>
      <p:italic r:id="rId32"/>
      <p:boldItalic r:id="rId33"/>
    </p:embeddedFont>
    <p:embeddedFont>
      <p:font typeface="Poppins Bold" panose="00000800000000000000" charset="0"/>
      <p:regular r:id="rId34"/>
    </p:embeddedFont>
    <p:embeddedFont>
      <p:font typeface="Space Grotesk" panose="020B0604020202020204" charset="0"/>
      <p:regular r:id="rId35"/>
      <p:bold r:id="rId36"/>
    </p:embeddedFont>
    <p:embeddedFont>
      <p:font typeface="Urbanist" panose="020B0604020202020204" charset="0"/>
      <p:regular r:id="rId37"/>
      <p:bold r:id="rId38"/>
      <p:italic r:id="rId39"/>
      <p:boldItalic r:id="rId40"/>
    </p:embeddedFont>
    <p:embeddedFont>
      <p:font typeface="Urbanist SemiBold" panose="020B0604020202020204" charset="0"/>
      <p:regular r:id="rId41"/>
      <p:bold r:id="rId42"/>
      <p:italic r:id="rId43"/>
      <p:boldItalic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83" autoAdjust="0"/>
    <p:restoredTop sz="95992" autoAdjust="0"/>
  </p:normalViewPr>
  <p:slideViewPr>
    <p:cSldViewPr>
      <p:cViewPr>
        <p:scale>
          <a:sx n="52" d="100"/>
          <a:sy n="52" d="100"/>
        </p:scale>
        <p:origin x="677" y="30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2984F7-B1FF-4DAB-86D4-3E6045F486F6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0FA5A5-F0CA-4759-B53C-9A349B99C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39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2715B89C-578B-5471-7C85-399DB0375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>
            <a:extLst>
              <a:ext uri="{FF2B5EF4-FFF2-40B4-BE49-F238E27FC236}">
                <a16:creationId xmlns:a16="http://schemas.microsoft.com/office/drawing/2014/main" id="{B6F648E2-3850-97E0-488B-D754F2FF32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6:notes">
            <a:extLst>
              <a:ext uri="{FF2B5EF4-FFF2-40B4-BE49-F238E27FC236}">
                <a16:creationId xmlns:a16="http://schemas.microsoft.com/office/drawing/2014/main" id="{F4EED549-4B50-D684-FE50-487C8BDF3C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0696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  <a:p>
            <a:r>
              <a:rPr lang="en-US" dirty="0"/>
              <a:t>A user searches for a newly released movie. Multiple torrent results appear genuine, but many actually contain corrupted video files or unusable content.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FA5A5-F0CA-4759-B53C-9A349B99C92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0396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FA8A8-732C-ECDA-8A81-90B083131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B14476-C391-F524-131C-AC805A1A9F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ADC7B0-7C88-77FF-4864-AAB571B8F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  <a:p>
            <a:r>
              <a:rPr lang="en-US" dirty="0"/>
              <a:t>A user downloads a torrent for a game, but the tracker provides dozens of fake peers. The client continuously tries to connect, but no valid source is available.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5C6DF-891F-0B43-E035-46DF63F1D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FA5A5-F0CA-4759-B53C-9A349B99C92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773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FA5A5-F0CA-4759-B53C-9A349B99C92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7099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FA5A5-F0CA-4759-B53C-9A349B99C92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6140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5" name="Google Shape;42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>
          <a:extLst>
            <a:ext uri="{FF2B5EF4-FFF2-40B4-BE49-F238E27FC236}">
              <a16:creationId xmlns:a16="http://schemas.microsoft.com/office/drawing/2014/main" id="{6433E271-7D43-A1A6-938D-3E23DAD2B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5:notes">
            <a:extLst>
              <a:ext uri="{FF2B5EF4-FFF2-40B4-BE49-F238E27FC236}">
                <a16:creationId xmlns:a16="http://schemas.microsoft.com/office/drawing/2014/main" id="{641DC26E-39DD-3EC1-A38B-E39983A2FB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5" name="Google Shape;425;p25:notes">
            <a:extLst>
              <a:ext uri="{FF2B5EF4-FFF2-40B4-BE49-F238E27FC236}">
                <a16:creationId xmlns:a16="http://schemas.microsoft.com/office/drawing/2014/main" id="{5614CE84-8ADD-D4B2-B6BE-819AFC0382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1831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6000">
              <a:schemeClr val="accent1">
                <a:lumMod val="75000"/>
              </a:schemeClr>
            </a:gs>
            <a:gs pos="0">
              <a:schemeClr val="tx2">
                <a:lumMod val="60000"/>
                <a:lumOff val="40000"/>
              </a:schemeClr>
            </a:gs>
            <a:gs pos="36000">
              <a:schemeClr val="accent1">
                <a:lumMod val="95000"/>
                <a:lumOff val="5000"/>
              </a:schemeClr>
            </a:gs>
            <a:gs pos="100000">
              <a:srgbClr val="00206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microsoft.com/office/2007/relationships/hdphoto" Target="../media/hdphoto1.wdp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3.png"/><Relationship Id="rId3" Type="http://schemas.microsoft.com/office/2007/relationships/hdphoto" Target="../media/hdphoto1.wdp"/><Relationship Id="rId7" Type="http://schemas.openxmlformats.org/officeDocument/2006/relationships/image" Target="../media/image10.png"/><Relationship Id="rId12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openxmlformats.org/officeDocument/2006/relationships/image" Target="../media/image8.png"/><Relationship Id="rId10" Type="http://schemas.microsoft.com/office/2007/relationships/hdphoto" Target="../media/hdphoto2.wdp"/><Relationship Id="rId4" Type="http://schemas.openxmlformats.org/officeDocument/2006/relationships/image" Target="../media/image7.png"/><Relationship Id="rId9" Type="http://schemas.openxmlformats.org/officeDocument/2006/relationships/image" Target="../media/image6.png"/><Relationship Id="rId14" Type="http://schemas.microsoft.com/office/2007/relationships/hdphoto" Target="../media/hdphoto4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microsoft.com/office/2007/relationships/hdphoto" Target="../media/hdphoto4.wdp"/><Relationship Id="rId12" Type="http://schemas.openxmlformats.org/officeDocument/2006/relationships/image" Target="../media/image11.png"/><Relationship Id="rId17" Type="http://schemas.microsoft.com/office/2007/relationships/hdphoto" Target="../media/hdphoto5.wdp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0.png"/><Relationship Id="rId5" Type="http://schemas.microsoft.com/office/2007/relationships/hdphoto" Target="../media/hdphoto3.wdp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12.png"/><Relationship Id="rId9" Type="http://schemas.openxmlformats.org/officeDocument/2006/relationships/image" Target="../media/image8.png"/><Relationship Id="rId1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microsoft.com/office/2007/relationships/hdphoto" Target="../media/hdphoto4.wdp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0.png"/><Relationship Id="rId5" Type="http://schemas.microsoft.com/office/2007/relationships/hdphoto" Target="../media/hdphoto3.wdp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12.png"/><Relationship Id="rId9" Type="http://schemas.openxmlformats.org/officeDocument/2006/relationships/image" Target="../media/image8.png"/><Relationship Id="rId1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microsoft.com/office/2007/relationships/hdphoto" Target="../media/hdphoto1.wdp"/><Relationship Id="rId7" Type="http://schemas.microsoft.com/office/2007/relationships/hdphoto" Target="../media/hdphoto4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microsoft.com/office/2007/relationships/hdphoto" Target="../media/hdphoto3.wdp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4.wdp"/><Relationship Id="rId5" Type="http://schemas.openxmlformats.org/officeDocument/2006/relationships/image" Target="../media/image13.png"/><Relationship Id="rId4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microsoft.com/office/2007/relationships/hdphoto" Target="../media/hdphoto1.wdp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4.wdp"/><Relationship Id="rId5" Type="http://schemas.openxmlformats.org/officeDocument/2006/relationships/image" Target="../media/image13.png"/><Relationship Id="rId4" Type="http://schemas.openxmlformats.org/officeDocument/2006/relationships/image" Target="../media/image14.svg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microsoft.com/office/2007/relationships/hdphoto" Target="../media/hdphoto7.wdp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microsoft.com/office/2007/relationships/hdphoto" Target="../media/hdphoto7.wdp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53A3D8F2-28EA-9621-F89E-D402DD766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22;p15" descr="image.png">
            <a:extLst>
              <a:ext uri="{FF2B5EF4-FFF2-40B4-BE49-F238E27FC236}">
                <a16:creationId xmlns:a16="http://schemas.microsoft.com/office/drawing/2014/main" id="{48C2E0CA-C3AA-4070-9774-AD44D1C68BE2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-38100"/>
            <a:ext cx="18288000" cy="1032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>
            <a:extLst>
              <a:ext uri="{FF2B5EF4-FFF2-40B4-BE49-F238E27FC236}">
                <a16:creationId xmlns:a16="http://schemas.microsoft.com/office/drawing/2014/main" id="{20A1B9B2-F45C-CDFA-E065-823988406C5A}"/>
              </a:ext>
            </a:extLst>
          </p:cNvPr>
          <p:cNvSpPr txBox="1"/>
          <p:nvPr/>
        </p:nvSpPr>
        <p:spPr>
          <a:xfrm>
            <a:off x="5566053" y="4258642"/>
            <a:ext cx="7155894" cy="176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15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Space Grotesk"/>
                <a:ea typeface="Space Grotesk"/>
                <a:cs typeface="Space Grotesk"/>
                <a:sym typeface="Space Grotesk"/>
              </a:rPr>
              <a:t>Welcome</a:t>
            </a:r>
            <a:endParaRPr sz="48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148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122;p15" descr="image.png">
            <a:extLst>
              <a:ext uri="{FF2B5EF4-FFF2-40B4-BE49-F238E27FC236}">
                <a16:creationId xmlns:a16="http://schemas.microsoft.com/office/drawing/2014/main" id="{5FFA806A-31F2-AD2C-B332-FD1E6E798AC3}"/>
              </a:ext>
            </a:extLst>
          </p:cNvPr>
          <p:cNvPicPr preferRelativeResize="0"/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reeform 2"/>
          <p:cNvSpPr/>
          <p:nvPr/>
        </p:nvSpPr>
        <p:spPr>
          <a:xfrm>
            <a:off x="8500427" y="8521117"/>
            <a:ext cx="1287146" cy="737183"/>
          </a:xfrm>
          <a:custGeom>
            <a:avLst/>
            <a:gdLst/>
            <a:ahLst/>
            <a:cxnLst/>
            <a:rect l="l" t="t" r="r" b="b"/>
            <a:pathLst>
              <a:path w="1287146" h="737183">
                <a:moveTo>
                  <a:pt x="0" y="0"/>
                </a:moveTo>
                <a:lnTo>
                  <a:pt x="1287146" y="0"/>
                </a:lnTo>
                <a:lnTo>
                  <a:pt x="1287146" y="737183"/>
                </a:lnTo>
                <a:lnTo>
                  <a:pt x="0" y="7371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176435" y="1194339"/>
            <a:ext cx="6800456" cy="7898323"/>
          </a:xfrm>
          <a:custGeom>
            <a:avLst/>
            <a:gdLst/>
            <a:ahLst/>
            <a:cxnLst/>
            <a:rect l="l" t="t" r="r" b="b"/>
            <a:pathLst>
              <a:path w="6800456" h="7898323">
                <a:moveTo>
                  <a:pt x="0" y="0"/>
                </a:moveTo>
                <a:lnTo>
                  <a:pt x="6800456" y="0"/>
                </a:lnTo>
                <a:lnTo>
                  <a:pt x="6800456" y="7898322"/>
                </a:lnTo>
                <a:lnTo>
                  <a:pt x="0" y="78983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34559" y="1066800"/>
            <a:ext cx="7557212" cy="3194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35"/>
              </a:lnSpc>
            </a:pPr>
            <a:r>
              <a:rPr lang="en-US" sz="11248" b="1" dirty="0">
                <a:solidFill>
                  <a:schemeClr val="accent1">
                    <a:lumMod val="5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Torrent Poisoning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34559" y="7293513"/>
            <a:ext cx="2351830" cy="40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8"/>
              </a:lnSpc>
            </a:pPr>
            <a:r>
              <a:rPr lang="en-US" sz="2356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PRESENTED BY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34559" y="7646354"/>
            <a:ext cx="2734562" cy="1241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98"/>
              </a:lnSpc>
            </a:pPr>
            <a:r>
              <a:rPr lang="en-US" sz="2356" b="1" dirty="0">
                <a:solidFill>
                  <a:schemeClr val="tx2">
                    <a:lumMod val="20000"/>
                    <a:lumOff val="8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HAANI BIN QAISER</a:t>
            </a:r>
          </a:p>
          <a:p>
            <a:pPr algn="r">
              <a:lnSpc>
                <a:spcPts val="3298"/>
              </a:lnSpc>
            </a:pPr>
            <a:r>
              <a:rPr lang="en-US" sz="2356" b="1" dirty="0">
                <a:solidFill>
                  <a:schemeClr val="tx2">
                    <a:lumMod val="20000"/>
                    <a:lumOff val="8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M. ASIM SALEEM</a:t>
            </a:r>
          </a:p>
          <a:p>
            <a:pPr algn="r">
              <a:lnSpc>
                <a:spcPts val="3298"/>
              </a:lnSpc>
            </a:pPr>
            <a:r>
              <a:rPr lang="en-US" sz="2356" b="1" dirty="0">
                <a:solidFill>
                  <a:schemeClr val="tx2">
                    <a:lumMod val="20000"/>
                    <a:lumOff val="8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M. ABAID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34559" y="4105770"/>
            <a:ext cx="6876747" cy="2194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91"/>
              </a:lnSpc>
            </a:pPr>
            <a:r>
              <a:rPr lang="en-US" sz="7749" b="1" dirty="0">
                <a:solidFill>
                  <a:schemeClr val="tx2">
                    <a:lumMod val="20000"/>
                    <a:lumOff val="8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Antipiracy &amp; Anonymity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72341" y="6301054"/>
            <a:ext cx="3715232" cy="1671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98"/>
              </a:lnSpc>
            </a:pPr>
            <a:r>
              <a:rPr lang="en-US" sz="2356" b="1" dirty="0">
                <a:solidFill>
                  <a:schemeClr val="tx2">
                    <a:lumMod val="20000"/>
                    <a:lumOff val="8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AUTHORS:</a:t>
            </a:r>
          </a:p>
          <a:p>
            <a:pPr algn="r">
              <a:lnSpc>
                <a:spcPts val="3298"/>
              </a:lnSpc>
            </a:pPr>
            <a:r>
              <a:rPr lang="en-US" sz="2356" b="1" dirty="0">
                <a:solidFill>
                  <a:schemeClr val="tx2">
                    <a:lumMod val="20000"/>
                    <a:lumOff val="8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ASHISH KUMAR SHARMA</a:t>
            </a:r>
          </a:p>
          <a:p>
            <a:pPr algn="r">
              <a:lnSpc>
                <a:spcPts val="3298"/>
              </a:lnSpc>
            </a:pPr>
            <a:r>
              <a:rPr lang="en-US" sz="2356" b="1" dirty="0">
                <a:solidFill>
                  <a:schemeClr val="tx2">
                    <a:lumMod val="20000"/>
                    <a:lumOff val="8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AMIT DABAS</a:t>
            </a:r>
          </a:p>
          <a:p>
            <a:pPr algn="r">
              <a:lnSpc>
                <a:spcPts val="3298"/>
              </a:lnSpc>
            </a:pPr>
            <a:r>
              <a:rPr lang="en-US" sz="2356" b="1" dirty="0">
                <a:solidFill>
                  <a:schemeClr val="tx2">
                    <a:lumMod val="20000"/>
                    <a:lumOff val="8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(IJERT)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122;p15" descr="image.png">
            <a:extLst>
              <a:ext uri="{FF2B5EF4-FFF2-40B4-BE49-F238E27FC236}">
                <a16:creationId xmlns:a16="http://schemas.microsoft.com/office/drawing/2014/main" id="{F8290401-635E-82E8-66DA-23005358897A}"/>
              </a:ext>
            </a:extLst>
          </p:cNvPr>
          <p:cNvPicPr preferRelativeResize="0"/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AutoShape 2"/>
          <p:cNvSpPr/>
          <p:nvPr/>
        </p:nvSpPr>
        <p:spPr>
          <a:xfrm flipV="1">
            <a:off x="1028700" y="2160669"/>
            <a:ext cx="16230600" cy="0"/>
          </a:xfrm>
          <a:prstGeom prst="line">
            <a:avLst/>
          </a:prstGeom>
          <a:ln w="9525" cap="rnd">
            <a:solidFill>
              <a:srgbClr val="182D8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28700" y="1224018"/>
            <a:ext cx="10630818" cy="71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4"/>
              </a:lnSpc>
            </a:pPr>
            <a:r>
              <a:rPr lang="en-US" sz="5097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Peer to Peer Network Models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C522655B-8C22-CFEA-FC00-5057C71089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511"/>
          <a:stretch>
            <a:fillRect/>
          </a:stretch>
        </p:blipFill>
        <p:spPr>
          <a:xfrm>
            <a:off x="1309983" y="3621024"/>
            <a:ext cx="7672318" cy="4190997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1188703F-50D1-0D41-CBA6-45D422D17F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511" t="-870" b="870"/>
          <a:stretch>
            <a:fillRect/>
          </a:stretch>
        </p:blipFill>
        <p:spPr>
          <a:xfrm>
            <a:off x="9372600" y="3621024"/>
            <a:ext cx="7672318" cy="4190997"/>
          </a:xfrm>
          <a:prstGeom prst="rect">
            <a:avLst/>
          </a:prstGeom>
        </p:spPr>
      </p:pic>
      <p:grpSp>
        <p:nvGrpSpPr>
          <p:cNvPr id="77" name="Group 3">
            <a:extLst>
              <a:ext uri="{FF2B5EF4-FFF2-40B4-BE49-F238E27FC236}">
                <a16:creationId xmlns:a16="http://schemas.microsoft.com/office/drawing/2014/main" id="{1E8A1BFE-1FA9-F2D1-49D1-ED33ED9F0C24}"/>
              </a:ext>
            </a:extLst>
          </p:cNvPr>
          <p:cNvGrpSpPr/>
          <p:nvPr/>
        </p:nvGrpSpPr>
        <p:grpSpPr>
          <a:xfrm>
            <a:off x="27154427" y="2507047"/>
            <a:ext cx="7668798" cy="1929159"/>
            <a:chOff x="0" y="0"/>
            <a:chExt cx="2310683" cy="581274"/>
          </a:xfrm>
        </p:grpSpPr>
        <p:sp>
          <p:nvSpPr>
            <p:cNvPr id="78" name="Freeform 4">
              <a:extLst>
                <a:ext uri="{FF2B5EF4-FFF2-40B4-BE49-F238E27FC236}">
                  <a16:creationId xmlns:a16="http://schemas.microsoft.com/office/drawing/2014/main" id="{E8E503A0-1BEA-5AF4-9E86-44553AC43F09}"/>
                </a:ext>
              </a:extLst>
            </p:cNvPr>
            <p:cNvSpPr/>
            <p:nvPr/>
          </p:nvSpPr>
          <p:spPr>
            <a:xfrm>
              <a:off x="0" y="0"/>
              <a:ext cx="2310683" cy="581274"/>
            </a:xfrm>
            <a:custGeom>
              <a:avLst/>
              <a:gdLst/>
              <a:ahLst/>
              <a:cxnLst/>
              <a:rect l="l" t="t" r="r" b="b"/>
              <a:pathLst>
                <a:path w="2310683" h="581274">
                  <a:moveTo>
                    <a:pt x="32305" y="0"/>
                  </a:moveTo>
                  <a:lnTo>
                    <a:pt x="2278378" y="0"/>
                  </a:lnTo>
                  <a:cubicBezTo>
                    <a:pt x="2296219" y="0"/>
                    <a:pt x="2310683" y="14463"/>
                    <a:pt x="2310683" y="32305"/>
                  </a:cubicBezTo>
                  <a:lnTo>
                    <a:pt x="2310683" y="548969"/>
                  </a:lnTo>
                  <a:cubicBezTo>
                    <a:pt x="2310683" y="557537"/>
                    <a:pt x="2307279" y="565754"/>
                    <a:pt x="2301221" y="571812"/>
                  </a:cubicBezTo>
                  <a:cubicBezTo>
                    <a:pt x="2295162" y="577871"/>
                    <a:pt x="2286945" y="581274"/>
                    <a:pt x="2278378" y="581274"/>
                  </a:cubicBezTo>
                  <a:lnTo>
                    <a:pt x="32305" y="581274"/>
                  </a:lnTo>
                  <a:cubicBezTo>
                    <a:pt x="14463" y="581274"/>
                    <a:pt x="0" y="566811"/>
                    <a:pt x="0" y="548969"/>
                  </a:cubicBezTo>
                  <a:lnTo>
                    <a:pt x="0" y="32305"/>
                  </a:lnTo>
                  <a:cubicBezTo>
                    <a:pt x="0" y="23737"/>
                    <a:pt x="3404" y="15520"/>
                    <a:pt x="9462" y="9462"/>
                  </a:cubicBezTo>
                  <a:cubicBezTo>
                    <a:pt x="15520" y="3404"/>
                    <a:pt x="23737" y="0"/>
                    <a:pt x="32305" y="0"/>
                  </a:cubicBez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id="79" name="TextBox 5">
              <a:extLst>
                <a:ext uri="{FF2B5EF4-FFF2-40B4-BE49-F238E27FC236}">
                  <a16:creationId xmlns:a16="http://schemas.microsoft.com/office/drawing/2014/main" id="{5D5E4CEB-0B19-943C-5F90-267BA61119CD}"/>
                </a:ext>
              </a:extLst>
            </p:cNvPr>
            <p:cNvSpPr txBox="1"/>
            <p:nvPr/>
          </p:nvSpPr>
          <p:spPr>
            <a:xfrm>
              <a:off x="0" y="-76200"/>
              <a:ext cx="2310683" cy="657474"/>
            </a:xfrm>
            <a:prstGeom prst="rect">
              <a:avLst/>
            </a:prstGeom>
          </p:spPr>
          <p:txBody>
            <a:bodyPr lIns="53046" tIns="53046" rIns="53046" bIns="53046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sp>
        <p:nvSpPr>
          <p:cNvPr id="80" name="AutoShape 6">
            <a:extLst>
              <a:ext uri="{FF2B5EF4-FFF2-40B4-BE49-F238E27FC236}">
                <a16:creationId xmlns:a16="http://schemas.microsoft.com/office/drawing/2014/main" id="{E2D05C00-4D4C-1C58-59E5-DDD8441022BF}"/>
              </a:ext>
            </a:extLst>
          </p:cNvPr>
          <p:cNvSpPr/>
          <p:nvPr/>
        </p:nvSpPr>
        <p:spPr>
          <a:xfrm flipV="1">
            <a:off x="29938813" y="2721405"/>
            <a:ext cx="0" cy="1500444"/>
          </a:xfrm>
          <a:prstGeom prst="line">
            <a:avLst/>
          </a:prstGeom>
          <a:ln w="9525" cap="rnd">
            <a:solidFill>
              <a:srgbClr val="FFFFFF">
                <a:alpha val="84706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1" name="Group 7">
            <a:extLst>
              <a:ext uri="{FF2B5EF4-FFF2-40B4-BE49-F238E27FC236}">
                <a16:creationId xmlns:a16="http://schemas.microsoft.com/office/drawing/2014/main" id="{89DC6023-27E5-F1C4-3014-3CA91017AAD1}"/>
              </a:ext>
            </a:extLst>
          </p:cNvPr>
          <p:cNvGrpSpPr/>
          <p:nvPr/>
        </p:nvGrpSpPr>
        <p:grpSpPr>
          <a:xfrm>
            <a:off x="23926800" y="4855306"/>
            <a:ext cx="7668798" cy="1929159"/>
            <a:chOff x="0" y="0"/>
            <a:chExt cx="2310683" cy="581274"/>
          </a:xfrm>
        </p:grpSpPr>
        <p:sp>
          <p:nvSpPr>
            <p:cNvPr id="82" name="Freeform 8">
              <a:extLst>
                <a:ext uri="{FF2B5EF4-FFF2-40B4-BE49-F238E27FC236}">
                  <a16:creationId xmlns:a16="http://schemas.microsoft.com/office/drawing/2014/main" id="{57D44A28-3FE8-2907-FECE-DEF04D2AED04}"/>
                </a:ext>
              </a:extLst>
            </p:cNvPr>
            <p:cNvSpPr/>
            <p:nvPr/>
          </p:nvSpPr>
          <p:spPr>
            <a:xfrm>
              <a:off x="0" y="0"/>
              <a:ext cx="2310683" cy="581274"/>
            </a:xfrm>
            <a:custGeom>
              <a:avLst/>
              <a:gdLst/>
              <a:ahLst/>
              <a:cxnLst/>
              <a:rect l="l" t="t" r="r" b="b"/>
              <a:pathLst>
                <a:path w="2310683" h="581274">
                  <a:moveTo>
                    <a:pt x="32305" y="0"/>
                  </a:moveTo>
                  <a:lnTo>
                    <a:pt x="2278378" y="0"/>
                  </a:lnTo>
                  <a:cubicBezTo>
                    <a:pt x="2296219" y="0"/>
                    <a:pt x="2310683" y="14463"/>
                    <a:pt x="2310683" y="32305"/>
                  </a:cubicBezTo>
                  <a:lnTo>
                    <a:pt x="2310683" y="548969"/>
                  </a:lnTo>
                  <a:cubicBezTo>
                    <a:pt x="2310683" y="557537"/>
                    <a:pt x="2307279" y="565754"/>
                    <a:pt x="2301221" y="571812"/>
                  </a:cubicBezTo>
                  <a:cubicBezTo>
                    <a:pt x="2295162" y="577871"/>
                    <a:pt x="2286945" y="581274"/>
                    <a:pt x="2278378" y="581274"/>
                  </a:cubicBezTo>
                  <a:lnTo>
                    <a:pt x="32305" y="581274"/>
                  </a:lnTo>
                  <a:cubicBezTo>
                    <a:pt x="14463" y="581274"/>
                    <a:pt x="0" y="566811"/>
                    <a:pt x="0" y="548969"/>
                  </a:cubicBezTo>
                  <a:lnTo>
                    <a:pt x="0" y="32305"/>
                  </a:lnTo>
                  <a:cubicBezTo>
                    <a:pt x="0" y="23737"/>
                    <a:pt x="3404" y="15520"/>
                    <a:pt x="9462" y="9462"/>
                  </a:cubicBezTo>
                  <a:cubicBezTo>
                    <a:pt x="15520" y="3404"/>
                    <a:pt x="23737" y="0"/>
                    <a:pt x="32305" y="0"/>
                  </a:cubicBezTo>
                  <a:close/>
                </a:path>
              </a:pathLst>
            </a:custGeom>
            <a:solidFill>
              <a:srgbClr val="08966E"/>
            </a:solidFill>
          </p:spPr>
        </p:sp>
        <p:sp>
          <p:nvSpPr>
            <p:cNvPr id="83" name="TextBox 9">
              <a:extLst>
                <a:ext uri="{FF2B5EF4-FFF2-40B4-BE49-F238E27FC236}">
                  <a16:creationId xmlns:a16="http://schemas.microsoft.com/office/drawing/2014/main" id="{0742F005-FC94-6C44-C172-5BDD738A8989}"/>
                </a:ext>
              </a:extLst>
            </p:cNvPr>
            <p:cNvSpPr txBox="1"/>
            <p:nvPr/>
          </p:nvSpPr>
          <p:spPr>
            <a:xfrm>
              <a:off x="0" y="-76200"/>
              <a:ext cx="2310683" cy="657474"/>
            </a:xfrm>
            <a:prstGeom prst="rect">
              <a:avLst/>
            </a:prstGeom>
          </p:spPr>
          <p:txBody>
            <a:bodyPr lIns="53046" tIns="53046" rIns="53046" bIns="53046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sp>
        <p:nvSpPr>
          <p:cNvPr id="84" name="AutoShape 10">
            <a:extLst>
              <a:ext uri="{FF2B5EF4-FFF2-40B4-BE49-F238E27FC236}">
                <a16:creationId xmlns:a16="http://schemas.microsoft.com/office/drawing/2014/main" id="{DBBFA633-3EDB-D343-FC44-9BAF273FD9CF}"/>
              </a:ext>
            </a:extLst>
          </p:cNvPr>
          <p:cNvSpPr/>
          <p:nvPr/>
        </p:nvSpPr>
        <p:spPr>
          <a:xfrm flipV="1">
            <a:off x="26711186" y="5069664"/>
            <a:ext cx="0" cy="1500444"/>
          </a:xfrm>
          <a:prstGeom prst="line">
            <a:avLst/>
          </a:prstGeom>
          <a:ln w="9525" cap="rnd">
            <a:solidFill>
              <a:srgbClr val="FFFFFF">
                <a:alpha val="8470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85" name="TextBox 22">
            <a:extLst>
              <a:ext uri="{FF2B5EF4-FFF2-40B4-BE49-F238E27FC236}">
                <a16:creationId xmlns:a16="http://schemas.microsoft.com/office/drawing/2014/main" id="{B2F3F607-B856-ADFC-E33E-EED1B2632CCF}"/>
              </a:ext>
            </a:extLst>
          </p:cNvPr>
          <p:cNvSpPr txBox="1"/>
          <p:nvPr/>
        </p:nvSpPr>
        <p:spPr>
          <a:xfrm>
            <a:off x="28196723" y="2896873"/>
            <a:ext cx="1192435" cy="1419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34"/>
              </a:lnSpc>
            </a:pPr>
            <a:r>
              <a:rPr lang="en-US" sz="20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Popular File Sharing Method</a:t>
            </a:r>
          </a:p>
        </p:txBody>
      </p:sp>
      <p:sp>
        <p:nvSpPr>
          <p:cNvPr id="86" name="TextBox 23">
            <a:extLst>
              <a:ext uri="{FF2B5EF4-FFF2-40B4-BE49-F238E27FC236}">
                <a16:creationId xmlns:a16="http://schemas.microsoft.com/office/drawing/2014/main" id="{33A5B189-81D7-9AF4-6BB8-2F861D08E1EB}"/>
              </a:ext>
            </a:extLst>
          </p:cNvPr>
          <p:cNvSpPr txBox="1"/>
          <p:nvPr/>
        </p:nvSpPr>
        <p:spPr>
          <a:xfrm>
            <a:off x="30364767" y="2810297"/>
            <a:ext cx="3851686" cy="1395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54"/>
              </a:lnSpc>
            </a:pPr>
            <a:r>
              <a:rPr lang="en-US" sz="153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Peer-to-Peer (P2P) file sharing has become a popular method for distributing digital content. BitTorrent is one of the most widely used P2P protocols.</a:t>
            </a:r>
          </a:p>
        </p:txBody>
      </p:sp>
      <p:sp>
        <p:nvSpPr>
          <p:cNvPr id="87" name="TextBox 24">
            <a:extLst>
              <a:ext uri="{FF2B5EF4-FFF2-40B4-BE49-F238E27FC236}">
                <a16:creationId xmlns:a16="http://schemas.microsoft.com/office/drawing/2014/main" id="{60FA4B9E-65F2-EE15-2CB7-9BF369E8211E}"/>
              </a:ext>
            </a:extLst>
          </p:cNvPr>
          <p:cNvSpPr txBox="1"/>
          <p:nvPr/>
        </p:nvSpPr>
        <p:spPr>
          <a:xfrm>
            <a:off x="27498214" y="3297062"/>
            <a:ext cx="565666" cy="35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422">
                <a:solidFill>
                  <a:srgbClr val="FFFFFF">
                    <a:alpha val="7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id="88" name="TextBox 29">
            <a:extLst>
              <a:ext uri="{FF2B5EF4-FFF2-40B4-BE49-F238E27FC236}">
                <a16:creationId xmlns:a16="http://schemas.microsoft.com/office/drawing/2014/main" id="{B5F26978-D827-F384-374A-81EDEBE2B768}"/>
              </a:ext>
            </a:extLst>
          </p:cNvPr>
          <p:cNvSpPr txBox="1"/>
          <p:nvPr/>
        </p:nvSpPr>
        <p:spPr>
          <a:xfrm>
            <a:off x="24969096" y="5469340"/>
            <a:ext cx="1604484" cy="701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34"/>
              </a:lnSpc>
            </a:pPr>
            <a:r>
              <a:rPr lang="en-US" sz="20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Fast and Efficient</a:t>
            </a:r>
          </a:p>
        </p:txBody>
      </p:sp>
      <p:sp>
        <p:nvSpPr>
          <p:cNvPr id="89" name="TextBox 30">
            <a:extLst>
              <a:ext uri="{FF2B5EF4-FFF2-40B4-BE49-F238E27FC236}">
                <a16:creationId xmlns:a16="http://schemas.microsoft.com/office/drawing/2014/main" id="{2F177611-E605-0776-8D7B-E124010282E5}"/>
              </a:ext>
            </a:extLst>
          </p:cNvPr>
          <p:cNvSpPr txBox="1"/>
          <p:nvPr/>
        </p:nvSpPr>
        <p:spPr>
          <a:xfrm>
            <a:off x="27137140" y="5069664"/>
            <a:ext cx="3851686" cy="1395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54"/>
              </a:lnSpc>
            </a:pPr>
            <a:r>
              <a:rPr lang="en-US" sz="153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Files are divided into small chunks and distributed among peers which enables fast and efficient sharing of large files. Provides efficient use of bandwidth and system resources.</a:t>
            </a:r>
          </a:p>
        </p:txBody>
      </p:sp>
      <p:sp>
        <p:nvSpPr>
          <p:cNvPr id="90" name="TextBox 31">
            <a:extLst>
              <a:ext uri="{FF2B5EF4-FFF2-40B4-BE49-F238E27FC236}">
                <a16:creationId xmlns:a16="http://schemas.microsoft.com/office/drawing/2014/main" id="{08D24125-B172-96F2-E74D-5370F7BBE414}"/>
              </a:ext>
            </a:extLst>
          </p:cNvPr>
          <p:cNvSpPr txBox="1"/>
          <p:nvPr/>
        </p:nvSpPr>
        <p:spPr>
          <a:xfrm>
            <a:off x="24270587" y="5645322"/>
            <a:ext cx="565666" cy="35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422">
                <a:solidFill>
                  <a:srgbClr val="FFFFFF">
                    <a:alpha val="7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grpSp>
        <p:nvGrpSpPr>
          <p:cNvPr id="91" name="Group 3">
            <a:extLst>
              <a:ext uri="{FF2B5EF4-FFF2-40B4-BE49-F238E27FC236}">
                <a16:creationId xmlns:a16="http://schemas.microsoft.com/office/drawing/2014/main" id="{A207EF3B-D7CA-4612-37D7-6BCB465D6D1C}"/>
              </a:ext>
            </a:extLst>
          </p:cNvPr>
          <p:cNvGrpSpPr/>
          <p:nvPr/>
        </p:nvGrpSpPr>
        <p:grpSpPr>
          <a:xfrm>
            <a:off x="19278600" y="7215435"/>
            <a:ext cx="7668798" cy="1929159"/>
            <a:chOff x="0" y="0"/>
            <a:chExt cx="2310683" cy="581274"/>
          </a:xfrm>
        </p:grpSpPr>
        <p:sp>
          <p:nvSpPr>
            <p:cNvPr id="92" name="Freeform 4">
              <a:extLst>
                <a:ext uri="{FF2B5EF4-FFF2-40B4-BE49-F238E27FC236}">
                  <a16:creationId xmlns:a16="http://schemas.microsoft.com/office/drawing/2014/main" id="{E44E1EFF-5B26-EEFC-270A-9805AC8F10C3}"/>
                </a:ext>
              </a:extLst>
            </p:cNvPr>
            <p:cNvSpPr/>
            <p:nvPr/>
          </p:nvSpPr>
          <p:spPr>
            <a:xfrm>
              <a:off x="0" y="0"/>
              <a:ext cx="2310683" cy="581274"/>
            </a:xfrm>
            <a:custGeom>
              <a:avLst/>
              <a:gdLst/>
              <a:ahLst/>
              <a:cxnLst/>
              <a:rect l="l" t="t" r="r" b="b"/>
              <a:pathLst>
                <a:path w="2310683" h="581274">
                  <a:moveTo>
                    <a:pt x="32305" y="0"/>
                  </a:moveTo>
                  <a:lnTo>
                    <a:pt x="2278378" y="0"/>
                  </a:lnTo>
                  <a:cubicBezTo>
                    <a:pt x="2296219" y="0"/>
                    <a:pt x="2310683" y="14463"/>
                    <a:pt x="2310683" y="32305"/>
                  </a:cubicBezTo>
                  <a:lnTo>
                    <a:pt x="2310683" y="548969"/>
                  </a:lnTo>
                  <a:cubicBezTo>
                    <a:pt x="2310683" y="557537"/>
                    <a:pt x="2307279" y="565754"/>
                    <a:pt x="2301221" y="571812"/>
                  </a:cubicBezTo>
                  <a:cubicBezTo>
                    <a:pt x="2295162" y="577871"/>
                    <a:pt x="2286945" y="581274"/>
                    <a:pt x="2278378" y="581274"/>
                  </a:cubicBezTo>
                  <a:lnTo>
                    <a:pt x="32305" y="581274"/>
                  </a:lnTo>
                  <a:cubicBezTo>
                    <a:pt x="14463" y="581274"/>
                    <a:pt x="0" y="566811"/>
                    <a:pt x="0" y="548969"/>
                  </a:cubicBezTo>
                  <a:lnTo>
                    <a:pt x="0" y="32305"/>
                  </a:lnTo>
                  <a:cubicBezTo>
                    <a:pt x="0" y="23737"/>
                    <a:pt x="3404" y="15520"/>
                    <a:pt x="9462" y="9462"/>
                  </a:cubicBezTo>
                  <a:cubicBezTo>
                    <a:pt x="15520" y="3404"/>
                    <a:pt x="23737" y="0"/>
                    <a:pt x="32305" y="0"/>
                  </a:cubicBez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id="93" name="TextBox 5">
              <a:extLst>
                <a:ext uri="{FF2B5EF4-FFF2-40B4-BE49-F238E27FC236}">
                  <a16:creationId xmlns:a16="http://schemas.microsoft.com/office/drawing/2014/main" id="{5317B379-9E54-6CDA-3069-8F444780F757}"/>
                </a:ext>
              </a:extLst>
            </p:cNvPr>
            <p:cNvSpPr txBox="1"/>
            <p:nvPr/>
          </p:nvSpPr>
          <p:spPr>
            <a:xfrm>
              <a:off x="0" y="-76200"/>
              <a:ext cx="2310683" cy="657474"/>
            </a:xfrm>
            <a:prstGeom prst="rect">
              <a:avLst/>
            </a:prstGeom>
          </p:spPr>
          <p:txBody>
            <a:bodyPr lIns="53046" tIns="53046" rIns="53046" bIns="53046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sp>
        <p:nvSpPr>
          <p:cNvPr id="94" name="AutoShape 6">
            <a:extLst>
              <a:ext uri="{FF2B5EF4-FFF2-40B4-BE49-F238E27FC236}">
                <a16:creationId xmlns:a16="http://schemas.microsoft.com/office/drawing/2014/main" id="{BFD4B04A-37E6-4901-FF48-AF1AEA00637F}"/>
              </a:ext>
            </a:extLst>
          </p:cNvPr>
          <p:cNvSpPr/>
          <p:nvPr/>
        </p:nvSpPr>
        <p:spPr>
          <a:xfrm flipV="1">
            <a:off x="22062986" y="7429793"/>
            <a:ext cx="0" cy="1500444"/>
          </a:xfrm>
          <a:prstGeom prst="line">
            <a:avLst/>
          </a:prstGeom>
          <a:ln w="9525" cap="rnd">
            <a:solidFill>
              <a:srgbClr val="FFFFFF">
                <a:alpha val="8470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95" name="TextBox 22">
            <a:extLst>
              <a:ext uri="{FF2B5EF4-FFF2-40B4-BE49-F238E27FC236}">
                <a16:creationId xmlns:a16="http://schemas.microsoft.com/office/drawing/2014/main" id="{A94DA1A8-0E20-82C5-209D-DE1E4476BD56}"/>
              </a:ext>
            </a:extLst>
          </p:cNvPr>
          <p:cNvSpPr txBox="1"/>
          <p:nvPr/>
        </p:nvSpPr>
        <p:spPr>
          <a:xfrm>
            <a:off x="20342502" y="7835235"/>
            <a:ext cx="1561272" cy="701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34"/>
              </a:lnSpc>
            </a:pPr>
            <a:r>
              <a:rPr lang="en-US" sz="20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Legal Challenges </a:t>
            </a:r>
          </a:p>
        </p:txBody>
      </p:sp>
      <p:sp>
        <p:nvSpPr>
          <p:cNvPr id="96" name="TextBox 23">
            <a:extLst>
              <a:ext uri="{FF2B5EF4-FFF2-40B4-BE49-F238E27FC236}">
                <a16:creationId xmlns:a16="http://schemas.microsoft.com/office/drawing/2014/main" id="{BE3D2F7A-3881-5500-5E08-F9FE9D9E6EC2}"/>
              </a:ext>
            </a:extLst>
          </p:cNvPr>
          <p:cNvSpPr txBox="1"/>
          <p:nvPr/>
        </p:nvSpPr>
        <p:spPr>
          <a:xfrm>
            <a:off x="22573253" y="7488088"/>
            <a:ext cx="3851686" cy="1395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54"/>
              </a:lnSpc>
            </a:pPr>
            <a:r>
              <a:rPr lang="en-US" sz="153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However, it is also widely used for unauthorized distribution of copyrighted content. This creates challenges related to security, privacy, and copyright enforcement.</a:t>
            </a:r>
          </a:p>
        </p:txBody>
      </p:sp>
      <p:sp>
        <p:nvSpPr>
          <p:cNvPr id="97" name="TextBox 24">
            <a:extLst>
              <a:ext uri="{FF2B5EF4-FFF2-40B4-BE49-F238E27FC236}">
                <a16:creationId xmlns:a16="http://schemas.microsoft.com/office/drawing/2014/main" id="{5024EF66-CD83-81BC-649E-F93C269B1453}"/>
              </a:ext>
            </a:extLst>
          </p:cNvPr>
          <p:cNvSpPr txBox="1"/>
          <p:nvPr/>
        </p:nvSpPr>
        <p:spPr>
          <a:xfrm>
            <a:off x="19622387" y="8005450"/>
            <a:ext cx="565666" cy="33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422" dirty="0">
                <a:solidFill>
                  <a:srgbClr val="FFFFFF">
                    <a:alpha val="7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6B850-9695-B959-0E20-4DEFCFF6F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122;p15" descr="image.png">
            <a:extLst>
              <a:ext uri="{FF2B5EF4-FFF2-40B4-BE49-F238E27FC236}">
                <a16:creationId xmlns:a16="http://schemas.microsoft.com/office/drawing/2014/main" id="{DCAC6604-99D7-682B-D666-E593C9C3CE82}"/>
              </a:ext>
            </a:extLst>
          </p:cNvPr>
          <p:cNvPicPr preferRelativeResize="0"/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C1E5BA1D-E518-6752-775D-6B9C95010EC1}"/>
              </a:ext>
            </a:extLst>
          </p:cNvPr>
          <p:cNvSpPr/>
          <p:nvPr/>
        </p:nvSpPr>
        <p:spPr>
          <a:xfrm flipV="1">
            <a:off x="1028700" y="2160669"/>
            <a:ext cx="16230600" cy="0"/>
          </a:xfrm>
          <a:prstGeom prst="line">
            <a:avLst/>
          </a:prstGeom>
          <a:ln w="9525" cap="rnd">
            <a:solidFill>
              <a:srgbClr val="182D8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FEDC339-A166-95B8-136D-688BCF4B6208}"/>
              </a:ext>
            </a:extLst>
          </p:cNvPr>
          <p:cNvSpPr txBox="1"/>
          <p:nvPr/>
        </p:nvSpPr>
        <p:spPr>
          <a:xfrm>
            <a:off x="1028700" y="1224018"/>
            <a:ext cx="10630818" cy="71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4"/>
              </a:lnSpc>
            </a:pPr>
            <a:r>
              <a:rPr lang="en-US" sz="5097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Peer to Peer Network Models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DCC7AA2-31AD-8EF9-1D25-E56B07AD03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3200" y="2974881"/>
            <a:ext cx="6989783" cy="6088101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grpSp>
        <p:nvGrpSpPr>
          <p:cNvPr id="9" name="Group 3">
            <a:extLst>
              <a:ext uri="{FF2B5EF4-FFF2-40B4-BE49-F238E27FC236}">
                <a16:creationId xmlns:a16="http://schemas.microsoft.com/office/drawing/2014/main" id="{0F64E644-9639-9CFD-7365-6F6BA1FEE5CA}"/>
              </a:ext>
            </a:extLst>
          </p:cNvPr>
          <p:cNvGrpSpPr/>
          <p:nvPr/>
        </p:nvGrpSpPr>
        <p:grpSpPr>
          <a:xfrm>
            <a:off x="1347201" y="2507047"/>
            <a:ext cx="7668798" cy="1929159"/>
            <a:chOff x="0" y="0"/>
            <a:chExt cx="2310683" cy="581274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97AB3E30-9FEF-F8D4-09B2-32D78A04612F}"/>
                </a:ext>
              </a:extLst>
            </p:cNvPr>
            <p:cNvSpPr/>
            <p:nvPr/>
          </p:nvSpPr>
          <p:spPr>
            <a:xfrm>
              <a:off x="0" y="0"/>
              <a:ext cx="2310683" cy="581274"/>
            </a:xfrm>
            <a:custGeom>
              <a:avLst/>
              <a:gdLst/>
              <a:ahLst/>
              <a:cxnLst/>
              <a:rect l="l" t="t" r="r" b="b"/>
              <a:pathLst>
                <a:path w="2310683" h="581274">
                  <a:moveTo>
                    <a:pt x="32305" y="0"/>
                  </a:moveTo>
                  <a:lnTo>
                    <a:pt x="2278378" y="0"/>
                  </a:lnTo>
                  <a:cubicBezTo>
                    <a:pt x="2296219" y="0"/>
                    <a:pt x="2310683" y="14463"/>
                    <a:pt x="2310683" y="32305"/>
                  </a:cubicBezTo>
                  <a:lnTo>
                    <a:pt x="2310683" y="548969"/>
                  </a:lnTo>
                  <a:cubicBezTo>
                    <a:pt x="2310683" y="557537"/>
                    <a:pt x="2307279" y="565754"/>
                    <a:pt x="2301221" y="571812"/>
                  </a:cubicBezTo>
                  <a:cubicBezTo>
                    <a:pt x="2295162" y="577871"/>
                    <a:pt x="2286945" y="581274"/>
                    <a:pt x="2278378" y="581274"/>
                  </a:cubicBezTo>
                  <a:lnTo>
                    <a:pt x="32305" y="581274"/>
                  </a:lnTo>
                  <a:cubicBezTo>
                    <a:pt x="14463" y="581274"/>
                    <a:pt x="0" y="566811"/>
                    <a:pt x="0" y="548969"/>
                  </a:cubicBezTo>
                  <a:lnTo>
                    <a:pt x="0" y="32305"/>
                  </a:lnTo>
                  <a:cubicBezTo>
                    <a:pt x="0" y="23737"/>
                    <a:pt x="3404" y="15520"/>
                    <a:pt x="9462" y="9462"/>
                  </a:cubicBezTo>
                  <a:cubicBezTo>
                    <a:pt x="15520" y="3404"/>
                    <a:pt x="23737" y="0"/>
                    <a:pt x="32305" y="0"/>
                  </a:cubicBez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6376711D-29E5-9FD0-679E-B47DFC9347C6}"/>
                </a:ext>
              </a:extLst>
            </p:cNvPr>
            <p:cNvSpPr txBox="1"/>
            <p:nvPr/>
          </p:nvSpPr>
          <p:spPr>
            <a:xfrm>
              <a:off x="0" y="-76200"/>
              <a:ext cx="2310683" cy="657474"/>
            </a:xfrm>
            <a:prstGeom prst="rect">
              <a:avLst/>
            </a:prstGeom>
          </p:spPr>
          <p:txBody>
            <a:bodyPr lIns="53046" tIns="53046" rIns="53046" bIns="53046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sp>
        <p:nvSpPr>
          <p:cNvPr id="12" name="AutoShape 6">
            <a:extLst>
              <a:ext uri="{FF2B5EF4-FFF2-40B4-BE49-F238E27FC236}">
                <a16:creationId xmlns:a16="http://schemas.microsoft.com/office/drawing/2014/main" id="{4C89A0C2-B0B3-41E0-F1AA-D22F7F76526F}"/>
              </a:ext>
            </a:extLst>
          </p:cNvPr>
          <p:cNvSpPr/>
          <p:nvPr/>
        </p:nvSpPr>
        <p:spPr>
          <a:xfrm flipV="1">
            <a:off x="4131587" y="2721405"/>
            <a:ext cx="0" cy="1500444"/>
          </a:xfrm>
          <a:prstGeom prst="line">
            <a:avLst/>
          </a:prstGeom>
          <a:ln w="9525" cap="rnd">
            <a:solidFill>
              <a:srgbClr val="FFFFFF">
                <a:alpha val="84706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7">
            <a:extLst>
              <a:ext uri="{FF2B5EF4-FFF2-40B4-BE49-F238E27FC236}">
                <a16:creationId xmlns:a16="http://schemas.microsoft.com/office/drawing/2014/main" id="{95AF3EB8-FCEC-33D4-5A47-D0E4296A3EF2}"/>
              </a:ext>
            </a:extLst>
          </p:cNvPr>
          <p:cNvGrpSpPr/>
          <p:nvPr/>
        </p:nvGrpSpPr>
        <p:grpSpPr>
          <a:xfrm>
            <a:off x="1347201" y="4855306"/>
            <a:ext cx="7668798" cy="1929159"/>
            <a:chOff x="0" y="0"/>
            <a:chExt cx="2310683" cy="581274"/>
          </a:xfrm>
        </p:grpSpPr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D301422D-948A-574C-9693-F2506F8CF967}"/>
                </a:ext>
              </a:extLst>
            </p:cNvPr>
            <p:cNvSpPr/>
            <p:nvPr/>
          </p:nvSpPr>
          <p:spPr>
            <a:xfrm>
              <a:off x="0" y="0"/>
              <a:ext cx="2310683" cy="581274"/>
            </a:xfrm>
            <a:custGeom>
              <a:avLst/>
              <a:gdLst/>
              <a:ahLst/>
              <a:cxnLst/>
              <a:rect l="l" t="t" r="r" b="b"/>
              <a:pathLst>
                <a:path w="2310683" h="581274">
                  <a:moveTo>
                    <a:pt x="32305" y="0"/>
                  </a:moveTo>
                  <a:lnTo>
                    <a:pt x="2278378" y="0"/>
                  </a:lnTo>
                  <a:cubicBezTo>
                    <a:pt x="2296219" y="0"/>
                    <a:pt x="2310683" y="14463"/>
                    <a:pt x="2310683" y="32305"/>
                  </a:cubicBezTo>
                  <a:lnTo>
                    <a:pt x="2310683" y="548969"/>
                  </a:lnTo>
                  <a:cubicBezTo>
                    <a:pt x="2310683" y="557537"/>
                    <a:pt x="2307279" y="565754"/>
                    <a:pt x="2301221" y="571812"/>
                  </a:cubicBezTo>
                  <a:cubicBezTo>
                    <a:pt x="2295162" y="577871"/>
                    <a:pt x="2286945" y="581274"/>
                    <a:pt x="2278378" y="581274"/>
                  </a:cubicBezTo>
                  <a:lnTo>
                    <a:pt x="32305" y="581274"/>
                  </a:lnTo>
                  <a:cubicBezTo>
                    <a:pt x="14463" y="581274"/>
                    <a:pt x="0" y="566811"/>
                    <a:pt x="0" y="548969"/>
                  </a:cubicBezTo>
                  <a:lnTo>
                    <a:pt x="0" y="32305"/>
                  </a:lnTo>
                  <a:cubicBezTo>
                    <a:pt x="0" y="23737"/>
                    <a:pt x="3404" y="15520"/>
                    <a:pt x="9462" y="9462"/>
                  </a:cubicBezTo>
                  <a:cubicBezTo>
                    <a:pt x="15520" y="3404"/>
                    <a:pt x="23737" y="0"/>
                    <a:pt x="32305" y="0"/>
                  </a:cubicBezTo>
                  <a:close/>
                </a:path>
              </a:pathLst>
            </a:custGeom>
            <a:solidFill>
              <a:srgbClr val="08966E"/>
            </a:solidFill>
          </p:spPr>
        </p:sp>
        <p:sp>
          <p:nvSpPr>
            <p:cNvPr id="15" name="TextBox 9">
              <a:extLst>
                <a:ext uri="{FF2B5EF4-FFF2-40B4-BE49-F238E27FC236}">
                  <a16:creationId xmlns:a16="http://schemas.microsoft.com/office/drawing/2014/main" id="{4D9C3010-57F4-D1E4-B2A6-2C43C70BE155}"/>
                </a:ext>
              </a:extLst>
            </p:cNvPr>
            <p:cNvSpPr txBox="1"/>
            <p:nvPr/>
          </p:nvSpPr>
          <p:spPr>
            <a:xfrm>
              <a:off x="0" y="-76200"/>
              <a:ext cx="2310683" cy="657474"/>
            </a:xfrm>
            <a:prstGeom prst="rect">
              <a:avLst/>
            </a:prstGeom>
          </p:spPr>
          <p:txBody>
            <a:bodyPr lIns="53046" tIns="53046" rIns="53046" bIns="53046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sp>
        <p:nvSpPr>
          <p:cNvPr id="16" name="AutoShape 10">
            <a:extLst>
              <a:ext uri="{FF2B5EF4-FFF2-40B4-BE49-F238E27FC236}">
                <a16:creationId xmlns:a16="http://schemas.microsoft.com/office/drawing/2014/main" id="{6AF94768-B2AA-E006-A498-D802FB469A91}"/>
              </a:ext>
            </a:extLst>
          </p:cNvPr>
          <p:cNvSpPr/>
          <p:nvPr/>
        </p:nvSpPr>
        <p:spPr>
          <a:xfrm flipV="1">
            <a:off x="4131587" y="5069664"/>
            <a:ext cx="0" cy="1500444"/>
          </a:xfrm>
          <a:prstGeom prst="line">
            <a:avLst/>
          </a:prstGeom>
          <a:ln w="9525" cap="rnd">
            <a:solidFill>
              <a:srgbClr val="FFFFFF">
                <a:alpha val="8470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22">
            <a:extLst>
              <a:ext uri="{FF2B5EF4-FFF2-40B4-BE49-F238E27FC236}">
                <a16:creationId xmlns:a16="http://schemas.microsoft.com/office/drawing/2014/main" id="{238FB94F-D20C-690A-A5EF-76052CC56FC7}"/>
              </a:ext>
            </a:extLst>
          </p:cNvPr>
          <p:cNvSpPr txBox="1"/>
          <p:nvPr/>
        </p:nvSpPr>
        <p:spPr>
          <a:xfrm>
            <a:off x="2411420" y="2786444"/>
            <a:ext cx="1192435" cy="1419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34"/>
              </a:lnSpc>
            </a:pPr>
            <a:r>
              <a:rPr lang="en-US" sz="20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Popular File Sharing Method</a:t>
            </a:r>
          </a:p>
        </p:txBody>
      </p:sp>
      <p:sp>
        <p:nvSpPr>
          <p:cNvPr id="18" name="TextBox 23">
            <a:extLst>
              <a:ext uri="{FF2B5EF4-FFF2-40B4-BE49-F238E27FC236}">
                <a16:creationId xmlns:a16="http://schemas.microsoft.com/office/drawing/2014/main" id="{D1818E48-8011-CE12-FF24-60050546968D}"/>
              </a:ext>
            </a:extLst>
          </p:cNvPr>
          <p:cNvSpPr txBox="1"/>
          <p:nvPr/>
        </p:nvSpPr>
        <p:spPr>
          <a:xfrm>
            <a:off x="4557541" y="2810297"/>
            <a:ext cx="3851686" cy="1395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54"/>
              </a:lnSpc>
            </a:pPr>
            <a:r>
              <a:rPr lang="en-US" sz="153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Peer-to-Peer (P2P) file sharing has become a popular method for distributing digital content. BitTorrent is one of the most widely used P2P protocols.</a:t>
            </a:r>
          </a:p>
        </p:txBody>
      </p:sp>
      <p:sp>
        <p:nvSpPr>
          <p:cNvPr id="19" name="TextBox 24">
            <a:extLst>
              <a:ext uri="{FF2B5EF4-FFF2-40B4-BE49-F238E27FC236}">
                <a16:creationId xmlns:a16="http://schemas.microsoft.com/office/drawing/2014/main" id="{4128A50A-A112-7EFE-EB91-A79F287E8DB6}"/>
              </a:ext>
            </a:extLst>
          </p:cNvPr>
          <p:cNvSpPr txBox="1"/>
          <p:nvPr/>
        </p:nvSpPr>
        <p:spPr>
          <a:xfrm>
            <a:off x="1690988" y="3297062"/>
            <a:ext cx="565666" cy="35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422">
                <a:solidFill>
                  <a:srgbClr val="FFFFFF">
                    <a:alpha val="7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id="20" name="TextBox 29">
            <a:extLst>
              <a:ext uri="{FF2B5EF4-FFF2-40B4-BE49-F238E27FC236}">
                <a16:creationId xmlns:a16="http://schemas.microsoft.com/office/drawing/2014/main" id="{FC41615B-04AE-6097-C3FD-FD1F7B19F358}"/>
              </a:ext>
            </a:extLst>
          </p:cNvPr>
          <p:cNvSpPr txBox="1"/>
          <p:nvPr/>
        </p:nvSpPr>
        <p:spPr>
          <a:xfrm>
            <a:off x="2389497" y="5469340"/>
            <a:ext cx="1604484" cy="701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34"/>
              </a:lnSpc>
            </a:pPr>
            <a:r>
              <a:rPr lang="en-US" sz="20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Fast and Efficient</a:t>
            </a:r>
          </a:p>
        </p:txBody>
      </p:sp>
      <p:sp>
        <p:nvSpPr>
          <p:cNvPr id="21" name="TextBox 30">
            <a:extLst>
              <a:ext uri="{FF2B5EF4-FFF2-40B4-BE49-F238E27FC236}">
                <a16:creationId xmlns:a16="http://schemas.microsoft.com/office/drawing/2014/main" id="{77120A8B-7661-5F59-C711-21A2E4CBECEF}"/>
              </a:ext>
            </a:extLst>
          </p:cNvPr>
          <p:cNvSpPr txBox="1"/>
          <p:nvPr/>
        </p:nvSpPr>
        <p:spPr>
          <a:xfrm>
            <a:off x="4557541" y="5069664"/>
            <a:ext cx="3851686" cy="1395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54"/>
              </a:lnSpc>
            </a:pPr>
            <a:r>
              <a:rPr lang="en-US" sz="153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Files are divided into small chunks and distributed among peers which enables fast and efficient sharing of large files. Provides efficient use of bandwidth and system resources.</a:t>
            </a:r>
          </a:p>
        </p:txBody>
      </p:sp>
      <p:sp>
        <p:nvSpPr>
          <p:cNvPr id="22" name="TextBox 31">
            <a:extLst>
              <a:ext uri="{FF2B5EF4-FFF2-40B4-BE49-F238E27FC236}">
                <a16:creationId xmlns:a16="http://schemas.microsoft.com/office/drawing/2014/main" id="{29A657F0-2760-4EA7-C638-F1B6AEBEFA7C}"/>
              </a:ext>
            </a:extLst>
          </p:cNvPr>
          <p:cNvSpPr txBox="1"/>
          <p:nvPr/>
        </p:nvSpPr>
        <p:spPr>
          <a:xfrm>
            <a:off x="1690988" y="5645322"/>
            <a:ext cx="565666" cy="35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422">
                <a:solidFill>
                  <a:srgbClr val="FFFFFF">
                    <a:alpha val="7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grpSp>
        <p:nvGrpSpPr>
          <p:cNvPr id="30" name="Group 3">
            <a:extLst>
              <a:ext uri="{FF2B5EF4-FFF2-40B4-BE49-F238E27FC236}">
                <a16:creationId xmlns:a16="http://schemas.microsoft.com/office/drawing/2014/main" id="{6F90834B-C91D-FDBC-61FF-BEEB58C38705}"/>
              </a:ext>
            </a:extLst>
          </p:cNvPr>
          <p:cNvGrpSpPr/>
          <p:nvPr/>
        </p:nvGrpSpPr>
        <p:grpSpPr>
          <a:xfrm>
            <a:off x="1347201" y="7215435"/>
            <a:ext cx="7668798" cy="1929159"/>
            <a:chOff x="0" y="0"/>
            <a:chExt cx="2310683" cy="581274"/>
          </a:xfrm>
        </p:grpSpPr>
        <p:sp>
          <p:nvSpPr>
            <p:cNvPr id="31" name="Freeform 4">
              <a:extLst>
                <a:ext uri="{FF2B5EF4-FFF2-40B4-BE49-F238E27FC236}">
                  <a16:creationId xmlns:a16="http://schemas.microsoft.com/office/drawing/2014/main" id="{AA5FD287-C1DD-0C39-9255-1D1155DDBB03}"/>
                </a:ext>
              </a:extLst>
            </p:cNvPr>
            <p:cNvSpPr/>
            <p:nvPr/>
          </p:nvSpPr>
          <p:spPr>
            <a:xfrm>
              <a:off x="0" y="0"/>
              <a:ext cx="2310683" cy="581274"/>
            </a:xfrm>
            <a:custGeom>
              <a:avLst/>
              <a:gdLst/>
              <a:ahLst/>
              <a:cxnLst/>
              <a:rect l="l" t="t" r="r" b="b"/>
              <a:pathLst>
                <a:path w="2310683" h="581274">
                  <a:moveTo>
                    <a:pt x="32305" y="0"/>
                  </a:moveTo>
                  <a:lnTo>
                    <a:pt x="2278378" y="0"/>
                  </a:lnTo>
                  <a:cubicBezTo>
                    <a:pt x="2296219" y="0"/>
                    <a:pt x="2310683" y="14463"/>
                    <a:pt x="2310683" y="32305"/>
                  </a:cubicBezTo>
                  <a:lnTo>
                    <a:pt x="2310683" y="548969"/>
                  </a:lnTo>
                  <a:cubicBezTo>
                    <a:pt x="2310683" y="557537"/>
                    <a:pt x="2307279" y="565754"/>
                    <a:pt x="2301221" y="571812"/>
                  </a:cubicBezTo>
                  <a:cubicBezTo>
                    <a:pt x="2295162" y="577871"/>
                    <a:pt x="2286945" y="581274"/>
                    <a:pt x="2278378" y="581274"/>
                  </a:cubicBezTo>
                  <a:lnTo>
                    <a:pt x="32305" y="581274"/>
                  </a:lnTo>
                  <a:cubicBezTo>
                    <a:pt x="14463" y="581274"/>
                    <a:pt x="0" y="566811"/>
                    <a:pt x="0" y="548969"/>
                  </a:cubicBezTo>
                  <a:lnTo>
                    <a:pt x="0" y="32305"/>
                  </a:lnTo>
                  <a:cubicBezTo>
                    <a:pt x="0" y="23737"/>
                    <a:pt x="3404" y="15520"/>
                    <a:pt x="9462" y="9462"/>
                  </a:cubicBezTo>
                  <a:cubicBezTo>
                    <a:pt x="15520" y="3404"/>
                    <a:pt x="23737" y="0"/>
                    <a:pt x="32305" y="0"/>
                  </a:cubicBez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id="32" name="TextBox 5">
              <a:extLst>
                <a:ext uri="{FF2B5EF4-FFF2-40B4-BE49-F238E27FC236}">
                  <a16:creationId xmlns:a16="http://schemas.microsoft.com/office/drawing/2014/main" id="{5C9B81CF-4E2A-AF41-3157-0D27E417A55A}"/>
                </a:ext>
              </a:extLst>
            </p:cNvPr>
            <p:cNvSpPr txBox="1"/>
            <p:nvPr/>
          </p:nvSpPr>
          <p:spPr>
            <a:xfrm>
              <a:off x="0" y="-76200"/>
              <a:ext cx="2310683" cy="657474"/>
            </a:xfrm>
            <a:prstGeom prst="rect">
              <a:avLst/>
            </a:prstGeom>
          </p:spPr>
          <p:txBody>
            <a:bodyPr lIns="53046" tIns="53046" rIns="53046" bIns="53046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sp>
        <p:nvSpPr>
          <p:cNvPr id="33" name="AutoShape 6">
            <a:extLst>
              <a:ext uri="{FF2B5EF4-FFF2-40B4-BE49-F238E27FC236}">
                <a16:creationId xmlns:a16="http://schemas.microsoft.com/office/drawing/2014/main" id="{F6CED579-FAD9-5A27-08CE-BB19D11CF352}"/>
              </a:ext>
            </a:extLst>
          </p:cNvPr>
          <p:cNvSpPr/>
          <p:nvPr/>
        </p:nvSpPr>
        <p:spPr>
          <a:xfrm flipV="1">
            <a:off x="4131587" y="7429793"/>
            <a:ext cx="0" cy="1500444"/>
          </a:xfrm>
          <a:prstGeom prst="line">
            <a:avLst/>
          </a:prstGeom>
          <a:ln w="9525" cap="rnd">
            <a:solidFill>
              <a:srgbClr val="FFFFFF">
                <a:alpha val="8470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TextBox 22">
            <a:extLst>
              <a:ext uri="{FF2B5EF4-FFF2-40B4-BE49-F238E27FC236}">
                <a16:creationId xmlns:a16="http://schemas.microsoft.com/office/drawing/2014/main" id="{9DDDFC62-39A6-863C-FB56-47D0E1E48A5D}"/>
              </a:ext>
            </a:extLst>
          </p:cNvPr>
          <p:cNvSpPr txBox="1"/>
          <p:nvPr/>
        </p:nvSpPr>
        <p:spPr>
          <a:xfrm>
            <a:off x="2411103" y="7835235"/>
            <a:ext cx="1561272" cy="701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34"/>
              </a:lnSpc>
            </a:pPr>
            <a:r>
              <a:rPr lang="en-US" sz="20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Legal Challenges </a:t>
            </a:r>
          </a:p>
        </p:txBody>
      </p:sp>
      <p:sp>
        <p:nvSpPr>
          <p:cNvPr id="35" name="TextBox 23">
            <a:extLst>
              <a:ext uri="{FF2B5EF4-FFF2-40B4-BE49-F238E27FC236}">
                <a16:creationId xmlns:a16="http://schemas.microsoft.com/office/drawing/2014/main" id="{3CAAED80-C726-496A-AD66-6BA72BF1E5E1}"/>
              </a:ext>
            </a:extLst>
          </p:cNvPr>
          <p:cNvSpPr txBox="1"/>
          <p:nvPr/>
        </p:nvSpPr>
        <p:spPr>
          <a:xfrm>
            <a:off x="4641854" y="7488088"/>
            <a:ext cx="3851686" cy="1395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54"/>
              </a:lnSpc>
            </a:pPr>
            <a:r>
              <a:rPr lang="en-US" sz="153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However, it is also widely used for unauthorized distribution of copyrighted content. This creates challenges related to security, privacy, and copyright enforcement.</a:t>
            </a:r>
          </a:p>
        </p:txBody>
      </p:sp>
      <p:sp>
        <p:nvSpPr>
          <p:cNvPr id="36" name="TextBox 24">
            <a:extLst>
              <a:ext uri="{FF2B5EF4-FFF2-40B4-BE49-F238E27FC236}">
                <a16:creationId xmlns:a16="http://schemas.microsoft.com/office/drawing/2014/main" id="{F551C63B-1F57-F5DA-7A11-6ACE3A4FE9D9}"/>
              </a:ext>
            </a:extLst>
          </p:cNvPr>
          <p:cNvSpPr txBox="1"/>
          <p:nvPr/>
        </p:nvSpPr>
        <p:spPr>
          <a:xfrm>
            <a:off x="1690988" y="8005450"/>
            <a:ext cx="565666" cy="33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422" dirty="0">
                <a:solidFill>
                  <a:srgbClr val="FFFFFF">
                    <a:alpha val="7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pic>
        <p:nvPicPr>
          <p:cNvPr id="37" name="Picture 36" descr="BitTorrent Classic | The Original Torrent Client for Desktop">
            <a:extLst>
              <a:ext uri="{FF2B5EF4-FFF2-40B4-BE49-F238E27FC236}">
                <a16:creationId xmlns:a16="http://schemas.microsoft.com/office/drawing/2014/main" id="{DBD7980A-F7C0-9849-135D-5EAC16C37A6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3731" y="12447669"/>
            <a:ext cx="6679029" cy="4262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513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122;p15" descr="image.png">
            <a:extLst>
              <a:ext uri="{FF2B5EF4-FFF2-40B4-BE49-F238E27FC236}">
                <a16:creationId xmlns:a16="http://schemas.microsoft.com/office/drawing/2014/main" id="{8EB72CF8-28BE-86B4-586A-704BE7273540}"/>
              </a:ext>
            </a:extLst>
          </p:cNvPr>
          <p:cNvPicPr preferRelativeResize="0"/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-3810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AutoShape 2"/>
          <p:cNvSpPr/>
          <p:nvPr/>
        </p:nvSpPr>
        <p:spPr>
          <a:xfrm flipV="1">
            <a:off x="1028700" y="2160669"/>
            <a:ext cx="16230600" cy="0"/>
          </a:xfrm>
          <a:prstGeom prst="line">
            <a:avLst/>
          </a:prstGeom>
          <a:ln w="9525" cap="rnd">
            <a:solidFill>
              <a:srgbClr val="182D8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28699" y="1224018"/>
            <a:ext cx="6937792" cy="711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54"/>
              </a:lnSpc>
            </a:pPr>
            <a:r>
              <a:rPr lang="en-US" sz="5097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What is BitTorrent?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66491" y="3625111"/>
            <a:ext cx="7911436" cy="5197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BitTorrent is a P2P file-sharing protocol developed by Bram Cohen in 2001.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It is designed for efficient transfer of large files.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Users download pieces of files from multiple peers simultaneously.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BitTorrent itself is a legal technology. But many users use it for illegal distribution of data and information. This illegal distribution is called Piracy.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There are other P2P Applications like BitTorrent too, For Instance: </a:t>
            </a:r>
            <a:r>
              <a:rPr lang="en-US"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Utorrent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, Free Download Manager (FDM) etc.</a:t>
            </a:r>
          </a:p>
          <a:p>
            <a:pPr marL="285750" indent="-285750" algn="just">
              <a:lnSpc>
                <a:spcPts val="2272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2">
                  <a:lumMod val="20000"/>
                  <a:lumOff val="8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272"/>
              </a:lnSpc>
            </a:pPr>
            <a:endParaRPr lang="en-US" dirty="0">
              <a:solidFill>
                <a:schemeClr val="tx2">
                  <a:lumMod val="20000"/>
                  <a:lumOff val="8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4" name="Group 3">
            <a:extLst>
              <a:ext uri="{FF2B5EF4-FFF2-40B4-BE49-F238E27FC236}">
                <a16:creationId xmlns:a16="http://schemas.microsoft.com/office/drawing/2014/main" id="{118A28AC-F060-3559-7BDA-BE5030F37872}"/>
              </a:ext>
            </a:extLst>
          </p:cNvPr>
          <p:cNvGrpSpPr/>
          <p:nvPr/>
        </p:nvGrpSpPr>
        <p:grpSpPr>
          <a:xfrm>
            <a:off x="-18516600" y="2507047"/>
            <a:ext cx="7668798" cy="1929159"/>
            <a:chOff x="0" y="0"/>
            <a:chExt cx="2310683" cy="581274"/>
          </a:xfrm>
        </p:grpSpPr>
        <p:sp>
          <p:nvSpPr>
            <p:cNvPr id="15" name="Freeform 4">
              <a:extLst>
                <a:ext uri="{FF2B5EF4-FFF2-40B4-BE49-F238E27FC236}">
                  <a16:creationId xmlns:a16="http://schemas.microsoft.com/office/drawing/2014/main" id="{CEE1F540-7312-97AF-CF6C-5FC9677E751C}"/>
                </a:ext>
              </a:extLst>
            </p:cNvPr>
            <p:cNvSpPr/>
            <p:nvPr/>
          </p:nvSpPr>
          <p:spPr>
            <a:xfrm>
              <a:off x="0" y="0"/>
              <a:ext cx="2310683" cy="581274"/>
            </a:xfrm>
            <a:custGeom>
              <a:avLst/>
              <a:gdLst/>
              <a:ahLst/>
              <a:cxnLst/>
              <a:rect l="l" t="t" r="r" b="b"/>
              <a:pathLst>
                <a:path w="2310683" h="581274">
                  <a:moveTo>
                    <a:pt x="32305" y="0"/>
                  </a:moveTo>
                  <a:lnTo>
                    <a:pt x="2278378" y="0"/>
                  </a:lnTo>
                  <a:cubicBezTo>
                    <a:pt x="2296219" y="0"/>
                    <a:pt x="2310683" y="14463"/>
                    <a:pt x="2310683" y="32305"/>
                  </a:cubicBezTo>
                  <a:lnTo>
                    <a:pt x="2310683" y="548969"/>
                  </a:lnTo>
                  <a:cubicBezTo>
                    <a:pt x="2310683" y="557537"/>
                    <a:pt x="2307279" y="565754"/>
                    <a:pt x="2301221" y="571812"/>
                  </a:cubicBezTo>
                  <a:cubicBezTo>
                    <a:pt x="2295162" y="577871"/>
                    <a:pt x="2286945" y="581274"/>
                    <a:pt x="2278378" y="581274"/>
                  </a:cubicBezTo>
                  <a:lnTo>
                    <a:pt x="32305" y="581274"/>
                  </a:lnTo>
                  <a:cubicBezTo>
                    <a:pt x="14463" y="581274"/>
                    <a:pt x="0" y="566811"/>
                    <a:pt x="0" y="548969"/>
                  </a:cubicBezTo>
                  <a:lnTo>
                    <a:pt x="0" y="32305"/>
                  </a:lnTo>
                  <a:cubicBezTo>
                    <a:pt x="0" y="23737"/>
                    <a:pt x="3404" y="15520"/>
                    <a:pt x="9462" y="9462"/>
                  </a:cubicBezTo>
                  <a:cubicBezTo>
                    <a:pt x="15520" y="3404"/>
                    <a:pt x="23737" y="0"/>
                    <a:pt x="32305" y="0"/>
                  </a:cubicBez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id="16" name="TextBox 5">
              <a:extLst>
                <a:ext uri="{FF2B5EF4-FFF2-40B4-BE49-F238E27FC236}">
                  <a16:creationId xmlns:a16="http://schemas.microsoft.com/office/drawing/2014/main" id="{22C07C93-4784-07C4-0A94-397307F22E21}"/>
                </a:ext>
              </a:extLst>
            </p:cNvPr>
            <p:cNvSpPr txBox="1"/>
            <p:nvPr/>
          </p:nvSpPr>
          <p:spPr>
            <a:xfrm>
              <a:off x="0" y="-76200"/>
              <a:ext cx="2310683" cy="657474"/>
            </a:xfrm>
            <a:prstGeom prst="rect">
              <a:avLst/>
            </a:prstGeom>
          </p:spPr>
          <p:txBody>
            <a:bodyPr lIns="53046" tIns="53046" rIns="53046" bIns="53046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sp>
        <p:nvSpPr>
          <p:cNvPr id="17" name="AutoShape 6">
            <a:extLst>
              <a:ext uri="{FF2B5EF4-FFF2-40B4-BE49-F238E27FC236}">
                <a16:creationId xmlns:a16="http://schemas.microsoft.com/office/drawing/2014/main" id="{72A73218-5782-2622-0080-FB23BDB68946}"/>
              </a:ext>
            </a:extLst>
          </p:cNvPr>
          <p:cNvSpPr/>
          <p:nvPr/>
        </p:nvSpPr>
        <p:spPr>
          <a:xfrm flipV="1">
            <a:off x="-15732214" y="2721405"/>
            <a:ext cx="0" cy="1500444"/>
          </a:xfrm>
          <a:prstGeom prst="line">
            <a:avLst/>
          </a:prstGeom>
          <a:ln w="9525" cap="rnd">
            <a:solidFill>
              <a:srgbClr val="FFFFFF">
                <a:alpha val="84706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" name="Group 7">
            <a:extLst>
              <a:ext uri="{FF2B5EF4-FFF2-40B4-BE49-F238E27FC236}">
                <a16:creationId xmlns:a16="http://schemas.microsoft.com/office/drawing/2014/main" id="{5F52FB35-AB07-4E68-71FA-841FC35D913F}"/>
              </a:ext>
            </a:extLst>
          </p:cNvPr>
          <p:cNvGrpSpPr/>
          <p:nvPr/>
        </p:nvGrpSpPr>
        <p:grpSpPr>
          <a:xfrm>
            <a:off x="-13792200" y="4855306"/>
            <a:ext cx="7668798" cy="1929159"/>
            <a:chOff x="0" y="0"/>
            <a:chExt cx="2310683" cy="581274"/>
          </a:xfrm>
        </p:grpSpPr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6B8B6C7D-CAF2-36FC-6158-C0703F1557E2}"/>
                </a:ext>
              </a:extLst>
            </p:cNvPr>
            <p:cNvSpPr/>
            <p:nvPr/>
          </p:nvSpPr>
          <p:spPr>
            <a:xfrm>
              <a:off x="0" y="0"/>
              <a:ext cx="2310683" cy="581274"/>
            </a:xfrm>
            <a:custGeom>
              <a:avLst/>
              <a:gdLst/>
              <a:ahLst/>
              <a:cxnLst/>
              <a:rect l="l" t="t" r="r" b="b"/>
              <a:pathLst>
                <a:path w="2310683" h="581274">
                  <a:moveTo>
                    <a:pt x="32305" y="0"/>
                  </a:moveTo>
                  <a:lnTo>
                    <a:pt x="2278378" y="0"/>
                  </a:lnTo>
                  <a:cubicBezTo>
                    <a:pt x="2296219" y="0"/>
                    <a:pt x="2310683" y="14463"/>
                    <a:pt x="2310683" y="32305"/>
                  </a:cubicBezTo>
                  <a:lnTo>
                    <a:pt x="2310683" y="548969"/>
                  </a:lnTo>
                  <a:cubicBezTo>
                    <a:pt x="2310683" y="557537"/>
                    <a:pt x="2307279" y="565754"/>
                    <a:pt x="2301221" y="571812"/>
                  </a:cubicBezTo>
                  <a:cubicBezTo>
                    <a:pt x="2295162" y="577871"/>
                    <a:pt x="2286945" y="581274"/>
                    <a:pt x="2278378" y="581274"/>
                  </a:cubicBezTo>
                  <a:lnTo>
                    <a:pt x="32305" y="581274"/>
                  </a:lnTo>
                  <a:cubicBezTo>
                    <a:pt x="14463" y="581274"/>
                    <a:pt x="0" y="566811"/>
                    <a:pt x="0" y="548969"/>
                  </a:cubicBezTo>
                  <a:lnTo>
                    <a:pt x="0" y="32305"/>
                  </a:lnTo>
                  <a:cubicBezTo>
                    <a:pt x="0" y="23737"/>
                    <a:pt x="3404" y="15520"/>
                    <a:pt x="9462" y="9462"/>
                  </a:cubicBezTo>
                  <a:cubicBezTo>
                    <a:pt x="15520" y="3404"/>
                    <a:pt x="23737" y="0"/>
                    <a:pt x="32305" y="0"/>
                  </a:cubicBezTo>
                  <a:close/>
                </a:path>
              </a:pathLst>
            </a:custGeom>
            <a:solidFill>
              <a:srgbClr val="08966E"/>
            </a:solidFill>
          </p:spPr>
        </p:sp>
        <p:sp>
          <p:nvSpPr>
            <p:cNvPr id="20" name="TextBox 9">
              <a:extLst>
                <a:ext uri="{FF2B5EF4-FFF2-40B4-BE49-F238E27FC236}">
                  <a16:creationId xmlns:a16="http://schemas.microsoft.com/office/drawing/2014/main" id="{56B18E3A-85A7-D1B6-478F-5D0E1F1E6FAB}"/>
                </a:ext>
              </a:extLst>
            </p:cNvPr>
            <p:cNvSpPr txBox="1"/>
            <p:nvPr/>
          </p:nvSpPr>
          <p:spPr>
            <a:xfrm>
              <a:off x="0" y="-76200"/>
              <a:ext cx="2310683" cy="657474"/>
            </a:xfrm>
            <a:prstGeom prst="rect">
              <a:avLst/>
            </a:prstGeom>
          </p:spPr>
          <p:txBody>
            <a:bodyPr lIns="53046" tIns="53046" rIns="53046" bIns="53046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sp>
        <p:nvSpPr>
          <p:cNvPr id="21" name="AutoShape 10">
            <a:extLst>
              <a:ext uri="{FF2B5EF4-FFF2-40B4-BE49-F238E27FC236}">
                <a16:creationId xmlns:a16="http://schemas.microsoft.com/office/drawing/2014/main" id="{87022269-3A1E-13F3-3C58-432008117B90}"/>
              </a:ext>
            </a:extLst>
          </p:cNvPr>
          <p:cNvSpPr/>
          <p:nvPr/>
        </p:nvSpPr>
        <p:spPr>
          <a:xfrm flipV="1">
            <a:off x="-11007814" y="5069664"/>
            <a:ext cx="0" cy="1500444"/>
          </a:xfrm>
          <a:prstGeom prst="line">
            <a:avLst/>
          </a:prstGeom>
          <a:ln w="9525" cap="rnd">
            <a:solidFill>
              <a:srgbClr val="FFFFFF">
                <a:alpha val="8470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4624339-A50E-C0D3-5264-E51CD24FB626}"/>
              </a:ext>
            </a:extLst>
          </p:cNvPr>
          <p:cNvSpPr txBox="1"/>
          <p:nvPr/>
        </p:nvSpPr>
        <p:spPr>
          <a:xfrm>
            <a:off x="-17474304" y="2896873"/>
            <a:ext cx="1192435" cy="1419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34"/>
              </a:lnSpc>
            </a:pPr>
            <a:r>
              <a:rPr lang="en-US" sz="20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Popular File Sharing Method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D660CC8-9813-A9BA-A4BF-3493028DF98A}"/>
              </a:ext>
            </a:extLst>
          </p:cNvPr>
          <p:cNvSpPr txBox="1"/>
          <p:nvPr/>
        </p:nvSpPr>
        <p:spPr>
          <a:xfrm>
            <a:off x="-15306260" y="2810297"/>
            <a:ext cx="3851686" cy="1395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54"/>
              </a:lnSpc>
            </a:pPr>
            <a:r>
              <a:rPr lang="en-US" sz="153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Peer-to-Peer (P2P) file sharing has become a popular method for distributing digital content. BitTorrent is one of the most widely used P2P protocols.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70B58785-ED9F-8BE3-972A-31CD9D98300D}"/>
              </a:ext>
            </a:extLst>
          </p:cNvPr>
          <p:cNvSpPr txBox="1"/>
          <p:nvPr/>
        </p:nvSpPr>
        <p:spPr>
          <a:xfrm>
            <a:off x="-18172813" y="3297062"/>
            <a:ext cx="565666" cy="35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422">
                <a:solidFill>
                  <a:srgbClr val="FFFFFF">
                    <a:alpha val="7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id="25" name="TextBox 29">
            <a:extLst>
              <a:ext uri="{FF2B5EF4-FFF2-40B4-BE49-F238E27FC236}">
                <a16:creationId xmlns:a16="http://schemas.microsoft.com/office/drawing/2014/main" id="{A0B9C0E6-A42E-2162-E658-FBB7EA8D93BD}"/>
              </a:ext>
            </a:extLst>
          </p:cNvPr>
          <p:cNvSpPr txBox="1"/>
          <p:nvPr/>
        </p:nvSpPr>
        <p:spPr>
          <a:xfrm>
            <a:off x="-12749904" y="5469340"/>
            <a:ext cx="1604484" cy="701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34"/>
              </a:lnSpc>
            </a:pPr>
            <a:r>
              <a:rPr lang="en-US" sz="20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Fast and Efficient</a:t>
            </a:r>
          </a:p>
        </p:txBody>
      </p:sp>
      <p:sp>
        <p:nvSpPr>
          <p:cNvPr id="26" name="TextBox 30">
            <a:extLst>
              <a:ext uri="{FF2B5EF4-FFF2-40B4-BE49-F238E27FC236}">
                <a16:creationId xmlns:a16="http://schemas.microsoft.com/office/drawing/2014/main" id="{D65C6732-6790-A449-28AE-9471EDFC69F7}"/>
              </a:ext>
            </a:extLst>
          </p:cNvPr>
          <p:cNvSpPr txBox="1"/>
          <p:nvPr/>
        </p:nvSpPr>
        <p:spPr>
          <a:xfrm>
            <a:off x="-10581860" y="5069664"/>
            <a:ext cx="3851686" cy="1395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54"/>
              </a:lnSpc>
            </a:pPr>
            <a:r>
              <a:rPr lang="en-US" sz="153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Files are divided into small chunks and distributed among peers which enables fast and efficient sharing of large files. Provides efficient use of bandwidth and system resources.</a:t>
            </a:r>
          </a:p>
        </p:txBody>
      </p:sp>
      <p:sp>
        <p:nvSpPr>
          <p:cNvPr id="27" name="TextBox 31">
            <a:extLst>
              <a:ext uri="{FF2B5EF4-FFF2-40B4-BE49-F238E27FC236}">
                <a16:creationId xmlns:a16="http://schemas.microsoft.com/office/drawing/2014/main" id="{1D6BA4B4-65C3-42D9-1F89-03F6A9164CB2}"/>
              </a:ext>
            </a:extLst>
          </p:cNvPr>
          <p:cNvSpPr txBox="1"/>
          <p:nvPr/>
        </p:nvSpPr>
        <p:spPr>
          <a:xfrm>
            <a:off x="-13448413" y="5645322"/>
            <a:ext cx="565666" cy="35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422">
                <a:solidFill>
                  <a:srgbClr val="FFFFFF">
                    <a:alpha val="7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grpSp>
        <p:nvGrpSpPr>
          <p:cNvPr id="28" name="Group 3">
            <a:extLst>
              <a:ext uri="{FF2B5EF4-FFF2-40B4-BE49-F238E27FC236}">
                <a16:creationId xmlns:a16="http://schemas.microsoft.com/office/drawing/2014/main" id="{AABBA73F-A264-CF85-D576-DC168136D5F3}"/>
              </a:ext>
            </a:extLst>
          </p:cNvPr>
          <p:cNvGrpSpPr/>
          <p:nvPr/>
        </p:nvGrpSpPr>
        <p:grpSpPr>
          <a:xfrm>
            <a:off x="-10078871" y="7215435"/>
            <a:ext cx="7668798" cy="1929159"/>
            <a:chOff x="0" y="0"/>
            <a:chExt cx="2310683" cy="581274"/>
          </a:xfrm>
        </p:grpSpPr>
        <p:sp>
          <p:nvSpPr>
            <p:cNvPr id="29" name="Freeform 4">
              <a:extLst>
                <a:ext uri="{FF2B5EF4-FFF2-40B4-BE49-F238E27FC236}">
                  <a16:creationId xmlns:a16="http://schemas.microsoft.com/office/drawing/2014/main" id="{A68FFA19-4C99-565A-CBCC-A97FCBDB8EE7}"/>
                </a:ext>
              </a:extLst>
            </p:cNvPr>
            <p:cNvSpPr/>
            <p:nvPr/>
          </p:nvSpPr>
          <p:spPr>
            <a:xfrm>
              <a:off x="0" y="0"/>
              <a:ext cx="2310683" cy="581274"/>
            </a:xfrm>
            <a:custGeom>
              <a:avLst/>
              <a:gdLst/>
              <a:ahLst/>
              <a:cxnLst/>
              <a:rect l="l" t="t" r="r" b="b"/>
              <a:pathLst>
                <a:path w="2310683" h="581274">
                  <a:moveTo>
                    <a:pt x="32305" y="0"/>
                  </a:moveTo>
                  <a:lnTo>
                    <a:pt x="2278378" y="0"/>
                  </a:lnTo>
                  <a:cubicBezTo>
                    <a:pt x="2296219" y="0"/>
                    <a:pt x="2310683" y="14463"/>
                    <a:pt x="2310683" y="32305"/>
                  </a:cubicBezTo>
                  <a:lnTo>
                    <a:pt x="2310683" y="548969"/>
                  </a:lnTo>
                  <a:cubicBezTo>
                    <a:pt x="2310683" y="557537"/>
                    <a:pt x="2307279" y="565754"/>
                    <a:pt x="2301221" y="571812"/>
                  </a:cubicBezTo>
                  <a:cubicBezTo>
                    <a:pt x="2295162" y="577871"/>
                    <a:pt x="2286945" y="581274"/>
                    <a:pt x="2278378" y="581274"/>
                  </a:cubicBezTo>
                  <a:lnTo>
                    <a:pt x="32305" y="581274"/>
                  </a:lnTo>
                  <a:cubicBezTo>
                    <a:pt x="14463" y="581274"/>
                    <a:pt x="0" y="566811"/>
                    <a:pt x="0" y="548969"/>
                  </a:cubicBezTo>
                  <a:lnTo>
                    <a:pt x="0" y="32305"/>
                  </a:lnTo>
                  <a:cubicBezTo>
                    <a:pt x="0" y="23737"/>
                    <a:pt x="3404" y="15520"/>
                    <a:pt x="9462" y="9462"/>
                  </a:cubicBezTo>
                  <a:cubicBezTo>
                    <a:pt x="15520" y="3404"/>
                    <a:pt x="23737" y="0"/>
                    <a:pt x="32305" y="0"/>
                  </a:cubicBez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id="30" name="TextBox 5">
              <a:extLst>
                <a:ext uri="{FF2B5EF4-FFF2-40B4-BE49-F238E27FC236}">
                  <a16:creationId xmlns:a16="http://schemas.microsoft.com/office/drawing/2014/main" id="{87C9F5E9-C424-64BF-07F0-849F398980EE}"/>
                </a:ext>
              </a:extLst>
            </p:cNvPr>
            <p:cNvSpPr txBox="1"/>
            <p:nvPr/>
          </p:nvSpPr>
          <p:spPr>
            <a:xfrm>
              <a:off x="0" y="-76200"/>
              <a:ext cx="2310683" cy="657474"/>
            </a:xfrm>
            <a:prstGeom prst="rect">
              <a:avLst/>
            </a:prstGeom>
          </p:spPr>
          <p:txBody>
            <a:bodyPr lIns="53046" tIns="53046" rIns="53046" bIns="53046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sp>
        <p:nvSpPr>
          <p:cNvPr id="31" name="AutoShape 6">
            <a:extLst>
              <a:ext uri="{FF2B5EF4-FFF2-40B4-BE49-F238E27FC236}">
                <a16:creationId xmlns:a16="http://schemas.microsoft.com/office/drawing/2014/main" id="{5E4A1A92-BC16-7233-3504-5D166B07D11A}"/>
              </a:ext>
            </a:extLst>
          </p:cNvPr>
          <p:cNvSpPr/>
          <p:nvPr/>
        </p:nvSpPr>
        <p:spPr>
          <a:xfrm flipV="1">
            <a:off x="-7294485" y="7429793"/>
            <a:ext cx="0" cy="1500444"/>
          </a:xfrm>
          <a:prstGeom prst="line">
            <a:avLst/>
          </a:prstGeom>
          <a:ln w="9525" cap="rnd">
            <a:solidFill>
              <a:srgbClr val="FFFFFF">
                <a:alpha val="8470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TextBox 22">
            <a:extLst>
              <a:ext uri="{FF2B5EF4-FFF2-40B4-BE49-F238E27FC236}">
                <a16:creationId xmlns:a16="http://schemas.microsoft.com/office/drawing/2014/main" id="{4B14C64F-3D3E-2FCE-6221-4F601B65180E}"/>
              </a:ext>
            </a:extLst>
          </p:cNvPr>
          <p:cNvSpPr txBox="1"/>
          <p:nvPr/>
        </p:nvSpPr>
        <p:spPr>
          <a:xfrm>
            <a:off x="-9014969" y="7835235"/>
            <a:ext cx="1561272" cy="701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34"/>
              </a:lnSpc>
            </a:pPr>
            <a:r>
              <a:rPr lang="en-US" sz="20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Legal Challenges </a:t>
            </a:r>
          </a:p>
        </p:txBody>
      </p:sp>
      <p:sp>
        <p:nvSpPr>
          <p:cNvPr id="33" name="TextBox 23">
            <a:extLst>
              <a:ext uri="{FF2B5EF4-FFF2-40B4-BE49-F238E27FC236}">
                <a16:creationId xmlns:a16="http://schemas.microsoft.com/office/drawing/2014/main" id="{50D0DB06-90F9-372D-7193-28C2710DB56A}"/>
              </a:ext>
            </a:extLst>
          </p:cNvPr>
          <p:cNvSpPr txBox="1"/>
          <p:nvPr/>
        </p:nvSpPr>
        <p:spPr>
          <a:xfrm>
            <a:off x="-6784218" y="7488088"/>
            <a:ext cx="3851686" cy="1395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54"/>
              </a:lnSpc>
            </a:pPr>
            <a:r>
              <a:rPr lang="en-US" sz="153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However, it is also widely used for unauthorized distribution of copyrighted content. This creates challenges related to security, privacy, and copyright enforcement.</a:t>
            </a:r>
          </a:p>
        </p:txBody>
      </p:sp>
      <p:sp>
        <p:nvSpPr>
          <p:cNvPr id="34" name="TextBox 24">
            <a:extLst>
              <a:ext uri="{FF2B5EF4-FFF2-40B4-BE49-F238E27FC236}">
                <a16:creationId xmlns:a16="http://schemas.microsoft.com/office/drawing/2014/main" id="{514C5C5A-DCF9-CDC3-ABD6-BA7053FC8044}"/>
              </a:ext>
            </a:extLst>
          </p:cNvPr>
          <p:cNvSpPr txBox="1"/>
          <p:nvPr/>
        </p:nvSpPr>
        <p:spPr>
          <a:xfrm>
            <a:off x="-9735084" y="8005450"/>
            <a:ext cx="565666" cy="33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422" dirty="0">
                <a:solidFill>
                  <a:srgbClr val="FFFFFF">
                    <a:alpha val="7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pic>
        <p:nvPicPr>
          <p:cNvPr id="13" name="Picture 12" descr="BitTorrent Classic | The Original Torrent Client for Desktop">
            <a:extLst>
              <a:ext uri="{FF2B5EF4-FFF2-40B4-BE49-F238E27FC236}">
                <a16:creationId xmlns:a16="http://schemas.microsoft.com/office/drawing/2014/main" id="{F85DD017-3FEA-8C1E-79D4-559374C1CF3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3731" y="3625111"/>
            <a:ext cx="6679029" cy="4262435"/>
          </a:xfrm>
          <a:prstGeom prst="rect">
            <a:avLst/>
          </a:prstGeom>
        </p:spPr>
      </p:pic>
      <p:pic>
        <p:nvPicPr>
          <p:cNvPr id="36" name="Google Shape;132;p16" descr="image.png">
            <a:extLst>
              <a:ext uri="{FF2B5EF4-FFF2-40B4-BE49-F238E27FC236}">
                <a16:creationId xmlns:a16="http://schemas.microsoft.com/office/drawing/2014/main" id="{DA0969BA-D039-E760-7298-5D13F5D4B511}"/>
              </a:ext>
            </a:extLst>
          </p:cNvPr>
          <p:cNvPicPr preferRelativeResize="0"/>
          <p:nvPr/>
        </p:nvPicPr>
        <p:blipFill rotWithShape="1"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/>
          <a:stretch/>
        </p:blipFill>
        <p:spPr>
          <a:xfrm>
            <a:off x="5100982" y="18859500"/>
            <a:ext cx="349240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133;p16" descr="image.png">
            <a:extLst>
              <a:ext uri="{FF2B5EF4-FFF2-40B4-BE49-F238E27FC236}">
                <a16:creationId xmlns:a16="http://schemas.microsoft.com/office/drawing/2014/main" id="{0BE9D4F7-AB39-A6FA-5EBD-DFF137C3A9DA}"/>
              </a:ext>
            </a:extLst>
          </p:cNvPr>
          <p:cNvPicPr preferRelativeResize="0"/>
          <p:nvPr/>
        </p:nvPicPr>
        <p:blipFill rotWithShape="1"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/>
          <a:stretch/>
        </p:blipFill>
        <p:spPr>
          <a:xfrm>
            <a:off x="5073550" y="18859500"/>
            <a:ext cx="3492549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134;p16" descr="image.png">
            <a:extLst>
              <a:ext uri="{FF2B5EF4-FFF2-40B4-BE49-F238E27FC236}">
                <a16:creationId xmlns:a16="http://schemas.microsoft.com/office/drawing/2014/main" id="{83B0D22E-344F-ED83-F44A-78728B6826B5}"/>
              </a:ext>
            </a:extLst>
          </p:cNvPr>
          <p:cNvPicPr preferRelativeResize="0"/>
          <p:nvPr/>
        </p:nvPicPr>
        <p:blipFill rotWithShape="1"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/>
          <a:stretch/>
        </p:blipFill>
        <p:spPr>
          <a:xfrm>
            <a:off x="5046267" y="18859500"/>
            <a:ext cx="3492400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135;p16">
            <a:extLst>
              <a:ext uri="{FF2B5EF4-FFF2-40B4-BE49-F238E27FC236}">
                <a16:creationId xmlns:a16="http://schemas.microsoft.com/office/drawing/2014/main" id="{C0B2B469-7613-4D86-E83B-AE728A84F506}"/>
              </a:ext>
            </a:extLst>
          </p:cNvPr>
          <p:cNvSpPr txBox="1"/>
          <p:nvPr/>
        </p:nvSpPr>
        <p:spPr>
          <a:xfrm>
            <a:off x="5443882" y="19926300"/>
            <a:ext cx="294693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chemeClr val="tx2">
                    <a:lumMod val="20000"/>
                    <a:lumOff val="80000"/>
                  </a:schemeClr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Seeders</a:t>
            </a:r>
            <a:endParaRPr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0" name="Google Shape;136;p16">
            <a:extLst>
              <a:ext uri="{FF2B5EF4-FFF2-40B4-BE49-F238E27FC236}">
                <a16:creationId xmlns:a16="http://schemas.microsoft.com/office/drawing/2014/main" id="{8663B487-F276-9CC7-35DF-18E301D5AC2D}"/>
              </a:ext>
            </a:extLst>
          </p:cNvPr>
          <p:cNvSpPr txBox="1"/>
          <p:nvPr/>
        </p:nvSpPr>
        <p:spPr>
          <a:xfrm>
            <a:off x="5443882" y="20393025"/>
            <a:ext cx="2806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Peers who possess the 100% complete file and stay in the network to upload chunks to others.</a:t>
            </a:r>
            <a:endParaRPr/>
          </a:p>
        </p:txBody>
      </p:sp>
      <p:sp>
        <p:nvSpPr>
          <p:cNvPr id="41" name="Google Shape;137;p16">
            <a:extLst>
              <a:ext uri="{FF2B5EF4-FFF2-40B4-BE49-F238E27FC236}">
                <a16:creationId xmlns:a16="http://schemas.microsoft.com/office/drawing/2014/main" id="{B41E6300-21E1-94BF-C83B-48B1AF9E91C2}"/>
              </a:ext>
            </a:extLst>
          </p:cNvPr>
          <p:cNvSpPr txBox="1"/>
          <p:nvPr/>
        </p:nvSpPr>
        <p:spPr>
          <a:xfrm>
            <a:off x="5416450" y="19926300"/>
            <a:ext cx="29470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chemeClr val="tx2">
                    <a:lumMod val="20000"/>
                    <a:lumOff val="80000"/>
                  </a:schemeClr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Leechers</a:t>
            </a:r>
            <a:endParaRPr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2" name="Google Shape;138;p16">
            <a:extLst>
              <a:ext uri="{FF2B5EF4-FFF2-40B4-BE49-F238E27FC236}">
                <a16:creationId xmlns:a16="http://schemas.microsoft.com/office/drawing/2014/main" id="{E07AE087-6D7C-B4AA-C9A2-FD0DAACF6C69}"/>
              </a:ext>
            </a:extLst>
          </p:cNvPr>
          <p:cNvSpPr txBox="1"/>
          <p:nvPr/>
        </p:nvSpPr>
        <p:spPr>
          <a:xfrm>
            <a:off x="5416450" y="20393025"/>
            <a:ext cx="2806749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Participants currently downloading the file. They share the parts they have already acquired.</a:t>
            </a:r>
            <a:endParaRPr/>
          </a:p>
        </p:txBody>
      </p:sp>
      <p:sp>
        <p:nvSpPr>
          <p:cNvPr id="43" name="Google Shape;139;p16">
            <a:extLst>
              <a:ext uri="{FF2B5EF4-FFF2-40B4-BE49-F238E27FC236}">
                <a16:creationId xmlns:a16="http://schemas.microsoft.com/office/drawing/2014/main" id="{BE661109-A229-83FE-CDC0-CDA3CD19BE90}"/>
              </a:ext>
            </a:extLst>
          </p:cNvPr>
          <p:cNvSpPr txBox="1"/>
          <p:nvPr/>
        </p:nvSpPr>
        <p:spPr>
          <a:xfrm>
            <a:off x="5389167" y="19926300"/>
            <a:ext cx="294693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chemeClr val="tx2">
                    <a:lumMod val="20000"/>
                    <a:lumOff val="80000"/>
                  </a:schemeClr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Trackers</a:t>
            </a:r>
            <a:endParaRPr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4" name="Google Shape;140;p16">
            <a:extLst>
              <a:ext uri="{FF2B5EF4-FFF2-40B4-BE49-F238E27FC236}">
                <a16:creationId xmlns:a16="http://schemas.microsoft.com/office/drawing/2014/main" id="{EDFA01DE-C5B1-9ECF-5D66-BD82BB53E2EE}"/>
              </a:ext>
            </a:extLst>
          </p:cNvPr>
          <p:cNvSpPr txBox="1"/>
          <p:nvPr/>
        </p:nvSpPr>
        <p:spPr>
          <a:xfrm>
            <a:off x="5389167" y="20393025"/>
            <a:ext cx="2806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Servers that keep track of which peers have which chunks, facilitating the initial "handshake."</a:t>
            </a:r>
            <a:endParaRPr/>
          </a:p>
        </p:txBody>
      </p:sp>
      <p:pic>
        <p:nvPicPr>
          <p:cNvPr id="45" name="Google Shape;141;p16" descr="image.png">
            <a:extLst>
              <a:ext uri="{FF2B5EF4-FFF2-40B4-BE49-F238E27FC236}">
                <a16:creationId xmlns:a16="http://schemas.microsoft.com/office/drawing/2014/main" id="{A2FA532B-1085-89B4-E25C-FA519BE5CD90}"/>
              </a:ext>
            </a:extLst>
          </p:cNvPr>
          <p:cNvPicPr preferRelativeResize="0"/>
          <p:nvPr/>
        </p:nvPicPr>
        <p:blipFill rotWithShape="1">
          <a:blip r:embed="rId8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443882" y="192309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142;p16" descr="image.png">
            <a:extLst>
              <a:ext uri="{FF2B5EF4-FFF2-40B4-BE49-F238E27FC236}">
                <a16:creationId xmlns:a16="http://schemas.microsoft.com/office/drawing/2014/main" id="{63844D64-6E61-9AFD-3801-61F854646C0D}"/>
              </a:ext>
            </a:extLst>
          </p:cNvPr>
          <p:cNvPicPr preferRelativeResize="0"/>
          <p:nvPr/>
        </p:nvPicPr>
        <p:blipFill rotWithShape="1">
          <a:blip r:embed="rId9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416450" y="192309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143;p16" descr="image.png">
            <a:extLst>
              <a:ext uri="{FF2B5EF4-FFF2-40B4-BE49-F238E27FC236}">
                <a16:creationId xmlns:a16="http://schemas.microsoft.com/office/drawing/2014/main" id="{217C10AB-D15B-6DF7-75ED-7AFE5C5EE8E2}"/>
              </a:ext>
            </a:extLst>
          </p:cNvPr>
          <p:cNvPicPr preferRelativeResize="0"/>
          <p:nvPr/>
        </p:nvPicPr>
        <p:blipFill rotWithShape="1">
          <a:blip r:embed="rId10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389167" y="19230975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6D24F-2C7D-BA4B-5AA9-31D13DD51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22;p15" descr="image.png">
            <a:extLst>
              <a:ext uri="{FF2B5EF4-FFF2-40B4-BE49-F238E27FC236}">
                <a16:creationId xmlns:a16="http://schemas.microsoft.com/office/drawing/2014/main" id="{33B65CB2-5BA7-9434-FEED-6D5888B7E58F}"/>
              </a:ext>
            </a:extLst>
          </p:cNvPr>
          <p:cNvPicPr preferRelativeResize="0"/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C81D573D-703C-7E39-7928-D66FD3AF200E}"/>
              </a:ext>
            </a:extLst>
          </p:cNvPr>
          <p:cNvSpPr/>
          <p:nvPr/>
        </p:nvSpPr>
        <p:spPr>
          <a:xfrm flipV="1">
            <a:off x="1028700" y="2160669"/>
            <a:ext cx="16230600" cy="0"/>
          </a:xfrm>
          <a:prstGeom prst="line">
            <a:avLst/>
          </a:prstGeom>
          <a:ln w="9525" cap="rnd">
            <a:solidFill>
              <a:srgbClr val="182D8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97CE13B-BC82-752D-8732-9A831F658400}"/>
              </a:ext>
            </a:extLst>
          </p:cNvPr>
          <p:cNvSpPr txBox="1"/>
          <p:nvPr/>
        </p:nvSpPr>
        <p:spPr>
          <a:xfrm>
            <a:off x="1028700" y="1310499"/>
            <a:ext cx="4461292" cy="711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54"/>
              </a:lnSpc>
            </a:pPr>
            <a:r>
              <a:rPr lang="en-US" sz="5097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How it Works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318F359-EA0E-AEEC-1722-D39E60076E07}"/>
              </a:ext>
            </a:extLst>
          </p:cNvPr>
          <p:cNvSpPr txBox="1"/>
          <p:nvPr/>
        </p:nvSpPr>
        <p:spPr>
          <a:xfrm>
            <a:off x="1028700" y="2527554"/>
            <a:ext cx="7911436" cy="4111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User downloads a torrent file or magnet link.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Tracker identifies available peers.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File is divided into chunks.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Chunks are downloaded from multiple peers.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Downloaded chunks are shared with others.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tx2">
                    <a:lumMod val="40000"/>
                    <a:lumOff val="6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Benefits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Faster downloads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Reduced server load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Scalable file distribution</a:t>
            </a:r>
            <a:endParaRPr lang="en-US" dirty="0">
              <a:solidFill>
                <a:schemeClr val="tx2">
                  <a:lumMod val="20000"/>
                  <a:lumOff val="8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" name="Google Shape;132;p16" descr="image.png">
            <a:extLst>
              <a:ext uri="{FF2B5EF4-FFF2-40B4-BE49-F238E27FC236}">
                <a16:creationId xmlns:a16="http://schemas.microsoft.com/office/drawing/2014/main" id="{458DF969-F5ED-AD80-2DAF-6B7B0765E4D4}"/>
              </a:ext>
            </a:extLst>
          </p:cNvPr>
          <p:cNvPicPr preferRelativeResize="0"/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/>
          <a:stretch/>
        </p:blipFill>
        <p:spPr>
          <a:xfrm>
            <a:off x="1295400" y="6908297"/>
            <a:ext cx="349240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33;p16" descr="image.png">
            <a:extLst>
              <a:ext uri="{FF2B5EF4-FFF2-40B4-BE49-F238E27FC236}">
                <a16:creationId xmlns:a16="http://schemas.microsoft.com/office/drawing/2014/main" id="{CB375B1B-7A12-F876-D6C3-33FAE339F894}"/>
              </a:ext>
            </a:extLst>
          </p:cNvPr>
          <p:cNvPicPr preferRelativeResize="0"/>
          <p:nvPr/>
        </p:nvPicPr>
        <p:blipFill rotWithShape="1"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/>
          <a:stretch/>
        </p:blipFill>
        <p:spPr>
          <a:xfrm>
            <a:off x="5073550" y="6908297"/>
            <a:ext cx="3492549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4;p16" descr="image.png">
            <a:extLst>
              <a:ext uri="{FF2B5EF4-FFF2-40B4-BE49-F238E27FC236}">
                <a16:creationId xmlns:a16="http://schemas.microsoft.com/office/drawing/2014/main" id="{290686E4-90A3-942E-87C7-2E8806E0A234}"/>
              </a:ext>
            </a:extLst>
          </p:cNvPr>
          <p:cNvPicPr preferRelativeResize="0"/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/>
          <a:stretch/>
        </p:blipFill>
        <p:spPr>
          <a:xfrm>
            <a:off x="8144584" y="3250697"/>
            <a:ext cx="3492400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35;p16">
            <a:extLst>
              <a:ext uri="{FF2B5EF4-FFF2-40B4-BE49-F238E27FC236}">
                <a16:creationId xmlns:a16="http://schemas.microsoft.com/office/drawing/2014/main" id="{A5F972A8-ADDD-C0E5-E80E-854E703EEDE8}"/>
              </a:ext>
            </a:extLst>
          </p:cNvPr>
          <p:cNvSpPr txBox="1"/>
          <p:nvPr/>
        </p:nvSpPr>
        <p:spPr>
          <a:xfrm>
            <a:off x="1638300" y="7975097"/>
            <a:ext cx="294693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chemeClr val="tx2">
                    <a:lumMod val="20000"/>
                    <a:lumOff val="80000"/>
                  </a:schemeClr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Seeders</a:t>
            </a:r>
            <a:endParaRPr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Google Shape;136;p16">
            <a:extLst>
              <a:ext uri="{FF2B5EF4-FFF2-40B4-BE49-F238E27FC236}">
                <a16:creationId xmlns:a16="http://schemas.microsoft.com/office/drawing/2014/main" id="{FBD2FADE-D56F-2A26-89C6-81986D742F8D}"/>
              </a:ext>
            </a:extLst>
          </p:cNvPr>
          <p:cNvSpPr txBox="1"/>
          <p:nvPr/>
        </p:nvSpPr>
        <p:spPr>
          <a:xfrm>
            <a:off x="1638300" y="8441822"/>
            <a:ext cx="2806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Peers who possess the 100% complete file and stay in the network to upload chunks to others.</a:t>
            </a:r>
            <a:endParaRPr/>
          </a:p>
        </p:txBody>
      </p:sp>
      <p:sp>
        <p:nvSpPr>
          <p:cNvPr id="14" name="Google Shape;137;p16">
            <a:extLst>
              <a:ext uri="{FF2B5EF4-FFF2-40B4-BE49-F238E27FC236}">
                <a16:creationId xmlns:a16="http://schemas.microsoft.com/office/drawing/2014/main" id="{93CFF570-5482-A07C-6277-28EA660B2C45}"/>
              </a:ext>
            </a:extLst>
          </p:cNvPr>
          <p:cNvSpPr txBox="1"/>
          <p:nvPr/>
        </p:nvSpPr>
        <p:spPr>
          <a:xfrm>
            <a:off x="5416450" y="7975097"/>
            <a:ext cx="29470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chemeClr val="tx2">
                    <a:lumMod val="20000"/>
                    <a:lumOff val="80000"/>
                  </a:schemeClr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Leechers</a:t>
            </a:r>
            <a:endParaRPr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Google Shape;138;p16">
            <a:extLst>
              <a:ext uri="{FF2B5EF4-FFF2-40B4-BE49-F238E27FC236}">
                <a16:creationId xmlns:a16="http://schemas.microsoft.com/office/drawing/2014/main" id="{59E8B273-DA73-C21C-394C-0EBEA5BB2001}"/>
              </a:ext>
            </a:extLst>
          </p:cNvPr>
          <p:cNvSpPr txBox="1"/>
          <p:nvPr/>
        </p:nvSpPr>
        <p:spPr>
          <a:xfrm>
            <a:off x="5416450" y="8441822"/>
            <a:ext cx="2806749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Participants currently downloading the file. They share the parts they have already acquired.</a:t>
            </a:r>
            <a:endParaRPr/>
          </a:p>
        </p:txBody>
      </p:sp>
      <p:sp>
        <p:nvSpPr>
          <p:cNvPr id="16" name="Google Shape;139;p16">
            <a:extLst>
              <a:ext uri="{FF2B5EF4-FFF2-40B4-BE49-F238E27FC236}">
                <a16:creationId xmlns:a16="http://schemas.microsoft.com/office/drawing/2014/main" id="{6999D8F3-A44B-D595-2F55-87DEEEE88BB5}"/>
              </a:ext>
            </a:extLst>
          </p:cNvPr>
          <p:cNvSpPr txBox="1"/>
          <p:nvPr/>
        </p:nvSpPr>
        <p:spPr>
          <a:xfrm>
            <a:off x="8487484" y="4317497"/>
            <a:ext cx="294693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chemeClr val="tx2">
                    <a:lumMod val="20000"/>
                    <a:lumOff val="80000"/>
                  </a:schemeClr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Trackers</a:t>
            </a:r>
            <a:endParaRPr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" name="Google Shape;140;p16">
            <a:extLst>
              <a:ext uri="{FF2B5EF4-FFF2-40B4-BE49-F238E27FC236}">
                <a16:creationId xmlns:a16="http://schemas.microsoft.com/office/drawing/2014/main" id="{6F3DC9FF-1D3A-2793-E8D5-9B808CAFA376}"/>
              </a:ext>
            </a:extLst>
          </p:cNvPr>
          <p:cNvSpPr txBox="1"/>
          <p:nvPr/>
        </p:nvSpPr>
        <p:spPr>
          <a:xfrm>
            <a:off x="8487484" y="4784222"/>
            <a:ext cx="2806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Servers that keep track of which peers have which chunks, facilitating the initial "handshake."</a:t>
            </a:r>
            <a:endParaRPr/>
          </a:p>
        </p:txBody>
      </p:sp>
      <p:pic>
        <p:nvPicPr>
          <p:cNvPr id="18" name="Google Shape;141;p16" descr="image.png">
            <a:extLst>
              <a:ext uri="{FF2B5EF4-FFF2-40B4-BE49-F238E27FC236}">
                <a16:creationId xmlns:a16="http://schemas.microsoft.com/office/drawing/2014/main" id="{5A1195CB-D4B2-9484-86F7-D6E53CE72A21}"/>
              </a:ext>
            </a:extLst>
          </p:cNvPr>
          <p:cNvPicPr preferRelativeResize="0"/>
          <p:nvPr/>
        </p:nvPicPr>
        <p:blipFill rotWithShape="1">
          <a:blip r:embed="rId6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1638300" y="727977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42;p16" descr="image.png">
            <a:extLst>
              <a:ext uri="{FF2B5EF4-FFF2-40B4-BE49-F238E27FC236}">
                <a16:creationId xmlns:a16="http://schemas.microsoft.com/office/drawing/2014/main" id="{3B8ECB8D-AC1F-1121-183C-1D654FC9B91F}"/>
              </a:ext>
            </a:extLst>
          </p:cNvPr>
          <p:cNvPicPr preferRelativeResize="0"/>
          <p:nvPr/>
        </p:nvPicPr>
        <p:blipFill rotWithShape="1">
          <a:blip r:embed="rId7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416450" y="727977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43;p16" descr="image.png">
            <a:extLst>
              <a:ext uri="{FF2B5EF4-FFF2-40B4-BE49-F238E27FC236}">
                <a16:creationId xmlns:a16="http://schemas.microsoft.com/office/drawing/2014/main" id="{0A4784D1-ABB3-1F52-1A9D-846B807D6449}"/>
              </a:ext>
            </a:extLst>
          </p:cNvPr>
          <p:cNvPicPr preferRelativeResize="0"/>
          <p:nvPr/>
        </p:nvPicPr>
        <p:blipFill rotWithShape="1">
          <a:blip r:embed="rId8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8487484" y="362217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 descr="BitTorrent Classic | The Original Torrent Client for Desktop">
            <a:extLst>
              <a:ext uri="{FF2B5EF4-FFF2-40B4-BE49-F238E27FC236}">
                <a16:creationId xmlns:a16="http://schemas.microsoft.com/office/drawing/2014/main" id="{23F9C862-0B5F-3204-D08B-8C4408B46B19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08488" y="3605965"/>
            <a:ext cx="11223760" cy="7162800"/>
          </a:xfrm>
          <a:prstGeom prst="rect">
            <a:avLst/>
          </a:prstGeom>
        </p:spPr>
      </p:pic>
      <p:pic>
        <p:nvPicPr>
          <p:cNvPr id="48" name="Picture 47" descr="BitTorrent®- Torrent Downloads - Apps on Google Play">
            <a:extLst>
              <a:ext uri="{FF2B5EF4-FFF2-40B4-BE49-F238E27FC236}">
                <a16:creationId xmlns:a16="http://schemas.microsoft.com/office/drawing/2014/main" id="{4E045E76-E103-7DAC-84F3-AD5030F45E3A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12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292162">
            <a:off x="-8690930" y="7346934"/>
            <a:ext cx="10058400" cy="10058400"/>
          </a:xfrm>
          <a:prstGeom prst="rect">
            <a:avLst/>
          </a:prstGeom>
        </p:spPr>
      </p:pic>
      <p:pic>
        <p:nvPicPr>
          <p:cNvPr id="49" name="Picture 48" descr="Hacker - Free security icons">
            <a:extLst>
              <a:ext uri="{FF2B5EF4-FFF2-40B4-BE49-F238E27FC236}">
                <a16:creationId xmlns:a16="http://schemas.microsoft.com/office/drawing/2014/main" id="{D9C34356-A378-DDBB-D7E2-17EC67D4A3E9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1">
                <a:shade val="45000"/>
                <a:satMod val="135000"/>
              </a:schemeClr>
              <a:prstClr val="white"/>
            </a:duotone>
            <a:alphaModFix amt="20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474199">
            <a:off x="18350057" y="7643957"/>
            <a:ext cx="8113176" cy="811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29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32373-0701-5A10-A6BE-5CF7EFCE8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122;p15" descr="image.png">
            <a:extLst>
              <a:ext uri="{FF2B5EF4-FFF2-40B4-BE49-F238E27FC236}">
                <a16:creationId xmlns:a16="http://schemas.microsoft.com/office/drawing/2014/main" id="{2B33427E-1D82-CD4F-E0A5-CFD7BDF52F0D}"/>
              </a:ext>
            </a:extLst>
          </p:cNvPr>
          <p:cNvPicPr preferRelativeResize="0"/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00E2C903-6B8C-2613-E030-EF21925D1110}"/>
              </a:ext>
            </a:extLst>
          </p:cNvPr>
          <p:cNvSpPr/>
          <p:nvPr/>
        </p:nvSpPr>
        <p:spPr>
          <a:xfrm flipV="1">
            <a:off x="1028700" y="2160669"/>
            <a:ext cx="16230600" cy="0"/>
          </a:xfrm>
          <a:prstGeom prst="line">
            <a:avLst/>
          </a:prstGeom>
          <a:ln w="9525" cap="rnd">
            <a:solidFill>
              <a:srgbClr val="182D8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5D27EE8-C8A3-655E-843E-BE83FC81252C}"/>
              </a:ext>
            </a:extLst>
          </p:cNvPr>
          <p:cNvSpPr txBox="1"/>
          <p:nvPr/>
        </p:nvSpPr>
        <p:spPr>
          <a:xfrm>
            <a:off x="1028700" y="1224018"/>
            <a:ext cx="10629900" cy="711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54"/>
              </a:lnSpc>
            </a:pPr>
            <a:r>
              <a:rPr lang="en-US" sz="5097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BitTorrent Protocols Mechanics</a:t>
            </a:r>
          </a:p>
        </p:txBody>
      </p:sp>
      <p:pic>
        <p:nvPicPr>
          <p:cNvPr id="36" name="Picture 35" descr="BitTorrent®- Torrent Downloads - Apps on Google Play">
            <a:extLst>
              <a:ext uri="{FF2B5EF4-FFF2-40B4-BE49-F238E27FC236}">
                <a16:creationId xmlns:a16="http://schemas.microsoft.com/office/drawing/2014/main" id="{501DFC57-6673-12D7-FDCD-540318F71DE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2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292162">
            <a:off x="-1562462" y="894868"/>
            <a:ext cx="12045065" cy="12045065"/>
          </a:xfrm>
          <a:prstGeom prst="rect">
            <a:avLst/>
          </a:prstGeom>
        </p:spPr>
      </p:pic>
      <p:pic>
        <p:nvPicPr>
          <p:cNvPr id="37" name="Picture 36" descr="Hacker - Free security icons">
            <a:extLst>
              <a:ext uri="{FF2B5EF4-FFF2-40B4-BE49-F238E27FC236}">
                <a16:creationId xmlns:a16="http://schemas.microsoft.com/office/drawing/2014/main" id="{47A19F94-A510-53CA-4A16-89A0E3774311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alphaModFix amt="2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474199">
            <a:off x="17314064" y="5967557"/>
            <a:ext cx="8113176" cy="8113176"/>
          </a:xfrm>
          <a:prstGeom prst="rect">
            <a:avLst/>
          </a:prstGeom>
        </p:spPr>
      </p:pic>
      <p:pic>
        <p:nvPicPr>
          <p:cNvPr id="41" name="Google Shape;132;p16" descr="image.png">
            <a:extLst>
              <a:ext uri="{FF2B5EF4-FFF2-40B4-BE49-F238E27FC236}">
                <a16:creationId xmlns:a16="http://schemas.microsoft.com/office/drawing/2014/main" id="{AF4D5E56-4DF5-2367-AEEF-C60CFA05B839}"/>
              </a:ext>
            </a:extLst>
          </p:cNvPr>
          <p:cNvPicPr preferRelativeResize="0"/>
          <p:nvPr/>
        </p:nvPicPr>
        <p:blipFill rotWithShape="1"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/>
          <a:stretch/>
        </p:blipFill>
        <p:spPr>
          <a:xfrm>
            <a:off x="22342508" y="11353449"/>
            <a:ext cx="349240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133;p16" descr="image.png">
            <a:extLst>
              <a:ext uri="{FF2B5EF4-FFF2-40B4-BE49-F238E27FC236}">
                <a16:creationId xmlns:a16="http://schemas.microsoft.com/office/drawing/2014/main" id="{4AB5D836-F1D5-F2C1-95B0-AF112E75B718}"/>
              </a:ext>
            </a:extLst>
          </p:cNvPr>
          <p:cNvPicPr preferRelativeResize="0"/>
          <p:nvPr/>
        </p:nvPicPr>
        <p:blipFill rotWithShape="1"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/>
          <a:stretch/>
        </p:blipFill>
        <p:spPr>
          <a:xfrm>
            <a:off x="22402800" y="11353449"/>
            <a:ext cx="3492549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134;p16" descr="image.png">
            <a:extLst>
              <a:ext uri="{FF2B5EF4-FFF2-40B4-BE49-F238E27FC236}">
                <a16:creationId xmlns:a16="http://schemas.microsoft.com/office/drawing/2014/main" id="{8029CE56-A9DF-C344-C759-70742112803D}"/>
              </a:ext>
            </a:extLst>
          </p:cNvPr>
          <p:cNvPicPr preferRelativeResize="0"/>
          <p:nvPr/>
        </p:nvPicPr>
        <p:blipFill rotWithShape="1"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/>
          <a:stretch/>
        </p:blipFill>
        <p:spPr>
          <a:xfrm>
            <a:off x="22402800" y="11391900"/>
            <a:ext cx="3492400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135;p16">
            <a:extLst>
              <a:ext uri="{FF2B5EF4-FFF2-40B4-BE49-F238E27FC236}">
                <a16:creationId xmlns:a16="http://schemas.microsoft.com/office/drawing/2014/main" id="{9438E807-E781-5C8A-0A96-8722E0EDA192}"/>
              </a:ext>
            </a:extLst>
          </p:cNvPr>
          <p:cNvSpPr txBox="1"/>
          <p:nvPr/>
        </p:nvSpPr>
        <p:spPr>
          <a:xfrm>
            <a:off x="22685408" y="12420249"/>
            <a:ext cx="294693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chemeClr val="tx2">
                    <a:lumMod val="20000"/>
                    <a:lumOff val="80000"/>
                  </a:schemeClr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Seeders</a:t>
            </a:r>
            <a:endParaRPr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5" name="Google Shape;136;p16">
            <a:extLst>
              <a:ext uri="{FF2B5EF4-FFF2-40B4-BE49-F238E27FC236}">
                <a16:creationId xmlns:a16="http://schemas.microsoft.com/office/drawing/2014/main" id="{683B366C-6D09-FCEC-D031-C00E4C56C63F}"/>
              </a:ext>
            </a:extLst>
          </p:cNvPr>
          <p:cNvSpPr txBox="1"/>
          <p:nvPr/>
        </p:nvSpPr>
        <p:spPr>
          <a:xfrm>
            <a:off x="22685408" y="12886974"/>
            <a:ext cx="2806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Peers who possess the 100% complete file and stay in the network to upload chunks to others.</a:t>
            </a:r>
            <a:endParaRPr/>
          </a:p>
        </p:txBody>
      </p:sp>
      <p:sp>
        <p:nvSpPr>
          <p:cNvPr id="46" name="Google Shape;137;p16">
            <a:extLst>
              <a:ext uri="{FF2B5EF4-FFF2-40B4-BE49-F238E27FC236}">
                <a16:creationId xmlns:a16="http://schemas.microsoft.com/office/drawing/2014/main" id="{E12273EB-3A04-CB3D-EC2F-D863801C8129}"/>
              </a:ext>
            </a:extLst>
          </p:cNvPr>
          <p:cNvSpPr txBox="1"/>
          <p:nvPr/>
        </p:nvSpPr>
        <p:spPr>
          <a:xfrm>
            <a:off x="22745700" y="12420249"/>
            <a:ext cx="29470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chemeClr val="tx2">
                    <a:lumMod val="20000"/>
                    <a:lumOff val="80000"/>
                  </a:schemeClr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Leechers</a:t>
            </a:r>
            <a:endParaRPr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7" name="Google Shape;138;p16">
            <a:extLst>
              <a:ext uri="{FF2B5EF4-FFF2-40B4-BE49-F238E27FC236}">
                <a16:creationId xmlns:a16="http://schemas.microsoft.com/office/drawing/2014/main" id="{6A6ABD91-6FAD-A4F9-2F0F-66B9C6B61E8E}"/>
              </a:ext>
            </a:extLst>
          </p:cNvPr>
          <p:cNvSpPr txBox="1"/>
          <p:nvPr/>
        </p:nvSpPr>
        <p:spPr>
          <a:xfrm>
            <a:off x="22745700" y="12886974"/>
            <a:ext cx="2806749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Participants currently downloading the file. They share the parts they have already acquired.</a:t>
            </a:r>
            <a:endParaRPr/>
          </a:p>
        </p:txBody>
      </p:sp>
      <p:sp>
        <p:nvSpPr>
          <p:cNvPr id="48" name="Google Shape;139;p16">
            <a:extLst>
              <a:ext uri="{FF2B5EF4-FFF2-40B4-BE49-F238E27FC236}">
                <a16:creationId xmlns:a16="http://schemas.microsoft.com/office/drawing/2014/main" id="{3C3B76E7-237F-1B38-D42F-6DC696FCB8D3}"/>
              </a:ext>
            </a:extLst>
          </p:cNvPr>
          <p:cNvSpPr txBox="1"/>
          <p:nvPr/>
        </p:nvSpPr>
        <p:spPr>
          <a:xfrm>
            <a:off x="22745700" y="12458700"/>
            <a:ext cx="294693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chemeClr val="tx2">
                    <a:lumMod val="20000"/>
                    <a:lumOff val="80000"/>
                  </a:schemeClr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Trackers</a:t>
            </a:r>
            <a:endParaRPr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9" name="Google Shape;140;p16">
            <a:extLst>
              <a:ext uri="{FF2B5EF4-FFF2-40B4-BE49-F238E27FC236}">
                <a16:creationId xmlns:a16="http://schemas.microsoft.com/office/drawing/2014/main" id="{EE90A645-7B35-5E6E-17AD-FF5EDF0E5CB2}"/>
              </a:ext>
            </a:extLst>
          </p:cNvPr>
          <p:cNvSpPr txBox="1"/>
          <p:nvPr/>
        </p:nvSpPr>
        <p:spPr>
          <a:xfrm>
            <a:off x="22745700" y="12925425"/>
            <a:ext cx="2806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Servers that keep track of which peers have which chunks, facilitating the initial "handshake."</a:t>
            </a:r>
            <a:endParaRPr/>
          </a:p>
        </p:txBody>
      </p:sp>
      <p:pic>
        <p:nvPicPr>
          <p:cNvPr id="50" name="Google Shape;141;p16" descr="image.png">
            <a:extLst>
              <a:ext uri="{FF2B5EF4-FFF2-40B4-BE49-F238E27FC236}">
                <a16:creationId xmlns:a16="http://schemas.microsoft.com/office/drawing/2014/main" id="{E4FC33EE-9EA6-7557-37FF-325B4DFE1E94}"/>
              </a:ext>
            </a:extLst>
          </p:cNvPr>
          <p:cNvPicPr preferRelativeResize="0"/>
          <p:nvPr/>
        </p:nvPicPr>
        <p:blipFill rotWithShape="1">
          <a:blip r:embed="rId10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2685408" y="11724924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142;p16" descr="image.png">
            <a:extLst>
              <a:ext uri="{FF2B5EF4-FFF2-40B4-BE49-F238E27FC236}">
                <a16:creationId xmlns:a16="http://schemas.microsoft.com/office/drawing/2014/main" id="{48C89554-D085-31B0-CC10-FCF212A7C49B}"/>
              </a:ext>
            </a:extLst>
          </p:cNvPr>
          <p:cNvPicPr preferRelativeResize="0"/>
          <p:nvPr/>
        </p:nvPicPr>
        <p:blipFill rotWithShape="1">
          <a:blip r:embed="rId11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2745700" y="11724924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143;p16" descr="image.png">
            <a:extLst>
              <a:ext uri="{FF2B5EF4-FFF2-40B4-BE49-F238E27FC236}">
                <a16:creationId xmlns:a16="http://schemas.microsoft.com/office/drawing/2014/main" id="{184F7A9E-B694-37A9-FEAA-D308019035D0}"/>
              </a:ext>
            </a:extLst>
          </p:cNvPr>
          <p:cNvPicPr preferRelativeResize="0"/>
          <p:nvPr/>
        </p:nvPicPr>
        <p:blipFill rotWithShape="1">
          <a:blip r:embed="rId12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2745700" y="117633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Picture 39" descr="BitTorrent Classic | The Original Torrent Client for Desktop">
            <a:extLst>
              <a:ext uri="{FF2B5EF4-FFF2-40B4-BE49-F238E27FC236}">
                <a16:creationId xmlns:a16="http://schemas.microsoft.com/office/drawing/2014/main" id="{37267C84-02AD-D0E2-835E-9264088BE9D1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612600" y="10287000"/>
            <a:ext cx="11223760" cy="7162800"/>
          </a:xfrm>
          <a:prstGeom prst="rect">
            <a:avLst/>
          </a:prstGeom>
        </p:spPr>
      </p:pic>
      <p:sp>
        <p:nvSpPr>
          <p:cNvPr id="54" name="Freeform 5">
            <a:extLst>
              <a:ext uri="{FF2B5EF4-FFF2-40B4-BE49-F238E27FC236}">
                <a16:creationId xmlns:a16="http://schemas.microsoft.com/office/drawing/2014/main" id="{00E3BBD5-1FF6-B333-9591-32F54881EAD1}"/>
              </a:ext>
            </a:extLst>
          </p:cNvPr>
          <p:cNvSpPr/>
          <p:nvPr/>
        </p:nvSpPr>
        <p:spPr>
          <a:xfrm>
            <a:off x="1028700" y="10558518"/>
            <a:ext cx="6985615" cy="6398823"/>
          </a:xfrm>
          <a:custGeom>
            <a:avLst/>
            <a:gdLst/>
            <a:ahLst/>
            <a:cxnLst/>
            <a:rect l="l" t="t" r="r" b="b"/>
            <a:pathLst>
              <a:path w="6985615" h="6398823">
                <a:moveTo>
                  <a:pt x="0" y="0"/>
                </a:moveTo>
                <a:lnTo>
                  <a:pt x="6985615" y="0"/>
                </a:lnTo>
                <a:lnTo>
                  <a:pt x="6985615" y="6398823"/>
                </a:lnTo>
                <a:lnTo>
                  <a:pt x="0" y="6398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9D4761-E1EF-0F31-C357-33F4B04CBC0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r="66989"/>
          <a:stretch>
            <a:fillRect/>
          </a:stretch>
        </p:blipFill>
        <p:spPr>
          <a:xfrm>
            <a:off x="1016508" y="3922672"/>
            <a:ext cx="5182115" cy="36862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482446-2BF8-2EF2-DDBC-567C79CAF7E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33533" r="33456"/>
          <a:stretch>
            <a:fillRect/>
          </a:stretch>
        </p:blipFill>
        <p:spPr>
          <a:xfrm>
            <a:off x="6540225" y="3922673"/>
            <a:ext cx="5182115" cy="36862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149B48-0A4B-0146-5399-96DCBFD7D73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67776" r="-787"/>
          <a:stretch>
            <a:fillRect/>
          </a:stretch>
        </p:blipFill>
        <p:spPr>
          <a:xfrm>
            <a:off x="12188091" y="3922672"/>
            <a:ext cx="5182115" cy="3686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382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122;p15" descr="image.png">
            <a:extLst>
              <a:ext uri="{FF2B5EF4-FFF2-40B4-BE49-F238E27FC236}">
                <a16:creationId xmlns:a16="http://schemas.microsoft.com/office/drawing/2014/main" id="{88B37873-E76E-AF7D-09AE-81D739101F5D}"/>
              </a:ext>
            </a:extLst>
          </p:cNvPr>
          <p:cNvPicPr preferRelativeResize="0"/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AutoShape 2"/>
          <p:cNvSpPr/>
          <p:nvPr/>
        </p:nvSpPr>
        <p:spPr>
          <a:xfrm flipV="1">
            <a:off x="1028700" y="2160669"/>
            <a:ext cx="16230600" cy="0"/>
          </a:xfrm>
          <a:prstGeom prst="line">
            <a:avLst/>
          </a:prstGeom>
          <a:ln w="9525" cap="rnd">
            <a:solidFill>
              <a:srgbClr val="182D8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028700" y="1224018"/>
            <a:ext cx="10629900" cy="711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54"/>
              </a:lnSpc>
            </a:pPr>
            <a:r>
              <a:rPr lang="en-US" sz="5097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BitTorrent and Copyright Law</a:t>
            </a:r>
          </a:p>
        </p:txBody>
      </p:sp>
      <p:pic>
        <p:nvPicPr>
          <p:cNvPr id="36" name="Picture 35" descr="BitTorrent®- Torrent Downloads - Apps on Google Play">
            <a:extLst>
              <a:ext uri="{FF2B5EF4-FFF2-40B4-BE49-F238E27FC236}">
                <a16:creationId xmlns:a16="http://schemas.microsoft.com/office/drawing/2014/main" id="{56B534EE-12DE-6864-1E5D-64669742CB6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2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292162">
            <a:off x="-1799847" y="2447547"/>
            <a:ext cx="10058400" cy="10058400"/>
          </a:xfrm>
          <a:prstGeom prst="rect">
            <a:avLst/>
          </a:prstGeom>
        </p:spPr>
      </p:pic>
      <p:pic>
        <p:nvPicPr>
          <p:cNvPr id="37" name="Picture 36" descr="Hacker - Free security icons">
            <a:extLst>
              <a:ext uri="{FF2B5EF4-FFF2-40B4-BE49-F238E27FC236}">
                <a16:creationId xmlns:a16="http://schemas.microsoft.com/office/drawing/2014/main" id="{D91AE9B8-B969-ADD7-F4E7-E5D4C63037D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alphaModFix amt="2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474199">
            <a:off x="11111058" y="2877062"/>
            <a:ext cx="8113176" cy="8113176"/>
          </a:xfrm>
          <a:prstGeom prst="rect">
            <a:avLst/>
          </a:prstGeom>
        </p:spPr>
      </p:pic>
      <p:sp>
        <p:nvSpPr>
          <p:cNvPr id="38" name="TextBox 9">
            <a:extLst>
              <a:ext uri="{FF2B5EF4-FFF2-40B4-BE49-F238E27FC236}">
                <a16:creationId xmlns:a16="http://schemas.microsoft.com/office/drawing/2014/main" id="{3E6B8147-4CF1-B43E-D187-3136DDEBA9E8}"/>
              </a:ext>
            </a:extLst>
          </p:cNvPr>
          <p:cNvSpPr txBox="1"/>
          <p:nvPr/>
        </p:nvSpPr>
        <p:spPr>
          <a:xfrm>
            <a:off x="1263044" y="3087809"/>
            <a:ext cx="7042756" cy="5265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BitTorrent was not designed for piracy.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It was designed only for the purpose of sending files between users.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It is commonly used for distributing: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Movies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Games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Software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Music</a:t>
            </a:r>
            <a:endParaRPr lang="en-US" sz="2000" dirty="0">
              <a:solidFill>
                <a:schemeClr val="tx2">
                  <a:lumMod val="20000"/>
                  <a:lumOff val="8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Large file sizes make BitTorrent attractive for content sharing.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It is still used by organization to share large files such as OS installation Images (.iso files)</a:t>
            </a:r>
          </a:p>
        </p:txBody>
      </p:sp>
      <p:sp>
        <p:nvSpPr>
          <p:cNvPr id="39" name="TextBox 9">
            <a:extLst>
              <a:ext uri="{FF2B5EF4-FFF2-40B4-BE49-F238E27FC236}">
                <a16:creationId xmlns:a16="http://schemas.microsoft.com/office/drawing/2014/main" id="{212FA385-69A7-62C3-45B0-86B9BF1D53FC}"/>
              </a:ext>
            </a:extLst>
          </p:cNvPr>
          <p:cNvSpPr txBox="1"/>
          <p:nvPr/>
        </p:nvSpPr>
        <p:spPr>
          <a:xfrm>
            <a:off x="9527116" y="3087809"/>
            <a:ext cx="7042756" cy="5034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Copyright laws protect creators and content owners.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Illegal sharing causes financial losses.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Anti-piracy organizations monitor torrent activity.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Law enforcement agencies investigate copyright violations.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Digital evidence is often collected from torrent networks.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BitTorrent and other torrent services became a method of piracy. People started illegally sharing copyrighted information and files. Such as Games, </a:t>
            </a:r>
            <a:r>
              <a:rPr lang="en-US"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Softwares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 etc.</a:t>
            </a:r>
          </a:p>
        </p:txBody>
      </p:sp>
      <p:pic>
        <p:nvPicPr>
          <p:cNvPr id="41" name="Google Shape;132;p16" descr="image.png">
            <a:extLst>
              <a:ext uri="{FF2B5EF4-FFF2-40B4-BE49-F238E27FC236}">
                <a16:creationId xmlns:a16="http://schemas.microsoft.com/office/drawing/2014/main" id="{FF9653A4-14DD-8BF0-477E-0D702E97523E}"/>
              </a:ext>
            </a:extLst>
          </p:cNvPr>
          <p:cNvPicPr preferRelativeResize="0"/>
          <p:nvPr/>
        </p:nvPicPr>
        <p:blipFill rotWithShape="1"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/>
          <a:stretch/>
        </p:blipFill>
        <p:spPr>
          <a:xfrm>
            <a:off x="22342508" y="11353449"/>
            <a:ext cx="349240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133;p16" descr="image.png">
            <a:extLst>
              <a:ext uri="{FF2B5EF4-FFF2-40B4-BE49-F238E27FC236}">
                <a16:creationId xmlns:a16="http://schemas.microsoft.com/office/drawing/2014/main" id="{08432CB7-57AE-DFE6-77F2-A6D792FFE20C}"/>
              </a:ext>
            </a:extLst>
          </p:cNvPr>
          <p:cNvPicPr preferRelativeResize="0"/>
          <p:nvPr/>
        </p:nvPicPr>
        <p:blipFill rotWithShape="1"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/>
          <a:stretch/>
        </p:blipFill>
        <p:spPr>
          <a:xfrm>
            <a:off x="22402800" y="11353449"/>
            <a:ext cx="3492549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134;p16" descr="image.png">
            <a:extLst>
              <a:ext uri="{FF2B5EF4-FFF2-40B4-BE49-F238E27FC236}">
                <a16:creationId xmlns:a16="http://schemas.microsoft.com/office/drawing/2014/main" id="{5A66168C-AC19-C3C0-77F8-0ED122474E88}"/>
              </a:ext>
            </a:extLst>
          </p:cNvPr>
          <p:cNvPicPr preferRelativeResize="0"/>
          <p:nvPr/>
        </p:nvPicPr>
        <p:blipFill rotWithShape="1"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/>
          <a:stretch/>
        </p:blipFill>
        <p:spPr>
          <a:xfrm>
            <a:off x="22402800" y="11391900"/>
            <a:ext cx="3492400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135;p16">
            <a:extLst>
              <a:ext uri="{FF2B5EF4-FFF2-40B4-BE49-F238E27FC236}">
                <a16:creationId xmlns:a16="http://schemas.microsoft.com/office/drawing/2014/main" id="{D632C245-989F-7904-855B-3574D6B9DC85}"/>
              </a:ext>
            </a:extLst>
          </p:cNvPr>
          <p:cNvSpPr txBox="1"/>
          <p:nvPr/>
        </p:nvSpPr>
        <p:spPr>
          <a:xfrm>
            <a:off x="22685408" y="12420249"/>
            <a:ext cx="294693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chemeClr val="tx2">
                    <a:lumMod val="20000"/>
                    <a:lumOff val="80000"/>
                  </a:schemeClr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Seeders</a:t>
            </a:r>
            <a:endParaRPr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5" name="Google Shape;136;p16">
            <a:extLst>
              <a:ext uri="{FF2B5EF4-FFF2-40B4-BE49-F238E27FC236}">
                <a16:creationId xmlns:a16="http://schemas.microsoft.com/office/drawing/2014/main" id="{CA48B08C-5670-5C45-B91D-2C43E2B91FA5}"/>
              </a:ext>
            </a:extLst>
          </p:cNvPr>
          <p:cNvSpPr txBox="1"/>
          <p:nvPr/>
        </p:nvSpPr>
        <p:spPr>
          <a:xfrm>
            <a:off x="22685408" y="12886974"/>
            <a:ext cx="2806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Peers who possess the 100% complete file and stay in the network to upload chunks to others.</a:t>
            </a:r>
            <a:endParaRPr/>
          </a:p>
        </p:txBody>
      </p:sp>
      <p:sp>
        <p:nvSpPr>
          <p:cNvPr id="46" name="Google Shape;137;p16">
            <a:extLst>
              <a:ext uri="{FF2B5EF4-FFF2-40B4-BE49-F238E27FC236}">
                <a16:creationId xmlns:a16="http://schemas.microsoft.com/office/drawing/2014/main" id="{6B2C31CE-8E43-E0F2-9F8C-8D46688DE4FA}"/>
              </a:ext>
            </a:extLst>
          </p:cNvPr>
          <p:cNvSpPr txBox="1"/>
          <p:nvPr/>
        </p:nvSpPr>
        <p:spPr>
          <a:xfrm>
            <a:off x="22745700" y="12420249"/>
            <a:ext cx="29470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chemeClr val="tx2">
                    <a:lumMod val="20000"/>
                    <a:lumOff val="80000"/>
                  </a:schemeClr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Leechers</a:t>
            </a:r>
            <a:endParaRPr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7" name="Google Shape;138;p16">
            <a:extLst>
              <a:ext uri="{FF2B5EF4-FFF2-40B4-BE49-F238E27FC236}">
                <a16:creationId xmlns:a16="http://schemas.microsoft.com/office/drawing/2014/main" id="{DC3D3850-E2C9-5F49-E9B1-0A69C84BE62D}"/>
              </a:ext>
            </a:extLst>
          </p:cNvPr>
          <p:cNvSpPr txBox="1"/>
          <p:nvPr/>
        </p:nvSpPr>
        <p:spPr>
          <a:xfrm>
            <a:off x="22745700" y="12886974"/>
            <a:ext cx="2806749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Participants currently downloading the file. They share the parts they have already acquired.</a:t>
            </a:r>
            <a:endParaRPr/>
          </a:p>
        </p:txBody>
      </p:sp>
      <p:sp>
        <p:nvSpPr>
          <p:cNvPr id="48" name="Google Shape;139;p16">
            <a:extLst>
              <a:ext uri="{FF2B5EF4-FFF2-40B4-BE49-F238E27FC236}">
                <a16:creationId xmlns:a16="http://schemas.microsoft.com/office/drawing/2014/main" id="{139A0C81-0F2B-E089-5F71-8F52373933D7}"/>
              </a:ext>
            </a:extLst>
          </p:cNvPr>
          <p:cNvSpPr txBox="1"/>
          <p:nvPr/>
        </p:nvSpPr>
        <p:spPr>
          <a:xfrm>
            <a:off x="22745700" y="12458700"/>
            <a:ext cx="294693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chemeClr val="tx2">
                    <a:lumMod val="20000"/>
                    <a:lumOff val="80000"/>
                  </a:schemeClr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Trackers</a:t>
            </a:r>
            <a:endParaRPr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9" name="Google Shape;140;p16">
            <a:extLst>
              <a:ext uri="{FF2B5EF4-FFF2-40B4-BE49-F238E27FC236}">
                <a16:creationId xmlns:a16="http://schemas.microsoft.com/office/drawing/2014/main" id="{B23DE1AB-3C7E-1D0D-41FC-5CC0C02F90E5}"/>
              </a:ext>
            </a:extLst>
          </p:cNvPr>
          <p:cNvSpPr txBox="1"/>
          <p:nvPr/>
        </p:nvSpPr>
        <p:spPr>
          <a:xfrm>
            <a:off x="22745700" y="12925425"/>
            <a:ext cx="2806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Servers that keep track of which peers have which chunks, facilitating the initial "handshake."</a:t>
            </a:r>
            <a:endParaRPr/>
          </a:p>
        </p:txBody>
      </p:sp>
      <p:pic>
        <p:nvPicPr>
          <p:cNvPr id="50" name="Google Shape;141;p16" descr="image.png">
            <a:extLst>
              <a:ext uri="{FF2B5EF4-FFF2-40B4-BE49-F238E27FC236}">
                <a16:creationId xmlns:a16="http://schemas.microsoft.com/office/drawing/2014/main" id="{97CD42F9-E0E6-EB47-BCAA-6A67429CD897}"/>
              </a:ext>
            </a:extLst>
          </p:cNvPr>
          <p:cNvPicPr preferRelativeResize="0"/>
          <p:nvPr/>
        </p:nvPicPr>
        <p:blipFill rotWithShape="1">
          <a:blip r:embed="rId10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2685408" y="11724924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142;p16" descr="image.png">
            <a:extLst>
              <a:ext uri="{FF2B5EF4-FFF2-40B4-BE49-F238E27FC236}">
                <a16:creationId xmlns:a16="http://schemas.microsoft.com/office/drawing/2014/main" id="{60EAD7C7-A76D-700A-C9E0-789B6A83C65C}"/>
              </a:ext>
            </a:extLst>
          </p:cNvPr>
          <p:cNvPicPr preferRelativeResize="0"/>
          <p:nvPr/>
        </p:nvPicPr>
        <p:blipFill rotWithShape="1">
          <a:blip r:embed="rId11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2745700" y="11724924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143;p16" descr="image.png">
            <a:extLst>
              <a:ext uri="{FF2B5EF4-FFF2-40B4-BE49-F238E27FC236}">
                <a16:creationId xmlns:a16="http://schemas.microsoft.com/office/drawing/2014/main" id="{66F477C2-0E80-EDA5-A0BE-DE6BA4AEC589}"/>
              </a:ext>
            </a:extLst>
          </p:cNvPr>
          <p:cNvPicPr preferRelativeResize="0"/>
          <p:nvPr/>
        </p:nvPicPr>
        <p:blipFill rotWithShape="1">
          <a:blip r:embed="rId12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2745700" y="117633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Picture 39" descr="BitTorrent Classic | The Original Torrent Client for Desktop">
            <a:extLst>
              <a:ext uri="{FF2B5EF4-FFF2-40B4-BE49-F238E27FC236}">
                <a16:creationId xmlns:a16="http://schemas.microsoft.com/office/drawing/2014/main" id="{4E2A5BDF-3500-6BE8-037E-2BB90B9D5110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612600" y="10287000"/>
            <a:ext cx="11223760" cy="7162800"/>
          </a:xfrm>
          <a:prstGeom prst="rect">
            <a:avLst/>
          </a:prstGeom>
        </p:spPr>
      </p:pic>
      <p:sp>
        <p:nvSpPr>
          <p:cNvPr id="54" name="Freeform 5">
            <a:extLst>
              <a:ext uri="{FF2B5EF4-FFF2-40B4-BE49-F238E27FC236}">
                <a16:creationId xmlns:a16="http://schemas.microsoft.com/office/drawing/2014/main" id="{726D923A-23DA-4FF3-6B46-05D3AC0F23C7}"/>
              </a:ext>
            </a:extLst>
          </p:cNvPr>
          <p:cNvSpPr/>
          <p:nvPr/>
        </p:nvSpPr>
        <p:spPr>
          <a:xfrm>
            <a:off x="1028700" y="10558518"/>
            <a:ext cx="6985615" cy="6398823"/>
          </a:xfrm>
          <a:custGeom>
            <a:avLst/>
            <a:gdLst/>
            <a:ahLst/>
            <a:cxnLst/>
            <a:rect l="l" t="t" r="r" b="b"/>
            <a:pathLst>
              <a:path w="6985615" h="6398823">
                <a:moveTo>
                  <a:pt x="0" y="0"/>
                </a:moveTo>
                <a:lnTo>
                  <a:pt x="6985615" y="0"/>
                </a:lnTo>
                <a:lnTo>
                  <a:pt x="6985615" y="6398823"/>
                </a:lnTo>
                <a:lnTo>
                  <a:pt x="0" y="6398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22;p15" descr="image.png">
            <a:extLst>
              <a:ext uri="{FF2B5EF4-FFF2-40B4-BE49-F238E27FC236}">
                <a16:creationId xmlns:a16="http://schemas.microsoft.com/office/drawing/2014/main" id="{8635E603-F5F8-C76F-9028-6A98F93D4198}"/>
              </a:ext>
            </a:extLst>
          </p:cNvPr>
          <p:cNvPicPr preferRelativeResize="0"/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 descr="BitTorrent®- Torrent Downloads - Apps on Google Play">
            <a:extLst>
              <a:ext uri="{FF2B5EF4-FFF2-40B4-BE49-F238E27FC236}">
                <a16:creationId xmlns:a16="http://schemas.microsoft.com/office/drawing/2014/main" id="{21F935F1-6A77-6186-E1D6-8C8B4594AB8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2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292162">
            <a:off x="-5740910" y="1994124"/>
            <a:ext cx="10058400" cy="10058400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 flipV="1">
            <a:off x="1028700" y="2160669"/>
            <a:ext cx="16230600" cy="0"/>
          </a:xfrm>
          <a:prstGeom prst="line">
            <a:avLst/>
          </a:prstGeom>
          <a:ln w="9525" cap="rnd">
            <a:solidFill>
              <a:srgbClr val="182D8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28700" y="668055"/>
            <a:ext cx="14668500" cy="1417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54"/>
              </a:lnSpc>
            </a:pPr>
            <a:r>
              <a:rPr lang="en-US" sz="5097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Case Study: South Korean Copyright Investigation (2011) </a:t>
            </a:r>
          </a:p>
        </p:txBody>
      </p:sp>
      <p:pic>
        <p:nvPicPr>
          <p:cNvPr id="16" name="Picture 15" descr="Hacker - Free security icons">
            <a:extLst>
              <a:ext uri="{FF2B5EF4-FFF2-40B4-BE49-F238E27FC236}">
                <a16:creationId xmlns:a16="http://schemas.microsoft.com/office/drawing/2014/main" id="{2B488200-3AEE-3CDA-77E9-65E775ACA73D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alphaModFix amt="2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474199">
            <a:off x="1720715" y="2390074"/>
            <a:ext cx="8113176" cy="8113176"/>
          </a:xfrm>
          <a:prstGeom prst="rect">
            <a:avLst/>
          </a:prstGeom>
        </p:spPr>
      </p:pic>
      <p:sp>
        <p:nvSpPr>
          <p:cNvPr id="5" name="Freeform 5"/>
          <p:cNvSpPr/>
          <p:nvPr/>
        </p:nvSpPr>
        <p:spPr>
          <a:xfrm>
            <a:off x="1028700" y="2539586"/>
            <a:ext cx="6985615" cy="6398823"/>
          </a:xfrm>
          <a:custGeom>
            <a:avLst/>
            <a:gdLst/>
            <a:ahLst/>
            <a:cxnLst/>
            <a:rect l="l" t="t" r="r" b="b"/>
            <a:pathLst>
              <a:path w="6985615" h="6398823">
                <a:moveTo>
                  <a:pt x="0" y="0"/>
                </a:moveTo>
                <a:lnTo>
                  <a:pt x="6985615" y="0"/>
                </a:lnTo>
                <a:lnTo>
                  <a:pt x="6985615" y="6398823"/>
                </a:lnTo>
                <a:lnTo>
                  <a:pt x="0" y="6398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382000" y="3089574"/>
            <a:ext cx="8504397" cy="1267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5"/>
              </a:lnSpc>
            </a:pPr>
            <a:r>
              <a:rPr lang="en-US" sz="1803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In August 2011, the Seoul District Prosecutors Office (SDPO) launched an investigation into illegal online content distribution. The investigation focused on web-storage service providers suspected of distributing copyrighted content.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82000" y="4471675"/>
            <a:ext cx="8504397" cy="376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58"/>
              </a:lnSpc>
            </a:pPr>
            <a:r>
              <a:rPr lang="en-US" sz="2184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Key Findings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82000" y="4858548"/>
            <a:ext cx="8504397" cy="1267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5"/>
              </a:lnSpc>
            </a:pPr>
            <a:r>
              <a:rPr lang="en-US" sz="1803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Two companies were identified with annual revenues of approximately US$25 million and US$15 million. Both companies were allegedly owned by the same individual. Authorities claimed that a separate organization was created specifically to upload illegal content.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82000" y="6323545"/>
            <a:ext cx="8504397" cy="376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58"/>
              </a:lnSpc>
            </a:pPr>
            <a:r>
              <a:rPr lang="en-US" sz="2184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Impact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82000" y="6710418"/>
            <a:ext cx="8504397" cy="625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5"/>
              </a:lnSpc>
            </a:pPr>
            <a:r>
              <a:rPr lang="en-US" sz="1803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Copyright owners were reportedly deprived of nearly US$15 million in licensing fees.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82000" y="7576026"/>
            <a:ext cx="8504397" cy="376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58"/>
              </a:lnSpc>
            </a:pPr>
            <a:r>
              <a:rPr lang="en-US" sz="2184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Significance: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82000" y="7962900"/>
            <a:ext cx="8504397" cy="625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5"/>
              </a:lnSpc>
            </a:pPr>
            <a:r>
              <a:rPr lang="en-US" sz="1803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Shows the importance of monitoring online file-sharing systems. Highlights the role of law enforcement in combating digital piracy.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82000" y="2688279"/>
            <a:ext cx="8504397" cy="376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58"/>
              </a:lnSpc>
            </a:pPr>
            <a:r>
              <a:rPr lang="en-US" sz="2184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Background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12AD7-10CC-E642-222D-48A1B80F4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22;p15" descr="image.png">
            <a:extLst>
              <a:ext uri="{FF2B5EF4-FFF2-40B4-BE49-F238E27FC236}">
                <a16:creationId xmlns:a16="http://schemas.microsoft.com/office/drawing/2014/main" id="{1CF42DDD-211E-BCCC-F58F-BF17FED1846A}"/>
              </a:ext>
            </a:extLst>
          </p:cNvPr>
          <p:cNvPicPr preferRelativeResize="0"/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7F0C5A8B-B32B-3963-0B0E-3F10DB6526DE}"/>
              </a:ext>
            </a:extLst>
          </p:cNvPr>
          <p:cNvSpPr/>
          <p:nvPr/>
        </p:nvSpPr>
        <p:spPr>
          <a:xfrm flipV="1">
            <a:off x="1028700" y="2160669"/>
            <a:ext cx="16230600" cy="0"/>
          </a:xfrm>
          <a:prstGeom prst="line">
            <a:avLst/>
          </a:prstGeom>
          <a:ln w="9525" cap="rnd">
            <a:solidFill>
              <a:srgbClr val="182D8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46C83AE-5F9F-847B-5D9C-2F8514214B01}"/>
              </a:ext>
            </a:extLst>
          </p:cNvPr>
          <p:cNvSpPr txBox="1"/>
          <p:nvPr/>
        </p:nvSpPr>
        <p:spPr>
          <a:xfrm>
            <a:off x="1016508" y="718641"/>
            <a:ext cx="16242792" cy="1417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54"/>
              </a:lnSpc>
            </a:pPr>
            <a:r>
              <a:rPr lang="en-US" sz="5097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Case Study: Contra Piracy Monitoring Case (2013)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3C90C3D-B064-0C63-85FE-EFA339EB8AAD}"/>
              </a:ext>
            </a:extLst>
          </p:cNvPr>
          <p:cNvSpPr/>
          <p:nvPr/>
        </p:nvSpPr>
        <p:spPr>
          <a:xfrm>
            <a:off x="1028700" y="2539586"/>
            <a:ext cx="6985615" cy="6398823"/>
          </a:xfrm>
          <a:custGeom>
            <a:avLst/>
            <a:gdLst/>
            <a:ahLst/>
            <a:cxnLst/>
            <a:rect l="l" t="t" r="r" b="b"/>
            <a:pathLst>
              <a:path w="6985615" h="6398823">
                <a:moveTo>
                  <a:pt x="0" y="0"/>
                </a:moveTo>
                <a:lnTo>
                  <a:pt x="6985615" y="0"/>
                </a:lnTo>
                <a:lnTo>
                  <a:pt x="6985615" y="6398823"/>
                </a:lnTo>
                <a:lnTo>
                  <a:pt x="0" y="6398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16" name="Picture 15" descr="Hacker - Free security icons">
            <a:extLst>
              <a:ext uri="{FF2B5EF4-FFF2-40B4-BE49-F238E27FC236}">
                <a16:creationId xmlns:a16="http://schemas.microsoft.com/office/drawing/2014/main" id="{8517F9C8-FEE9-A5EA-91E8-88559AC86B4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alphaModFix amt="2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474199">
            <a:off x="1720715" y="2390074"/>
            <a:ext cx="8113176" cy="8113176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A3096A99-4F95-CBE6-0058-9A7F37CC8A04}"/>
              </a:ext>
            </a:extLst>
          </p:cNvPr>
          <p:cNvSpPr txBox="1"/>
          <p:nvPr/>
        </p:nvSpPr>
        <p:spPr>
          <a:xfrm>
            <a:off x="8382000" y="3089574"/>
            <a:ext cx="8504397" cy="946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5"/>
              </a:lnSpc>
            </a:pPr>
            <a:r>
              <a:rPr lang="en-US" sz="1803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Contra Piracy, an anti-piracy organization, monitored BitTorrent networks to detect copyright infringement. The organization obtained enforcement rights from Hannibal Pictures to investigate illegal distribution of movies.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C20448F-E857-5ACE-D932-2FE23D26B48F}"/>
              </a:ext>
            </a:extLst>
          </p:cNvPr>
          <p:cNvSpPr txBox="1"/>
          <p:nvPr/>
        </p:nvSpPr>
        <p:spPr>
          <a:xfrm>
            <a:off x="8382000" y="4471675"/>
            <a:ext cx="8504397" cy="376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58"/>
              </a:lnSpc>
            </a:pPr>
            <a:r>
              <a:rPr lang="en-US" sz="2184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Key Findings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2F56BC0-BC31-B2CB-40B4-AECDEB755CFC}"/>
              </a:ext>
            </a:extLst>
          </p:cNvPr>
          <p:cNvSpPr txBox="1"/>
          <p:nvPr/>
        </p:nvSpPr>
        <p:spPr>
          <a:xfrm>
            <a:off x="8382000" y="4858548"/>
            <a:ext cx="8504397" cy="946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5"/>
              </a:lnSpc>
            </a:pPr>
            <a:r>
              <a:rPr lang="en-US" sz="1803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2,919 individuals were identified sharing copyrighted material. More than 280,000 infringement incidents were recorded. Evidence was collected directly from BitTorrent activity.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A4270B1-D488-5D1F-39B2-1A3C9080BACF}"/>
              </a:ext>
            </a:extLst>
          </p:cNvPr>
          <p:cNvSpPr txBox="1"/>
          <p:nvPr/>
        </p:nvSpPr>
        <p:spPr>
          <a:xfrm>
            <a:off x="8382000" y="6107205"/>
            <a:ext cx="8504397" cy="376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58"/>
              </a:lnSpc>
            </a:pPr>
            <a:r>
              <a:rPr lang="en-US" sz="2184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Impact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736326A-711D-2A71-9529-29593CD4161A}"/>
              </a:ext>
            </a:extLst>
          </p:cNvPr>
          <p:cNvSpPr txBox="1"/>
          <p:nvPr/>
        </p:nvSpPr>
        <p:spPr>
          <a:xfrm>
            <a:off x="8382000" y="6494078"/>
            <a:ext cx="8504397" cy="946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5"/>
              </a:lnSpc>
            </a:pPr>
            <a:r>
              <a:rPr lang="en-US" sz="1803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Requested user identity information from Internet Service Providers (ISPs). Intended to pursue legal action against infringers. Potential settlements were estimated to be worth millions of dollars.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DAFD6E1-5848-3104-C0E4-C8217FD198C5}"/>
              </a:ext>
            </a:extLst>
          </p:cNvPr>
          <p:cNvSpPr txBox="1"/>
          <p:nvPr/>
        </p:nvSpPr>
        <p:spPr>
          <a:xfrm>
            <a:off x="8382000" y="7716404"/>
            <a:ext cx="8504397" cy="376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58"/>
              </a:lnSpc>
            </a:pPr>
            <a:r>
              <a:rPr lang="en-US" sz="2184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Significance: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0693AE4-4366-5D70-016B-E97E6090D14A}"/>
              </a:ext>
            </a:extLst>
          </p:cNvPr>
          <p:cNvSpPr txBox="1"/>
          <p:nvPr/>
        </p:nvSpPr>
        <p:spPr>
          <a:xfrm>
            <a:off x="8382000" y="8103278"/>
            <a:ext cx="8504397" cy="946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5"/>
              </a:lnSpc>
            </a:pPr>
            <a:r>
              <a:rPr lang="en-US" sz="1803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Demonstrates how torrent networks can be monitored. Shows how IP addresses can be used as digital evidence. Highlights the conflict between anonymity and copyright enforcement.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0BFF338-A696-68DC-9EE5-77B4CEC0DDFB}"/>
              </a:ext>
            </a:extLst>
          </p:cNvPr>
          <p:cNvSpPr txBox="1"/>
          <p:nvPr/>
        </p:nvSpPr>
        <p:spPr>
          <a:xfrm>
            <a:off x="8382000" y="2688279"/>
            <a:ext cx="8504397" cy="376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58"/>
              </a:lnSpc>
            </a:pPr>
            <a:r>
              <a:rPr lang="en-US" sz="2184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1810636083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46AC2-DF10-7605-B671-9F6358844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22;p15" descr="image.png">
            <a:extLst>
              <a:ext uri="{FF2B5EF4-FFF2-40B4-BE49-F238E27FC236}">
                <a16:creationId xmlns:a16="http://schemas.microsoft.com/office/drawing/2014/main" id="{467538C5-67F5-2C02-3628-62CF1498636A}"/>
              </a:ext>
            </a:extLst>
          </p:cNvPr>
          <p:cNvPicPr preferRelativeResize="0"/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72CA918E-BBC1-1F4B-382B-66EF0084E11A}"/>
              </a:ext>
            </a:extLst>
          </p:cNvPr>
          <p:cNvSpPr/>
          <p:nvPr/>
        </p:nvSpPr>
        <p:spPr>
          <a:xfrm flipV="1">
            <a:off x="1028700" y="2160669"/>
            <a:ext cx="16230600" cy="0"/>
          </a:xfrm>
          <a:prstGeom prst="line">
            <a:avLst/>
          </a:prstGeom>
          <a:ln w="9525" cap="rnd">
            <a:solidFill>
              <a:srgbClr val="182D8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21EA82C-7355-4C7C-7C3A-A6B8007CA2C2}"/>
              </a:ext>
            </a:extLst>
          </p:cNvPr>
          <p:cNvSpPr txBox="1"/>
          <p:nvPr/>
        </p:nvSpPr>
        <p:spPr>
          <a:xfrm>
            <a:off x="1028700" y="1358857"/>
            <a:ext cx="16242792" cy="711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54"/>
              </a:lnSpc>
            </a:pPr>
            <a:r>
              <a:rPr lang="en-US" sz="5097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Case Study: Daily life Games and Movies Piracy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6AD3117-3EEB-9304-4795-88E5C6B3EC4D}"/>
              </a:ext>
            </a:extLst>
          </p:cNvPr>
          <p:cNvSpPr/>
          <p:nvPr/>
        </p:nvSpPr>
        <p:spPr>
          <a:xfrm>
            <a:off x="-578423" y="1944088"/>
            <a:ext cx="6985615" cy="6398823"/>
          </a:xfrm>
          <a:custGeom>
            <a:avLst/>
            <a:gdLst/>
            <a:ahLst/>
            <a:cxnLst/>
            <a:rect l="l" t="t" r="r" b="b"/>
            <a:pathLst>
              <a:path w="6985615" h="6398823">
                <a:moveTo>
                  <a:pt x="0" y="0"/>
                </a:moveTo>
                <a:lnTo>
                  <a:pt x="6985615" y="0"/>
                </a:lnTo>
                <a:lnTo>
                  <a:pt x="6985615" y="6398823"/>
                </a:lnTo>
                <a:lnTo>
                  <a:pt x="0" y="6398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16" name="Picture 15" descr="Hacker - Free security icons">
            <a:extLst>
              <a:ext uri="{FF2B5EF4-FFF2-40B4-BE49-F238E27FC236}">
                <a16:creationId xmlns:a16="http://schemas.microsoft.com/office/drawing/2014/main" id="{D342DA47-2E1D-AF5A-B645-91E3B7882DB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alphaModFix amt="2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474199">
            <a:off x="-2681144" y="4069743"/>
            <a:ext cx="8113176" cy="8113176"/>
          </a:xfrm>
          <a:prstGeom prst="rect">
            <a:avLst/>
          </a:prstGeom>
        </p:spPr>
      </p:pic>
      <p:pic>
        <p:nvPicPr>
          <p:cNvPr id="4" name="Picture 3" descr="Digital Music Movie Icons Stock Illustrations – 3,917 Digital Music Movie  Icons Stock Illustrations, Vectors &amp; Clipart - Dreamstime">
            <a:extLst>
              <a:ext uri="{FF2B5EF4-FFF2-40B4-BE49-F238E27FC236}">
                <a16:creationId xmlns:a16="http://schemas.microsoft.com/office/drawing/2014/main" id="{57D93285-94E2-473B-1020-837F249CEF17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2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4594" b="96820" l="1500" r="97750">
                        <a14:foregroundMark x1="16125" y1="90813" x2="16125" y2="90813"/>
                        <a14:foregroundMark x1="10000" y1="92580" x2="10000" y2="92580"/>
                        <a14:foregroundMark x1="10000" y1="92580" x2="10000" y2="92580"/>
                        <a14:foregroundMark x1="7250" y1="92580" x2="7250" y2="92580"/>
                        <a14:foregroundMark x1="22250" y1="89753" x2="6625" y2="90813"/>
                        <a14:foregroundMark x1="2081" y1="79615" x2="1750" y2="78799"/>
                        <a14:foregroundMark x1="6625" y1="90813" x2="4890" y2="86536"/>
                        <a14:foregroundMark x1="4075" y1="62968" x2="4500" y2="60071"/>
                        <a14:foregroundMark x1="1808" y1="78403" x2="2791" y2="71708"/>
                        <a14:foregroundMark x1="1750" y1="78799" x2="1798" y2="78469"/>
                        <a14:foregroundMark x1="6248" y1="59034" x2="14625" y2="54064"/>
                        <a14:foregroundMark x1="4500" y1="60071" x2="5012" y2="59767"/>
                        <a14:foregroundMark x1="14625" y1="54064" x2="22750" y2="54770"/>
                        <a14:foregroundMark x1="29494" y1="61010" x2="29625" y2="61131"/>
                        <a14:foregroundMark x1="22750" y1="54770" x2="27229" y2="58914"/>
                        <a14:foregroundMark x1="26020" y1="71632" x2="25500" y2="73145"/>
                        <a14:foregroundMark x1="29625" y1="61131" x2="29153" y2="62506"/>
                        <a14:foregroundMark x1="16500" y1="74912" x2="16125" y2="74912"/>
                        <a14:foregroundMark x1="24000" y1="43110" x2="22125" y2="44170"/>
                        <a14:foregroundMark x1="30125" y1="45936" x2="29500" y2="46643"/>
                        <a14:foregroundMark x1="15875" y1="45583" x2="15000" y2="45583"/>
                        <a14:foregroundMark x1="6000" y1="44523" x2="5125" y2="43816"/>
                        <a14:foregroundMark x1="5000" y1="24735" x2="7750" y2="25088"/>
                        <a14:foregroundMark x1="1500" y1="27208" x2="2625" y2="27208"/>
                        <a14:foregroundMark x1="14000" y1="19788" x2="15500" y2="21201"/>
                        <a14:foregroundMark x1="21250" y1="9187" x2="23750" y2="14841"/>
                        <a14:foregroundMark x1="27875" y1="4594" x2="29500" y2="8481"/>
                        <a14:foregroundMark x1="68000" y1="97173" x2="68875" y2="95760"/>
                        <a14:foregroundMark x1="94250" y1="90106" x2="87000" y2="73498"/>
                        <a14:foregroundMark x1="87000" y1="73498" x2="73750" y2="69611"/>
                        <a14:foregroundMark x1="73750" y1="69611" x2="69500" y2="83746"/>
                        <a14:foregroundMark x1="69500" y1="83746" x2="69500" y2="83746"/>
                        <a14:foregroundMark x1="68125" y1="71378" x2="73625" y2="45583"/>
                        <a14:foregroundMark x1="73625" y1="45583" x2="91875" y2="53710"/>
                        <a14:foregroundMark x1="73625" y1="56184" x2="97375" y2="62544"/>
                        <a14:foregroundMark x1="97375" y1="62544" x2="97750" y2="63251"/>
                        <a14:foregroundMark x1="66625" y1="61131" x2="67250" y2="53004"/>
                        <a14:backgroundMark x1="28125" y1="66431" x2="28125" y2="66431"/>
                        <a14:backgroundMark x1="28125" y1="66431" x2="28125" y2="66431"/>
                        <a14:backgroundMark x1="21750" y1="65018" x2="28500" y2="65371"/>
                        <a14:backgroundMark x1="3750" y1="65371" x2="5125" y2="65371"/>
                        <a14:backgroundMark x1="4500" y1="84806" x2="3250" y2="84806"/>
                        <a14:backgroundMark x1="4375" y1="63958" x2="3500" y2="65018"/>
                      </a14:backgroundRemoval>
                    </a14:imgEffect>
                    <a14:imgEffect>
                      <a14:artisticMarker/>
                    </a14:imgEffect>
                  </a14:imgLayer>
                </a14:imgProps>
              </a:ext>
            </a:extLst>
          </a:blip>
          <a:srcRect r="66942"/>
          <a:stretch>
            <a:fillRect/>
          </a:stretch>
        </p:blipFill>
        <p:spPr>
          <a:xfrm rot="20680053">
            <a:off x="14593723" y="6632897"/>
            <a:ext cx="4005884" cy="4286638"/>
          </a:xfrm>
          <a:prstGeom prst="rect">
            <a:avLst/>
          </a:prstGeom>
        </p:spPr>
      </p:pic>
      <p:pic>
        <p:nvPicPr>
          <p:cNvPr id="6" name="Picture 5" descr="Digital Music Movie Icons Stock Illustrations – 3,917 Digital Music Movie  Icons Stock Illustrations, Vectors &amp; Clipart - Dreamstime">
            <a:extLst>
              <a:ext uri="{FF2B5EF4-FFF2-40B4-BE49-F238E27FC236}">
                <a16:creationId xmlns:a16="http://schemas.microsoft.com/office/drawing/2014/main" id="{37568C4B-844E-AE14-8376-075E0999EEC9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4594" b="96820" l="1500" r="97750">
                        <a14:foregroundMark x1="16125" y1="90813" x2="16125" y2="90813"/>
                        <a14:foregroundMark x1="10000" y1="92580" x2="10000" y2="92580"/>
                        <a14:foregroundMark x1="10000" y1="92580" x2="10000" y2="92580"/>
                        <a14:foregroundMark x1="7250" y1="92580" x2="7250" y2="92580"/>
                        <a14:foregroundMark x1="22250" y1="89753" x2="6625" y2="90813"/>
                        <a14:foregroundMark x1="2081" y1="79615" x2="1750" y2="78799"/>
                        <a14:foregroundMark x1="6625" y1="90813" x2="4890" y2="86536"/>
                        <a14:foregroundMark x1="4075" y1="62968" x2="4500" y2="60071"/>
                        <a14:foregroundMark x1="1808" y1="78403" x2="2791" y2="71708"/>
                        <a14:foregroundMark x1="1750" y1="78799" x2="1798" y2="78469"/>
                        <a14:foregroundMark x1="6248" y1="59034" x2="14625" y2="54064"/>
                        <a14:foregroundMark x1="4500" y1="60071" x2="5012" y2="59767"/>
                        <a14:foregroundMark x1="14625" y1="54064" x2="22750" y2="54770"/>
                        <a14:foregroundMark x1="29494" y1="61010" x2="29625" y2="61131"/>
                        <a14:foregroundMark x1="22750" y1="54770" x2="27229" y2="58914"/>
                        <a14:foregroundMark x1="26020" y1="71632" x2="25500" y2="73145"/>
                        <a14:foregroundMark x1="29625" y1="61131" x2="29153" y2="62506"/>
                        <a14:foregroundMark x1="16500" y1="74912" x2="16125" y2="74912"/>
                        <a14:foregroundMark x1="24000" y1="43110" x2="22125" y2="44170"/>
                        <a14:foregroundMark x1="30125" y1="45936" x2="29500" y2="46643"/>
                        <a14:foregroundMark x1="15875" y1="45583" x2="15000" y2="45583"/>
                        <a14:foregroundMark x1="6000" y1="44523" x2="5125" y2="43816"/>
                        <a14:foregroundMark x1="5000" y1="24735" x2="7750" y2="25088"/>
                        <a14:foregroundMark x1="1500" y1="27208" x2="2625" y2="27208"/>
                        <a14:foregroundMark x1="14000" y1="19788" x2="15500" y2="21201"/>
                        <a14:foregroundMark x1="21250" y1="9187" x2="23750" y2="14841"/>
                        <a14:foregroundMark x1="27875" y1="4594" x2="29500" y2="8481"/>
                        <a14:foregroundMark x1="68000" y1="97173" x2="68875" y2="95760"/>
                        <a14:foregroundMark x1="94250" y1="90106" x2="87000" y2="73498"/>
                        <a14:foregroundMark x1="87000" y1="73498" x2="73750" y2="69611"/>
                        <a14:foregroundMark x1="73750" y1="69611" x2="69500" y2="83746"/>
                        <a14:foregroundMark x1="69500" y1="83746" x2="69500" y2="83746"/>
                        <a14:foregroundMark x1="68125" y1="71378" x2="73625" y2="45583"/>
                        <a14:foregroundMark x1="73625" y1="45583" x2="91875" y2="53710"/>
                        <a14:foregroundMark x1="73625" y1="56184" x2="97375" y2="62544"/>
                        <a14:foregroundMark x1="97375" y1="62544" x2="97750" y2="63251"/>
                        <a14:foregroundMark x1="66625" y1="61131" x2="67250" y2="53004"/>
                        <a14:backgroundMark x1="28125" y1="66431" x2="28125" y2="66431"/>
                        <a14:backgroundMark x1="28125" y1="66431" x2="28125" y2="66431"/>
                        <a14:backgroundMark x1="21750" y1="65018" x2="28500" y2="65371"/>
                        <a14:backgroundMark x1="3750" y1="65371" x2="5125" y2="65371"/>
                        <a14:backgroundMark x1="4500" y1="84806" x2="3250" y2="84806"/>
                        <a14:backgroundMark x1="4375" y1="63958" x2="3500" y2="65018"/>
                      </a14:backgroundRemoval>
                    </a14:imgEffect>
                    <a14:imgEffect>
                      <a14:artisticMarker/>
                    </a14:imgEffect>
                  </a14:imgLayer>
                </a14:imgProps>
              </a:ext>
            </a:extLst>
          </a:blip>
          <a:srcRect l="61999" t="3740" r="-1488" b="-3740"/>
          <a:stretch>
            <a:fillRect/>
          </a:stretch>
        </p:blipFill>
        <p:spPr>
          <a:xfrm rot="1387882">
            <a:off x="14520509" y="1063580"/>
            <a:ext cx="4152312" cy="3719715"/>
          </a:xfrm>
          <a:prstGeom prst="rect">
            <a:avLst/>
          </a:prstGeom>
        </p:spPr>
      </p:pic>
      <p:pic>
        <p:nvPicPr>
          <p:cNvPr id="19" name="Picture 18" descr="Software - Free computer icons">
            <a:extLst>
              <a:ext uri="{FF2B5EF4-FFF2-40B4-BE49-F238E27FC236}">
                <a16:creationId xmlns:a16="http://schemas.microsoft.com/office/drawing/2014/main" id="{2535EE9F-83E7-105E-62FC-E10415230636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5000"/>
          </a:blip>
          <a:stretch>
            <a:fillRect/>
          </a:stretch>
        </p:blipFill>
        <p:spPr>
          <a:xfrm>
            <a:off x="5546144" y="3524380"/>
            <a:ext cx="4877481" cy="4877481"/>
          </a:xfrm>
          <a:prstGeom prst="rect">
            <a:avLst/>
          </a:prstGeom>
        </p:spPr>
      </p:pic>
      <p:sp>
        <p:nvSpPr>
          <p:cNvPr id="20" name="TextBox 9">
            <a:extLst>
              <a:ext uri="{FF2B5EF4-FFF2-40B4-BE49-F238E27FC236}">
                <a16:creationId xmlns:a16="http://schemas.microsoft.com/office/drawing/2014/main" id="{383EF73D-1EF9-141A-0576-D2F53F52AD86}"/>
              </a:ext>
            </a:extLst>
          </p:cNvPr>
          <p:cNvSpPr txBox="1"/>
          <p:nvPr/>
        </p:nvSpPr>
        <p:spPr>
          <a:xfrm>
            <a:off x="8535081" y="3106224"/>
            <a:ext cx="7042756" cy="5496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People now use Torrents mostly to download crack files and pirated files.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People use Torrents such as BitTorrent and </a:t>
            </a:r>
            <a:r>
              <a:rPr lang="en-US"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Utorrent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 for pirating games, movies and even </a:t>
            </a:r>
            <a:r>
              <a:rPr lang="en-US"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softwares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This has become a real issue as Torrent is a legal service and is being used for illegal purposes.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There are some algorithms that are separately applied on these applications to avoid pirating. For Instance; In New Video Game Titles like Forza Horizon 6, the gaming platforms already deploy Anti-piracy algorithms like </a:t>
            </a:r>
            <a:r>
              <a:rPr lang="en-US"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Denuvo’s</a:t>
            </a: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 algorithm which prevents cracking.</a:t>
            </a:r>
          </a:p>
        </p:txBody>
      </p:sp>
    </p:spTree>
    <p:extLst>
      <p:ext uri="{BB962C8B-B14F-4D97-AF65-F5344CB8AC3E}">
        <p14:creationId xmlns:p14="http://schemas.microsoft.com/office/powerpoint/2010/main" val="2966840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22;p15" descr="image.png">
            <a:extLst>
              <a:ext uri="{FF2B5EF4-FFF2-40B4-BE49-F238E27FC236}">
                <a16:creationId xmlns:a16="http://schemas.microsoft.com/office/drawing/2014/main" id="{2B984985-D7D6-2AA5-06D4-465305E4955C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-38100"/>
            <a:ext cx="18288000" cy="1032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5566053" y="2933700"/>
            <a:ext cx="7155894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63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Space Grotesk"/>
                <a:ea typeface="Space Grotesk"/>
                <a:cs typeface="Space Grotesk"/>
                <a:sym typeface="Space Grotesk"/>
              </a:rPr>
              <a:t>Torrent Poisoning</a:t>
            </a:r>
            <a:endParaRPr sz="27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3429000" y="4381500"/>
            <a:ext cx="11430000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2250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Torrent poisoning is the intentional sharing of corrupt, misleading, or useless data across a peer-to-peer network. Anti-piracy groups and malicious actors use this tactic to disrupt file sharing, distribute malware, or gather the IP addresses of users downloading copyrighted content.</a:t>
            </a:r>
            <a:endParaRPr sz="2700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4F46143-29FA-A5E6-D0E6-CB1B39E220E2}"/>
              </a:ext>
            </a:extLst>
          </p:cNvPr>
          <p:cNvGrpSpPr/>
          <p:nvPr/>
        </p:nvGrpSpPr>
        <p:grpSpPr>
          <a:xfrm>
            <a:off x="-18856842" y="4244590"/>
            <a:ext cx="7668798" cy="646617"/>
            <a:chOff x="0" y="0"/>
            <a:chExt cx="2310683" cy="58127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02B0C2C-DC68-4668-5A01-1982168837E2}"/>
                </a:ext>
              </a:extLst>
            </p:cNvPr>
            <p:cNvSpPr/>
            <p:nvPr/>
          </p:nvSpPr>
          <p:spPr>
            <a:xfrm>
              <a:off x="0" y="0"/>
              <a:ext cx="2310683" cy="581274"/>
            </a:xfrm>
            <a:custGeom>
              <a:avLst/>
              <a:gdLst/>
              <a:ahLst/>
              <a:cxnLst/>
              <a:rect l="l" t="t" r="r" b="b"/>
              <a:pathLst>
                <a:path w="2310683" h="581274">
                  <a:moveTo>
                    <a:pt x="32305" y="0"/>
                  </a:moveTo>
                  <a:lnTo>
                    <a:pt x="2278378" y="0"/>
                  </a:lnTo>
                  <a:cubicBezTo>
                    <a:pt x="2296219" y="0"/>
                    <a:pt x="2310683" y="14463"/>
                    <a:pt x="2310683" y="32305"/>
                  </a:cubicBezTo>
                  <a:lnTo>
                    <a:pt x="2310683" y="548969"/>
                  </a:lnTo>
                  <a:cubicBezTo>
                    <a:pt x="2310683" y="557537"/>
                    <a:pt x="2307279" y="565754"/>
                    <a:pt x="2301221" y="571812"/>
                  </a:cubicBezTo>
                  <a:cubicBezTo>
                    <a:pt x="2295162" y="577871"/>
                    <a:pt x="2286945" y="581274"/>
                    <a:pt x="2278378" y="581274"/>
                  </a:cubicBezTo>
                  <a:lnTo>
                    <a:pt x="32305" y="581274"/>
                  </a:lnTo>
                  <a:cubicBezTo>
                    <a:pt x="14463" y="581274"/>
                    <a:pt x="0" y="566811"/>
                    <a:pt x="0" y="548969"/>
                  </a:cubicBezTo>
                  <a:lnTo>
                    <a:pt x="0" y="32305"/>
                  </a:lnTo>
                  <a:cubicBezTo>
                    <a:pt x="0" y="23737"/>
                    <a:pt x="3404" y="15520"/>
                    <a:pt x="9462" y="9462"/>
                  </a:cubicBezTo>
                  <a:cubicBezTo>
                    <a:pt x="15520" y="3404"/>
                    <a:pt x="23737" y="0"/>
                    <a:pt x="32305" y="0"/>
                  </a:cubicBez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4C4FF53-0F85-42ED-7034-4D81EFF34598}"/>
                </a:ext>
              </a:extLst>
            </p:cNvPr>
            <p:cNvSpPr txBox="1"/>
            <p:nvPr/>
          </p:nvSpPr>
          <p:spPr>
            <a:xfrm>
              <a:off x="0" y="-76200"/>
              <a:ext cx="2310683" cy="657474"/>
            </a:xfrm>
            <a:prstGeom prst="rect">
              <a:avLst/>
            </a:prstGeom>
          </p:spPr>
          <p:txBody>
            <a:bodyPr lIns="53046" tIns="53046" rIns="53046" bIns="53046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grpSp>
        <p:nvGrpSpPr>
          <p:cNvPr id="6" name="Group 7">
            <a:extLst>
              <a:ext uri="{FF2B5EF4-FFF2-40B4-BE49-F238E27FC236}">
                <a16:creationId xmlns:a16="http://schemas.microsoft.com/office/drawing/2014/main" id="{A0912C43-B7C0-1DB3-423F-9CABA8BE72B2}"/>
              </a:ext>
            </a:extLst>
          </p:cNvPr>
          <p:cNvGrpSpPr/>
          <p:nvPr/>
        </p:nvGrpSpPr>
        <p:grpSpPr>
          <a:xfrm>
            <a:off x="-15931896" y="5298300"/>
            <a:ext cx="7668798" cy="620453"/>
            <a:chOff x="0" y="0"/>
            <a:chExt cx="2310683" cy="581274"/>
          </a:xfrm>
        </p:grpSpPr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AAB922A8-9C51-F030-55E2-C29C759705C8}"/>
                </a:ext>
              </a:extLst>
            </p:cNvPr>
            <p:cNvSpPr/>
            <p:nvPr/>
          </p:nvSpPr>
          <p:spPr>
            <a:xfrm>
              <a:off x="0" y="0"/>
              <a:ext cx="2310683" cy="581274"/>
            </a:xfrm>
            <a:custGeom>
              <a:avLst/>
              <a:gdLst/>
              <a:ahLst/>
              <a:cxnLst/>
              <a:rect l="l" t="t" r="r" b="b"/>
              <a:pathLst>
                <a:path w="2310683" h="581274">
                  <a:moveTo>
                    <a:pt x="32305" y="0"/>
                  </a:moveTo>
                  <a:lnTo>
                    <a:pt x="2278378" y="0"/>
                  </a:lnTo>
                  <a:cubicBezTo>
                    <a:pt x="2296219" y="0"/>
                    <a:pt x="2310683" y="14463"/>
                    <a:pt x="2310683" y="32305"/>
                  </a:cubicBezTo>
                  <a:lnTo>
                    <a:pt x="2310683" y="548969"/>
                  </a:lnTo>
                  <a:cubicBezTo>
                    <a:pt x="2310683" y="557537"/>
                    <a:pt x="2307279" y="565754"/>
                    <a:pt x="2301221" y="571812"/>
                  </a:cubicBezTo>
                  <a:cubicBezTo>
                    <a:pt x="2295162" y="577871"/>
                    <a:pt x="2286945" y="581274"/>
                    <a:pt x="2278378" y="581274"/>
                  </a:cubicBezTo>
                  <a:lnTo>
                    <a:pt x="32305" y="581274"/>
                  </a:lnTo>
                  <a:cubicBezTo>
                    <a:pt x="14463" y="581274"/>
                    <a:pt x="0" y="566811"/>
                    <a:pt x="0" y="548969"/>
                  </a:cubicBezTo>
                  <a:lnTo>
                    <a:pt x="0" y="32305"/>
                  </a:lnTo>
                  <a:cubicBezTo>
                    <a:pt x="0" y="23737"/>
                    <a:pt x="3404" y="15520"/>
                    <a:pt x="9462" y="9462"/>
                  </a:cubicBezTo>
                  <a:cubicBezTo>
                    <a:pt x="15520" y="3404"/>
                    <a:pt x="23737" y="0"/>
                    <a:pt x="32305" y="0"/>
                  </a:cubicBezTo>
                  <a:close/>
                </a:path>
              </a:pathLst>
            </a:custGeom>
            <a:solidFill>
              <a:srgbClr val="08966E"/>
            </a:solidFill>
          </p:spPr>
        </p:sp>
        <p:sp>
          <p:nvSpPr>
            <p:cNvPr id="8" name="TextBox 9">
              <a:extLst>
                <a:ext uri="{FF2B5EF4-FFF2-40B4-BE49-F238E27FC236}">
                  <a16:creationId xmlns:a16="http://schemas.microsoft.com/office/drawing/2014/main" id="{3713232D-7AD3-47F4-9A6E-3F84E7C531FD}"/>
                </a:ext>
              </a:extLst>
            </p:cNvPr>
            <p:cNvSpPr txBox="1"/>
            <p:nvPr/>
          </p:nvSpPr>
          <p:spPr>
            <a:xfrm>
              <a:off x="0" y="-76200"/>
              <a:ext cx="2310683" cy="657474"/>
            </a:xfrm>
            <a:prstGeom prst="rect">
              <a:avLst/>
            </a:prstGeom>
          </p:spPr>
          <p:txBody>
            <a:bodyPr lIns="53046" tIns="53046" rIns="53046" bIns="53046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grpSp>
        <p:nvGrpSpPr>
          <p:cNvPr id="9" name="Group 11">
            <a:extLst>
              <a:ext uri="{FF2B5EF4-FFF2-40B4-BE49-F238E27FC236}">
                <a16:creationId xmlns:a16="http://schemas.microsoft.com/office/drawing/2014/main" id="{0328D7E0-7D4A-B56F-C2A0-388C446544BB}"/>
              </a:ext>
            </a:extLst>
          </p:cNvPr>
          <p:cNvGrpSpPr/>
          <p:nvPr/>
        </p:nvGrpSpPr>
        <p:grpSpPr>
          <a:xfrm>
            <a:off x="-11664696" y="7385250"/>
            <a:ext cx="7668798" cy="731378"/>
            <a:chOff x="0" y="0"/>
            <a:chExt cx="2310683" cy="581274"/>
          </a:xfrm>
        </p:grpSpPr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2047623-0357-0F7F-36DD-79535D68FFF7}"/>
                </a:ext>
              </a:extLst>
            </p:cNvPr>
            <p:cNvSpPr/>
            <p:nvPr/>
          </p:nvSpPr>
          <p:spPr>
            <a:xfrm>
              <a:off x="0" y="0"/>
              <a:ext cx="2310683" cy="581274"/>
            </a:xfrm>
            <a:custGeom>
              <a:avLst/>
              <a:gdLst/>
              <a:ahLst/>
              <a:cxnLst/>
              <a:rect l="l" t="t" r="r" b="b"/>
              <a:pathLst>
                <a:path w="2310683" h="581274">
                  <a:moveTo>
                    <a:pt x="32305" y="0"/>
                  </a:moveTo>
                  <a:lnTo>
                    <a:pt x="2278378" y="0"/>
                  </a:lnTo>
                  <a:cubicBezTo>
                    <a:pt x="2296219" y="0"/>
                    <a:pt x="2310683" y="14463"/>
                    <a:pt x="2310683" y="32305"/>
                  </a:cubicBezTo>
                  <a:lnTo>
                    <a:pt x="2310683" y="548969"/>
                  </a:lnTo>
                  <a:cubicBezTo>
                    <a:pt x="2310683" y="557537"/>
                    <a:pt x="2307279" y="565754"/>
                    <a:pt x="2301221" y="571812"/>
                  </a:cubicBezTo>
                  <a:cubicBezTo>
                    <a:pt x="2295162" y="577871"/>
                    <a:pt x="2286945" y="581274"/>
                    <a:pt x="2278378" y="581274"/>
                  </a:cubicBezTo>
                  <a:lnTo>
                    <a:pt x="32305" y="581274"/>
                  </a:lnTo>
                  <a:cubicBezTo>
                    <a:pt x="14463" y="581274"/>
                    <a:pt x="0" y="566811"/>
                    <a:pt x="0" y="548969"/>
                  </a:cubicBezTo>
                  <a:lnTo>
                    <a:pt x="0" y="32305"/>
                  </a:lnTo>
                  <a:cubicBezTo>
                    <a:pt x="0" y="23737"/>
                    <a:pt x="3404" y="15520"/>
                    <a:pt x="9462" y="9462"/>
                  </a:cubicBezTo>
                  <a:cubicBezTo>
                    <a:pt x="15520" y="3404"/>
                    <a:pt x="23737" y="0"/>
                    <a:pt x="32305" y="0"/>
                  </a:cubicBezTo>
                  <a:close/>
                </a:path>
              </a:pathLst>
            </a:custGeom>
            <a:solidFill>
              <a:srgbClr val="08966E"/>
            </a:solidFill>
          </p:spPr>
        </p:sp>
        <p:sp>
          <p:nvSpPr>
            <p:cNvPr id="11" name="TextBox 13">
              <a:extLst>
                <a:ext uri="{FF2B5EF4-FFF2-40B4-BE49-F238E27FC236}">
                  <a16:creationId xmlns:a16="http://schemas.microsoft.com/office/drawing/2014/main" id="{BF2CD2E5-E218-A003-5942-E22BED40BEB8}"/>
                </a:ext>
              </a:extLst>
            </p:cNvPr>
            <p:cNvSpPr txBox="1"/>
            <p:nvPr/>
          </p:nvSpPr>
          <p:spPr>
            <a:xfrm>
              <a:off x="0" y="-76200"/>
              <a:ext cx="2310683" cy="657474"/>
            </a:xfrm>
            <a:prstGeom prst="rect">
              <a:avLst/>
            </a:prstGeom>
          </p:spPr>
          <p:txBody>
            <a:bodyPr lIns="53046" tIns="53046" rIns="53046" bIns="53046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grpSp>
        <p:nvGrpSpPr>
          <p:cNvPr id="12" name="Group 15">
            <a:extLst>
              <a:ext uri="{FF2B5EF4-FFF2-40B4-BE49-F238E27FC236}">
                <a16:creationId xmlns:a16="http://schemas.microsoft.com/office/drawing/2014/main" id="{42DC9242-9E42-4ABE-135C-631575870CA9}"/>
              </a:ext>
            </a:extLst>
          </p:cNvPr>
          <p:cNvGrpSpPr/>
          <p:nvPr/>
        </p:nvGrpSpPr>
        <p:grpSpPr>
          <a:xfrm>
            <a:off x="-13510290" y="6413488"/>
            <a:ext cx="7668798" cy="548996"/>
            <a:chOff x="0" y="0"/>
            <a:chExt cx="2310683" cy="581274"/>
          </a:xfrm>
        </p:grpSpPr>
        <p:sp>
          <p:nvSpPr>
            <p:cNvPr id="13" name="Freeform 16">
              <a:extLst>
                <a:ext uri="{FF2B5EF4-FFF2-40B4-BE49-F238E27FC236}">
                  <a16:creationId xmlns:a16="http://schemas.microsoft.com/office/drawing/2014/main" id="{28F21102-A971-9E44-AC44-15D51D8C5DB8}"/>
                </a:ext>
              </a:extLst>
            </p:cNvPr>
            <p:cNvSpPr/>
            <p:nvPr/>
          </p:nvSpPr>
          <p:spPr>
            <a:xfrm>
              <a:off x="0" y="0"/>
              <a:ext cx="2310683" cy="581274"/>
            </a:xfrm>
            <a:custGeom>
              <a:avLst/>
              <a:gdLst/>
              <a:ahLst/>
              <a:cxnLst/>
              <a:rect l="l" t="t" r="r" b="b"/>
              <a:pathLst>
                <a:path w="2310683" h="581274">
                  <a:moveTo>
                    <a:pt x="32305" y="0"/>
                  </a:moveTo>
                  <a:lnTo>
                    <a:pt x="2278378" y="0"/>
                  </a:lnTo>
                  <a:cubicBezTo>
                    <a:pt x="2296219" y="0"/>
                    <a:pt x="2310683" y="14463"/>
                    <a:pt x="2310683" y="32305"/>
                  </a:cubicBezTo>
                  <a:lnTo>
                    <a:pt x="2310683" y="548969"/>
                  </a:lnTo>
                  <a:cubicBezTo>
                    <a:pt x="2310683" y="557537"/>
                    <a:pt x="2307279" y="565754"/>
                    <a:pt x="2301221" y="571812"/>
                  </a:cubicBezTo>
                  <a:cubicBezTo>
                    <a:pt x="2295162" y="577871"/>
                    <a:pt x="2286945" y="581274"/>
                    <a:pt x="2278378" y="581274"/>
                  </a:cubicBezTo>
                  <a:lnTo>
                    <a:pt x="32305" y="581274"/>
                  </a:lnTo>
                  <a:cubicBezTo>
                    <a:pt x="14463" y="581274"/>
                    <a:pt x="0" y="566811"/>
                    <a:pt x="0" y="548969"/>
                  </a:cubicBezTo>
                  <a:lnTo>
                    <a:pt x="0" y="32305"/>
                  </a:lnTo>
                  <a:cubicBezTo>
                    <a:pt x="0" y="23737"/>
                    <a:pt x="3404" y="15520"/>
                    <a:pt x="9462" y="9462"/>
                  </a:cubicBezTo>
                  <a:cubicBezTo>
                    <a:pt x="15520" y="3404"/>
                    <a:pt x="23737" y="0"/>
                    <a:pt x="32305" y="0"/>
                  </a:cubicBez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id="14" name="TextBox 17">
              <a:extLst>
                <a:ext uri="{FF2B5EF4-FFF2-40B4-BE49-F238E27FC236}">
                  <a16:creationId xmlns:a16="http://schemas.microsoft.com/office/drawing/2014/main" id="{BD471414-4CAD-06A0-9715-DD8B55ADCE33}"/>
                </a:ext>
              </a:extLst>
            </p:cNvPr>
            <p:cNvSpPr txBox="1"/>
            <p:nvPr/>
          </p:nvSpPr>
          <p:spPr>
            <a:xfrm>
              <a:off x="0" y="-76200"/>
              <a:ext cx="2310683" cy="657474"/>
            </a:xfrm>
            <a:prstGeom prst="rect">
              <a:avLst/>
            </a:prstGeom>
          </p:spPr>
          <p:txBody>
            <a:bodyPr lIns="53046" tIns="53046" rIns="53046" bIns="53046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sp>
        <p:nvSpPr>
          <p:cNvPr id="15" name="TextBox 23">
            <a:extLst>
              <a:ext uri="{FF2B5EF4-FFF2-40B4-BE49-F238E27FC236}">
                <a16:creationId xmlns:a16="http://schemas.microsoft.com/office/drawing/2014/main" id="{1A7FBAA4-E1A3-E5B7-C915-7DFF9B6F3414}"/>
              </a:ext>
            </a:extLst>
          </p:cNvPr>
          <p:cNvSpPr txBox="1"/>
          <p:nvPr/>
        </p:nvSpPr>
        <p:spPr>
          <a:xfrm>
            <a:off x="-17934889" y="4270754"/>
            <a:ext cx="6152573" cy="54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54"/>
              </a:lnSpc>
            </a:pPr>
            <a:r>
              <a:rPr lang="en-US" sz="153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Attackers create files that appear identical to the genuine content.</a:t>
            </a:r>
          </a:p>
        </p:txBody>
      </p:sp>
      <p:sp>
        <p:nvSpPr>
          <p:cNvPr id="16" name="TextBox 24">
            <a:extLst>
              <a:ext uri="{FF2B5EF4-FFF2-40B4-BE49-F238E27FC236}">
                <a16:creationId xmlns:a16="http://schemas.microsoft.com/office/drawing/2014/main" id="{6DEA1AD6-5BC6-7B44-DAA6-944CF316E267}"/>
              </a:ext>
            </a:extLst>
          </p:cNvPr>
          <p:cNvSpPr txBox="1"/>
          <p:nvPr/>
        </p:nvSpPr>
        <p:spPr>
          <a:xfrm>
            <a:off x="-18513055" y="4370688"/>
            <a:ext cx="565666" cy="33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1"/>
              </a:lnSpc>
            </a:pPr>
            <a:r>
              <a:rPr lang="en-US" sz="2422">
                <a:solidFill>
                  <a:srgbClr val="FFFFFF">
                    <a:alpha val="7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id="17" name="TextBox 26">
            <a:extLst>
              <a:ext uri="{FF2B5EF4-FFF2-40B4-BE49-F238E27FC236}">
                <a16:creationId xmlns:a16="http://schemas.microsoft.com/office/drawing/2014/main" id="{FE3940B3-8CCE-702D-A45D-86A1A1569813}"/>
              </a:ext>
            </a:extLst>
          </p:cNvPr>
          <p:cNvSpPr txBox="1"/>
          <p:nvPr/>
        </p:nvSpPr>
        <p:spPr>
          <a:xfrm>
            <a:off x="-12588645" y="6413488"/>
            <a:ext cx="6152573" cy="54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54"/>
              </a:lnSpc>
            </a:pPr>
            <a:r>
              <a:rPr lang="en-US" sz="153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High-bandwidth servers may be used to distribute these files quickly.</a:t>
            </a:r>
          </a:p>
        </p:txBody>
      </p:sp>
      <p:sp>
        <p:nvSpPr>
          <p:cNvPr id="18" name="TextBox 27">
            <a:extLst>
              <a:ext uri="{FF2B5EF4-FFF2-40B4-BE49-F238E27FC236}">
                <a16:creationId xmlns:a16="http://schemas.microsoft.com/office/drawing/2014/main" id="{96B237B3-3290-9A52-D6CA-F744A662B0B7}"/>
              </a:ext>
            </a:extLst>
          </p:cNvPr>
          <p:cNvSpPr txBox="1"/>
          <p:nvPr/>
        </p:nvSpPr>
        <p:spPr>
          <a:xfrm>
            <a:off x="-13166503" y="6519479"/>
            <a:ext cx="565666" cy="33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1"/>
              </a:lnSpc>
            </a:pPr>
            <a:r>
              <a:rPr lang="en-US" sz="2422" dirty="0">
                <a:solidFill>
                  <a:srgbClr val="FFFFFF">
                    <a:alpha val="7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id="19" name="TextBox 30">
            <a:extLst>
              <a:ext uri="{FF2B5EF4-FFF2-40B4-BE49-F238E27FC236}">
                <a16:creationId xmlns:a16="http://schemas.microsoft.com/office/drawing/2014/main" id="{83A31F35-74FC-D0E7-0D24-72A22E789859}"/>
              </a:ext>
            </a:extLst>
          </p:cNvPr>
          <p:cNvSpPr txBox="1"/>
          <p:nvPr/>
        </p:nvSpPr>
        <p:spPr>
          <a:xfrm>
            <a:off x="-15022443" y="5369757"/>
            <a:ext cx="6165073" cy="54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54"/>
              </a:lnSpc>
            </a:pPr>
            <a:r>
              <a:rPr lang="en-US" sz="153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fake files often have the same file name, size, and metadata as the original.</a:t>
            </a:r>
          </a:p>
        </p:txBody>
      </p:sp>
      <p:sp>
        <p:nvSpPr>
          <p:cNvPr id="20" name="TextBox 31">
            <a:extLst>
              <a:ext uri="{FF2B5EF4-FFF2-40B4-BE49-F238E27FC236}">
                <a16:creationId xmlns:a16="http://schemas.microsoft.com/office/drawing/2014/main" id="{50B0F139-39F3-5B82-0C35-87B74BCA926A}"/>
              </a:ext>
            </a:extLst>
          </p:cNvPr>
          <p:cNvSpPr txBox="1"/>
          <p:nvPr/>
        </p:nvSpPr>
        <p:spPr>
          <a:xfrm>
            <a:off x="-15588109" y="5469692"/>
            <a:ext cx="565666" cy="33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1"/>
              </a:lnSpc>
            </a:pPr>
            <a:r>
              <a:rPr lang="en-US" sz="2422">
                <a:solidFill>
                  <a:srgbClr val="FFFFFF">
                    <a:alpha val="7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id="21" name="TextBox 33">
            <a:extLst>
              <a:ext uri="{FF2B5EF4-FFF2-40B4-BE49-F238E27FC236}">
                <a16:creationId xmlns:a16="http://schemas.microsoft.com/office/drawing/2014/main" id="{AB88AA53-7CCE-98A0-8B75-0AD979424573}"/>
              </a:ext>
            </a:extLst>
          </p:cNvPr>
          <p:cNvSpPr txBox="1"/>
          <p:nvPr/>
        </p:nvSpPr>
        <p:spPr>
          <a:xfrm>
            <a:off x="-10743051" y="7434060"/>
            <a:ext cx="6152573" cy="54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54"/>
              </a:lnSpc>
            </a:pPr>
            <a:r>
              <a:rPr lang="en-US" sz="153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Users searching for a movie, game, or software are more likely to download the fake version.</a:t>
            </a:r>
          </a:p>
        </p:txBody>
      </p:sp>
      <p:sp>
        <p:nvSpPr>
          <p:cNvPr id="22" name="TextBox 34">
            <a:extLst>
              <a:ext uri="{FF2B5EF4-FFF2-40B4-BE49-F238E27FC236}">
                <a16:creationId xmlns:a16="http://schemas.microsoft.com/office/drawing/2014/main" id="{579C5187-9C13-F9CA-0E56-BCF0A4034237}"/>
              </a:ext>
            </a:extLst>
          </p:cNvPr>
          <p:cNvSpPr txBox="1"/>
          <p:nvPr/>
        </p:nvSpPr>
        <p:spPr>
          <a:xfrm>
            <a:off x="-11320909" y="7511348"/>
            <a:ext cx="565666" cy="33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1"/>
              </a:lnSpc>
            </a:pPr>
            <a:r>
              <a:rPr lang="en-US" sz="2422" dirty="0">
                <a:solidFill>
                  <a:srgbClr val="FFFFFF">
                    <a:alpha val="7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</a:p>
        </p:txBody>
      </p:sp>
    </p:spTree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122;p15" descr="image.png">
            <a:extLst>
              <a:ext uri="{FF2B5EF4-FFF2-40B4-BE49-F238E27FC236}">
                <a16:creationId xmlns:a16="http://schemas.microsoft.com/office/drawing/2014/main" id="{8E112DDF-E572-02E6-5D1B-C213EE60F543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AutoShape 2"/>
          <p:cNvSpPr/>
          <p:nvPr/>
        </p:nvSpPr>
        <p:spPr>
          <a:xfrm flipV="1">
            <a:off x="1028700" y="2160669"/>
            <a:ext cx="16230600" cy="0"/>
          </a:xfrm>
          <a:prstGeom prst="line">
            <a:avLst/>
          </a:prstGeom>
          <a:ln w="9525" cap="rnd">
            <a:solidFill>
              <a:srgbClr val="182D8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25"/>
          <p:cNvSpPr txBox="1"/>
          <p:nvPr/>
        </p:nvSpPr>
        <p:spPr>
          <a:xfrm>
            <a:off x="1028700" y="1224018"/>
            <a:ext cx="12230100" cy="711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54"/>
              </a:lnSpc>
            </a:pPr>
            <a:r>
              <a:rPr lang="en-US" sz="5097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Torrent Poisoning: Decoy Insertion</a:t>
            </a:r>
          </a:p>
        </p:txBody>
      </p:sp>
      <p:grpSp>
        <p:nvGrpSpPr>
          <p:cNvPr id="61" name="Group 3">
            <a:extLst>
              <a:ext uri="{FF2B5EF4-FFF2-40B4-BE49-F238E27FC236}">
                <a16:creationId xmlns:a16="http://schemas.microsoft.com/office/drawing/2014/main" id="{60470313-EC92-343A-5114-5BAE43EF2B87}"/>
              </a:ext>
            </a:extLst>
          </p:cNvPr>
          <p:cNvGrpSpPr/>
          <p:nvPr/>
        </p:nvGrpSpPr>
        <p:grpSpPr>
          <a:xfrm>
            <a:off x="1475202" y="4244590"/>
            <a:ext cx="7668798" cy="646617"/>
            <a:chOff x="0" y="0"/>
            <a:chExt cx="2310683" cy="581274"/>
          </a:xfrm>
        </p:grpSpPr>
        <p:sp>
          <p:nvSpPr>
            <p:cNvPr id="62" name="Freeform 4">
              <a:extLst>
                <a:ext uri="{FF2B5EF4-FFF2-40B4-BE49-F238E27FC236}">
                  <a16:creationId xmlns:a16="http://schemas.microsoft.com/office/drawing/2014/main" id="{4E65E371-E353-D3A4-8815-E683D4AA6D8D}"/>
                </a:ext>
              </a:extLst>
            </p:cNvPr>
            <p:cNvSpPr/>
            <p:nvPr/>
          </p:nvSpPr>
          <p:spPr>
            <a:xfrm>
              <a:off x="0" y="0"/>
              <a:ext cx="2310683" cy="581274"/>
            </a:xfrm>
            <a:custGeom>
              <a:avLst/>
              <a:gdLst/>
              <a:ahLst/>
              <a:cxnLst/>
              <a:rect l="l" t="t" r="r" b="b"/>
              <a:pathLst>
                <a:path w="2310683" h="581274">
                  <a:moveTo>
                    <a:pt x="32305" y="0"/>
                  </a:moveTo>
                  <a:lnTo>
                    <a:pt x="2278378" y="0"/>
                  </a:lnTo>
                  <a:cubicBezTo>
                    <a:pt x="2296219" y="0"/>
                    <a:pt x="2310683" y="14463"/>
                    <a:pt x="2310683" y="32305"/>
                  </a:cubicBezTo>
                  <a:lnTo>
                    <a:pt x="2310683" y="548969"/>
                  </a:lnTo>
                  <a:cubicBezTo>
                    <a:pt x="2310683" y="557537"/>
                    <a:pt x="2307279" y="565754"/>
                    <a:pt x="2301221" y="571812"/>
                  </a:cubicBezTo>
                  <a:cubicBezTo>
                    <a:pt x="2295162" y="577871"/>
                    <a:pt x="2286945" y="581274"/>
                    <a:pt x="2278378" y="581274"/>
                  </a:cubicBezTo>
                  <a:lnTo>
                    <a:pt x="32305" y="581274"/>
                  </a:lnTo>
                  <a:cubicBezTo>
                    <a:pt x="14463" y="581274"/>
                    <a:pt x="0" y="566811"/>
                    <a:pt x="0" y="548969"/>
                  </a:cubicBezTo>
                  <a:lnTo>
                    <a:pt x="0" y="32305"/>
                  </a:lnTo>
                  <a:cubicBezTo>
                    <a:pt x="0" y="23737"/>
                    <a:pt x="3404" y="15520"/>
                    <a:pt x="9462" y="9462"/>
                  </a:cubicBezTo>
                  <a:cubicBezTo>
                    <a:pt x="15520" y="3404"/>
                    <a:pt x="23737" y="0"/>
                    <a:pt x="32305" y="0"/>
                  </a:cubicBez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id="63" name="TextBox 5">
              <a:extLst>
                <a:ext uri="{FF2B5EF4-FFF2-40B4-BE49-F238E27FC236}">
                  <a16:creationId xmlns:a16="http://schemas.microsoft.com/office/drawing/2014/main" id="{9074B1F5-5DE6-5E0F-43C3-54E9D58324F8}"/>
                </a:ext>
              </a:extLst>
            </p:cNvPr>
            <p:cNvSpPr txBox="1"/>
            <p:nvPr/>
          </p:nvSpPr>
          <p:spPr>
            <a:xfrm>
              <a:off x="0" y="-76200"/>
              <a:ext cx="2310683" cy="657474"/>
            </a:xfrm>
            <a:prstGeom prst="rect">
              <a:avLst/>
            </a:prstGeom>
          </p:spPr>
          <p:txBody>
            <a:bodyPr lIns="53046" tIns="53046" rIns="53046" bIns="53046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grpSp>
        <p:nvGrpSpPr>
          <p:cNvPr id="65" name="Group 7">
            <a:extLst>
              <a:ext uri="{FF2B5EF4-FFF2-40B4-BE49-F238E27FC236}">
                <a16:creationId xmlns:a16="http://schemas.microsoft.com/office/drawing/2014/main" id="{D6741977-A01D-162A-A759-6BBA525DBA99}"/>
              </a:ext>
            </a:extLst>
          </p:cNvPr>
          <p:cNvGrpSpPr/>
          <p:nvPr/>
        </p:nvGrpSpPr>
        <p:grpSpPr>
          <a:xfrm>
            <a:off x="1469106" y="5298300"/>
            <a:ext cx="7668798" cy="620453"/>
            <a:chOff x="0" y="0"/>
            <a:chExt cx="2310683" cy="581274"/>
          </a:xfrm>
        </p:grpSpPr>
        <p:sp>
          <p:nvSpPr>
            <p:cNvPr id="66" name="Freeform 8">
              <a:extLst>
                <a:ext uri="{FF2B5EF4-FFF2-40B4-BE49-F238E27FC236}">
                  <a16:creationId xmlns:a16="http://schemas.microsoft.com/office/drawing/2014/main" id="{ED7069FE-734C-49C1-BE2B-48726CF6CD62}"/>
                </a:ext>
              </a:extLst>
            </p:cNvPr>
            <p:cNvSpPr/>
            <p:nvPr/>
          </p:nvSpPr>
          <p:spPr>
            <a:xfrm>
              <a:off x="0" y="0"/>
              <a:ext cx="2310683" cy="581274"/>
            </a:xfrm>
            <a:custGeom>
              <a:avLst/>
              <a:gdLst/>
              <a:ahLst/>
              <a:cxnLst/>
              <a:rect l="l" t="t" r="r" b="b"/>
              <a:pathLst>
                <a:path w="2310683" h="581274">
                  <a:moveTo>
                    <a:pt x="32305" y="0"/>
                  </a:moveTo>
                  <a:lnTo>
                    <a:pt x="2278378" y="0"/>
                  </a:lnTo>
                  <a:cubicBezTo>
                    <a:pt x="2296219" y="0"/>
                    <a:pt x="2310683" y="14463"/>
                    <a:pt x="2310683" y="32305"/>
                  </a:cubicBezTo>
                  <a:lnTo>
                    <a:pt x="2310683" y="548969"/>
                  </a:lnTo>
                  <a:cubicBezTo>
                    <a:pt x="2310683" y="557537"/>
                    <a:pt x="2307279" y="565754"/>
                    <a:pt x="2301221" y="571812"/>
                  </a:cubicBezTo>
                  <a:cubicBezTo>
                    <a:pt x="2295162" y="577871"/>
                    <a:pt x="2286945" y="581274"/>
                    <a:pt x="2278378" y="581274"/>
                  </a:cubicBezTo>
                  <a:lnTo>
                    <a:pt x="32305" y="581274"/>
                  </a:lnTo>
                  <a:cubicBezTo>
                    <a:pt x="14463" y="581274"/>
                    <a:pt x="0" y="566811"/>
                    <a:pt x="0" y="548969"/>
                  </a:cubicBezTo>
                  <a:lnTo>
                    <a:pt x="0" y="32305"/>
                  </a:lnTo>
                  <a:cubicBezTo>
                    <a:pt x="0" y="23737"/>
                    <a:pt x="3404" y="15520"/>
                    <a:pt x="9462" y="9462"/>
                  </a:cubicBezTo>
                  <a:cubicBezTo>
                    <a:pt x="15520" y="3404"/>
                    <a:pt x="23737" y="0"/>
                    <a:pt x="32305" y="0"/>
                  </a:cubicBezTo>
                  <a:close/>
                </a:path>
              </a:pathLst>
            </a:custGeom>
            <a:solidFill>
              <a:srgbClr val="08966E"/>
            </a:solidFill>
          </p:spPr>
        </p:sp>
        <p:sp>
          <p:nvSpPr>
            <p:cNvPr id="67" name="TextBox 9">
              <a:extLst>
                <a:ext uri="{FF2B5EF4-FFF2-40B4-BE49-F238E27FC236}">
                  <a16:creationId xmlns:a16="http://schemas.microsoft.com/office/drawing/2014/main" id="{7029B3D4-62AE-E897-A12C-1C982EE1A791}"/>
                </a:ext>
              </a:extLst>
            </p:cNvPr>
            <p:cNvSpPr txBox="1"/>
            <p:nvPr/>
          </p:nvSpPr>
          <p:spPr>
            <a:xfrm>
              <a:off x="0" y="-76200"/>
              <a:ext cx="2310683" cy="657474"/>
            </a:xfrm>
            <a:prstGeom prst="rect">
              <a:avLst/>
            </a:prstGeom>
          </p:spPr>
          <p:txBody>
            <a:bodyPr lIns="53046" tIns="53046" rIns="53046" bIns="53046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grpSp>
        <p:nvGrpSpPr>
          <p:cNvPr id="69" name="Group 11">
            <a:extLst>
              <a:ext uri="{FF2B5EF4-FFF2-40B4-BE49-F238E27FC236}">
                <a16:creationId xmlns:a16="http://schemas.microsoft.com/office/drawing/2014/main" id="{AEE529ED-0B07-2ADE-1CEB-78814740C6A3}"/>
              </a:ext>
            </a:extLst>
          </p:cNvPr>
          <p:cNvGrpSpPr/>
          <p:nvPr/>
        </p:nvGrpSpPr>
        <p:grpSpPr>
          <a:xfrm>
            <a:off x="1469106" y="7385250"/>
            <a:ext cx="7668798" cy="731378"/>
            <a:chOff x="0" y="0"/>
            <a:chExt cx="2310683" cy="581274"/>
          </a:xfrm>
        </p:grpSpPr>
        <p:sp>
          <p:nvSpPr>
            <p:cNvPr id="70" name="Freeform 12">
              <a:extLst>
                <a:ext uri="{FF2B5EF4-FFF2-40B4-BE49-F238E27FC236}">
                  <a16:creationId xmlns:a16="http://schemas.microsoft.com/office/drawing/2014/main" id="{82870DC4-D4CC-911F-7EF6-2199B1B8CAF5}"/>
                </a:ext>
              </a:extLst>
            </p:cNvPr>
            <p:cNvSpPr/>
            <p:nvPr/>
          </p:nvSpPr>
          <p:spPr>
            <a:xfrm>
              <a:off x="0" y="0"/>
              <a:ext cx="2310683" cy="581274"/>
            </a:xfrm>
            <a:custGeom>
              <a:avLst/>
              <a:gdLst/>
              <a:ahLst/>
              <a:cxnLst/>
              <a:rect l="l" t="t" r="r" b="b"/>
              <a:pathLst>
                <a:path w="2310683" h="581274">
                  <a:moveTo>
                    <a:pt x="32305" y="0"/>
                  </a:moveTo>
                  <a:lnTo>
                    <a:pt x="2278378" y="0"/>
                  </a:lnTo>
                  <a:cubicBezTo>
                    <a:pt x="2296219" y="0"/>
                    <a:pt x="2310683" y="14463"/>
                    <a:pt x="2310683" y="32305"/>
                  </a:cubicBezTo>
                  <a:lnTo>
                    <a:pt x="2310683" y="548969"/>
                  </a:lnTo>
                  <a:cubicBezTo>
                    <a:pt x="2310683" y="557537"/>
                    <a:pt x="2307279" y="565754"/>
                    <a:pt x="2301221" y="571812"/>
                  </a:cubicBezTo>
                  <a:cubicBezTo>
                    <a:pt x="2295162" y="577871"/>
                    <a:pt x="2286945" y="581274"/>
                    <a:pt x="2278378" y="581274"/>
                  </a:cubicBezTo>
                  <a:lnTo>
                    <a:pt x="32305" y="581274"/>
                  </a:lnTo>
                  <a:cubicBezTo>
                    <a:pt x="14463" y="581274"/>
                    <a:pt x="0" y="566811"/>
                    <a:pt x="0" y="548969"/>
                  </a:cubicBezTo>
                  <a:lnTo>
                    <a:pt x="0" y="32305"/>
                  </a:lnTo>
                  <a:cubicBezTo>
                    <a:pt x="0" y="23737"/>
                    <a:pt x="3404" y="15520"/>
                    <a:pt x="9462" y="9462"/>
                  </a:cubicBezTo>
                  <a:cubicBezTo>
                    <a:pt x="15520" y="3404"/>
                    <a:pt x="23737" y="0"/>
                    <a:pt x="32305" y="0"/>
                  </a:cubicBezTo>
                  <a:close/>
                </a:path>
              </a:pathLst>
            </a:custGeom>
            <a:solidFill>
              <a:srgbClr val="08966E"/>
            </a:solidFill>
          </p:spPr>
        </p:sp>
        <p:sp>
          <p:nvSpPr>
            <p:cNvPr id="71" name="TextBox 13">
              <a:extLst>
                <a:ext uri="{FF2B5EF4-FFF2-40B4-BE49-F238E27FC236}">
                  <a16:creationId xmlns:a16="http://schemas.microsoft.com/office/drawing/2014/main" id="{DEAADFC0-CA5C-684F-9EFE-CDDFDE6365E8}"/>
                </a:ext>
              </a:extLst>
            </p:cNvPr>
            <p:cNvSpPr txBox="1"/>
            <p:nvPr/>
          </p:nvSpPr>
          <p:spPr>
            <a:xfrm>
              <a:off x="0" y="-76200"/>
              <a:ext cx="2310683" cy="657474"/>
            </a:xfrm>
            <a:prstGeom prst="rect">
              <a:avLst/>
            </a:prstGeom>
          </p:spPr>
          <p:txBody>
            <a:bodyPr lIns="53046" tIns="53046" rIns="53046" bIns="53046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grpSp>
        <p:nvGrpSpPr>
          <p:cNvPr id="73" name="Group 15">
            <a:extLst>
              <a:ext uri="{FF2B5EF4-FFF2-40B4-BE49-F238E27FC236}">
                <a16:creationId xmlns:a16="http://schemas.microsoft.com/office/drawing/2014/main" id="{FDE730D7-CDE7-6F95-AF49-4D8884D518E3}"/>
              </a:ext>
            </a:extLst>
          </p:cNvPr>
          <p:cNvGrpSpPr/>
          <p:nvPr/>
        </p:nvGrpSpPr>
        <p:grpSpPr>
          <a:xfrm>
            <a:off x="1469106" y="6413488"/>
            <a:ext cx="7668798" cy="548996"/>
            <a:chOff x="0" y="0"/>
            <a:chExt cx="2310683" cy="581274"/>
          </a:xfrm>
        </p:grpSpPr>
        <p:sp>
          <p:nvSpPr>
            <p:cNvPr id="74" name="Freeform 16">
              <a:extLst>
                <a:ext uri="{FF2B5EF4-FFF2-40B4-BE49-F238E27FC236}">
                  <a16:creationId xmlns:a16="http://schemas.microsoft.com/office/drawing/2014/main" id="{45B1FEC9-1B71-9B1D-A5AB-ABF5E06D7289}"/>
                </a:ext>
              </a:extLst>
            </p:cNvPr>
            <p:cNvSpPr/>
            <p:nvPr/>
          </p:nvSpPr>
          <p:spPr>
            <a:xfrm>
              <a:off x="0" y="0"/>
              <a:ext cx="2310683" cy="581274"/>
            </a:xfrm>
            <a:custGeom>
              <a:avLst/>
              <a:gdLst/>
              <a:ahLst/>
              <a:cxnLst/>
              <a:rect l="l" t="t" r="r" b="b"/>
              <a:pathLst>
                <a:path w="2310683" h="581274">
                  <a:moveTo>
                    <a:pt x="32305" y="0"/>
                  </a:moveTo>
                  <a:lnTo>
                    <a:pt x="2278378" y="0"/>
                  </a:lnTo>
                  <a:cubicBezTo>
                    <a:pt x="2296219" y="0"/>
                    <a:pt x="2310683" y="14463"/>
                    <a:pt x="2310683" y="32305"/>
                  </a:cubicBezTo>
                  <a:lnTo>
                    <a:pt x="2310683" y="548969"/>
                  </a:lnTo>
                  <a:cubicBezTo>
                    <a:pt x="2310683" y="557537"/>
                    <a:pt x="2307279" y="565754"/>
                    <a:pt x="2301221" y="571812"/>
                  </a:cubicBezTo>
                  <a:cubicBezTo>
                    <a:pt x="2295162" y="577871"/>
                    <a:pt x="2286945" y="581274"/>
                    <a:pt x="2278378" y="581274"/>
                  </a:cubicBezTo>
                  <a:lnTo>
                    <a:pt x="32305" y="581274"/>
                  </a:lnTo>
                  <a:cubicBezTo>
                    <a:pt x="14463" y="581274"/>
                    <a:pt x="0" y="566811"/>
                    <a:pt x="0" y="548969"/>
                  </a:cubicBezTo>
                  <a:lnTo>
                    <a:pt x="0" y="32305"/>
                  </a:lnTo>
                  <a:cubicBezTo>
                    <a:pt x="0" y="23737"/>
                    <a:pt x="3404" y="15520"/>
                    <a:pt x="9462" y="9462"/>
                  </a:cubicBezTo>
                  <a:cubicBezTo>
                    <a:pt x="15520" y="3404"/>
                    <a:pt x="23737" y="0"/>
                    <a:pt x="32305" y="0"/>
                  </a:cubicBez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id="75" name="TextBox 17">
              <a:extLst>
                <a:ext uri="{FF2B5EF4-FFF2-40B4-BE49-F238E27FC236}">
                  <a16:creationId xmlns:a16="http://schemas.microsoft.com/office/drawing/2014/main" id="{390C102F-F1BF-175D-AF6B-B8DCB01480D5}"/>
                </a:ext>
              </a:extLst>
            </p:cNvPr>
            <p:cNvSpPr txBox="1"/>
            <p:nvPr/>
          </p:nvSpPr>
          <p:spPr>
            <a:xfrm>
              <a:off x="0" y="-76200"/>
              <a:ext cx="2310683" cy="657474"/>
            </a:xfrm>
            <a:prstGeom prst="rect">
              <a:avLst/>
            </a:prstGeom>
          </p:spPr>
          <p:txBody>
            <a:bodyPr lIns="53046" tIns="53046" rIns="53046" bIns="53046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sp>
        <p:nvSpPr>
          <p:cNvPr id="78" name="TextBox 23">
            <a:extLst>
              <a:ext uri="{FF2B5EF4-FFF2-40B4-BE49-F238E27FC236}">
                <a16:creationId xmlns:a16="http://schemas.microsoft.com/office/drawing/2014/main" id="{07DE4A35-440F-2002-8576-6C485B0BB016}"/>
              </a:ext>
            </a:extLst>
          </p:cNvPr>
          <p:cNvSpPr txBox="1"/>
          <p:nvPr/>
        </p:nvSpPr>
        <p:spPr>
          <a:xfrm>
            <a:off x="2397155" y="4270754"/>
            <a:ext cx="6152573" cy="54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54"/>
              </a:lnSpc>
            </a:pPr>
            <a:r>
              <a:rPr lang="en-US" sz="153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Attackers create files that appear identical to the genuine content.</a:t>
            </a:r>
          </a:p>
        </p:txBody>
      </p:sp>
      <p:sp>
        <p:nvSpPr>
          <p:cNvPr id="79" name="TextBox 24">
            <a:extLst>
              <a:ext uri="{FF2B5EF4-FFF2-40B4-BE49-F238E27FC236}">
                <a16:creationId xmlns:a16="http://schemas.microsoft.com/office/drawing/2014/main" id="{59A3A05F-B773-1A0B-E007-FEC9B1D9541B}"/>
              </a:ext>
            </a:extLst>
          </p:cNvPr>
          <p:cNvSpPr txBox="1"/>
          <p:nvPr/>
        </p:nvSpPr>
        <p:spPr>
          <a:xfrm>
            <a:off x="1818989" y="4370688"/>
            <a:ext cx="565666" cy="33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1"/>
              </a:lnSpc>
            </a:pPr>
            <a:r>
              <a:rPr lang="en-US" sz="2422">
                <a:solidFill>
                  <a:srgbClr val="FFFFFF">
                    <a:alpha val="7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id="81" name="TextBox 26">
            <a:extLst>
              <a:ext uri="{FF2B5EF4-FFF2-40B4-BE49-F238E27FC236}">
                <a16:creationId xmlns:a16="http://schemas.microsoft.com/office/drawing/2014/main" id="{56C5D868-1C96-DEA2-C8EF-75B7A0449787}"/>
              </a:ext>
            </a:extLst>
          </p:cNvPr>
          <p:cNvSpPr txBox="1"/>
          <p:nvPr/>
        </p:nvSpPr>
        <p:spPr>
          <a:xfrm>
            <a:off x="2390751" y="6413488"/>
            <a:ext cx="6152573" cy="54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54"/>
              </a:lnSpc>
            </a:pPr>
            <a:r>
              <a:rPr lang="en-US" sz="153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High-bandwidth servers may be used to distribute these files quickly.</a:t>
            </a:r>
          </a:p>
        </p:txBody>
      </p:sp>
      <p:sp>
        <p:nvSpPr>
          <p:cNvPr id="82" name="TextBox 27">
            <a:extLst>
              <a:ext uri="{FF2B5EF4-FFF2-40B4-BE49-F238E27FC236}">
                <a16:creationId xmlns:a16="http://schemas.microsoft.com/office/drawing/2014/main" id="{930FB323-4BD8-329C-22F5-472761EA4F04}"/>
              </a:ext>
            </a:extLst>
          </p:cNvPr>
          <p:cNvSpPr txBox="1"/>
          <p:nvPr/>
        </p:nvSpPr>
        <p:spPr>
          <a:xfrm>
            <a:off x="1812893" y="6519479"/>
            <a:ext cx="565666" cy="33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1"/>
              </a:lnSpc>
            </a:pPr>
            <a:r>
              <a:rPr lang="en-US" sz="2422" dirty="0">
                <a:solidFill>
                  <a:srgbClr val="FFFFFF">
                    <a:alpha val="7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id="84" name="TextBox 30">
            <a:extLst>
              <a:ext uri="{FF2B5EF4-FFF2-40B4-BE49-F238E27FC236}">
                <a16:creationId xmlns:a16="http://schemas.microsoft.com/office/drawing/2014/main" id="{CD20C8BE-775B-5977-0945-49797ABEF73F}"/>
              </a:ext>
            </a:extLst>
          </p:cNvPr>
          <p:cNvSpPr txBox="1"/>
          <p:nvPr/>
        </p:nvSpPr>
        <p:spPr>
          <a:xfrm>
            <a:off x="2378559" y="5369757"/>
            <a:ext cx="6165073" cy="54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54"/>
              </a:lnSpc>
            </a:pPr>
            <a:r>
              <a:rPr lang="en-US" sz="153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fake files often have the same file name, size, and metadata as the original.</a:t>
            </a:r>
          </a:p>
        </p:txBody>
      </p:sp>
      <p:sp>
        <p:nvSpPr>
          <p:cNvPr id="85" name="TextBox 31">
            <a:extLst>
              <a:ext uri="{FF2B5EF4-FFF2-40B4-BE49-F238E27FC236}">
                <a16:creationId xmlns:a16="http://schemas.microsoft.com/office/drawing/2014/main" id="{1BB71916-2EBF-C923-F500-768643E0A604}"/>
              </a:ext>
            </a:extLst>
          </p:cNvPr>
          <p:cNvSpPr txBox="1"/>
          <p:nvPr/>
        </p:nvSpPr>
        <p:spPr>
          <a:xfrm>
            <a:off x="1812893" y="5469692"/>
            <a:ext cx="565666" cy="33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1"/>
              </a:lnSpc>
            </a:pPr>
            <a:r>
              <a:rPr lang="en-US" sz="2422">
                <a:solidFill>
                  <a:srgbClr val="FFFFFF">
                    <a:alpha val="7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id="87" name="TextBox 33">
            <a:extLst>
              <a:ext uri="{FF2B5EF4-FFF2-40B4-BE49-F238E27FC236}">
                <a16:creationId xmlns:a16="http://schemas.microsoft.com/office/drawing/2014/main" id="{C122C9F5-08CF-897E-DE5C-F4D342ADE6DD}"/>
              </a:ext>
            </a:extLst>
          </p:cNvPr>
          <p:cNvSpPr txBox="1"/>
          <p:nvPr/>
        </p:nvSpPr>
        <p:spPr>
          <a:xfrm>
            <a:off x="2390751" y="7434060"/>
            <a:ext cx="6152573" cy="54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54"/>
              </a:lnSpc>
            </a:pPr>
            <a:r>
              <a:rPr lang="en-US" sz="153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Users searching for a movie, game, or software are more likely to download the fake version.</a:t>
            </a:r>
          </a:p>
        </p:txBody>
      </p:sp>
      <p:sp>
        <p:nvSpPr>
          <p:cNvPr id="88" name="TextBox 34">
            <a:extLst>
              <a:ext uri="{FF2B5EF4-FFF2-40B4-BE49-F238E27FC236}">
                <a16:creationId xmlns:a16="http://schemas.microsoft.com/office/drawing/2014/main" id="{52440400-8A0D-36D4-D3DC-8F5D57293F8D}"/>
              </a:ext>
            </a:extLst>
          </p:cNvPr>
          <p:cNvSpPr txBox="1"/>
          <p:nvPr/>
        </p:nvSpPr>
        <p:spPr>
          <a:xfrm>
            <a:off x="1812893" y="7511348"/>
            <a:ext cx="565666" cy="33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1"/>
              </a:lnSpc>
            </a:pPr>
            <a:r>
              <a:rPr lang="en-US" sz="2422" dirty="0">
                <a:solidFill>
                  <a:srgbClr val="FFFFFF">
                    <a:alpha val="7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</a:p>
        </p:txBody>
      </p:sp>
      <p:sp>
        <p:nvSpPr>
          <p:cNvPr id="89" name="Google Shape;184;p18">
            <a:extLst>
              <a:ext uri="{FF2B5EF4-FFF2-40B4-BE49-F238E27FC236}">
                <a16:creationId xmlns:a16="http://schemas.microsoft.com/office/drawing/2014/main" id="{B90935B6-0434-D567-37B7-A1364E690924}"/>
              </a:ext>
            </a:extLst>
          </p:cNvPr>
          <p:cNvSpPr txBox="1"/>
          <p:nvPr/>
        </p:nvSpPr>
        <p:spPr>
          <a:xfrm>
            <a:off x="1219200" y="2259457"/>
            <a:ext cx="15621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2250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Decoy insertion (also called Content Poisoning) is a technique where fake or corrupted versions of a file are intentionally uploaded into a torrent network.</a:t>
            </a:r>
            <a:endParaRPr sz="2700" dirty="0"/>
          </a:p>
        </p:txBody>
      </p:sp>
      <p:sp>
        <p:nvSpPr>
          <p:cNvPr id="90" name="TextBox 9">
            <a:extLst>
              <a:ext uri="{FF2B5EF4-FFF2-40B4-BE49-F238E27FC236}">
                <a16:creationId xmlns:a16="http://schemas.microsoft.com/office/drawing/2014/main" id="{C20221F9-D931-848B-C19B-E9EF298F17D6}"/>
              </a:ext>
            </a:extLst>
          </p:cNvPr>
          <p:cNvSpPr txBox="1"/>
          <p:nvPr/>
        </p:nvSpPr>
        <p:spPr>
          <a:xfrm>
            <a:off x="1516116" y="3649487"/>
            <a:ext cx="7042756" cy="4180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How It Works:</a:t>
            </a:r>
          </a:p>
        </p:txBody>
      </p:sp>
      <p:sp>
        <p:nvSpPr>
          <p:cNvPr id="91" name="TextBox 9">
            <a:extLst>
              <a:ext uri="{FF2B5EF4-FFF2-40B4-BE49-F238E27FC236}">
                <a16:creationId xmlns:a16="http://schemas.microsoft.com/office/drawing/2014/main" id="{49F5EBC8-CD13-35E0-B596-EAF1CF804EB4}"/>
              </a:ext>
            </a:extLst>
          </p:cNvPr>
          <p:cNvSpPr txBox="1"/>
          <p:nvPr/>
        </p:nvSpPr>
        <p:spPr>
          <a:xfrm>
            <a:off x="9729128" y="3635340"/>
            <a:ext cx="7042756" cy="3188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Effects on Users: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Downloaded file may be corrupted or unusable.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File may contain blank data.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In some cases, malicious software can be distributed.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Users waste bandwidth and download time.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Ransomware attack can be executed.</a:t>
            </a:r>
          </a:p>
        </p:txBody>
      </p:sp>
      <p:sp>
        <p:nvSpPr>
          <p:cNvPr id="92" name="TextBox 9">
            <a:extLst>
              <a:ext uri="{FF2B5EF4-FFF2-40B4-BE49-F238E27FC236}">
                <a16:creationId xmlns:a16="http://schemas.microsoft.com/office/drawing/2014/main" id="{8A40BE42-C0A1-FAE4-2847-77E60979029E}"/>
              </a:ext>
            </a:extLst>
          </p:cNvPr>
          <p:cNvSpPr txBox="1"/>
          <p:nvPr/>
        </p:nvSpPr>
        <p:spPr>
          <a:xfrm>
            <a:off x="9729128" y="7091279"/>
            <a:ext cx="7042756" cy="13413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Goal: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To frustrate users and discourage illegal downloading by making authentic content difficult to find.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EA19D-8C00-E74B-6169-AACE8AEE0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122;p15" descr="image.png">
            <a:extLst>
              <a:ext uri="{FF2B5EF4-FFF2-40B4-BE49-F238E27FC236}">
                <a16:creationId xmlns:a16="http://schemas.microsoft.com/office/drawing/2014/main" id="{0B05091B-2513-5227-C159-CB4792299299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7667C752-BB30-AEBC-EE14-FD71A52FA49E}"/>
              </a:ext>
            </a:extLst>
          </p:cNvPr>
          <p:cNvSpPr/>
          <p:nvPr/>
        </p:nvSpPr>
        <p:spPr>
          <a:xfrm flipV="1">
            <a:off x="1028700" y="2160669"/>
            <a:ext cx="16230600" cy="0"/>
          </a:xfrm>
          <a:prstGeom prst="line">
            <a:avLst/>
          </a:prstGeom>
          <a:ln w="9525" cap="rnd">
            <a:solidFill>
              <a:srgbClr val="182D8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C08E704D-6D1F-4355-3193-0EB1D0D4D944}"/>
              </a:ext>
            </a:extLst>
          </p:cNvPr>
          <p:cNvSpPr txBox="1"/>
          <p:nvPr/>
        </p:nvSpPr>
        <p:spPr>
          <a:xfrm>
            <a:off x="1028700" y="1224018"/>
            <a:ext cx="12230100" cy="711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54"/>
              </a:lnSpc>
            </a:pPr>
            <a:r>
              <a:rPr lang="en-US" sz="5097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Torrent Poisoning: Index Poisoning</a:t>
            </a:r>
          </a:p>
        </p:txBody>
      </p:sp>
      <p:grpSp>
        <p:nvGrpSpPr>
          <p:cNvPr id="61" name="Group 3">
            <a:extLst>
              <a:ext uri="{FF2B5EF4-FFF2-40B4-BE49-F238E27FC236}">
                <a16:creationId xmlns:a16="http://schemas.microsoft.com/office/drawing/2014/main" id="{FD9B1CCF-22A3-006A-884C-1E2E1870F28F}"/>
              </a:ext>
            </a:extLst>
          </p:cNvPr>
          <p:cNvGrpSpPr/>
          <p:nvPr/>
        </p:nvGrpSpPr>
        <p:grpSpPr>
          <a:xfrm>
            <a:off x="1475202" y="3927581"/>
            <a:ext cx="7668798" cy="646617"/>
            <a:chOff x="0" y="0"/>
            <a:chExt cx="2310683" cy="581274"/>
          </a:xfrm>
        </p:grpSpPr>
        <p:sp>
          <p:nvSpPr>
            <p:cNvPr id="62" name="Freeform 4">
              <a:extLst>
                <a:ext uri="{FF2B5EF4-FFF2-40B4-BE49-F238E27FC236}">
                  <a16:creationId xmlns:a16="http://schemas.microsoft.com/office/drawing/2014/main" id="{C61D407C-2C86-371A-3E52-0E018F4629DE}"/>
                </a:ext>
              </a:extLst>
            </p:cNvPr>
            <p:cNvSpPr/>
            <p:nvPr/>
          </p:nvSpPr>
          <p:spPr>
            <a:xfrm>
              <a:off x="0" y="0"/>
              <a:ext cx="2310683" cy="581274"/>
            </a:xfrm>
            <a:custGeom>
              <a:avLst/>
              <a:gdLst/>
              <a:ahLst/>
              <a:cxnLst/>
              <a:rect l="l" t="t" r="r" b="b"/>
              <a:pathLst>
                <a:path w="2310683" h="581274">
                  <a:moveTo>
                    <a:pt x="32305" y="0"/>
                  </a:moveTo>
                  <a:lnTo>
                    <a:pt x="2278378" y="0"/>
                  </a:lnTo>
                  <a:cubicBezTo>
                    <a:pt x="2296219" y="0"/>
                    <a:pt x="2310683" y="14463"/>
                    <a:pt x="2310683" y="32305"/>
                  </a:cubicBezTo>
                  <a:lnTo>
                    <a:pt x="2310683" y="548969"/>
                  </a:lnTo>
                  <a:cubicBezTo>
                    <a:pt x="2310683" y="557537"/>
                    <a:pt x="2307279" y="565754"/>
                    <a:pt x="2301221" y="571812"/>
                  </a:cubicBezTo>
                  <a:cubicBezTo>
                    <a:pt x="2295162" y="577871"/>
                    <a:pt x="2286945" y="581274"/>
                    <a:pt x="2278378" y="581274"/>
                  </a:cubicBezTo>
                  <a:lnTo>
                    <a:pt x="32305" y="581274"/>
                  </a:lnTo>
                  <a:cubicBezTo>
                    <a:pt x="14463" y="581274"/>
                    <a:pt x="0" y="566811"/>
                    <a:pt x="0" y="548969"/>
                  </a:cubicBezTo>
                  <a:lnTo>
                    <a:pt x="0" y="32305"/>
                  </a:lnTo>
                  <a:cubicBezTo>
                    <a:pt x="0" y="23737"/>
                    <a:pt x="3404" y="15520"/>
                    <a:pt x="9462" y="9462"/>
                  </a:cubicBezTo>
                  <a:cubicBezTo>
                    <a:pt x="15520" y="3404"/>
                    <a:pt x="23737" y="0"/>
                    <a:pt x="32305" y="0"/>
                  </a:cubicBez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id="63" name="TextBox 5">
              <a:extLst>
                <a:ext uri="{FF2B5EF4-FFF2-40B4-BE49-F238E27FC236}">
                  <a16:creationId xmlns:a16="http://schemas.microsoft.com/office/drawing/2014/main" id="{51AECC66-A82F-E8FE-D5DF-93951BA70240}"/>
                </a:ext>
              </a:extLst>
            </p:cNvPr>
            <p:cNvSpPr txBox="1"/>
            <p:nvPr/>
          </p:nvSpPr>
          <p:spPr>
            <a:xfrm>
              <a:off x="0" y="-76200"/>
              <a:ext cx="2310683" cy="657474"/>
            </a:xfrm>
            <a:prstGeom prst="rect">
              <a:avLst/>
            </a:prstGeom>
          </p:spPr>
          <p:txBody>
            <a:bodyPr lIns="53046" tIns="53046" rIns="53046" bIns="53046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grpSp>
        <p:nvGrpSpPr>
          <p:cNvPr id="65" name="Group 7">
            <a:extLst>
              <a:ext uri="{FF2B5EF4-FFF2-40B4-BE49-F238E27FC236}">
                <a16:creationId xmlns:a16="http://schemas.microsoft.com/office/drawing/2014/main" id="{C1D6ECB9-4D8F-1D6A-F6A1-F97C0236B8CE}"/>
              </a:ext>
            </a:extLst>
          </p:cNvPr>
          <p:cNvGrpSpPr/>
          <p:nvPr/>
        </p:nvGrpSpPr>
        <p:grpSpPr>
          <a:xfrm>
            <a:off x="1469106" y="4981291"/>
            <a:ext cx="7668798" cy="620453"/>
            <a:chOff x="0" y="0"/>
            <a:chExt cx="2310683" cy="581274"/>
          </a:xfrm>
        </p:grpSpPr>
        <p:sp>
          <p:nvSpPr>
            <p:cNvPr id="66" name="Freeform 8">
              <a:extLst>
                <a:ext uri="{FF2B5EF4-FFF2-40B4-BE49-F238E27FC236}">
                  <a16:creationId xmlns:a16="http://schemas.microsoft.com/office/drawing/2014/main" id="{A2E9EC38-4FE5-7C37-EEE3-0B5CE863033C}"/>
                </a:ext>
              </a:extLst>
            </p:cNvPr>
            <p:cNvSpPr/>
            <p:nvPr/>
          </p:nvSpPr>
          <p:spPr>
            <a:xfrm>
              <a:off x="0" y="0"/>
              <a:ext cx="2310683" cy="581274"/>
            </a:xfrm>
            <a:custGeom>
              <a:avLst/>
              <a:gdLst/>
              <a:ahLst/>
              <a:cxnLst/>
              <a:rect l="l" t="t" r="r" b="b"/>
              <a:pathLst>
                <a:path w="2310683" h="581274">
                  <a:moveTo>
                    <a:pt x="32305" y="0"/>
                  </a:moveTo>
                  <a:lnTo>
                    <a:pt x="2278378" y="0"/>
                  </a:lnTo>
                  <a:cubicBezTo>
                    <a:pt x="2296219" y="0"/>
                    <a:pt x="2310683" y="14463"/>
                    <a:pt x="2310683" y="32305"/>
                  </a:cubicBezTo>
                  <a:lnTo>
                    <a:pt x="2310683" y="548969"/>
                  </a:lnTo>
                  <a:cubicBezTo>
                    <a:pt x="2310683" y="557537"/>
                    <a:pt x="2307279" y="565754"/>
                    <a:pt x="2301221" y="571812"/>
                  </a:cubicBezTo>
                  <a:cubicBezTo>
                    <a:pt x="2295162" y="577871"/>
                    <a:pt x="2286945" y="581274"/>
                    <a:pt x="2278378" y="581274"/>
                  </a:cubicBezTo>
                  <a:lnTo>
                    <a:pt x="32305" y="581274"/>
                  </a:lnTo>
                  <a:cubicBezTo>
                    <a:pt x="14463" y="581274"/>
                    <a:pt x="0" y="566811"/>
                    <a:pt x="0" y="548969"/>
                  </a:cubicBezTo>
                  <a:lnTo>
                    <a:pt x="0" y="32305"/>
                  </a:lnTo>
                  <a:cubicBezTo>
                    <a:pt x="0" y="23737"/>
                    <a:pt x="3404" y="15520"/>
                    <a:pt x="9462" y="9462"/>
                  </a:cubicBezTo>
                  <a:cubicBezTo>
                    <a:pt x="15520" y="3404"/>
                    <a:pt x="23737" y="0"/>
                    <a:pt x="32305" y="0"/>
                  </a:cubicBezTo>
                  <a:close/>
                </a:path>
              </a:pathLst>
            </a:custGeom>
            <a:solidFill>
              <a:srgbClr val="08966E"/>
            </a:solidFill>
          </p:spPr>
        </p:sp>
        <p:sp>
          <p:nvSpPr>
            <p:cNvPr id="67" name="TextBox 9">
              <a:extLst>
                <a:ext uri="{FF2B5EF4-FFF2-40B4-BE49-F238E27FC236}">
                  <a16:creationId xmlns:a16="http://schemas.microsoft.com/office/drawing/2014/main" id="{7786B35E-52F5-C497-BB41-76C02DEBB104}"/>
                </a:ext>
              </a:extLst>
            </p:cNvPr>
            <p:cNvSpPr txBox="1"/>
            <p:nvPr/>
          </p:nvSpPr>
          <p:spPr>
            <a:xfrm>
              <a:off x="0" y="-76200"/>
              <a:ext cx="2310683" cy="657474"/>
            </a:xfrm>
            <a:prstGeom prst="rect">
              <a:avLst/>
            </a:prstGeom>
          </p:spPr>
          <p:txBody>
            <a:bodyPr lIns="53046" tIns="53046" rIns="53046" bIns="53046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grpSp>
        <p:nvGrpSpPr>
          <p:cNvPr id="69" name="Group 11">
            <a:extLst>
              <a:ext uri="{FF2B5EF4-FFF2-40B4-BE49-F238E27FC236}">
                <a16:creationId xmlns:a16="http://schemas.microsoft.com/office/drawing/2014/main" id="{F401FD45-D068-F77D-38EE-005D2FD60AD0}"/>
              </a:ext>
            </a:extLst>
          </p:cNvPr>
          <p:cNvGrpSpPr/>
          <p:nvPr/>
        </p:nvGrpSpPr>
        <p:grpSpPr>
          <a:xfrm>
            <a:off x="1469106" y="7068241"/>
            <a:ext cx="7668798" cy="731378"/>
            <a:chOff x="0" y="0"/>
            <a:chExt cx="2310683" cy="581274"/>
          </a:xfrm>
        </p:grpSpPr>
        <p:sp>
          <p:nvSpPr>
            <p:cNvPr id="70" name="Freeform 12">
              <a:extLst>
                <a:ext uri="{FF2B5EF4-FFF2-40B4-BE49-F238E27FC236}">
                  <a16:creationId xmlns:a16="http://schemas.microsoft.com/office/drawing/2014/main" id="{4E446E2E-4369-6826-4A0A-E0AA571A689F}"/>
                </a:ext>
              </a:extLst>
            </p:cNvPr>
            <p:cNvSpPr/>
            <p:nvPr/>
          </p:nvSpPr>
          <p:spPr>
            <a:xfrm>
              <a:off x="0" y="0"/>
              <a:ext cx="2310683" cy="581274"/>
            </a:xfrm>
            <a:custGeom>
              <a:avLst/>
              <a:gdLst/>
              <a:ahLst/>
              <a:cxnLst/>
              <a:rect l="l" t="t" r="r" b="b"/>
              <a:pathLst>
                <a:path w="2310683" h="581274">
                  <a:moveTo>
                    <a:pt x="32305" y="0"/>
                  </a:moveTo>
                  <a:lnTo>
                    <a:pt x="2278378" y="0"/>
                  </a:lnTo>
                  <a:cubicBezTo>
                    <a:pt x="2296219" y="0"/>
                    <a:pt x="2310683" y="14463"/>
                    <a:pt x="2310683" y="32305"/>
                  </a:cubicBezTo>
                  <a:lnTo>
                    <a:pt x="2310683" y="548969"/>
                  </a:lnTo>
                  <a:cubicBezTo>
                    <a:pt x="2310683" y="557537"/>
                    <a:pt x="2307279" y="565754"/>
                    <a:pt x="2301221" y="571812"/>
                  </a:cubicBezTo>
                  <a:cubicBezTo>
                    <a:pt x="2295162" y="577871"/>
                    <a:pt x="2286945" y="581274"/>
                    <a:pt x="2278378" y="581274"/>
                  </a:cubicBezTo>
                  <a:lnTo>
                    <a:pt x="32305" y="581274"/>
                  </a:lnTo>
                  <a:cubicBezTo>
                    <a:pt x="14463" y="581274"/>
                    <a:pt x="0" y="566811"/>
                    <a:pt x="0" y="548969"/>
                  </a:cubicBezTo>
                  <a:lnTo>
                    <a:pt x="0" y="32305"/>
                  </a:lnTo>
                  <a:cubicBezTo>
                    <a:pt x="0" y="23737"/>
                    <a:pt x="3404" y="15520"/>
                    <a:pt x="9462" y="9462"/>
                  </a:cubicBezTo>
                  <a:cubicBezTo>
                    <a:pt x="15520" y="3404"/>
                    <a:pt x="23737" y="0"/>
                    <a:pt x="32305" y="0"/>
                  </a:cubicBezTo>
                  <a:close/>
                </a:path>
              </a:pathLst>
            </a:custGeom>
            <a:solidFill>
              <a:srgbClr val="08966E"/>
            </a:solidFill>
          </p:spPr>
        </p:sp>
        <p:sp>
          <p:nvSpPr>
            <p:cNvPr id="71" name="TextBox 13">
              <a:extLst>
                <a:ext uri="{FF2B5EF4-FFF2-40B4-BE49-F238E27FC236}">
                  <a16:creationId xmlns:a16="http://schemas.microsoft.com/office/drawing/2014/main" id="{FDDD0951-EEC6-8CC0-CCAE-B35B51149A70}"/>
                </a:ext>
              </a:extLst>
            </p:cNvPr>
            <p:cNvSpPr txBox="1"/>
            <p:nvPr/>
          </p:nvSpPr>
          <p:spPr>
            <a:xfrm>
              <a:off x="0" y="-76200"/>
              <a:ext cx="2310683" cy="657474"/>
            </a:xfrm>
            <a:prstGeom prst="rect">
              <a:avLst/>
            </a:prstGeom>
          </p:spPr>
          <p:txBody>
            <a:bodyPr lIns="53046" tIns="53046" rIns="53046" bIns="53046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grpSp>
        <p:nvGrpSpPr>
          <p:cNvPr id="73" name="Group 15">
            <a:extLst>
              <a:ext uri="{FF2B5EF4-FFF2-40B4-BE49-F238E27FC236}">
                <a16:creationId xmlns:a16="http://schemas.microsoft.com/office/drawing/2014/main" id="{9A8CE434-A3F1-4766-C428-A417E3D28C45}"/>
              </a:ext>
            </a:extLst>
          </p:cNvPr>
          <p:cNvGrpSpPr/>
          <p:nvPr/>
        </p:nvGrpSpPr>
        <p:grpSpPr>
          <a:xfrm>
            <a:off x="1469106" y="6096479"/>
            <a:ext cx="7668798" cy="548996"/>
            <a:chOff x="0" y="0"/>
            <a:chExt cx="2310683" cy="581274"/>
          </a:xfrm>
        </p:grpSpPr>
        <p:sp>
          <p:nvSpPr>
            <p:cNvPr id="74" name="Freeform 16">
              <a:extLst>
                <a:ext uri="{FF2B5EF4-FFF2-40B4-BE49-F238E27FC236}">
                  <a16:creationId xmlns:a16="http://schemas.microsoft.com/office/drawing/2014/main" id="{85AF42BF-0E1D-FE56-D52D-7382C0DAD739}"/>
                </a:ext>
              </a:extLst>
            </p:cNvPr>
            <p:cNvSpPr/>
            <p:nvPr/>
          </p:nvSpPr>
          <p:spPr>
            <a:xfrm>
              <a:off x="0" y="0"/>
              <a:ext cx="2310683" cy="581274"/>
            </a:xfrm>
            <a:custGeom>
              <a:avLst/>
              <a:gdLst/>
              <a:ahLst/>
              <a:cxnLst/>
              <a:rect l="l" t="t" r="r" b="b"/>
              <a:pathLst>
                <a:path w="2310683" h="581274">
                  <a:moveTo>
                    <a:pt x="32305" y="0"/>
                  </a:moveTo>
                  <a:lnTo>
                    <a:pt x="2278378" y="0"/>
                  </a:lnTo>
                  <a:cubicBezTo>
                    <a:pt x="2296219" y="0"/>
                    <a:pt x="2310683" y="14463"/>
                    <a:pt x="2310683" y="32305"/>
                  </a:cubicBezTo>
                  <a:lnTo>
                    <a:pt x="2310683" y="548969"/>
                  </a:lnTo>
                  <a:cubicBezTo>
                    <a:pt x="2310683" y="557537"/>
                    <a:pt x="2307279" y="565754"/>
                    <a:pt x="2301221" y="571812"/>
                  </a:cubicBezTo>
                  <a:cubicBezTo>
                    <a:pt x="2295162" y="577871"/>
                    <a:pt x="2286945" y="581274"/>
                    <a:pt x="2278378" y="581274"/>
                  </a:cubicBezTo>
                  <a:lnTo>
                    <a:pt x="32305" y="581274"/>
                  </a:lnTo>
                  <a:cubicBezTo>
                    <a:pt x="14463" y="581274"/>
                    <a:pt x="0" y="566811"/>
                    <a:pt x="0" y="548969"/>
                  </a:cubicBezTo>
                  <a:lnTo>
                    <a:pt x="0" y="32305"/>
                  </a:lnTo>
                  <a:cubicBezTo>
                    <a:pt x="0" y="23737"/>
                    <a:pt x="3404" y="15520"/>
                    <a:pt x="9462" y="9462"/>
                  </a:cubicBezTo>
                  <a:cubicBezTo>
                    <a:pt x="15520" y="3404"/>
                    <a:pt x="23737" y="0"/>
                    <a:pt x="32305" y="0"/>
                  </a:cubicBez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id="75" name="TextBox 17">
              <a:extLst>
                <a:ext uri="{FF2B5EF4-FFF2-40B4-BE49-F238E27FC236}">
                  <a16:creationId xmlns:a16="http://schemas.microsoft.com/office/drawing/2014/main" id="{50B2066E-28A2-451C-317C-31125F9CE16E}"/>
                </a:ext>
              </a:extLst>
            </p:cNvPr>
            <p:cNvSpPr txBox="1"/>
            <p:nvPr/>
          </p:nvSpPr>
          <p:spPr>
            <a:xfrm>
              <a:off x="0" y="-76200"/>
              <a:ext cx="2310683" cy="657474"/>
            </a:xfrm>
            <a:prstGeom prst="rect">
              <a:avLst/>
            </a:prstGeom>
          </p:spPr>
          <p:txBody>
            <a:bodyPr lIns="53046" tIns="53046" rIns="53046" bIns="53046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sp>
        <p:nvSpPr>
          <p:cNvPr id="78" name="TextBox 23">
            <a:extLst>
              <a:ext uri="{FF2B5EF4-FFF2-40B4-BE49-F238E27FC236}">
                <a16:creationId xmlns:a16="http://schemas.microsoft.com/office/drawing/2014/main" id="{8B8FFE4C-6FEA-DB0F-F8A2-208D045E7D1F}"/>
              </a:ext>
            </a:extLst>
          </p:cNvPr>
          <p:cNvSpPr txBox="1"/>
          <p:nvPr/>
        </p:nvSpPr>
        <p:spPr>
          <a:xfrm>
            <a:off x="2397155" y="3953745"/>
            <a:ext cx="6152573" cy="54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54"/>
              </a:lnSpc>
            </a:pPr>
            <a:r>
              <a:rPr lang="en-US" sz="153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Attackers inject large amounts of fake data into torrent indexes.</a:t>
            </a:r>
          </a:p>
        </p:txBody>
      </p:sp>
      <p:sp>
        <p:nvSpPr>
          <p:cNvPr id="79" name="TextBox 24">
            <a:extLst>
              <a:ext uri="{FF2B5EF4-FFF2-40B4-BE49-F238E27FC236}">
                <a16:creationId xmlns:a16="http://schemas.microsoft.com/office/drawing/2014/main" id="{7E508106-C6E5-B96B-BDB2-BE43C9A80F0D}"/>
              </a:ext>
            </a:extLst>
          </p:cNvPr>
          <p:cNvSpPr txBox="1"/>
          <p:nvPr/>
        </p:nvSpPr>
        <p:spPr>
          <a:xfrm>
            <a:off x="1818989" y="4053679"/>
            <a:ext cx="565666" cy="33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1"/>
              </a:lnSpc>
            </a:pPr>
            <a:r>
              <a:rPr lang="en-US" sz="2422" dirty="0">
                <a:solidFill>
                  <a:srgbClr val="FFFFFF">
                    <a:alpha val="7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id="81" name="TextBox 26">
            <a:extLst>
              <a:ext uri="{FF2B5EF4-FFF2-40B4-BE49-F238E27FC236}">
                <a16:creationId xmlns:a16="http://schemas.microsoft.com/office/drawing/2014/main" id="{C7B91F27-B579-2A97-98C1-9BBD38743ABF}"/>
              </a:ext>
            </a:extLst>
          </p:cNvPr>
          <p:cNvSpPr txBox="1"/>
          <p:nvPr/>
        </p:nvSpPr>
        <p:spPr>
          <a:xfrm>
            <a:off x="2390751" y="6096479"/>
            <a:ext cx="6152573" cy="54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54"/>
              </a:lnSpc>
            </a:pPr>
            <a:r>
              <a:rPr lang="en-US" sz="153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Users receive incorrect information when searching for content.</a:t>
            </a:r>
          </a:p>
        </p:txBody>
      </p:sp>
      <p:sp>
        <p:nvSpPr>
          <p:cNvPr id="82" name="TextBox 27">
            <a:extLst>
              <a:ext uri="{FF2B5EF4-FFF2-40B4-BE49-F238E27FC236}">
                <a16:creationId xmlns:a16="http://schemas.microsoft.com/office/drawing/2014/main" id="{56831463-FFF7-E8C4-6C29-22760CB9A2D4}"/>
              </a:ext>
            </a:extLst>
          </p:cNvPr>
          <p:cNvSpPr txBox="1"/>
          <p:nvPr/>
        </p:nvSpPr>
        <p:spPr>
          <a:xfrm>
            <a:off x="1812893" y="6202470"/>
            <a:ext cx="565666" cy="33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1"/>
              </a:lnSpc>
            </a:pPr>
            <a:r>
              <a:rPr lang="en-US" sz="2422" dirty="0">
                <a:solidFill>
                  <a:srgbClr val="FFFFFF">
                    <a:alpha val="7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id="84" name="TextBox 30">
            <a:extLst>
              <a:ext uri="{FF2B5EF4-FFF2-40B4-BE49-F238E27FC236}">
                <a16:creationId xmlns:a16="http://schemas.microsoft.com/office/drawing/2014/main" id="{B865E590-6CF5-174C-BA78-331AF5B41852}"/>
              </a:ext>
            </a:extLst>
          </p:cNvPr>
          <p:cNvSpPr txBox="1"/>
          <p:nvPr/>
        </p:nvSpPr>
        <p:spPr>
          <a:xfrm>
            <a:off x="2378559" y="5165920"/>
            <a:ext cx="6165073" cy="266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54"/>
              </a:lnSpc>
            </a:pPr>
            <a:r>
              <a:rPr lang="en-US" sz="153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Invalid IP addresses and port numbers are advertised.</a:t>
            </a:r>
          </a:p>
        </p:txBody>
      </p:sp>
      <p:sp>
        <p:nvSpPr>
          <p:cNvPr id="85" name="TextBox 31">
            <a:extLst>
              <a:ext uri="{FF2B5EF4-FFF2-40B4-BE49-F238E27FC236}">
                <a16:creationId xmlns:a16="http://schemas.microsoft.com/office/drawing/2014/main" id="{E5631464-AE77-0CEE-A1E4-D5497DA8D812}"/>
              </a:ext>
            </a:extLst>
          </p:cNvPr>
          <p:cNvSpPr txBox="1"/>
          <p:nvPr/>
        </p:nvSpPr>
        <p:spPr>
          <a:xfrm>
            <a:off x="1812893" y="5152683"/>
            <a:ext cx="565666" cy="33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1"/>
              </a:lnSpc>
            </a:pPr>
            <a:r>
              <a:rPr lang="en-US" sz="2422">
                <a:solidFill>
                  <a:srgbClr val="FFFFFF">
                    <a:alpha val="7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id="87" name="TextBox 33">
            <a:extLst>
              <a:ext uri="{FF2B5EF4-FFF2-40B4-BE49-F238E27FC236}">
                <a16:creationId xmlns:a16="http://schemas.microsoft.com/office/drawing/2014/main" id="{FD6B7702-703D-0296-9F5C-40A306B2B2FD}"/>
              </a:ext>
            </a:extLst>
          </p:cNvPr>
          <p:cNvSpPr txBox="1"/>
          <p:nvPr/>
        </p:nvSpPr>
        <p:spPr>
          <a:xfrm>
            <a:off x="2390751" y="7117051"/>
            <a:ext cx="6152573" cy="54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54"/>
              </a:lnSpc>
            </a:pPr>
            <a:r>
              <a:rPr lang="en-US" sz="153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Connections are repeatedly attempted with non-existent peers.</a:t>
            </a:r>
          </a:p>
        </p:txBody>
      </p:sp>
      <p:sp>
        <p:nvSpPr>
          <p:cNvPr id="88" name="TextBox 34">
            <a:extLst>
              <a:ext uri="{FF2B5EF4-FFF2-40B4-BE49-F238E27FC236}">
                <a16:creationId xmlns:a16="http://schemas.microsoft.com/office/drawing/2014/main" id="{D4F563A9-67FE-2BE6-DD0C-AD659C4B1F80}"/>
              </a:ext>
            </a:extLst>
          </p:cNvPr>
          <p:cNvSpPr txBox="1"/>
          <p:nvPr/>
        </p:nvSpPr>
        <p:spPr>
          <a:xfrm>
            <a:off x="1812893" y="7194339"/>
            <a:ext cx="565666" cy="33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1"/>
              </a:lnSpc>
            </a:pPr>
            <a:r>
              <a:rPr lang="en-US" sz="2422" dirty="0">
                <a:solidFill>
                  <a:srgbClr val="FFFFFF">
                    <a:alpha val="7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</a:p>
        </p:txBody>
      </p:sp>
      <p:sp>
        <p:nvSpPr>
          <p:cNvPr id="89" name="Google Shape;184;p18">
            <a:extLst>
              <a:ext uri="{FF2B5EF4-FFF2-40B4-BE49-F238E27FC236}">
                <a16:creationId xmlns:a16="http://schemas.microsoft.com/office/drawing/2014/main" id="{B4294BBB-7E6F-24FF-F11B-67D1F1A1CA7E}"/>
              </a:ext>
            </a:extLst>
          </p:cNvPr>
          <p:cNvSpPr txBox="1"/>
          <p:nvPr/>
        </p:nvSpPr>
        <p:spPr>
          <a:xfrm>
            <a:off x="1219200" y="2512316"/>
            <a:ext cx="15621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2250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Index poisoning targets the torrent indexing system by inserting false information into the network.</a:t>
            </a:r>
            <a:endParaRPr sz="2700" dirty="0"/>
          </a:p>
        </p:txBody>
      </p:sp>
      <p:sp>
        <p:nvSpPr>
          <p:cNvPr id="90" name="TextBox 9">
            <a:extLst>
              <a:ext uri="{FF2B5EF4-FFF2-40B4-BE49-F238E27FC236}">
                <a16:creationId xmlns:a16="http://schemas.microsoft.com/office/drawing/2014/main" id="{898FE896-1698-3835-73F4-6E1F74401B71}"/>
              </a:ext>
            </a:extLst>
          </p:cNvPr>
          <p:cNvSpPr txBox="1"/>
          <p:nvPr/>
        </p:nvSpPr>
        <p:spPr>
          <a:xfrm>
            <a:off x="1516116" y="3332478"/>
            <a:ext cx="7042756" cy="4180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How It Works:</a:t>
            </a:r>
          </a:p>
        </p:txBody>
      </p:sp>
      <p:sp>
        <p:nvSpPr>
          <p:cNvPr id="91" name="TextBox 9">
            <a:extLst>
              <a:ext uri="{FF2B5EF4-FFF2-40B4-BE49-F238E27FC236}">
                <a16:creationId xmlns:a16="http://schemas.microsoft.com/office/drawing/2014/main" id="{944790B2-BB3B-2F57-B2EF-96FAC8ED438D}"/>
              </a:ext>
            </a:extLst>
          </p:cNvPr>
          <p:cNvSpPr txBox="1"/>
          <p:nvPr/>
        </p:nvSpPr>
        <p:spPr>
          <a:xfrm>
            <a:off x="9729128" y="3318331"/>
            <a:ext cx="7042756" cy="22647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Effects on Users: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Unable to locate legitimate file sources.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Connection attempts repeatedly fail.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Download speeds become extremely slow.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Increased time spent searching for working torrents.</a:t>
            </a:r>
          </a:p>
        </p:txBody>
      </p:sp>
      <p:sp>
        <p:nvSpPr>
          <p:cNvPr id="92" name="TextBox 9">
            <a:extLst>
              <a:ext uri="{FF2B5EF4-FFF2-40B4-BE49-F238E27FC236}">
                <a16:creationId xmlns:a16="http://schemas.microsoft.com/office/drawing/2014/main" id="{7BF41801-36F0-194B-AF55-FC72B9C8E3D6}"/>
              </a:ext>
            </a:extLst>
          </p:cNvPr>
          <p:cNvSpPr txBox="1"/>
          <p:nvPr/>
        </p:nvSpPr>
        <p:spPr>
          <a:xfrm>
            <a:off x="1469106" y="8343900"/>
            <a:ext cx="15621000" cy="8797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Goal: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To make locating and downloading copyrighted content difficult and time-consuming.</a:t>
            </a: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857A145D-D5A3-03D8-BE56-E76D75A4443D}"/>
              </a:ext>
            </a:extLst>
          </p:cNvPr>
          <p:cNvSpPr txBox="1"/>
          <p:nvPr/>
        </p:nvSpPr>
        <p:spPr>
          <a:xfrm>
            <a:off x="9695600" y="5835071"/>
            <a:ext cx="7042756" cy="1803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Advantages for Attackers: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Requires less bandwidth than decoy insertion.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No need to distribute actual files.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Easier and cheaper to perform.</a:t>
            </a:r>
          </a:p>
        </p:txBody>
      </p:sp>
    </p:spTree>
    <p:extLst>
      <p:ext uri="{BB962C8B-B14F-4D97-AF65-F5344CB8AC3E}">
        <p14:creationId xmlns:p14="http://schemas.microsoft.com/office/powerpoint/2010/main" val="2864382981"/>
      </p:ext>
    </p:extLst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FD3660E-8E15-BFED-F5A7-44881E0FD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" y="0"/>
            <a:ext cx="18282583" cy="10287000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 flipV="1">
            <a:off x="1028700" y="2160669"/>
            <a:ext cx="16230600" cy="0"/>
          </a:xfrm>
          <a:prstGeom prst="line">
            <a:avLst/>
          </a:prstGeom>
          <a:ln w="9525" cap="rnd">
            <a:solidFill>
              <a:srgbClr val="182D8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28700" y="1243725"/>
            <a:ext cx="11468100" cy="711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54"/>
              </a:lnSpc>
            </a:pPr>
            <a:r>
              <a:rPr lang="en-US" sz="5097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Other Torrent Poisoning Attacks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3964" y="3401746"/>
            <a:ext cx="7850035" cy="4308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buNone/>
            </a:pPr>
            <a:r>
              <a:rPr lang="en-US" sz="28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Spoofing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Users receive fake search results.</a:t>
            </a:r>
          </a:p>
          <a:p>
            <a:pPr>
              <a:buNone/>
            </a:pPr>
            <a:r>
              <a:rPr lang="en-US" sz="28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Interdiction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Attackers consume bandwidth to slow downloads.</a:t>
            </a:r>
          </a:p>
          <a:p>
            <a:pPr>
              <a:buNone/>
            </a:pPr>
            <a:r>
              <a:rPr lang="en-US" sz="28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Selective Content Poisoning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Poisoned chunks are sent to suspected pirates.</a:t>
            </a:r>
          </a:p>
          <a:p>
            <a:pPr>
              <a:buNone/>
            </a:pPr>
            <a:r>
              <a:rPr lang="en-US" sz="28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Eclipse Attack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Attacker controls routing information.</a:t>
            </a:r>
          </a:p>
          <a:p>
            <a:pPr>
              <a:buNone/>
            </a:pPr>
            <a:r>
              <a:rPr lang="en-US" sz="28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Uncooperative Peer Attack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Peer connects but never shares data.</a:t>
            </a:r>
          </a:p>
        </p:txBody>
      </p:sp>
      <p:sp>
        <p:nvSpPr>
          <p:cNvPr id="13" name="Freeform 13"/>
          <p:cNvSpPr/>
          <p:nvPr/>
        </p:nvSpPr>
        <p:spPr>
          <a:xfrm>
            <a:off x="9751033" y="2508331"/>
            <a:ext cx="7188465" cy="6749969"/>
          </a:xfrm>
          <a:custGeom>
            <a:avLst/>
            <a:gdLst/>
            <a:ahLst/>
            <a:cxnLst/>
            <a:rect l="l" t="t" r="r" b="b"/>
            <a:pathLst>
              <a:path w="7188465" h="6749969">
                <a:moveTo>
                  <a:pt x="0" y="0"/>
                </a:moveTo>
                <a:lnTo>
                  <a:pt x="7188465" y="0"/>
                </a:lnTo>
                <a:lnTo>
                  <a:pt x="7188465" y="6749969"/>
                </a:lnTo>
                <a:lnTo>
                  <a:pt x="0" y="67499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5D7A6EB-C9C9-1DC9-4964-E63B360B1235}"/>
              </a:ext>
            </a:extLst>
          </p:cNvPr>
          <p:cNvGrpSpPr/>
          <p:nvPr/>
        </p:nvGrpSpPr>
        <p:grpSpPr>
          <a:xfrm>
            <a:off x="-21183600" y="3165379"/>
            <a:ext cx="7668798" cy="1929159"/>
            <a:chOff x="0" y="0"/>
            <a:chExt cx="2310683" cy="581274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E97B720D-C0C9-0469-8ACB-63142A810D3C}"/>
                </a:ext>
              </a:extLst>
            </p:cNvPr>
            <p:cNvSpPr/>
            <p:nvPr/>
          </p:nvSpPr>
          <p:spPr>
            <a:xfrm>
              <a:off x="0" y="0"/>
              <a:ext cx="2310683" cy="581274"/>
            </a:xfrm>
            <a:custGeom>
              <a:avLst/>
              <a:gdLst/>
              <a:ahLst/>
              <a:cxnLst/>
              <a:rect l="l" t="t" r="r" b="b"/>
              <a:pathLst>
                <a:path w="2310683" h="581274">
                  <a:moveTo>
                    <a:pt x="32305" y="0"/>
                  </a:moveTo>
                  <a:lnTo>
                    <a:pt x="2278378" y="0"/>
                  </a:lnTo>
                  <a:cubicBezTo>
                    <a:pt x="2296219" y="0"/>
                    <a:pt x="2310683" y="14463"/>
                    <a:pt x="2310683" y="32305"/>
                  </a:cubicBezTo>
                  <a:lnTo>
                    <a:pt x="2310683" y="548969"/>
                  </a:lnTo>
                  <a:cubicBezTo>
                    <a:pt x="2310683" y="557537"/>
                    <a:pt x="2307279" y="565754"/>
                    <a:pt x="2301221" y="571812"/>
                  </a:cubicBezTo>
                  <a:cubicBezTo>
                    <a:pt x="2295162" y="577871"/>
                    <a:pt x="2286945" y="581274"/>
                    <a:pt x="2278378" y="581274"/>
                  </a:cubicBezTo>
                  <a:lnTo>
                    <a:pt x="32305" y="581274"/>
                  </a:lnTo>
                  <a:cubicBezTo>
                    <a:pt x="14463" y="581274"/>
                    <a:pt x="0" y="566811"/>
                    <a:pt x="0" y="548969"/>
                  </a:cubicBezTo>
                  <a:lnTo>
                    <a:pt x="0" y="32305"/>
                  </a:lnTo>
                  <a:cubicBezTo>
                    <a:pt x="0" y="23737"/>
                    <a:pt x="3404" y="15520"/>
                    <a:pt x="9462" y="9462"/>
                  </a:cubicBezTo>
                  <a:cubicBezTo>
                    <a:pt x="15520" y="3404"/>
                    <a:pt x="23737" y="0"/>
                    <a:pt x="32305" y="0"/>
                  </a:cubicBez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21E9727-D06E-498A-0253-C296E60B2614}"/>
                </a:ext>
              </a:extLst>
            </p:cNvPr>
            <p:cNvSpPr txBox="1"/>
            <p:nvPr/>
          </p:nvSpPr>
          <p:spPr>
            <a:xfrm>
              <a:off x="0" y="-76200"/>
              <a:ext cx="2310683" cy="657474"/>
            </a:xfrm>
            <a:prstGeom prst="rect">
              <a:avLst/>
            </a:prstGeom>
          </p:spPr>
          <p:txBody>
            <a:bodyPr lIns="53046" tIns="53046" rIns="53046" bIns="53046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sp>
        <p:nvSpPr>
          <p:cNvPr id="7" name="AutoShape 6">
            <a:extLst>
              <a:ext uri="{FF2B5EF4-FFF2-40B4-BE49-F238E27FC236}">
                <a16:creationId xmlns:a16="http://schemas.microsoft.com/office/drawing/2014/main" id="{835D74A7-D198-94AC-9C49-646041D0CA4A}"/>
              </a:ext>
            </a:extLst>
          </p:cNvPr>
          <p:cNvSpPr/>
          <p:nvPr/>
        </p:nvSpPr>
        <p:spPr>
          <a:xfrm flipV="1">
            <a:off x="-18399214" y="3379737"/>
            <a:ext cx="0" cy="1500444"/>
          </a:xfrm>
          <a:prstGeom prst="line">
            <a:avLst/>
          </a:prstGeom>
          <a:ln w="9525" cap="rnd">
            <a:solidFill>
              <a:srgbClr val="FFFFFF">
                <a:alpha val="84706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F10049C-2A76-942C-A9E1-4CBD71B4F2DF}"/>
              </a:ext>
            </a:extLst>
          </p:cNvPr>
          <p:cNvGrpSpPr/>
          <p:nvPr/>
        </p:nvGrpSpPr>
        <p:grpSpPr>
          <a:xfrm>
            <a:off x="-21183600" y="3172285"/>
            <a:ext cx="7668798" cy="1929159"/>
            <a:chOff x="0" y="0"/>
            <a:chExt cx="2310683" cy="581274"/>
          </a:xfrm>
        </p:grpSpPr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F21EEFA2-9683-5936-9B66-B05C85394A12}"/>
                </a:ext>
              </a:extLst>
            </p:cNvPr>
            <p:cNvSpPr/>
            <p:nvPr/>
          </p:nvSpPr>
          <p:spPr>
            <a:xfrm>
              <a:off x="0" y="0"/>
              <a:ext cx="2310683" cy="581274"/>
            </a:xfrm>
            <a:custGeom>
              <a:avLst/>
              <a:gdLst/>
              <a:ahLst/>
              <a:cxnLst/>
              <a:rect l="l" t="t" r="r" b="b"/>
              <a:pathLst>
                <a:path w="2310683" h="581274">
                  <a:moveTo>
                    <a:pt x="32305" y="0"/>
                  </a:moveTo>
                  <a:lnTo>
                    <a:pt x="2278378" y="0"/>
                  </a:lnTo>
                  <a:cubicBezTo>
                    <a:pt x="2296219" y="0"/>
                    <a:pt x="2310683" y="14463"/>
                    <a:pt x="2310683" y="32305"/>
                  </a:cubicBezTo>
                  <a:lnTo>
                    <a:pt x="2310683" y="548969"/>
                  </a:lnTo>
                  <a:cubicBezTo>
                    <a:pt x="2310683" y="557537"/>
                    <a:pt x="2307279" y="565754"/>
                    <a:pt x="2301221" y="571812"/>
                  </a:cubicBezTo>
                  <a:cubicBezTo>
                    <a:pt x="2295162" y="577871"/>
                    <a:pt x="2286945" y="581274"/>
                    <a:pt x="2278378" y="581274"/>
                  </a:cubicBezTo>
                  <a:lnTo>
                    <a:pt x="32305" y="581274"/>
                  </a:lnTo>
                  <a:cubicBezTo>
                    <a:pt x="14463" y="581274"/>
                    <a:pt x="0" y="566811"/>
                    <a:pt x="0" y="548969"/>
                  </a:cubicBezTo>
                  <a:lnTo>
                    <a:pt x="0" y="32305"/>
                  </a:lnTo>
                  <a:cubicBezTo>
                    <a:pt x="0" y="23737"/>
                    <a:pt x="3404" y="15520"/>
                    <a:pt x="9462" y="9462"/>
                  </a:cubicBezTo>
                  <a:cubicBezTo>
                    <a:pt x="15520" y="3404"/>
                    <a:pt x="23737" y="0"/>
                    <a:pt x="32305" y="0"/>
                  </a:cubicBezTo>
                  <a:close/>
                </a:path>
              </a:pathLst>
            </a:custGeom>
            <a:solidFill>
              <a:srgbClr val="08966E"/>
            </a:solidFill>
          </p:spPr>
        </p:sp>
        <p:sp>
          <p:nvSpPr>
            <p:cNvPr id="16" name="TextBox 9">
              <a:extLst>
                <a:ext uri="{FF2B5EF4-FFF2-40B4-BE49-F238E27FC236}">
                  <a16:creationId xmlns:a16="http://schemas.microsoft.com/office/drawing/2014/main" id="{1048687F-91B4-C647-E065-A0899A289692}"/>
                </a:ext>
              </a:extLst>
            </p:cNvPr>
            <p:cNvSpPr txBox="1"/>
            <p:nvPr/>
          </p:nvSpPr>
          <p:spPr>
            <a:xfrm>
              <a:off x="0" y="-76200"/>
              <a:ext cx="2310683" cy="657474"/>
            </a:xfrm>
            <a:prstGeom prst="rect">
              <a:avLst/>
            </a:prstGeom>
          </p:spPr>
          <p:txBody>
            <a:bodyPr lIns="53046" tIns="53046" rIns="53046" bIns="53046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sp>
        <p:nvSpPr>
          <p:cNvPr id="17" name="AutoShape 10">
            <a:extLst>
              <a:ext uri="{FF2B5EF4-FFF2-40B4-BE49-F238E27FC236}">
                <a16:creationId xmlns:a16="http://schemas.microsoft.com/office/drawing/2014/main" id="{5980A04C-05DD-8479-2EAA-2FFF82CE5892}"/>
              </a:ext>
            </a:extLst>
          </p:cNvPr>
          <p:cNvSpPr/>
          <p:nvPr/>
        </p:nvSpPr>
        <p:spPr>
          <a:xfrm flipV="1">
            <a:off x="-18399214" y="3386643"/>
            <a:ext cx="0" cy="1500444"/>
          </a:xfrm>
          <a:prstGeom prst="line">
            <a:avLst/>
          </a:prstGeom>
          <a:ln w="9525" cap="rnd">
            <a:solidFill>
              <a:srgbClr val="FFFFFF">
                <a:alpha val="8470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22">
            <a:extLst>
              <a:ext uri="{FF2B5EF4-FFF2-40B4-BE49-F238E27FC236}">
                <a16:creationId xmlns:a16="http://schemas.microsoft.com/office/drawing/2014/main" id="{E235E656-6410-8704-A03D-A821BC7D7B80}"/>
              </a:ext>
            </a:extLst>
          </p:cNvPr>
          <p:cNvSpPr txBox="1"/>
          <p:nvPr/>
        </p:nvSpPr>
        <p:spPr>
          <a:xfrm>
            <a:off x="-20143370" y="3815775"/>
            <a:ext cx="1561272" cy="701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34"/>
              </a:lnSpc>
            </a:pPr>
            <a:r>
              <a:rPr lang="en-US" sz="20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Chunk Verification</a:t>
            </a:r>
          </a:p>
        </p:txBody>
      </p:sp>
      <p:sp>
        <p:nvSpPr>
          <p:cNvPr id="19" name="TextBox 23">
            <a:extLst>
              <a:ext uri="{FF2B5EF4-FFF2-40B4-BE49-F238E27FC236}">
                <a16:creationId xmlns:a16="http://schemas.microsoft.com/office/drawing/2014/main" id="{F37911E7-2C3B-5E34-3335-962471CADD1A}"/>
              </a:ext>
            </a:extLst>
          </p:cNvPr>
          <p:cNvSpPr txBox="1"/>
          <p:nvPr/>
        </p:nvSpPr>
        <p:spPr>
          <a:xfrm>
            <a:off x="-17973260" y="3468629"/>
            <a:ext cx="3851686" cy="1395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54"/>
              </a:lnSpc>
            </a:pPr>
            <a:r>
              <a:rPr lang="en-US" sz="153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BitTorrent verifies each downloaded file chunk using hash values. Corrupted or modified chunks are automatically rejected. This makes content poisoning less effective.</a:t>
            </a:r>
          </a:p>
        </p:txBody>
      </p:sp>
      <p:sp>
        <p:nvSpPr>
          <p:cNvPr id="20" name="TextBox 24">
            <a:extLst>
              <a:ext uri="{FF2B5EF4-FFF2-40B4-BE49-F238E27FC236}">
                <a16:creationId xmlns:a16="http://schemas.microsoft.com/office/drawing/2014/main" id="{F2FE3AFC-6787-347D-6857-D9B4C96604F8}"/>
              </a:ext>
            </a:extLst>
          </p:cNvPr>
          <p:cNvSpPr txBox="1"/>
          <p:nvPr/>
        </p:nvSpPr>
        <p:spPr>
          <a:xfrm>
            <a:off x="-20839813" y="3955394"/>
            <a:ext cx="565666" cy="35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422">
                <a:solidFill>
                  <a:srgbClr val="FFFFFF">
                    <a:alpha val="7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id="21" name="TextBox 29">
            <a:extLst>
              <a:ext uri="{FF2B5EF4-FFF2-40B4-BE49-F238E27FC236}">
                <a16:creationId xmlns:a16="http://schemas.microsoft.com/office/drawing/2014/main" id="{1694E3AA-F538-2C1B-EEC8-DE7CB2291C8B}"/>
              </a:ext>
            </a:extLst>
          </p:cNvPr>
          <p:cNvSpPr txBox="1"/>
          <p:nvPr/>
        </p:nvSpPr>
        <p:spPr>
          <a:xfrm>
            <a:off x="-20141304" y="3257694"/>
            <a:ext cx="1604484" cy="1778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34"/>
              </a:lnSpc>
            </a:pPr>
            <a:r>
              <a:rPr lang="en-US" sz="20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Private Trackers and Community Monitoring</a:t>
            </a:r>
          </a:p>
        </p:txBody>
      </p:sp>
      <p:sp>
        <p:nvSpPr>
          <p:cNvPr id="22" name="TextBox 30">
            <a:extLst>
              <a:ext uri="{FF2B5EF4-FFF2-40B4-BE49-F238E27FC236}">
                <a16:creationId xmlns:a16="http://schemas.microsoft.com/office/drawing/2014/main" id="{BDED68DC-BBDE-A8A6-FB3C-4C5544177F6E}"/>
              </a:ext>
            </a:extLst>
          </p:cNvPr>
          <p:cNvSpPr txBox="1"/>
          <p:nvPr/>
        </p:nvSpPr>
        <p:spPr>
          <a:xfrm>
            <a:off x="-17973260" y="3308091"/>
            <a:ext cx="3851686" cy="1677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54"/>
              </a:lnSpc>
            </a:pPr>
            <a:r>
              <a:rPr lang="en-US" sz="153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Private tracker communities actively monitor uploaded torrents. Fake or poisoned torrents can be quickly identified and removed. Users responsible for uploading malicious content may be banned.</a:t>
            </a:r>
          </a:p>
        </p:txBody>
      </p:sp>
      <p:sp>
        <p:nvSpPr>
          <p:cNvPr id="23" name="TextBox 31">
            <a:extLst>
              <a:ext uri="{FF2B5EF4-FFF2-40B4-BE49-F238E27FC236}">
                <a16:creationId xmlns:a16="http://schemas.microsoft.com/office/drawing/2014/main" id="{946EC9A8-5D01-A61D-E077-A8E960D7B490}"/>
              </a:ext>
            </a:extLst>
          </p:cNvPr>
          <p:cNvSpPr txBox="1"/>
          <p:nvPr/>
        </p:nvSpPr>
        <p:spPr>
          <a:xfrm>
            <a:off x="-20839813" y="3962301"/>
            <a:ext cx="565666" cy="35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422">
                <a:solidFill>
                  <a:srgbClr val="FFFFFF">
                    <a:alpha val="7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grpSp>
        <p:nvGrpSpPr>
          <p:cNvPr id="24" name="Group 7">
            <a:extLst>
              <a:ext uri="{FF2B5EF4-FFF2-40B4-BE49-F238E27FC236}">
                <a16:creationId xmlns:a16="http://schemas.microsoft.com/office/drawing/2014/main" id="{2261F403-A2AC-C21A-A446-6DA7985CD362}"/>
              </a:ext>
            </a:extLst>
          </p:cNvPr>
          <p:cNvGrpSpPr/>
          <p:nvPr/>
        </p:nvGrpSpPr>
        <p:grpSpPr>
          <a:xfrm>
            <a:off x="-21183600" y="3163493"/>
            <a:ext cx="7668798" cy="1929159"/>
            <a:chOff x="0" y="0"/>
            <a:chExt cx="2310683" cy="581274"/>
          </a:xfrm>
        </p:grpSpPr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B5E70BE7-EEAA-931E-681C-492085BBFEDD}"/>
                </a:ext>
              </a:extLst>
            </p:cNvPr>
            <p:cNvSpPr/>
            <p:nvPr/>
          </p:nvSpPr>
          <p:spPr>
            <a:xfrm>
              <a:off x="0" y="0"/>
              <a:ext cx="2310683" cy="581274"/>
            </a:xfrm>
            <a:custGeom>
              <a:avLst/>
              <a:gdLst/>
              <a:ahLst/>
              <a:cxnLst/>
              <a:rect l="l" t="t" r="r" b="b"/>
              <a:pathLst>
                <a:path w="2310683" h="581274">
                  <a:moveTo>
                    <a:pt x="32305" y="0"/>
                  </a:moveTo>
                  <a:lnTo>
                    <a:pt x="2278378" y="0"/>
                  </a:lnTo>
                  <a:cubicBezTo>
                    <a:pt x="2296219" y="0"/>
                    <a:pt x="2310683" y="14463"/>
                    <a:pt x="2310683" y="32305"/>
                  </a:cubicBezTo>
                  <a:lnTo>
                    <a:pt x="2310683" y="548969"/>
                  </a:lnTo>
                  <a:cubicBezTo>
                    <a:pt x="2310683" y="557537"/>
                    <a:pt x="2307279" y="565754"/>
                    <a:pt x="2301221" y="571812"/>
                  </a:cubicBezTo>
                  <a:cubicBezTo>
                    <a:pt x="2295162" y="577871"/>
                    <a:pt x="2286945" y="581274"/>
                    <a:pt x="2278378" y="581274"/>
                  </a:cubicBezTo>
                  <a:lnTo>
                    <a:pt x="32305" y="581274"/>
                  </a:lnTo>
                  <a:cubicBezTo>
                    <a:pt x="14463" y="581274"/>
                    <a:pt x="0" y="566811"/>
                    <a:pt x="0" y="548969"/>
                  </a:cubicBezTo>
                  <a:lnTo>
                    <a:pt x="0" y="32305"/>
                  </a:lnTo>
                  <a:cubicBezTo>
                    <a:pt x="0" y="23737"/>
                    <a:pt x="3404" y="15520"/>
                    <a:pt x="9462" y="9462"/>
                  </a:cubicBezTo>
                  <a:cubicBezTo>
                    <a:pt x="15520" y="3404"/>
                    <a:pt x="23737" y="0"/>
                    <a:pt x="32305" y="0"/>
                  </a:cubicBezTo>
                  <a:close/>
                </a:path>
              </a:pathLst>
            </a:custGeom>
            <a:solidFill>
              <a:srgbClr val="08966E"/>
            </a:solidFill>
          </p:spPr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E03DDADA-F9A4-1C52-09F9-62A30A6C1895}"/>
                </a:ext>
              </a:extLst>
            </p:cNvPr>
            <p:cNvSpPr txBox="1"/>
            <p:nvPr/>
          </p:nvSpPr>
          <p:spPr>
            <a:xfrm>
              <a:off x="0" y="-76200"/>
              <a:ext cx="2310683" cy="657474"/>
            </a:xfrm>
            <a:prstGeom prst="rect">
              <a:avLst/>
            </a:prstGeom>
          </p:spPr>
          <p:txBody>
            <a:bodyPr lIns="53046" tIns="53046" rIns="53046" bIns="53046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sp>
        <p:nvSpPr>
          <p:cNvPr id="27" name="AutoShape 10">
            <a:extLst>
              <a:ext uri="{FF2B5EF4-FFF2-40B4-BE49-F238E27FC236}">
                <a16:creationId xmlns:a16="http://schemas.microsoft.com/office/drawing/2014/main" id="{FFCF26CC-9377-DC6E-3BDD-28A812CD1DD5}"/>
              </a:ext>
            </a:extLst>
          </p:cNvPr>
          <p:cNvSpPr/>
          <p:nvPr/>
        </p:nvSpPr>
        <p:spPr>
          <a:xfrm flipV="1">
            <a:off x="-18399214" y="3377851"/>
            <a:ext cx="0" cy="1500444"/>
          </a:xfrm>
          <a:prstGeom prst="line">
            <a:avLst/>
          </a:prstGeom>
          <a:ln w="9525" cap="rnd">
            <a:solidFill>
              <a:srgbClr val="FFFFFF">
                <a:alpha val="8470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TextBox 29">
            <a:extLst>
              <a:ext uri="{FF2B5EF4-FFF2-40B4-BE49-F238E27FC236}">
                <a16:creationId xmlns:a16="http://schemas.microsoft.com/office/drawing/2014/main" id="{771A29C0-3AE3-F478-1FE2-EDE1E489E3D8}"/>
              </a:ext>
            </a:extLst>
          </p:cNvPr>
          <p:cNvSpPr txBox="1"/>
          <p:nvPr/>
        </p:nvSpPr>
        <p:spPr>
          <a:xfrm>
            <a:off x="-20141304" y="3459060"/>
            <a:ext cx="1604484" cy="1419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34"/>
              </a:lnSpc>
            </a:pPr>
            <a:r>
              <a:rPr lang="en-US" sz="20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Reporting and Reputation Systems</a:t>
            </a:r>
          </a:p>
        </p:txBody>
      </p:sp>
      <p:sp>
        <p:nvSpPr>
          <p:cNvPr id="29" name="TextBox 30">
            <a:extLst>
              <a:ext uri="{FF2B5EF4-FFF2-40B4-BE49-F238E27FC236}">
                <a16:creationId xmlns:a16="http://schemas.microsoft.com/office/drawing/2014/main" id="{1FD3DE54-F399-55AC-D343-E373D39D8041}"/>
              </a:ext>
            </a:extLst>
          </p:cNvPr>
          <p:cNvSpPr txBox="1"/>
          <p:nvPr/>
        </p:nvSpPr>
        <p:spPr>
          <a:xfrm>
            <a:off x="-17961068" y="3308410"/>
            <a:ext cx="3851686" cy="1677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54"/>
              </a:lnSpc>
            </a:pPr>
            <a:r>
              <a:rPr lang="en-US" sz="153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Many public torrent websites allow users to report fake torrents. User feedback helps identify trusted uploaders and reliable content. Reputation systems improve overall content quality.</a:t>
            </a:r>
          </a:p>
        </p:txBody>
      </p:sp>
      <p:sp>
        <p:nvSpPr>
          <p:cNvPr id="30" name="TextBox 31">
            <a:extLst>
              <a:ext uri="{FF2B5EF4-FFF2-40B4-BE49-F238E27FC236}">
                <a16:creationId xmlns:a16="http://schemas.microsoft.com/office/drawing/2014/main" id="{4349CC80-9237-DCE5-5E43-43EF14220276}"/>
              </a:ext>
            </a:extLst>
          </p:cNvPr>
          <p:cNvSpPr txBox="1"/>
          <p:nvPr/>
        </p:nvSpPr>
        <p:spPr>
          <a:xfrm>
            <a:off x="-20839813" y="3953509"/>
            <a:ext cx="565666" cy="33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422" dirty="0">
                <a:solidFill>
                  <a:srgbClr val="FFFFFF">
                    <a:alpha val="7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grpSp>
        <p:nvGrpSpPr>
          <p:cNvPr id="31" name="Group 3">
            <a:extLst>
              <a:ext uri="{FF2B5EF4-FFF2-40B4-BE49-F238E27FC236}">
                <a16:creationId xmlns:a16="http://schemas.microsoft.com/office/drawing/2014/main" id="{C311165D-33A6-8BF2-BB8F-2B4E69D53166}"/>
              </a:ext>
            </a:extLst>
          </p:cNvPr>
          <p:cNvGrpSpPr/>
          <p:nvPr/>
        </p:nvGrpSpPr>
        <p:grpSpPr>
          <a:xfrm>
            <a:off x="-21183600" y="3182269"/>
            <a:ext cx="7668798" cy="1929159"/>
            <a:chOff x="0" y="0"/>
            <a:chExt cx="2310683" cy="581274"/>
          </a:xfrm>
        </p:grpSpPr>
        <p:sp>
          <p:nvSpPr>
            <p:cNvPr id="32" name="Freeform 4">
              <a:extLst>
                <a:ext uri="{FF2B5EF4-FFF2-40B4-BE49-F238E27FC236}">
                  <a16:creationId xmlns:a16="http://schemas.microsoft.com/office/drawing/2014/main" id="{AF305F12-ED68-62D8-3A34-827E79C161A8}"/>
                </a:ext>
              </a:extLst>
            </p:cNvPr>
            <p:cNvSpPr/>
            <p:nvPr/>
          </p:nvSpPr>
          <p:spPr>
            <a:xfrm>
              <a:off x="0" y="0"/>
              <a:ext cx="2310683" cy="581274"/>
            </a:xfrm>
            <a:custGeom>
              <a:avLst/>
              <a:gdLst/>
              <a:ahLst/>
              <a:cxnLst/>
              <a:rect l="l" t="t" r="r" b="b"/>
              <a:pathLst>
                <a:path w="2310683" h="581274">
                  <a:moveTo>
                    <a:pt x="32305" y="0"/>
                  </a:moveTo>
                  <a:lnTo>
                    <a:pt x="2278378" y="0"/>
                  </a:lnTo>
                  <a:cubicBezTo>
                    <a:pt x="2296219" y="0"/>
                    <a:pt x="2310683" y="14463"/>
                    <a:pt x="2310683" y="32305"/>
                  </a:cubicBezTo>
                  <a:lnTo>
                    <a:pt x="2310683" y="548969"/>
                  </a:lnTo>
                  <a:cubicBezTo>
                    <a:pt x="2310683" y="557537"/>
                    <a:pt x="2307279" y="565754"/>
                    <a:pt x="2301221" y="571812"/>
                  </a:cubicBezTo>
                  <a:cubicBezTo>
                    <a:pt x="2295162" y="577871"/>
                    <a:pt x="2286945" y="581274"/>
                    <a:pt x="2278378" y="581274"/>
                  </a:cubicBezTo>
                  <a:lnTo>
                    <a:pt x="32305" y="581274"/>
                  </a:lnTo>
                  <a:cubicBezTo>
                    <a:pt x="14463" y="581274"/>
                    <a:pt x="0" y="566811"/>
                    <a:pt x="0" y="548969"/>
                  </a:cubicBezTo>
                  <a:lnTo>
                    <a:pt x="0" y="32305"/>
                  </a:lnTo>
                  <a:cubicBezTo>
                    <a:pt x="0" y="23737"/>
                    <a:pt x="3404" y="15520"/>
                    <a:pt x="9462" y="9462"/>
                  </a:cubicBezTo>
                  <a:cubicBezTo>
                    <a:pt x="15520" y="3404"/>
                    <a:pt x="23737" y="0"/>
                    <a:pt x="32305" y="0"/>
                  </a:cubicBez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id="33" name="TextBox 5">
              <a:extLst>
                <a:ext uri="{FF2B5EF4-FFF2-40B4-BE49-F238E27FC236}">
                  <a16:creationId xmlns:a16="http://schemas.microsoft.com/office/drawing/2014/main" id="{E5431123-57DE-53DA-9F49-98A9312175C4}"/>
                </a:ext>
              </a:extLst>
            </p:cNvPr>
            <p:cNvSpPr txBox="1"/>
            <p:nvPr/>
          </p:nvSpPr>
          <p:spPr>
            <a:xfrm>
              <a:off x="0" y="-76200"/>
              <a:ext cx="2310683" cy="657474"/>
            </a:xfrm>
            <a:prstGeom prst="rect">
              <a:avLst/>
            </a:prstGeom>
          </p:spPr>
          <p:txBody>
            <a:bodyPr lIns="53046" tIns="53046" rIns="53046" bIns="53046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sp>
        <p:nvSpPr>
          <p:cNvPr id="34" name="AutoShape 6">
            <a:extLst>
              <a:ext uri="{FF2B5EF4-FFF2-40B4-BE49-F238E27FC236}">
                <a16:creationId xmlns:a16="http://schemas.microsoft.com/office/drawing/2014/main" id="{BF31AFF9-C0B7-5BC0-CE22-496A5EADF11B}"/>
              </a:ext>
            </a:extLst>
          </p:cNvPr>
          <p:cNvSpPr/>
          <p:nvPr/>
        </p:nvSpPr>
        <p:spPr>
          <a:xfrm flipV="1">
            <a:off x="-18399214" y="3396627"/>
            <a:ext cx="0" cy="1500444"/>
          </a:xfrm>
          <a:prstGeom prst="line">
            <a:avLst/>
          </a:prstGeom>
          <a:ln w="9525" cap="rnd">
            <a:solidFill>
              <a:srgbClr val="FFFFFF">
                <a:alpha val="8470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5" name="TextBox 22">
            <a:extLst>
              <a:ext uri="{FF2B5EF4-FFF2-40B4-BE49-F238E27FC236}">
                <a16:creationId xmlns:a16="http://schemas.microsoft.com/office/drawing/2014/main" id="{A2DC6122-C2C1-DA8D-E163-FDA6DCD35A46}"/>
              </a:ext>
            </a:extLst>
          </p:cNvPr>
          <p:cNvSpPr txBox="1"/>
          <p:nvPr/>
        </p:nvSpPr>
        <p:spPr>
          <a:xfrm>
            <a:off x="-20193208" y="3554253"/>
            <a:ext cx="1708291" cy="1060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34"/>
              </a:lnSpc>
            </a:pPr>
            <a:r>
              <a:rPr lang="en-US" sz="20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Improved BitTorrent Technologies</a:t>
            </a:r>
          </a:p>
        </p:txBody>
      </p:sp>
      <p:sp>
        <p:nvSpPr>
          <p:cNvPr id="36" name="TextBox 23">
            <a:extLst>
              <a:ext uri="{FF2B5EF4-FFF2-40B4-BE49-F238E27FC236}">
                <a16:creationId xmlns:a16="http://schemas.microsoft.com/office/drawing/2014/main" id="{2C7B0367-182E-D630-07A3-778270DA926D}"/>
              </a:ext>
            </a:extLst>
          </p:cNvPr>
          <p:cNvSpPr txBox="1"/>
          <p:nvPr/>
        </p:nvSpPr>
        <p:spPr>
          <a:xfrm>
            <a:off x="-17888947" y="3454922"/>
            <a:ext cx="3851686" cy="1395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54"/>
              </a:lnSpc>
            </a:pPr>
            <a:r>
              <a:rPr lang="en-US" sz="153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Modern BitTorrent clients and trackers have become more secure. New protocols and security improvements reduce the effectiveness of spoofing and other poisoning attacks.</a:t>
            </a:r>
          </a:p>
        </p:txBody>
      </p:sp>
      <p:sp>
        <p:nvSpPr>
          <p:cNvPr id="37" name="TextBox 24">
            <a:extLst>
              <a:ext uri="{FF2B5EF4-FFF2-40B4-BE49-F238E27FC236}">
                <a16:creationId xmlns:a16="http://schemas.microsoft.com/office/drawing/2014/main" id="{839A100C-2332-EB59-A93C-304D2BE09ADF}"/>
              </a:ext>
            </a:extLst>
          </p:cNvPr>
          <p:cNvSpPr txBox="1"/>
          <p:nvPr/>
        </p:nvSpPr>
        <p:spPr>
          <a:xfrm>
            <a:off x="-20839813" y="3972284"/>
            <a:ext cx="565666" cy="33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422" dirty="0">
                <a:solidFill>
                  <a:srgbClr val="FFFFFF">
                    <a:alpha val="7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</a:p>
        </p:txBody>
      </p:sp>
    </p:spTree>
  </p:cSld>
  <p:clrMapOvr>
    <a:masterClrMapping/>
  </p:clrMapOvr>
  <p:transition spd="slow">
    <p:push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8687EABA-913B-B68D-481E-39226E417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" y="0"/>
            <a:ext cx="18282583" cy="10287000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 flipV="1">
            <a:off x="1028700" y="2160669"/>
            <a:ext cx="16230600" cy="0"/>
          </a:xfrm>
          <a:prstGeom prst="line">
            <a:avLst/>
          </a:prstGeom>
          <a:ln w="9525" cap="rnd">
            <a:solidFill>
              <a:srgbClr val="182D8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TextBox 21"/>
          <p:cNvSpPr txBox="1"/>
          <p:nvPr/>
        </p:nvSpPr>
        <p:spPr>
          <a:xfrm>
            <a:off x="1028700" y="1257300"/>
            <a:ext cx="15201900" cy="711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54"/>
              </a:lnSpc>
            </a:pPr>
            <a:r>
              <a:rPr lang="en-US" sz="5097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Countermeasures Against Torrent Poisoning</a:t>
            </a:r>
          </a:p>
        </p:txBody>
      </p:sp>
      <p:grpSp>
        <p:nvGrpSpPr>
          <p:cNvPr id="62" name="Group 3">
            <a:extLst>
              <a:ext uri="{FF2B5EF4-FFF2-40B4-BE49-F238E27FC236}">
                <a16:creationId xmlns:a16="http://schemas.microsoft.com/office/drawing/2014/main" id="{9DFB5B4D-7E8E-F213-0202-DC0BDC574CE1}"/>
              </a:ext>
            </a:extLst>
          </p:cNvPr>
          <p:cNvGrpSpPr/>
          <p:nvPr/>
        </p:nvGrpSpPr>
        <p:grpSpPr>
          <a:xfrm>
            <a:off x="1295400" y="3165379"/>
            <a:ext cx="7668798" cy="1929159"/>
            <a:chOff x="0" y="0"/>
            <a:chExt cx="2310683" cy="581274"/>
          </a:xfrm>
        </p:grpSpPr>
        <p:sp>
          <p:nvSpPr>
            <p:cNvPr id="63" name="Freeform 4">
              <a:extLst>
                <a:ext uri="{FF2B5EF4-FFF2-40B4-BE49-F238E27FC236}">
                  <a16:creationId xmlns:a16="http://schemas.microsoft.com/office/drawing/2014/main" id="{23D40DA3-4EFE-CDC0-C69E-8D0CD2A1A0EC}"/>
                </a:ext>
              </a:extLst>
            </p:cNvPr>
            <p:cNvSpPr/>
            <p:nvPr/>
          </p:nvSpPr>
          <p:spPr>
            <a:xfrm>
              <a:off x="0" y="0"/>
              <a:ext cx="2310683" cy="581274"/>
            </a:xfrm>
            <a:custGeom>
              <a:avLst/>
              <a:gdLst/>
              <a:ahLst/>
              <a:cxnLst/>
              <a:rect l="l" t="t" r="r" b="b"/>
              <a:pathLst>
                <a:path w="2310683" h="581274">
                  <a:moveTo>
                    <a:pt x="32305" y="0"/>
                  </a:moveTo>
                  <a:lnTo>
                    <a:pt x="2278378" y="0"/>
                  </a:lnTo>
                  <a:cubicBezTo>
                    <a:pt x="2296219" y="0"/>
                    <a:pt x="2310683" y="14463"/>
                    <a:pt x="2310683" y="32305"/>
                  </a:cubicBezTo>
                  <a:lnTo>
                    <a:pt x="2310683" y="548969"/>
                  </a:lnTo>
                  <a:cubicBezTo>
                    <a:pt x="2310683" y="557537"/>
                    <a:pt x="2307279" y="565754"/>
                    <a:pt x="2301221" y="571812"/>
                  </a:cubicBezTo>
                  <a:cubicBezTo>
                    <a:pt x="2295162" y="577871"/>
                    <a:pt x="2286945" y="581274"/>
                    <a:pt x="2278378" y="581274"/>
                  </a:cubicBezTo>
                  <a:lnTo>
                    <a:pt x="32305" y="581274"/>
                  </a:lnTo>
                  <a:cubicBezTo>
                    <a:pt x="14463" y="581274"/>
                    <a:pt x="0" y="566811"/>
                    <a:pt x="0" y="548969"/>
                  </a:cubicBezTo>
                  <a:lnTo>
                    <a:pt x="0" y="32305"/>
                  </a:lnTo>
                  <a:cubicBezTo>
                    <a:pt x="0" y="23737"/>
                    <a:pt x="3404" y="15520"/>
                    <a:pt x="9462" y="9462"/>
                  </a:cubicBezTo>
                  <a:cubicBezTo>
                    <a:pt x="15520" y="3404"/>
                    <a:pt x="23737" y="0"/>
                    <a:pt x="32305" y="0"/>
                  </a:cubicBez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id="64" name="TextBox 5">
              <a:extLst>
                <a:ext uri="{FF2B5EF4-FFF2-40B4-BE49-F238E27FC236}">
                  <a16:creationId xmlns:a16="http://schemas.microsoft.com/office/drawing/2014/main" id="{EED164C3-6ED0-6083-6871-E014CA045CE9}"/>
                </a:ext>
              </a:extLst>
            </p:cNvPr>
            <p:cNvSpPr txBox="1"/>
            <p:nvPr/>
          </p:nvSpPr>
          <p:spPr>
            <a:xfrm>
              <a:off x="0" y="-76200"/>
              <a:ext cx="2310683" cy="657474"/>
            </a:xfrm>
            <a:prstGeom prst="rect">
              <a:avLst/>
            </a:prstGeom>
          </p:spPr>
          <p:txBody>
            <a:bodyPr lIns="53046" tIns="53046" rIns="53046" bIns="53046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sp>
        <p:nvSpPr>
          <p:cNvPr id="65" name="AutoShape 6">
            <a:extLst>
              <a:ext uri="{FF2B5EF4-FFF2-40B4-BE49-F238E27FC236}">
                <a16:creationId xmlns:a16="http://schemas.microsoft.com/office/drawing/2014/main" id="{749A1F20-56C1-EBBC-9139-0577D916A81E}"/>
              </a:ext>
            </a:extLst>
          </p:cNvPr>
          <p:cNvSpPr/>
          <p:nvPr/>
        </p:nvSpPr>
        <p:spPr>
          <a:xfrm flipV="1">
            <a:off x="4079786" y="3379737"/>
            <a:ext cx="0" cy="1500444"/>
          </a:xfrm>
          <a:prstGeom prst="line">
            <a:avLst/>
          </a:prstGeom>
          <a:ln w="9525" cap="rnd">
            <a:solidFill>
              <a:srgbClr val="FFFFFF">
                <a:alpha val="84706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6" name="Group 7">
            <a:extLst>
              <a:ext uri="{FF2B5EF4-FFF2-40B4-BE49-F238E27FC236}">
                <a16:creationId xmlns:a16="http://schemas.microsoft.com/office/drawing/2014/main" id="{E9E956F6-3EF8-CFC3-4627-746D209F36AA}"/>
              </a:ext>
            </a:extLst>
          </p:cNvPr>
          <p:cNvGrpSpPr/>
          <p:nvPr/>
        </p:nvGrpSpPr>
        <p:grpSpPr>
          <a:xfrm>
            <a:off x="1295400" y="5513638"/>
            <a:ext cx="7668798" cy="1929159"/>
            <a:chOff x="0" y="0"/>
            <a:chExt cx="2310683" cy="581274"/>
          </a:xfrm>
        </p:grpSpPr>
        <p:sp>
          <p:nvSpPr>
            <p:cNvPr id="67" name="Freeform 8">
              <a:extLst>
                <a:ext uri="{FF2B5EF4-FFF2-40B4-BE49-F238E27FC236}">
                  <a16:creationId xmlns:a16="http://schemas.microsoft.com/office/drawing/2014/main" id="{B0A92F8D-731F-1787-B816-3584CC476700}"/>
                </a:ext>
              </a:extLst>
            </p:cNvPr>
            <p:cNvSpPr/>
            <p:nvPr/>
          </p:nvSpPr>
          <p:spPr>
            <a:xfrm>
              <a:off x="0" y="0"/>
              <a:ext cx="2310683" cy="581274"/>
            </a:xfrm>
            <a:custGeom>
              <a:avLst/>
              <a:gdLst/>
              <a:ahLst/>
              <a:cxnLst/>
              <a:rect l="l" t="t" r="r" b="b"/>
              <a:pathLst>
                <a:path w="2310683" h="581274">
                  <a:moveTo>
                    <a:pt x="32305" y="0"/>
                  </a:moveTo>
                  <a:lnTo>
                    <a:pt x="2278378" y="0"/>
                  </a:lnTo>
                  <a:cubicBezTo>
                    <a:pt x="2296219" y="0"/>
                    <a:pt x="2310683" y="14463"/>
                    <a:pt x="2310683" y="32305"/>
                  </a:cubicBezTo>
                  <a:lnTo>
                    <a:pt x="2310683" y="548969"/>
                  </a:lnTo>
                  <a:cubicBezTo>
                    <a:pt x="2310683" y="557537"/>
                    <a:pt x="2307279" y="565754"/>
                    <a:pt x="2301221" y="571812"/>
                  </a:cubicBezTo>
                  <a:cubicBezTo>
                    <a:pt x="2295162" y="577871"/>
                    <a:pt x="2286945" y="581274"/>
                    <a:pt x="2278378" y="581274"/>
                  </a:cubicBezTo>
                  <a:lnTo>
                    <a:pt x="32305" y="581274"/>
                  </a:lnTo>
                  <a:cubicBezTo>
                    <a:pt x="14463" y="581274"/>
                    <a:pt x="0" y="566811"/>
                    <a:pt x="0" y="548969"/>
                  </a:cubicBezTo>
                  <a:lnTo>
                    <a:pt x="0" y="32305"/>
                  </a:lnTo>
                  <a:cubicBezTo>
                    <a:pt x="0" y="23737"/>
                    <a:pt x="3404" y="15520"/>
                    <a:pt x="9462" y="9462"/>
                  </a:cubicBezTo>
                  <a:cubicBezTo>
                    <a:pt x="15520" y="3404"/>
                    <a:pt x="23737" y="0"/>
                    <a:pt x="32305" y="0"/>
                  </a:cubicBezTo>
                  <a:close/>
                </a:path>
              </a:pathLst>
            </a:custGeom>
            <a:solidFill>
              <a:srgbClr val="08966E"/>
            </a:solidFill>
          </p:spPr>
        </p:sp>
        <p:sp>
          <p:nvSpPr>
            <p:cNvPr id="68" name="TextBox 9">
              <a:extLst>
                <a:ext uri="{FF2B5EF4-FFF2-40B4-BE49-F238E27FC236}">
                  <a16:creationId xmlns:a16="http://schemas.microsoft.com/office/drawing/2014/main" id="{ABF13FEB-650C-FC8D-C5FA-8EBB62031D2B}"/>
                </a:ext>
              </a:extLst>
            </p:cNvPr>
            <p:cNvSpPr txBox="1"/>
            <p:nvPr/>
          </p:nvSpPr>
          <p:spPr>
            <a:xfrm>
              <a:off x="0" y="-76200"/>
              <a:ext cx="2310683" cy="657474"/>
            </a:xfrm>
            <a:prstGeom prst="rect">
              <a:avLst/>
            </a:prstGeom>
          </p:spPr>
          <p:txBody>
            <a:bodyPr lIns="53046" tIns="53046" rIns="53046" bIns="53046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sp>
        <p:nvSpPr>
          <p:cNvPr id="69" name="AutoShape 10">
            <a:extLst>
              <a:ext uri="{FF2B5EF4-FFF2-40B4-BE49-F238E27FC236}">
                <a16:creationId xmlns:a16="http://schemas.microsoft.com/office/drawing/2014/main" id="{756D818F-D6CF-ED9F-2997-658FCA8E8134}"/>
              </a:ext>
            </a:extLst>
          </p:cNvPr>
          <p:cNvSpPr/>
          <p:nvPr/>
        </p:nvSpPr>
        <p:spPr>
          <a:xfrm flipV="1">
            <a:off x="4079786" y="5727996"/>
            <a:ext cx="0" cy="1500444"/>
          </a:xfrm>
          <a:prstGeom prst="line">
            <a:avLst/>
          </a:prstGeom>
          <a:ln w="9525" cap="rnd">
            <a:solidFill>
              <a:srgbClr val="FFFFFF">
                <a:alpha val="8470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70" name="TextBox 22">
            <a:extLst>
              <a:ext uri="{FF2B5EF4-FFF2-40B4-BE49-F238E27FC236}">
                <a16:creationId xmlns:a16="http://schemas.microsoft.com/office/drawing/2014/main" id="{173DA78B-3A46-13A0-8012-860C0773A171}"/>
              </a:ext>
            </a:extLst>
          </p:cNvPr>
          <p:cNvSpPr txBox="1"/>
          <p:nvPr/>
        </p:nvSpPr>
        <p:spPr>
          <a:xfrm>
            <a:off x="2335630" y="3815775"/>
            <a:ext cx="1561272" cy="701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34"/>
              </a:lnSpc>
            </a:pPr>
            <a:r>
              <a:rPr lang="en-US" sz="20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Chunk Verification</a:t>
            </a:r>
          </a:p>
        </p:txBody>
      </p:sp>
      <p:sp>
        <p:nvSpPr>
          <p:cNvPr id="71" name="TextBox 23">
            <a:extLst>
              <a:ext uri="{FF2B5EF4-FFF2-40B4-BE49-F238E27FC236}">
                <a16:creationId xmlns:a16="http://schemas.microsoft.com/office/drawing/2014/main" id="{CEF9C9A5-DB5F-52CD-56A2-F443A1A4E7DE}"/>
              </a:ext>
            </a:extLst>
          </p:cNvPr>
          <p:cNvSpPr txBox="1"/>
          <p:nvPr/>
        </p:nvSpPr>
        <p:spPr>
          <a:xfrm>
            <a:off x="4505740" y="3468629"/>
            <a:ext cx="3851686" cy="1395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54"/>
              </a:lnSpc>
            </a:pPr>
            <a:r>
              <a:rPr lang="en-US" sz="153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BitTorrent verifies each downloaded file chunk using hash values. Corrupted or modified chunks are automatically rejected. This makes content poisoning less effective.</a:t>
            </a:r>
          </a:p>
        </p:txBody>
      </p:sp>
      <p:sp>
        <p:nvSpPr>
          <p:cNvPr id="72" name="TextBox 24">
            <a:extLst>
              <a:ext uri="{FF2B5EF4-FFF2-40B4-BE49-F238E27FC236}">
                <a16:creationId xmlns:a16="http://schemas.microsoft.com/office/drawing/2014/main" id="{B0093171-9B10-5BFA-FAA6-A1D0A908FC14}"/>
              </a:ext>
            </a:extLst>
          </p:cNvPr>
          <p:cNvSpPr txBox="1"/>
          <p:nvPr/>
        </p:nvSpPr>
        <p:spPr>
          <a:xfrm>
            <a:off x="1639187" y="3955394"/>
            <a:ext cx="565666" cy="35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422">
                <a:solidFill>
                  <a:srgbClr val="FFFFFF">
                    <a:alpha val="7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id="73" name="TextBox 29">
            <a:extLst>
              <a:ext uri="{FF2B5EF4-FFF2-40B4-BE49-F238E27FC236}">
                <a16:creationId xmlns:a16="http://schemas.microsoft.com/office/drawing/2014/main" id="{0F4CA000-C0E8-F65A-6B1C-9A3207B85F17}"/>
              </a:ext>
            </a:extLst>
          </p:cNvPr>
          <p:cNvSpPr txBox="1"/>
          <p:nvPr/>
        </p:nvSpPr>
        <p:spPr>
          <a:xfrm>
            <a:off x="2337696" y="5599047"/>
            <a:ext cx="1604484" cy="1778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34"/>
              </a:lnSpc>
            </a:pPr>
            <a:r>
              <a:rPr lang="en-US" sz="20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Private Trackers and Community Monitoring</a:t>
            </a:r>
          </a:p>
        </p:txBody>
      </p:sp>
      <p:sp>
        <p:nvSpPr>
          <p:cNvPr id="74" name="TextBox 30">
            <a:extLst>
              <a:ext uri="{FF2B5EF4-FFF2-40B4-BE49-F238E27FC236}">
                <a16:creationId xmlns:a16="http://schemas.microsoft.com/office/drawing/2014/main" id="{A54758E5-DDE7-B8DE-EE62-514EB4E32CD7}"/>
              </a:ext>
            </a:extLst>
          </p:cNvPr>
          <p:cNvSpPr txBox="1"/>
          <p:nvPr/>
        </p:nvSpPr>
        <p:spPr>
          <a:xfrm>
            <a:off x="4505740" y="5649444"/>
            <a:ext cx="3851686" cy="1677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54"/>
              </a:lnSpc>
            </a:pPr>
            <a:r>
              <a:rPr lang="en-US" sz="153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Private tracker communities actively monitor uploaded torrents. Fake or poisoned torrents can be quickly identified and removed. Users responsible for uploading malicious content may be banned.</a:t>
            </a:r>
          </a:p>
        </p:txBody>
      </p:sp>
      <p:sp>
        <p:nvSpPr>
          <p:cNvPr id="75" name="TextBox 31">
            <a:extLst>
              <a:ext uri="{FF2B5EF4-FFF2-40B4-BE49-F238E27FC236}">
                <a16:creationId xmlns:a16="http://schemas.microsoft.com/office/drawing/2014/main" id="{DFB3C731-7E94-4DC7-84B6-73733082411B}"/>
              </a:ext>
            </a:extLst>
          </p:cNvPr>
          <p:cNvSpPr txBox="1"/>
          <p:nvPr/>
        </p:nvSpPr>
        <p:spPr>
          <a:xfrm>
            <a:off x="1639187" y="6303654"/>
            <a:ext cx="565666" cy="35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422">
                <a:solidFill>
                  <a:srgbClr val="FFFFFF">
                    <a:alpha val="7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grpSp>
        <p:nvGrpSpPr>
          <p:cNvPr id="83" name="Group 7">
            <a:extLst>
              <a:ext uri="{FF2B5EF4-FFF2-40B4-BE49-F238E27FC236}">
                <a16:creationId xmlns:a16="http://schemas.microsoft.com/office/drawing/2014/main" id="{23EF6C57-B70F-41C1-ACB7-48271519F86C}"/>
              </a:ext>
            </a:extLst>
          </p:cNvPr>
          <p:cNvGrpSpPr/>
          <p:nvPr/>
        </p:nvGrpSpPr>
        <p:grpSpPr>
          <a:xfrm>
            <a:off x="9402343" y="3163493"/>
            <a:ext cx="7668798" cy="1929159"/>
            <a:chOff x="0" y="0"/>
            <a:chExt cx="2310683" cy="581274"/>
          </a:xfrm>
        </p:grpSpPr>
        <p:sp>
          <p:nvSpPr>
            <p:cNvPr id="84" name="Freeform 8">
              <a:extLst>
                <a:ext uri="{FF2B5EF4-FFF2-40B4-BE49-F238E27FC236}">
                  <a16:creationId xmlns:a16="http://schemas.microsoft.com/office/drawing/2014/main" id="{CAEE6A1D-01EE-74EE-C19E-B804495C15BB}"/>
                </a:ext>
              </a:extLst>
            </p:cNvPr>
            <p:cNvSpPr/>
            <p:nvPr/>
          </p:nvSpPr>
          <p:spPr>
            <a:xfrm>
              <a:off x="0" y="0"/>
              <a:ext cx="2310683" cy="581274"/>
            </a:xfrm>
            <a:custGeom>
              <a:avLst/>
              <a:gdLst/>
              <a:ahLst/>
              <a:cxnLst/>
              <a:rect l="l" t="t" r="r" b="b"/>
              <a:pathLst>
                <a:path w="2310683" h="581274">
                  <a:moveTo>
                    <a:pt x="32305" y="0"/>
                  </a:moveTo>
                  <a:lnTo>
                    <a:pt x="2278378" y="0"/>
                  </a:lnTo>
                  <a:cubicBezTo>
                    <a:pt x="2296219" y="0"/>
                    <a:pt x="2310683" y="14463"/>
                    <a:pt x="2310683" y="32305"/>
                  </a:cubicBezTo>
                  <a:lnTo>
                    <a:pt x="2310683" y="548969"/>
                  </a:lnTo>
                  <a:cubicBezTo>
                    <a:pt x="2310683" y="557537"/>
                    <a:pt x="2307279" y="565754"/>
                    <a:pt x="2301221" y="571812"/>
                  </a:cubicBezTo>
                  <a:cubicBezTo>
                    <a:pt x="2295162" y="577871"/>
                    <a:pt x="2286945" y="581274"/>
                    <a:pt x="2278378" y="581274"/>
                  </a:cubicBezTo>
                  <a:lnTo>
                    <a:pt x="32305" y="581274"/>
                  </a:lnTo>
                  <a:cubicBezTo>
                    <a:pt x="14463" y="581274"/>
                    <a:pt x="0" y="566811"/>
                    <a:pt x="0" y="548969"/>
                  </a:cubicBezTo>
                  <a:lnTo>
                    <a:pt x="0" y="32305"/>
                  </a:lnTo>
                  <a:cubicBezTo>
                    <a:pt x="0" y="23737"/>
                    <a:pt x="3404" y="15520"/>
                    <a:pt x="9462" y="9462"/>
                  </a:cubicBezTo>
                  <a:cubicBezTo>
                    <a:pt x="15520" y="3404"/>
                    <a:pt x="23737" y="0"/>
                    <a:pt x="32305" y="0"/>
                  </a:cubicBezTo>
                  <a:close/>
                </a:path>
              </a:pathLst>
            </a:custGeom>
            <a:solidFill>
              <a:srgbClr val="08966E"/>
            </a:solidFill>
          </p:spPr>
        </p:sp>
        <p:sp>
          <p:nvSpPr>
            <p:cNvPr id="85" name="TextBox 9">
              <a:extLst>
                <a:ext uri="{FF2B5EF4-FFF2-40B4-BE49-F238E27FC236}">
                  <a16:creationId xmlns:a16="http://schemas.microsoft.com/office/drawing/2014/main" id="{D56CB1AC-6893-EBEE-62D9-A3CD24F96456}"/>
                </a:ext>
              </a:extLst>
            </p:cNvPr>
            <p:cNvSpPr txBox="1"/>
            <p:nvPr/>
          </p:nvSpPr>
          <p:spPr>
            <a:xfrm>
              <a:off x="0" y="-76200"/>
              <a:ext cx="2310683" cy="657474"/>
            </a:xfrm>
            <a:prstGeom prst="rect">
              <a:avLst/>
            </a:prstGeom>
          </p:spPr>
          <p:txBody>
            <a:bodyPr lIns="53046" tIns="53046" rIns="53046" bIns="53046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sp>
        <p:nvSpPr>
          <p:cNvPr id="86" name="AutoShape 10">
            <a:extLst>
              <a:ext uri="{FF2B5EF4-FFF2-40B4-BE49-F238E27FC236}">
                <a16:creationId xmlns:a16="http://schemas.microsoft.com/office/drawing/2014/main" id="{F8A21612-48A2-D4DC-2045-4764F8193E43}"/>
              </a:ext>
            </a:extLst>
          </p:cNvPr>
          <p:cNvSpPr/>
          <p:nvPr/>
        </p:nvSpPr>
        <p:spPr>
          <a:xfrm flipV="1">
            <a:off x="12186729" y="3377851"/>
            <a:ext cx="0" cy="1500444"/>
          </a:xfrm>
          <a:prstGeom prst="line">
            <a:avLst/>
          </a:prstGeom>
          <a:ln w="9525" cap="rnd">
            <a:solidFill>
              <a:srgbClr val="FFFFFF">
                <a:alpha val="8470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87" name="TextBox 29">
            <a:extLst>
              <a:ext uri="{FF2B5EF4-FFF2-40B4-BE49-F238E27FC236}">
                <a16:creationId xmlns:a16="http://schemas.microsoft.com/office/drawing/2014/main" id="{27367FA4-32D4-74E5-1D6C-36EB1A070470}"/>
              </a:ext>
            </a:extLst>
          </p:cNvPr>
          <p:cNvSpPr txBox="1"/>
          <p:nvPr/>
        </p:nvSpPr>
        <p:spPr>
          <a:xfrm>
            <a:off x="10444639" y="3459060"/>
            <a:ext cx="1604484" cy="1419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34"/>
              </a:lnSpc>
            </a:pPr>
            <a:r>
              <a:rPr lang="en-US" sz="20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Reporting and Reputation Systems</a:t>
            </a:r>
          </a:p>
        </p:txBody>
      </p:sp>
      <p:sp>
        <p:nvSpPr>
          <p:cNvPr id="88" name="TextBox 30">
            <a:extLst>
              <a:ext uri="{FF2B5EF4-FFF2-40B4-BE49-F238E27FC236}">
                <a16:creationId xmlns:a16="http://schemas.microsoft.com/office/drawing/2014/main" id="{6A38ADF2-0F9A-84C1-21D0-75D5D682F6C8}"/>
              </a:ext>
            </a:extLst>
          </p:cNvPr>
          <p:cNvSpPr txBox="1"/>
          <p:nvPr/>
        </p:nvSpPr>
        <p:spPr>
          <a:xfrm>
            <a:off x="12624875" y="3308410"/>
            <a:ext cx="3851686" cy="1677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54"/>
              </a:lnSpc>
            </a:pPr>
            <a:r>
              <a:rPr lang="en-US" sz="153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Many public torrent websites allow users to report fake torrents. User feedback helps identify trusted uploaders and reliable content. Reputation systems improve overall content quality.</a:t>
            </a:r>
          </a:p>
        </p:txBody>
      </p:sp>
      <p:sp>
        <p:nvSpPr>
          <p:cNvPr id="89" name="TextBox 31">
            <a:extLst>
              <a:ext uri="{FF2B5EF4-FFF2-40B4-BE49-F238E27FC236}">
                <a16:creationId xmlns:a16="http://schemas.microsoft.com/office/drawing/2014/main" id="{E4938A2C-FB21-0C2A-D14D-6D87B3B85DA1}"/>
              </a:ext>
            </a:extLst>
          </p:cNvPr>
          <p:cNvSpPr txBox="1"/>
          <p:nvPr/>
        </p:nvSpPr>
        <p:spPr>
          <a:xfrm>
            <a:off x="9746130" y="3953509"/>
            <a:ext cx="565666" cy="33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422" dirty="0">
                <a:solidFill>
                  <a:srgbClr val="FFFFFF">
                    <a:alpha val="7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grpSp>
        <p:nvGrpSpPr>
          <p:cNvPr id="90" name="Group 3">
            <a:extLst>
              <a:ext uri="{FF2B5EF4-FFF2-40B4-BE49-F238E27FC236}">
                <a16:creationId xmlns:a16="http://schemas.microsoft.com/office/drawing/2014/main" id="{B96C6689-533D-81B0-7190-41E4F454282A}"/>
              </a:ext>
            </a:extLst>
          </p:cNvPr>
          <p:cNvGrpSpPr/>
          <p:nvPr/>
        </p:nvGrpSpPr>
        <p:grpSpPr>
          <a:xfrm>
            <a:off x="9402343" y="5523622"/>
            <a:ext cx="7668798" cy="1929159"/>
            <a:chOff x="0" y="0"/>
            <a:chExt cx="2310683" cy="581274"/>
          </a:xfrm>
        </p:grpSpPr>
        <p:sp>
          <p:nvSpPr>
            <p:cNvPr id="91" name="Freeform 4">
              <a:extLst>
                <a:ext uri="{FF2B5EF4-FFF2-40B4-BE49-F238E27FC236}">
                  <a16:creationId xmlns:a16="http://schemas.microsoft.com/office/drawing/2014/main" id="{104257D2-1F80-288A-5531-C735877E4429}"/>
                </a:ext>
              </a:extLst>
            </p:cNvPr>
            <p:cNvSpPr/>
            <p:nvPr/>
          </p:nvSpPr>
          <p:spPr>
            <a:xfrm>
              <a:off x="0" y="0"/>
              <a:ext cx="2310683" cy="581274"/>
            </a:xfrm>
            <a:custGeom>
              <a:avLst/>
              <a:gdLst/>
              <a:ahLst/>
              <a:cxnLst/>
              <a:rect l="l" t="t" r="r" b="b"/>
              <a:pathLst>
                <a:path w="2310683" h="581274">
                  <a:moveTo>
                    <a:pt x="32305" y="0"/>
                  </a:moveTo>
                  <a:lnTo>
                    <a:pt x="2278378" y="0"/>
                  </a:lnTo>
                  <a:cubicBezTo>
                    <a:pt x="2296219" y="0"/>
                    <a:pt x="2310683" y="14463"/>
                    <a:pt x="2310683" y="32305"/>
                  </a:cubicBezTo>
                  <a:lnTo>
                    <a:pt x="2310683" y="548969"/>
                  </a:lnTo>
                  <a:cubicBezTo>
                    <a:pt x="2310683" y="557537"/>
                    <a:pt x="2307279" y="565754"/>
                    <a:pt x="2301221" y="571812"/>
                  </a:cubicBezTo>
                  <a:cubicBezTo>
                    <a:pt x="2295162" y="577871"/>
                    <a:pt x="2286945" y="581274"/>
                    <a:pt x="2278378" y="581274"/>
                  </a:cubicBezTo>
                  <a:lnTo>
                    <a:pt x="32305" y="581274"/>
                  </a:lnTo>
                  <a:cubicBezTo>
                    <a:pt x="14463" y="581274"/>
                    <a:pt x="0" y="566811"/>
                    <a:pt x="0" y="548969"/>
                  </a:cubicBezTo>
                  <a:lnTo>
                    <a:pt x="0" y="32305"/>
                  </a:lnTo>
                  <a:cubicBezTo>
                    <a:pt x="0" y="23737"/>
                    <a:pt x="3404" y="15520"/>
                    <a:pt x="9462" y="9462"/>
                  </a:cubicBezTo>
                  <a:cubicBezTo>
                    <a:pt x="15520" y="3404"/>
                    <a:pt x="23737" y="0"/>
                    <a:pt x="32305" y="0"/>
                  </a:cubicBez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id="92" name="TextBox 5">
              <a:extLst>
                <a:ext uri="{FF2B5EF4-FFF2-40B4-BE49-F238E27FC236}">
                  <a16:creationId xmlns:a16="http://schemas.microsoft.com/office/drawing/2014/main" id="{4677662E-D0F3-B7E1-9B97-8F5460B9CB34}"/>
                </a:ext>
              </a:extLst>
            </p:cNvPr>
            <p:cNvSpPr txBox="1"/>
            <p:nvPr/>
          </p:nvSpPr>
          <p:spPr>
            <a:xfrm>
              <a:off x="0" y="-76200"/>
              <a:ext cx="2310683" cy="657474"/>
            </a:xfrm>
            <a:prstGeom prst="rect">
              <a:avLst/>
            </a:prstGeom>
          </p:spPr>
          <p:txBody>
            <a:bodyPr lIns="53046" tIns="53046" rIns="53046" bIns="53046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sp>
        <p:nvSpPr>
          <p:cNvPr id="93" name="AutoShape 6">
            <a:extLst>
              <a:ext uri="{FF2B5EF4-FFF2-40B4-BE49-F238E27FC236}">
                <a16:creationId xmlns:a16="http://schemas.microsoft.com/office/drawing/2014/main" id="{FBD4B40E-9E9D-2969-B067-3F9B0B86C6CA}"/>
              </a:ext>
            </a:extLst>
          </p:cNvPr>
          <p:cNvSpPr/>
          <p:nvPr/>
        </p:nvSpPr>
        <p:spPr>
          <a:xfrm flipV="1">
            <a:off x="12186729" y="5737980"/>
            <a:ext cx="0" cy="1500444"/>
          </a:xfrm>
          <a:prstGeom prst="line">
            <a:avLst/>
          </a:prstGeom>
          <a:ln w="9525" cap="rnd">
            <a:solidFill>
              <a:srgbClr val="FFFFFF">
                <a:alpha val="8470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94" name="TextBox 22">
            <a:extLst>
              <a:ext uri="{FF2B5EF4-FFF2-40B4-BE49-F238E27FC236}">
                <a16:creationId xmlns:a16="http://schemas.microsoft.com/office/drawing/2014/main" id="{6BEF293B-24A3-02E3-9D56-82C40517614B}"/>
              </a:ext>
            </a:extLst>
          </p:cNvPr>
          <p:cNvSpPr txBox="1"/>
          <p:nvPr/>
        </p:nvSpPr>
        <p:spPr>
          <a:xfrm>
            <a:off x="10392735" y="5895606"/>
            <a:ext cx="1708291" cy="1060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34"/>
              </a:lnSpc>
            </a:pPr>
            <a:r>
              <a:rPr lang="en-US" sz="20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Improved BitTorrent Technologies</a:t>
            </a:r>
          </a:p>
        </p:txBody>
      </p:sp>
      <p:sp>
        <p:nvSpPr>
          <p:cNvPr id="95" name="TextBox 23">
            <a:extLst>
              <a:ext uri="{FF2B5EF4-FFF2-40B4-BE49-F238E27FC236}">
                <a16:creationId xmlns:a16="http://schemas.microsoft.com/office/drawing/2014/main" id="{C104C6F6-5088-E30D-5E7F-1A978088B738}"/>
              </a:ext>
            </a:extLst>
          </p:cNvPr>
          <p:cNvSpPr txBox="1"/>
          <p:nvPr/>
        </p:nvSpPr>
        <p:spPr>
          <a:xfrm>
            <a:off x="12696996" y="5796275"/>
            <a:ext cx="3851686" cy="1395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54"/>
              </a:lnSpc>
            </a:pPr>
            <a:r>
              <a:rPr lang="en-US" sz="153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Modern BitTorrent clients and trackers have become more secure. New protocols and security improvements reduce the effectiveness of spoofing and other poisoning attacks.</a:t>
            </a:r>
          </a:p>
        </p:txBody>
      </p:sp>
      <p:sp>
        <p:nvSpPr>
          <p:cNvPr id="96" name="TextBox 24">
            <a:extLst>
              <a:ext uri="{FF2B5EF4-FFF2-40B4-BE49-F238E27FC236}">
                <a16:creationId xmlns:a16="http://schemas.microsoft.com/office/drawing/2014/main" id="{8300CE71-3695-5574-E936-7E1FA26637F9}"/>
              </a:ext>
            </a:extLst>
          </p:cNvPr>
          <p:cNvSpPr txBox="1"/>
          <p:nvPr/>
        </p:nvSpPr>
        <p:spPr>
          <a:xfrm>
            <a:off x="9746130" y="6313637"/>
            <a:ext cx="565666" cy="33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422" dirty="0">
                <a:solidFill>
                  <a:srgbClr val="FFFFFF">
                    <a:alpha val="7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</a:p>
        </p:txBody>
      </p:sp>
      <p:sp>
        <p:nvSpPr>
          <p:cNvPr id="97" name="TextBox 30">
            <a:extLst>
              <a:ext uri="{FF2B5EF4-FFF2-40B4-BE49-F238E27FC236}">
                <a16:creationId xmlns:a16="http://schemas.microsoft.com/office/drawing/2014/main" id="{3F2AD489-972C-B3FB-6034-BFF6BCFF3957}"/>
              </a:ext>
            </a:extLst>
          </p:cNvPr>
          <p:cNvSpPr txBox="1"/>
          <p:nvPr/>
        </p:nvSpPr>
        <p:spPr>
          <a:xfrm>
            <a:off x="1827298" y="8104085"/>
            <a:ext cx="14273799" cy="54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154"/>
              </a:lnSpc>
            </a:pPr>
            <a:r>
              <a:rPr lang="en-US" sz="153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Torrent poisoning can slow down piracy, but continuous improvements in BitTorrent technology have made many poisoning attacks less effective over time.</a:t>
            </a:r>
          </a:p>
        </p:txBody>
      </p:sp>
      <p:sp>
        <p:nvSpPr>
          <p:cNvPr id="3" name="Freeform 13">
            <a:extLst>
              <a:ext uri="{FF2B5EF4-FFF2-40B4-BE49-F238E27FC236}">
                <a16:creationId xmlns:a16="http://schemas.microsoft.com/office/drawing/2014/main" id="{BCA086FF-10A5-D584-4251-096A5C015C5C}"/>
              </a:ext>
            </a:extLst>
          </p:cNvPr>
          <p:cNvSpPr/>
          <p:nvPr/>
        </p:nvSpPr>
        <p:spPr>
          <a:xfrm>
            <a:off x="25500732" y="2508331"/>
            <a:ext cx="7188465" cy="6749969"/>
          </a:xfrm>
          <a:custGeom>
            <a:avLst/>
            <a:gdLst/>
            <a:ahLst/>
            <a:cxnLst/>
            <a:rect l="l" t="t" r="r" b="b"/>
            <a:pathLst>
              <a:path w="7188465" h="6749969">
                <a:moveTo>
                  <a:pt x="0" y="0"/>
                </a:moveTo>
                <a:lnTo>
                  <a:pt x="7188465" y="0"/>
                </a:lnTo>
                <a:lnTo>
                  <a:pt x="7188465" y="6749969"/>
                </a:lnTo>
                <a:lnTo>
                  <a:pt x="0" y="67499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187D94D-2924-E315-671A-B4893ED0F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" y="0"/>
            <a:ext cx="18282583" cy="10287000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 flipV="1">
            <a:off x="1028700" y="2160669"/>
            <a:ext cx="16230600" cy="0"/>
          </a:xfrm>
          <a:prstGeom prst="line">
            <a:avLst/>
          </a:prstGeom>
          <a:ln w="9525" cap="rnd">
            <a:solidFill>
              <a:srgbClr val="182D8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46988" y="1280027"/>
            <a:ext cx="12745212" cy="711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54"/>
              </a:lnSpc>
            </a:pPr>
            <a:r>
              <a:rPr lang="en-US" sz="5097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Anonymity in BitTorrent Networks</a:t>
            </a:r>
          </a:p>
        </p:txBody>
      </p:sp>
      <p:sp>
        <p:nvSpPr>
          <p:cNvPr id="8" name="Freeform 8"/>
          <p:cNvSpPr/>
          <p:nvPr/>
        </p:nvSpPr>
        <p:spPr>
          <a:xfrm>
            <a:off x="1173028" y="2685317"/>
            <a:ext cx="7058549" cy="6882085"/>
          </a:xfrm>
          <a:custGeom>
            <a:avLst/>
            <a:gdLst/>
            <a:ahLst/>
            <a:cxnLst/>
            <a:rect l="l" t="t" r="r" b="b"/>
            <a:pathLst>
              <a:path w="7058549" h="6882085">
                <a:moveTo>
                  <a:pt x="0" y="0"/>
                </a:moveTo>
                <a:lnTo>
                  <a:pt x="7058549" y="0"/>
                </a:lnTo>
                <a:lnTo>
                  <a:pt x="7058549" y="6882085"/>
                </a:lnTo>
                <a:lnTo>
                  <a:pt x="0" y="68820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9144000" y="2755630"/>
            <a:ext cx="7147015" cy="5807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47"/>
              </a:lnSpc>
            </a:pPr>
            <a:r>
              <a:rPr lang="en-US" sz="2263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Problem:</a:t>
            </a:r>
          </a:p>
          <a:p>
            <a:pPr marL="342900" indent="-342900" algn="just">
              <a:lnSpc>
                <a:spcPts val="3847"/>
              </a:lnSpc>
              <a:buFont typeface="Arial" panose="020B0604020202020204" pitchFamily="34" charset="0"/>
              <a:buChar char="•"/>
            </a:pPr>
            <a:r>
              <a:rPr lang="en-US" sz="2263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Every peer's IP address is visible.</a:t>
            </a:r>
          </a:p>
          <a:p>
            <a:pPr algn="just">
              <a:lnSpc>
                <a:spcPts val="3847"/>
              </a:lnSpc>
            </a:pPr>
            <a:r>
              <a:rPr lang="en-US" sz="2263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Risks:</a:t>
            </a:r>
          </a:p>
          <a:p>
            <a:pPr marL="342900" indent="-342900" algn="just">
              <a:lnSpc>
                <a:spcPts val="3847"/>
              </a:lnSpc>
              <a:buFont typeface="Arial" panose="020B0604020202020204" pitchFamily="34" charset="0"/>
              <a:buChar char="•"/>
            </a:pPr>
            <a:r>
              <a:rPr lang="en-US" sz="2263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User tracking</a:t>
            </a:r>
          </a:p>
          <a:p>
            <a:pPr marL="342900" indent="-342900" algn="just">
              <a:lnSpc>
                <a:spcPts val="3847"/>
              </a:lnSpc>
              <a:buFont typeface="Arial" panose="020B0604020202020204" pitchFamily="34" charset="0"/>
              <a:buChar char="•"/>
            </a:pPr>
            <a:r>
              <a:rPr lang="en-US" sz="2263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Monitoring by copyright holders</a:t>
            </a:r>
          </a:p>
          <a:p>
            <a:pPr marL="342900" indent="-342900" algn="just">
              <a:lnSpc>
                <a:spcPts val="3847"/>
              </a:lnSpc>
              <a:buFont typeface="Arial" panose="020B0604020202020204" pitchFamily="34" charset="0"/>
              <a:buChar char="•"/>
            </a:pPr>
            <a:r>
              <a:rPr lang="en-US" sz="2263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Legal investigations</a:t>
            </a:r>
          </a:p>
          <a:p>
            <a:pPr marL="342900" indent="-342900" algn="just">
              <a:lnSpc>
                <a:spcPts val="3847"/>
              </a:lnSpc>
              <a:buFont typeface="Arial" panose="020B0604020202020204" pitchFamily="34" charset="0"/>
              <a:buChar char="•"/>
            </a:pPr>
            <a:r>
              <a:rPr lang="en-US" sz="2263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Privacy concerns</a:t>
            </a:r>
          </a:p>
          <a:p>
            <a:pPr marL="342900" indent="-342900" algn="just">
              <a:lnSpc>
                <a:spcPts val="3847"/>
              </a:lnSpc>
              <a:buFont typeface="Arial" panose="020B0604020202020204" pitchFamily="34" charset="0"/>
              <a:buChar char="•"/>
            </a:pPr>
            <a:r>
              <a:rPr lang="en-US" sz="2263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Open for Ransomware attacks and spywares etc.</a:t>
            </a:r>
          </a:p>
          <a:p>
            <a:pPr algn="just">
              <a:lnSpc>
                <a:spcPts val="3847"/>
              </a:lnSpc>
            </a:pPr>
            <a:r>
              <a:rPr lang="en-US" sz="2263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As a result, users seek methods to hide their identities. Anonymity in Torrents has its own importance and character.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2C54958-7668-F49D-4BFE-DF36BDFF5EC9}"/>
              </a:ext>
            </a:extLst>
          </p:cNvPr>
          <p:cNvGrpSpPr/>
          <p:nvPr/>
        </p:nvGrpSpPr>
        <p:grpSpPr>
          <a:xfrm>
            <a:off x="-17068800" y="4229100"/>
            <a:ext cx="4192716" cy="5008742"/>
            <a:chOff x="0" y="0"/>
            <a:chExt cx="1114126" cy="133096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73A10D3-F895-52D8-5E24-4122ADDCC1C2}"/>
                </a:ext>
              </a:extLst>
            </p:cNvPr>
            <p:cNvSpPr/>
            <p:nvPr/>
          </p:nvSpPr>
          <p:spPr>
            <a:xfrm>
              <a:off x="0" y="0"/>
              <a:ext cx="1114126" cy="1330968"/>
            </a:xfrm>
            <a:custGeom>
              <a:avLst/>
              <a:gdLst/>
              <a:ahLst/>
              <a:cxnLst/>
              <a:rect l="l" t="t" r="r" b="b"/>
              <a:pathLst>
                <a:path w="1114126" h="1330968">
                  <a:moveTo>
                    <a:pt x="79400" y="0"/>
                  </a:moveTo>
                  <a:lnTo>
                    <a:pt x="1034726" y="0"/>
                  </a:lnTo>
                  <a:cubicBezTo>
                    <a:pt x="1055784" y="0"/>
                    <a:pt x="1075980" y="8365"/>
                    <a:pt x="1090870" y="23256"/>
                  </a:cubicBezTo>
                  <a:cubicBezTo>
                    <a:pt x="1105761" y="38146"/>
                    <a:pt x="1114126" y="58342"/>
                    <a:pt x="1114126" y="79400"/>
                  </a:cubicBezTo>
                  <a:lnTo>
                    <a:pt x="1114126" y="1251568"/>
                  </a:lnTo>
                  <a:cubicBezTo>
                    <a:pt x="1114126" y="1295419"/>
                    <a:pt x="1078577" y="1330968"/>
                    <a:pt x="1034726" y="1330968"/>
                  </a:cubicBezTo>
                  <a:lnTo>
                    <a:pt x="79400" y="1330968"/>
                  </a:lnTo>
                  <a:cubicBezTo>
                    <a:pt x="58342" y="1330968"/>
                    <a:pt x="38146" y="1322602"/>
                    <a:pt x="23256" y="1307712"/>
                  </a:cubicBezTo>
                  <a:cubicBezTo>
                    <a:pt x="8365" y="1292822"/>
                    <a:pt x="0" y="1272626"/>
                    <a:pt x="0" y="1251568"/>
                  </a:cubicBezTo>
                  <a:lnTo>
                    <a:pt x="0" y="79400"/>
                  </a:lnTo>
                  <a:cubicBezTo>
                    <a:pt x="0" y="58342"/>
                    <a:pt x="8365" y="38146"/>
                    <a:pt x="23256" y="23256"/>
                  </a:cubicBezTo>
                  <a:cubicBezTo>
                    <a:pt x="38146" y="8365"/>
                    <a:pt x="58342" y="0"/>
                    <a:pt x="79400" y="0"/>
                  </a:cubicBez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6CD159F-F2F8-D341-6A01-DF78A1233A57}"/>
                </a:ext>
              </a:extLst>
            </p:cNvPr>
            <p:cNvSpPr txBox="1"/>
            <p:nvPr/>
          </p:nvSpPr>
          <p:spPr>
            <a:xfrm>
              <a:off x="0" y="-76200"/>
              <a:ext cx="1114126" cy="1407168"/>
            </a:xfrm>
            <a:prstGeom prst="rect">
              <a:avLst/>
            </a:prstGeom>
          </p:spPr>
          <p:txBody>
            <a:bodyPr lIns="55600" tIns="55600" rIns="55600" bIns="55600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095A5EDB-ECB0-9F0F-093D-3F9F22F3E33D}"/>
              </a:ext>
            </a:extLst>
          </p:cNvPr>
          <p:cNvGrpSpPr/>
          <p:nvPr/>
        </p:nvGrpSpPr>
        <p:grpSpPr>
          <a:xfrm>
            <a:off x="-13788919" y="3749769"/>
            <a:ext cx="1317740" cy="1317740"/>
            <a:chOff x="0" y="0"/>
            <a:chExt cx="812800" cy="812800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678B9B1B-484E-7CF0-439F-13F745A130A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1827DAF-2363-15B6-0D6F-2C1AB3BD6628}"/>
                </a:ext>
              </a:extLst>
            </p:cNvPr>
            <p:cNvSpPr txBox="1"/>
            <p:nvPr/>
          </p:nvSpPr>
          <p:spPr>
            <a:xfrm>
              <a:off x="76200" y="-66675"/>
              <a:ext cx="660400" cy="803275"/>
            </a:xfrm>
            <a:prstGeom prst="rect">
              <a:avLst/>
            </a:prstGeom>
          </p:spPr>
          <p:txBody>
            <a:bodyPr lIns="53246" tIns="53246" rIns="53246" bIns="53246" rtlCol="0" anchor="ctr"/>
            <a:lstStyle/>
            <a:p>
              <a:pPr algn="ctr">
                <a:lnSpc>
                  <a:spcPts val="4233"/>
                </a:lnSpc>
              </a:pPr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2EDBF5C-212F-B652-703A-967F27E8D388}"/>
              </a:ext>
            </a:extLst>
          </p:cNvPr>
          <p:cNvSpPr txBox="1"/>
          <p:nvPr/>
        </p:nvSpPr>
        <p:spPr>
          <a:xfrm>
            <a:off x="-16489018" y="6362189"/>
            <a:ext cx="3033152" cy="2217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just">
              <a:lnSpc>
                <a:spcPts val="2546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Hides the user's real IP address.</a:t>
            </a:r>
          </a:p>
          <a:p>
            <a:pPr marL="285750" indent="-285750" algn="just">
              <a:lnSpc>
                <a:spcPts val="2546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Encrypts internet traffic.</a:t>
            </a:r>
          </a:p>
          <a:p>
            <a:pPr marL="285750" indent="-285750" algn="just">
              <a:lnSpc>
                <a:spcPts val="2546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Routes traffic through secure servers.</a:t>
            </a:r>
          </a:p>
          <a:p>
            <a:pPr marL="285750" indent="-285750" algn="just">
              <a:lnSpc>
                <a:spcPts val="2546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Prevents direct monitoring by third parties.</a:t>
            </a:r>
          </a:p>
        </p:txBody>
      </p:sp>
      <p:grpSp>
        <p:nvGrpSpPr>
          <p:cNvPr id="14" name="Group 11">
            <a:extLst>
              <a:ext uri="{FF2B5EF4-FFF2-40B4-BE49-F238E27FC236}">
                <a16:creationId xmlns:a16="http://schemas.microsoft.com/office/drawing/2014/main" id="{A98CE1A0-C309-9978-B039-F0D1E17A16BC}"/>
              </a:ext>
            </a:extLst>
          </p:cNvPr>
          <p:cNvGrpSpPr/>
          <p:nvPr/>
        </p:nvGrpSpPr>
        <p:grpSpPr>
          <a:xfrm>
            <a:off x="-13642125" y="3896563"/>
            <a:ext cx="1024151" cy="1024151"/>
            <a:chOff x="0" y="0"/>
            <a:chExt cx="812800" cy="812800"/>
          </a:xfrm>
        </p:grpSpPr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E647FC11-AA0D-5418-8ADD-133752E56A1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id="16" name="TextBox 13">
              <a:extLst>
                <a:ext uri="{FF2B5EF4-FFF2-40B4-BE49-F238E27FC236}">
                  <a16:creationId xmlns:a16="http://schemas.microsoft.com/office/drawing/2014/main" id="{3788B9DC-BB99-09D4-4821-47BC3483D579}"/>
                </a:ext>
              </a:extLst>
            </p:cNvPr>
            <p:cNvSpPr txBox="1"/>
            <p:nvPr/>
          </p:nvSpPr>
          <p:spPr>
            <a:xfrm>
              <a:off x="76200" y="-66675"/>
              <a:ext cx="660400" cy="803275"/>
            </a:xfrm>
            <a:prstGeom prst="rect">
              <a:avLst/>
            </a:prstGeom>
          </p:spPr>
          <p:txBody>
            <a:bodyPr lIns="53246" tIns="53246" rIns="53246" bIns="53246" rtlCol="0" anchor="ctr"/>
            <a:lstStyle/>
            <a:p>
              <a:pPr algn="ctr">
                <a:lnSpc>
                  <a:spcPts val="4233"/>
                </a:lnSpc>
              </a:pPr>
              <a:endParaRPr/>
            </a:p>
          </p:txBody>
        </p:sp>
      </p:grpSp>
      <p:sp>
        <p:nvSpPr>
          <p:cNvPr id="17" name="TextBox 14">
            <a:extLst>
              <a:ext uri="{FF2B5EF4-FFF2-40B4-BE49-F238E27FC236}">
                <a16:creationId xmlns:a16="http://schemas.microsoft.com/office/drawing/2014/main" id="{27A01875-1529-E45C-859C-AE8AAAC48FC9}"/>
              </a:ext>
            </a:extLst>
          </p:cNvPr>
          <p:cNvSpPr txBox="1"/>
          <p:nvPr/>
        </p:nvSpPr>
        <p:spPr>
          <a:xfrm>
            <a:off x="-13479884" y="3969312"/>
            <a:ext cx="699670" cy="68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3"/>
              </a:lnSpc>
            </a:pPr>
            <a:r>
              <a:rPr lang="en-US" sz="33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74776BE0-D02A-1C34-EAC9-F8F30CFE025D}"/>
              </a:ext>
            </a:extLst>
          </p:cNvPr>
          <p:cNvSpPr txBox="1"/>
          <p:nvPr/>
        </p:nvSpPr>
        <p:spPr>
          <a:xfrm>
            <a:off x="-16489018" y="4648745"/>
            <a:ext cx="2541247" cy="1362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258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VPN (Virtual Private Network)</a:t>
            </a:r>
          </a:p>
        </p:txBody>
      </p:sp>
      <p:grpSp>
        <p:nvGrpSpPr>
          <p:cNvPr id="19" name="Group 16">
            <a:extLst>
              <a:ext uri="{FF2B5EF4-FFF2-40B4-BE49-F238E27FC236}">
                <a16:creationId xmlns:a16="http://schemas.microsoft.com/office/drawing/2014/main" id="{E6EA48BA-ACD8-740B-F8DF-416067EC7049}"/>
              </a:ext>
            </a:extLst>
          </p:cNvPr>
          <p:cNvGrpSpPr/>
          <p:nvPr/>
        </p:nvGrpSpPr>
        <p:grpSpPr>
          <a:xfrm>
            <a:off x="-17062938" y="4229100"/>
            <a:ext cx="4192716" cy="5008742"/>
            <a:chOff x="0" y="0"/>
            <a:chExt cx="1114126" cy="1330968"/>
          </a:xfrm>
        </p:grpSpPr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5CACC99A-C054-4DB6-1710-71D62D708420}"/>
                </a:ext>
              </a:extLst>
            </p:cNvPr>
            <p:cNvSpPr/>
            <p:nvPr/>
          </p:nvSpPr>
          <p:spPr>
            <a:xfrm>
              <a:off x="0" y="0"/>
              <a:ext cx="1114126" cy="1330968"/>
            </a:xfrm>
            <a:custGeom>
              <a:avLst/>
              <a:gdLst/>
              <a:ahLst/>
              <a:cxnLst/>
              <a:rect l="l" t="t" r="r" b="b"/>
              <a:pathLst>
                <a:path w="1114126" h="1330968">
                  <a:moveTo>
                    <a:pt x="79400" y="0"/>
                  </a:moveTo>
                  <a:lnTo>
                    <a:pt x="1034726" y="0"/>
                  </a:lnTo>
                  <a:cubicBezTo>
                    <a:pt x="1055784" y="0"/>
                    <a:pt x="1075980" y="8365"/>
                    <a:pt x="1090870" y="23256"/>
                  </a:cubicBezTo>
                  <a:cubicBezTo>
                    <a:pt x="1105761" y="38146"/>
                    <a:pt x="1114126" y="58342"/>
                    <a:pt x="1114126" y="79400"/>
                  </a:cubicBezTo>
                  <a:lnTo>
                    <a:pt x="1114126" y="1251568"/>
                  </a:lnTo>
                  <a:cubicBezTo>
                    <a:pt x="1114126" y="1295419"/>
                    <a:pt x="1078577" y="1330968"/>
                    <a:pt x="1034726" y="1330968"/>
                  </a:cubicBezTo>
                  <a:lnTo>
                    <a:pt x="79400" y="1330968"/>
                  </a:lnTo>
                  <a:cubicBezTo>
                    <a:pt x="58342" y="1330968"/>
                    <a:pt x="38146" y="1322602"/>
                    <a:pt x="23256" y="1307712"/>
                  </a:cubicBezTo>
                  <a:cubicBezTo>
                    <a:pt x="8365" y="1292822"/>
                    <a:pt x="0" y="1272626"/>
                    <a:pt x="0" y="1251568"/>
                  </a:cubicBezTo>
                  <a:lnTo>
                    <a:pt x="0" y="79400"/>
                  </a:lnTo>
                  <a:cubicBezTo>
                    <a:pt x="0" y="58342"/>
                    <a:pt x="8365" y="38146"/>
                    <a:pt x="23256" y="23256"/>
                  </a:cubicBezTo>
                  <a:cubicBezTo>
                    <a:pt x="38146" y="8365"/>
                    <a:pt x="58342" y="0"/>
                    <a:pt x="79400" y="0"/>
                  </a:cubicBezTo>
                  <a:close/>
                </a:path>
              </a:pathLst>
            </a:custGeom>
            <a:solidFill>
              <a:srgbClr val="097C5C"/>
            </a:solidFill>
          </p:spPr>
        </p:sp>
        <p:sp>
          <p:nvSpPr>
            <p:cNvPr id="21" name="TextBox 18">
              <a:extLst>
                <a:ext uri="{FF2B5EF4-FFF2-40B4-BE49-F238E27FC236}">
                  <a16:creationId xmlns:a16="http://schemas.microsoft.com/office/drawing/2014/main" id="{79DD436D-6355-E24F-4A43-4DC484A7B6C7}"/>
                </a:ext>
              </a:extLst>
            </p:cNvPr>
            <p:cNvSpPr txBox="1"/>
            <p:nvPr/>
          </p:nvSpPr>
          <p:spPr>
            <a:xfrm>
              <a:off x="0" y="-76200"/>
              <a:ext cx="1114126" cy="1407168"/>
            </a:xfrm>
            <a:prstGeom prst="rect">
              <a:avLst/>
            </a:prstGeom>
          </p:spPr>
          <p:txBody>
            <a:bodyPr lIns="55600" tIns="55600" rIns="55600" bIns="55600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grpSp>
        <p:nvGrpSpPr>
          <p:cNvPr id="22" name="Group 19">
            <a:extLst>
              <a:ext uri="{FF2B5EF4-FFF2-40B4-BE49-F238E27FC236}">
                <a16:creationId xmlns:a16="http://schemas.microsoft.com/office/drawing/2014/main" id="{21D88868-1E95-C688-0B53-344C7F56271F}"/>
              </a:ext>
            </a:extLst>
          </p:cNvPr>
          <p:cNvGrpSpPr/>
          <p:nvPr/>
        </p:nvGrpSpPr>
        <p:grpSpPr>
          <a:xfrm>
            <a:off x="-13783058" y="3749769"/>
            <a:ext cx="1317740" cy="1317740"/>
            <a:chOff x="0" y="0"/>
            <a:chExt cx="812800" cy="812800"/>
          </a:xfrm>
        </p:grpSpPr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951178B5-9EF9-909B-7A5D-3E4DF48C2D6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TextBox 21">
              <a:extLst>
                <a:ext uri="{FF2B5EF4-FFF2-40B4-BE49-F238E27FC236}">
                  <a16:creationId xmlns:a16="http://schemas.microsoft.com/office/drawing/2014/main" id="{78189F10-3D18-C88D-D976-FC4715B3C90A}"/>
                </a:ext>
              </a:extLst>
            </p:cNvPr>
            <p:cNvSpPr txBox="1"/>
            <p:nvPr/>
          </p:nvSpPr>
          <p:spPr>
            <a:xfrm>
              <a:off x="76200" y="-66675"/>
              <a:ext cx="660400" cy="803275"/>
            </a:xfrm>
            <a:prstGeom prst="rect">
              <a:avLst/>
            </a:prstGeom>
          </p:spPr>
          <p:txBody>
            <a:bodyPr lIns="53246" tIns="53246" rIns="53246" bIns="53246" rtlCol="0" anchor="ctr"/>
            <a:lstStyle/>
            <a:p>
              <a:pPr algn="ctr">
                <a:lnSpc>
                  <a:spcPts val="4233"/>
                </a:lnSpc>
              </a:pPr>
              <a:endParaRPr/>
            </a:p>
          </p:txBody>
        </p:sp>
      </p:grpSp>
      <p:sp>
        <p:nvSpPr>
          <p:cNvPr id="25" name="TextBox 22">
            <a:extLst>
              <a:ext uri="{FF2B5EF4-FFF2-40B4-BE49-F238E27FC236}">
                <a16:creationId xmlns:a16="http://schemas.microsoft.com/office/drawing/2014/main" id="{5D12CC12-3E3E-4321-B914-C3D936B8B044}"/>
              </a:ext>
            </a:extLst>
          </p:cNvPr>
          <p:cNvSpPr txBox="1"/>
          <p:nvPr/>
        </p:nvSpPr>
        <p:spPr>
          <a:xfrm>
            <a:off x="-16483157" y="6362189"/>
            <a:ext cx="3033152" cy="2538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just">
              <a:lnSpc>
                <a:spcPts val="2546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Act as intermediaries between the user and the torrent network.</a:t>
            </a:r>
          </a:p>
          <a:p>
            <a:pPr marL="285750" indent="-285750" algn="just">
              <a:lnSpc>
                <a:spcPts val="2546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Hide the user's IP address.</a:t>
            </a:r>
          </a:p>
          <a:p>
            <a:pPr marL="285750" indent="-285750" algn="just">
              <a:lnSpc>
                <a:spcPts val="2546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Generally faster than VPNs but provide less security because traffic is usually not encrypted.</a:t>
            </a:r>
          </a:p>
        </p:txBody>
      </p:sp>
      <p:grpSp>
        <p:nvGrpSpPr>
          <p:cNvPr id="26" name="Group 23">
            <a:extLst>
              <a:ext uri="{FF2B5EF4-FFF2-40B4-BE49-F238E27FC236}">
                <a16:creationId xmlns:a16="http://schemas.microsoft.com/office/drawing/2014/main" id="{E80F3E83-3266-FF6F-25B7-B247BDFEE6B5}"/>
              </a:ext>
            </a:extLst>
          </p:cNvPr>
          <p:cNvGrpSpPr/>
          <p:nvPr/>
        </p:nvGrpSpPr>
        <p:grpSpPr>
          <a:xfrm>
            <a:off x="-13636263" y="3896563"/>
            <a:ext cx="1024151" cy="1024151"/>
            <a:chOff x="0" y="0"/>
            <a:chExt cx="812800" cy="812800"/>
          </a:xfrm>
        </p:grpSpPr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id="{DCA1FB44-B5FF-EEA4-7739-E6FC9AB1003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97C5C"/>
            </a:solidFill>
          </p:spPr>
        </p:sp>
        <p:sp>
          <p:nvSpPr>
            <p:cNvPr id="28" name="TextBox 25">
              <a:extLst>
                <a:ext uri="{FF2B5EF4-FFF2-40B4-BE49-F238E27FC236}">
                  <a16:creationId xmlns:a16="http://schemas.microsoft.com/office/drawing/2014/main" id="{1DDDA075-0FD3-631F-F2A3-2C7453C66658}"/>
                </a:ext>
              </a:extLst>
            </p:cNvPr>
            <p:cNvSpPr txBox="1"/>
            <p:nvPr/>
          </p:nvSpPr>
          <p:spPr>
            <a:xfrm>
              <a:off x="76200" y="-66675"/>
              <a:ext cx="660400" cy="803275"/>
            </a:xfrm>
            <a:prstGeom prst="rect">
              <a:avLst/>
            </a:prstGeom>
          </p:spPr>
          <p:txBody>
            <a:bodyPr lIns="53246" tIns="53246" rIns="53246" bIns="53246" rtlCol="0" anchor="ctr"/>
            <a:lstStyle/>
            <a:p>
              <a:pPr algn="ctr">
                <a:lnSpc>
                  <a:spcPts val="4233"/>
                </a:lnSpc>
              </a:pPr>
              <a:endParaRPr/>
            </a:p>
          </p:txBody>
        </p:sp>
      </p:grpSp>
      <p:sp>
        <p:nvSpPr>
          <p:cNvPr id="29" name="TextBox 26">
            <a:extLst>
              <a:ext uri="{FF2B5EF4-FFF2-40B4-BE49-F238E27FC236}">
                <a16:creationId xmlns:a16="http://schemas.microsoft.com/office/drawing/2014/main" id="{7E6C7C82-C3E1-F433-CDDB-7C17E45F572C}"/>
              </a:ext>
            </a:extLst>
          </p:cNvPr>
          <p:cNvSpPr txBox="1"/>
          <p:nvPr/>
        </p:nvSpPr>
        <p:spPr>
          <a:xfrm>
            <a:off x="-13474023" y="3969312"/>
            <a:ext cx="699670" cy="68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3"/>
              </a:lnSpc>
            </a:pPr>
            <a:r>
              <a:rPr lang="en-US" sz="33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id="30" name="TextBox 27">
            <a:extLst>
              <a:ext uri="{FF2B5EF4-FFF2-40B4-BE49-F238E27FC236}">
                <a16:creationId xmlns:a16="http://schemas.microsoft.com/office/drawing/2014/main" id="{431702C7-F2BD-39BA-FEAD-85E1832ABCE8}"/>
              </a:ext>
            </a:extLst>
          </p:cNvPr>
          <p:cNvSpPr txBox="1"/>
          <p:nvPr/>
        </p:nvSpPr>
        <p:spPr>
          <a:xfrm>
            <a:off x="-16483157" y="4648745"/>
            <a:ext cx="2541247" cy="439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258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Proxy Servers</a:t>
            </a:r>
          </a:p>
        </p:txBody>
      </p:sp>
      <p:grpSp>
        <p:nvGrpSpPr>
          <p:cNvPr id="31" name="Group 28">
            <a:extLst>
              <a:ext uri="{FF2B5EF4-FFF2-40B4-BE49-F238E27FC236}">
                <a16:creationId xmlns:a16="http://schemas.microsoft.com/office/drawing/2014/main" id="{88C4F906-048F-81C1-D63B-CA0C9823AFD4}"/>
              </a:ext>
            </a:extLst>
          </p:cNvPr>
          <p:cNvGrpSpPr/>
          <p:nvPr/>
        </p:nvGrpSpPr>
        <p:grpSpPr>
          <a:xfrm>
            <a:off x="-16972930" y="4229100"/>
            <a:ext cx="4192716" cy="5008742"/>
            <a:chOff x="0" y="0"/>
            <a:chExt cx="1114126" cy="1330968"/>
          </a:xfrm>
        </p:grpSpPr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015241D6-71B3-2FDF-CDF6-2194834084D7}"/>
                </a:ext>
              </a:extLst>
            </p:cNvPr>
            <p:cNvSpPr/>
            <p:nvPr/>
          </p:nvSpPr>
          <p:spPr>
            <a:xfrm>
              <a:off x="0" y="0"/>
              <a:ext cx="1114126" cy="1330968"/>
            </a:xfrm>
            <a:custGeom>
              <a:avLst/>
              <a:gdLst/>
              <a:ahLst/>
              <a:cxnLst/>
              <a:rect l="l" t="t" r="r" b="b"/>
              <a:pathLst>
                <a:path w="1114126" h="1330968">
                  <a:moveTo>
                    <a:pt x="79400" y="0"/>
                  </a:moveTo>
                  <a:lnTo>
                    <a:pt x="1034726" y="0"/>
                  </a:lnTo>
                  <a:cubicBezTo>
                    <a:pt x="1055784" y="0"/>
                    <a:pt x="1075980" y="8365"/>
                    <a:pt x="1090870" y="23256"/>
                  </a:cubicBezTo>
                  <a:cubicBezTo>
                    <a:pt x="1105761" y="38146"/>
                    <a:pt x="1114126" y="58342"/>
                    <a:pt x="1114126" y="79400"/>
                  </a:cubicBezTo>
                  <a:lnTo>
                    <a:pt x="1114126" y="1251568"/>
                  </a:lnTo>
                  <a:cubicBezTo>
                    <a:pt x="1114126" y="1295419"/>
                    <a:pt x="1078577" y="1330968"/>
                    <a:pt x="1034726" y="1330968"/>
                  </a:cubicBezTo>
                  <a:lnTo>
                    <a:pt x="79400" y="1330968"/>
                  </a:lnTo>
                  <a:cubicBezTo>
                    <a:pt x="58342" y="1330968"/>
                    <a:pt x="38146" y="1322602"/>
                    <a:pt x="23256" y="1307712"/>
                  </a:cubicBezTo>
                  <a:cubicBezTo>
                    <a:pt x="8365" y="1292822"/>
                    <a:pt x="0" y="1272626"/>
                    <a:pt x="0" y="1251568"/>
                  </a:cubicBezTo>
                  <a:lnTo>
                    <a:pt x="0" y="79400"/>
                  </a:lnTo>
                  <a:cubicBezTo>
                    <a:pt x="0" y="58342"/>
                    <a:pt x="8365" y="38146"/>
                    <a:pt x="23256" y="23256"/>
                  </a:cubicBezTo>
                  <a:cubicBezTo>
                    <a:pt x="38146" y="8365"/>
                    <a:pt x="58342" y="0"/>
                    <a:pt x="79400" y="0"/>
                  </a:cubicBez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id="33" name="TextBox 30">
              <a:extLst>
                <a:ext uri="{FF2B5EF4-FFF2-40B4-BE49-F238E27FC236}">
                  <a16:creationId xmlns:a16="http://schemas.microsoft.com/office/drawing/2014/main" id="{12EF8B34-D687-4F50-0213-AA45E5027892}"/>
                </a:ext>
              </a:extLst>
            </p:cNvPr>
            <p:cNvSpPr txBox="1"/>
            <p:nvPr/>
          </p:nvSpPr>
          <p:spPr>
            <a:xfrm>
              <a:off x="0" y="-76200"/>
              <a:ext cx="1114126" cy="1407168"/>
            </a:xfrm>
            <a:prstGeom prst="rect">
              <a:avLst/>
            </a:prstGeom>
          </p:spPr>
          <p:txBody>
            <a:bodyPr lIns="55600" tIns="55600" rIns="55600" bIns="55600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grpSp>
        <p:nvGrpSpPr>
          <p:cNvPr id="34" name="Group 31">
            <a:extLst>
              <a:ext uri="{FF2B5EF4-FFF2-40B4-BE49-F238E27FC236}">
                <a16:creationId xmlns:a16="http://schemas.microsoft.com/office/drawing/2014/main" id="{552367B7-189E-5C25-6E60-992E4313F62F}"/>
              </a:ext>
            </a:extLst>
          </p:cNvPr>
          <p:cNvGrpSpPr/>
          <p:nvPr/>
        </p:nvGrpSpPr>
        <p:grpSpPr>
          <a:xfrm>
            <a:off x="-13693050" y="3749769"/>
            <a:ext cx="1317740" cy="1317740"/>
            <a:chOff x="0" y="0"/>
            <a:chExt cx="812800" cy="812800"/>
          </a:xfrm>
        </p:grpSpPr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23AFFBC6-D0AA-FBFD-336A-44D865A8C22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6" name="TextBox 33">
              <a:extLst>
                <a:ext uri="{FF2B5EF4-FFF2-40B4-BE49-F238E27FC236}">
                  <a16:creationId xmlns:a16="http://schemas.microsoft.com/office/drawing/2014/main" id="{2E7808C7-4B21-0E8A-03AD-D89D0BEC420C}"/>
                </a:ext>
              </a:extLst>
            </p:cNvPr>
            <p:cNvSpPr txBox="1"/>
            <p:nvPr/>
          </p:nvSpPr>
          <p:spPr>
            <a:xfrm>
              <a:off x="76200" y="-66675"/>
              <a:ext cx="660400" cy="803275"/>
            </a:xfrm>
            <a:prstGeom prst="rect">
              <a:avLst/>
            </a:prstGeom>
          </p:spPr>
          <p:txBody>
            <a:bodyPr lIns="53246" tIns="53246" rIns="53246" bIns="53246" rtlCol="0" anchor="ctr"/>
            <a:lstStyle/>
            <a:p>
              <a:pPr algn="ctr">
                <a:lnSpc>
                  <a:spcPts val="4233"/>
                </a:lnSpc>
              </a:pPr>
              <a:endParaRPr/>
            </a:p>
          </p:txBody>
        </p:sp>
      </p:grpSp>
      <p:sp>
        <p:nvSpPr>
          <p:cNvPr id="37" name="TextBox 34">
            <a:extLst>
              <a:ext uri="{FF2B5EF4-FFF2-40B4-BE49-F238E27FC236}">
                <a16:creationId xmlns:a16="http://schemas.microsoft.com/office/drawing/2014/main" id="{43B415DD-3884-653F-4B0D-4620DD199C8B}"/>
              </a:ext>
            </a:extLst>
          </p:cNvPr>
          <p:cNvSpPr txBox="1"/>
          <p:nvPr/>
        </p:nvSpPr>
        <p:spPr>
          <a:xfrm>
            <a:off x="-16393148" y="6362189"/>
            <a:ext cx="3033152" cy="2217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just">
              <a:lnSpc>
                <a:spcPts val="2546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Routes traffic through multiple volunteer-operated nodes.</a:t>
            </a:r>
          </a:p>
          <a:p>
            <a:pPr marL="285750" indent="-285750" algn="just">
              <a:lnSpc>
                <a:spcPts val="2546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Provides a high level of anonymity.</a:t>
            </a:r>
          </a:p>
          <a:p>
            <a:pPr marL="285750" indent="-285750" algn="just">
              <a:lnSpc>
                <a:spcPts val="2546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Makes user tracking difficult.</a:t>
            </a:r>
          </a:p>
          <a:p>
            <a:pPr marL="285750" indent="-285750" algn="just">
              <a:lnSpc>
                <a:spcPts val="2546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But is much slower than VPN</a:t>
            </a:r>
          </a:p>
        </p:txBody>
      </p:sp>
      <p:grpSp>
        <p:nvGrpSpPr>
          <p:cNvPr id="38" name="Group 35">
            <a:extLst>
              <a:ext uri="{FF2B5EF4-FFF2-40B4-BE49-F238E27FC236}">
                <a16:creationId xmlns:a16="http://schemas.microsoft.com/office/drawing/2014/main" id="{7B7B07C3-BF49-28D3-AD1B-1D97764956D9}"/>
              </a:ext>
            </a:extLst>
          </p:cNvPr>
          <p:cNvGrpSpPr/>
          <p:nvPr/>
        </p:nvGrpSpPr>
        <p:grpSpPr>
          <a:xfrm>
            <a:off x="-13546255" y="3896563"/>
            <a:ext cx="1024151" cy="1024151"/>
            <a:chOff x="0" y="0"/>
            <a:chExt cx="812800" cy="812800"/>
          </a:xfrm>
        </p:grpSpPr>
        <p:sp>
          <p:nvSpPr>
            <p:cNvPr id="39" name="Freeform 36">
              <a:extLst>
                <a:ext uri="{FF2B5EF4-FFF2-40B4-BE49-F238E27FC236}">
                  <a16:creationId xmlns:a16="http://schemas.microsoft.com/office/drawing/2014/main" id="{169C4194-DBF7-975B-3479-F4B03319AFC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id="40" name="TextBox 37">
              <a:extLst>
                <a:ext uri="{FF2B5EF4-FFF2-40B4-BE49-F238E27FC236}">
                  <a16:creationId xmlns:a16="http://schemas.microsoft.com/office/drawing/2014/main" id="{69921EEB-6B1C-BB7C-4FCD-3AD963FAFD4B}"/>
                </a:ext>
              </a:extLst>
            </p:cNvPr>
            <p:cNvSpPr txBox="1"/>
            <p:nvPr/>
          </p:nvSpPr>
          <p:spPr>
            <a:xfrm>
              <a:off x="76200" y="-66675"/>
              <a:ext cx="660400" cy="803275"/>
            </a:xfrm>
            <a:prstGeom prst="rect">
              <a:avLst/>
            </a:prstGeom>
          </p:spPr>
          <p:txBody>
            <a:bodyPr lIns="53246" tIns="53246" rIns="53246" bIns="53246" rtlCol="0" anchor="ctr"/>
            <a:lstStyle/>
            <a:p>
              <a:pPr algn="ctr">
                <a:lnSpc>
                  <a:spcPts val="4233"/>
                </a:lnSpc>
              </a:pPr>
              <a:endParaRPr/>
            </a:p>
          </p:txBody>
        </p:sp>
      </p:grpSp>
      <p:sp>
        <p:nvSpPr>
          <p:cNvPr id="41" name="TextBox 38">
            <a:extLst>
              <a:ext uri="{FF2B5EF4-FFF2-40B4-BE49-F238E27FC236}">
                <a16:creationId xmlns:a16="http://schemas.microsoft.com/office/drawing/2014/main" id="{3BF0909A-EFBD-A986-EFDF-82722ACF4FA7}"/>
              </a:ext>
            </a:extLst>
          </p:cNvPr>
          <p:cNvSpPr txBox="1"/>
          <p:nvPr/>
        </p:nvSpPr>
        <p:spPr>
          <a:xfrm>
            <a:off x="-13384014" y="3969312"/>
            <a:ext cx="699670" cy="68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3"/>
              </a:lnSpc>
            </a:pPr>
            <a:r>
              <a:rPr lang="en-US" sz="33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id="42" name="TextBox 39">
            <a:extLst>
              <a:ext uri="{FF2B5EF4-FFF2-40B4-BE49-F238E27FC236}">
                <a16:creationId xmlns:a16="http://schemas.microsoft.com/office/drawing/2014/main" id="{14E59137-F085-9D05-D2C7-0B4AD0EE23B5}"/>
              </a:ext>
            </a:extLst>
          </p:cNvPr>
          <p:cNvSpPr txBox="1"/>
          <p:nvPr/>
        </p:nvSpPr>
        <p:spPr>
          <a:xfrm>
            <a:off x="-16393148" y="4648745"/>
            <a:ext cx="2541247" cy="439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258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Tor Network</a:t>
            </a:r>
          </a:p>
        </p:txBody>
      </p:sp>
    </p:spTree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>
            <a:extLst>
              <a:ext uri="{FF2B5EF4-FFF2-40B4-BE49-F238E27FC236}">
                <a16:creationId xmlns:a16="http://schemas.microsoft.com/office/drawing/2014/main" id="{AD08A8A0-533E-0676-8C4E-E68998D60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" y="0"/>
            <a:ext cx="18282583" cy="10287000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 flipV="1">
            <a:off x="1028700" y="2160669"/>
            <a:ext cx="16230600" cy="0"/>
          </a:xfrm>
          <a:prstGeom prst="line">
            <a:avLst/>
          </a:prstGeom>
          <a:ln w="9525" cap="rnd">
            <a:solidFill>
              <a:srgbClr val="182D8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2107205" y="4249558"/>
            <a:ext cx="4192716" cy="5008742"/>
            <a:chOff x="0" y="0"/>
            <a:chExt cx="1114126" cy="13309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14126" cy="1330968"/>
            </a:xfrm>
            <a:custGeom>
              <a:avLst/>
              <a:gdLst/>
              <a:ahLst/>
              <a:cxnLst/>
              <a:rect l="l" t="t" r="r" b="b"/>
              <a:pathLst>
                <a:path w="1114126" h="1330968">
                  <a:moveTo>
                    <a:pt x="79400" y="0"/>
                  </a:moveTo>
                  <a:lnTo>
                    <a:pt x="1034726" y="0"/>
                  </a:lnTo>
                  <a:cubicBezTo>
                    <a:pt x="1055784" y="0"/>
                    <a:pt x="1075980" y="8365"/>
                    <a:pt x="1090870" y="23256"/>
                  </a:cubicBezTo>
                  <a:cubicBezTo>
                    <a:pt x="1105761" y="38146"/>
                    <a:pt x="1114126" y="58342"/>
                    <a:pt x="1114126" y="79400"/>
                  </a:cubicBezTo>
                  <a:lnTo>
                    <a:pt x="1114126" y="1251568"/>
                  </a:lnTo>
                  <a:cubicBezTo>
                    <a:pt x="1114126" y="1295419"/>
                    <a:pt x="1078577" y="1330968"/>
                    <a:pt x="1034726" y="1330968"/>
                  </a:cubicBezTo>
                  <a:lnTo>
                    <a:pt x="79400" y="1330968"/>
                  </a:lnTo>
                  <a:cubicBezTo>
                    <a:pt x="58342" y="1330968"/>
                    <a:pt x="38146" y="1322602"/>
                    <a:pt x="23256" y="1307712"/>
                  </a:cubicBezTo>
                  <a:cubicBezTo>
                    <a:pt x="8365" y="1292822"/>
                    <a:pt x="0" y="1272626"/>
                    <a:pt x="0" y="1251568"/>
                  </a:cubicBezTo>
                  <a:lnTo>
                    <a:pt x="0" y="79400"/>
                  </a:lnTo>
                  <a:cubicBezTo>
                    <a:pt x="0" y="58342"/>
                    <a:pt x="8365" y="38146"/>
                    <a:pt x="23256" y="23256"/>
                  </a:cubicBezTo>
                  <a:cubicBezTo>
                    <a:pt x="38146" y="8365"/>
                    <a:pt x="58342" y="0"/>
                    <a:pt x="79400" y="0"/>
                  </a:cubicBez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1114126" cy="1407168"/>
            </a:xfrm>
            <a:prstGeom prst="rect">
              <a:avLst/>
            </a:prstGeom>
          </p:spPr>
          <p:txBody>
            <a:bodyPr lIns="55600" tIns="55600" rIns="55600" bIns="55600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387086" y="3770227"/>
            <a:ext cx="1317740" cy="131774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-66675"/>
              <a:ext cx="660400" cy="803275"/>
            </a:xfrm>
            <a:prstGeom prst="rect">
              <a:avLst/>
            </a:prstGeom>
          </p:spPr>
          <p:txBody>
            <a:bodyPr lIns="53246" tIns="53246" rIns="53246" bIns="53246" rtlCol="0" anchor="ctr"/>
            <a:lstStyle/>
            <a:p>
              <a:pPr algn="ctr">
                <a:lnSpc>
                  <a:spcPts val="4233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686987" y="6382647"/>
            <a:ext cx="3033152" cy="2217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just">
              <a:lnSpc>
                <a:spcPts val="2546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Hides the user's real IP address.</a:t>
            </a:r>
          </a:p>
          <a:p>
            <a:pPr marL="285750" indent="-285750" algn="just">
              <a:lnSpc>
                <a:spcPts val="2546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Encrypts internet traffic.</a:t>
            </a:r>
          </a:p>
          <a:p>
            <a:pPr marL="285750" indent="-285750" algn="just">
              <a:lnSpc>
                <a:spcPts val="2546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Routes traffic through secure servers.</a:t>
            </a:r>
          </a:p>
          <a:p>
            <a:pPr marL="285750" indent="-285750" algn="just">
              <a:lnSpc>
                <a:spcPts val="2546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Prevents direct monitoring by third parties.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533880" y="3917021"/>
            <a:ext cx="1024151" cy="102415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-66675"/>
              <a:ext cx="660400" cy="803275"/>
            </a:xfrm>
            <a:prstGeom prst="rect">
              <a:avLst/>
            </a:prstGeom>
          </p:spPr>
          <p:txBody>
            <a:bodyPr lIns="53246" tIns="53246" rIns="53246" bIns="53246" rtlCol="0" anchor="ctr"/>
            <a:lstStyle/>
            <a:p>
              <a:pPr algn="ctr">
                <a:lnSpc>
                  <a:spcPts val="4233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696121" y="3989770"/>
            <a:ext cx="699670" cy="68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3"/>
              </a:lnSpc>
            </a:pPr>
            <a:r>
              <a:rPr lang="en-US" sz="33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86987" y="4669203"/>
            <a:ext cx="2541247" cy="1362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258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VPN (Virtual Private Network)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845190" y="4249558"/>
            <a:ext cx="4192716" cy="5008742"/>
            <a:chOff x="0" y="0"/>
            <a:chExt cx="1114126" cy="133096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14126" cy="1330968"/>
            </a:xfrm>
            <a:custGeom>
              <a:avLst/>
              <a:gdLst/>
              <a:ahLst/>
              <a:cxnLst/>
              <a:rect l="l" t="t" r="r" b="b"/>
              <a:pathLst>
                <a:path w="1114126" h="1330968">
                  <a:moveTo>
                    <a:pt x="79400" y="0"/>
                  </a:moveTo>
                  <a:lnTo>
                    <a:pt x="1034726" y="0"/>
                  </a:lnTo>
                  <a:cubicBezTo>
                    <a:pt x="1055784" y="0"/>
                    <a:pt x="1075980" y="8365"/>
                    <a:pt x="1090870" y="23256"/>
                  </a:cubicBezTo>
                  <a:cubicBezTo>
                    <a:pt x="1105761" y="38146"/>
                    <a:pt x="1114126" y="58342"/>
                    <a:pt x="1114126" y="79400"/>
                  </a:cubicBezTo>
                  <a:lnTo>
                    <a:pt x="1114126" y="1251568"/>
                  </a:lnTo>
                  <a:cubicBezTo>
                    <a:pt x="1114126" y="1295419"/>
                    <a:pt x="1078577" y="1330968"/>
                    <a:pt x="1034726" y="1330968"/>
                  </a:cubicBezTo>
                  <a:lnTo>
                    <a:pt x="79400" y="1330968"/>
                  </a:lnTo>
                  <a:cubicBezTo>
                    <a:pt x="58342" y="1330968"/>
                    <a:pt x="38146" y="1322602"/>
                    <a:pt x="23256" y="1307712"/>
                  </a:cubicBezTo>
                  <a:cubicBezTo>
                    <a:pt x="8365" y="1292822"/>
                    <a:pt x="0" y="1272626"/>
                    <a:pt x="0" y="1251568"/>
                  </a:cubicBezTo>
                  <a:lnTo>
                    <a:pt x="0" y="79400"/>
                  </a:lnTo>
                  <a:cubicBezTo>
                    <a:pt x="0" y="58342"/>
                    <a:pt x="8365" y="38146"/>
                    <a:pt x="23256" y="23256"/>
                  </a:cubicBezTo>
                  <a:cubicBezTo>
                    <a:pt x="38146" y="8365"/>
                    <a:pt x="58342" y="0"/>
                    <a:pt x="79400" y="0"/>
                  </a:cubicBezTo>
                  <a:close/>
                </a:path>
              </a:pathLst>
            </a:custGeom>
            <a:solidFill>
              <a:srgbClr val="097C5C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76200"/>
              <a:ext cx="1114126" cy="1407168"/>
            </a:xfrm>
            <a:prstGeom prst="rect">
              <a:avLst/>
            </a:prstGeom>
          </p:spPr>
          <p:txBody>
            <a:bodyPr lIns="55600" tIns="55600" rIns="55600" bIns="55600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125070" y="3770227"/>
            <a:ext cx="1317740" cy="131774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-66675"/>
              <a:ext cx="660400" cy="803275"/>
            </a:xfrm>
            <a:prstGeom prst="rect">
              <a:avLst/>
            </a:prstGeom>
          </p:spPr>
          <p:txBody>
            <a:bodyPr lIns="53246" tIns="53246" rIns="53246" bIns="53246" rtlCol="0" anchor="ctr"/>
            <a:lstStyle/>
            <a:p>
              <a:pPr algn="ctr">
                <a:lnSpc>
                  <a:spcPts val="4233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7424971" y="6382647"/>
            <a:ext cx="3033152" cy="2538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just">
              <a:lnSpc>
                <a:spcPts val="2546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Act as intermediaries between the user and the torrent network.</a:t>
            </a:r>
          </a:p>
          <a:p>
            <a:pPr marL="285750" indent="-285750" algn="just">
              <a:lnSpc>
                <a:spcPts val="2546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Hide the user's IP address.</a:t>
            </a:r>
          </a:p>
          <a:p>
            <a:pPr marL="285750" indent="-285750" algn="just">
              <a:lnSpc>
                <a:spcPts val="2546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Generally faster than VPNs but provide less security because traffic is usually not encrypted.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0271865" y="3917021"/>
            <a:ext cx="1024151" cy="1024151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97C5C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-66675"/>
              <a:ext cx="660400" cy="803275"/>
            </a:xfrm>
            <a:prstGeom prst="rect">
              <a:avLst/>
            </a:prstGeom>
          </p:spPr>
          <p:txBody>
            <a:bodyPr lIns="53246" tIns="53246" rIns="53246" bIns="53246" rtlCol="0" anchor="ctr"/>
            <a:lstStyle/>
            <a:p>
              <a:pPr algn="ctr">
                <a:lnSpc>
                  <a:spcPts val="4233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434105" y="3989770"/>
            <a:ext cx="699670" cy="68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3"/>
              </a:lnSpc>
            </a:pPr>
            <a:r>
              <a:rPr lang="en-US" sz="33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24971" y="4669203"/>
            <a:ext cx="2541247" cy="439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258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Proxy Servers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1583174" y="4249558"/>
            <a:ext cx="4192716" cy="5008742"/>
            <a:chOff x="0" y="0"/>
            <a:chExt cx="1114126" cy="133096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14126" cy="1330968"/>
            </a:xfrm>
            <a:custGeom>
              <a:avLst/>
              <a:gdLst/>
              <a:ahLst/>
              <a:cxnLst/>
              <a:rect l="l" t="t" r="r" b="b"/>
              <a:pathLst>
                <a:path w="1114126" h="1330968">
                  <a:moveTo>
                    <a:pt x="79400" y="0"/>
                  </a:moveTo>
                  <a:lnTo>
                    <a:pt x="1034726" y="0"/>
                  </a:lnTo>
                  <a:cubicBezTo>
                    <a:pt x="1055784" y="0"/>
                    <a:pt x="1075980" y="8365"/>
                    <a:pt x="1090870" y="23256"/>
                  </a:cubicBezTo>
                  <a:cubicBezTo>
                    <a:pt x="1105761" y="38146"/>
                    <a:pt x="1114126" y="58342"/>
                    <a:pt x="1114126" y="79400"/>
                  </a:cubicBezTo>
                  <a:lnTo>
                    <a:pt x="1114126" y="1251568"/>
                  </a:lnTo>
                  <a:cubicBezTo>
                    <a:pt x="1114126" y="1295419"/>
                    <a:pt x="1078577" y="1330968"/>
                    <a:pt x="1034726" y="1330968"/>
                  </a:cubicBezTo>
                  <a:lnTo>
                    <a:pt x="79400" y="1330968"/>
                  </a:lnTo>
                  <a:cubicBezTo>
                    <a:pt x="58342" y="1330968"/>
                    <a:pt x="38146" y="1322602"/>
                    <a:pt x="23256" y="1307712"/>
                  </a:cubicBezTo>
                  <a:cubicBezTo>
                    <a:pt x="8365" y="1292822"/>
                    <a:pt x="0" y="1272626"/>
                    <a:pt x="0" y="1251568"/>
                  </a:cubicBezTo>
                  <a:lnTo>
                    <a:pt x="0" y="79400"/>
                  </a:lnTo>
                  <a:cubicBezTo>
                    <a:pt x="0" y="58342"/>
                    <a:pt x="8365" y="38146"/>
                    <a:pt x="23256" y="23256"/>
                  </a:cubicBezTo>
                  <a:cubicBezTo>
                    <a:pt x="38146" y="8365"/>
                    <a:pt x="58342" y="0"/>
                    <a:pt x="79400" y="0"/>
                  </a:cubicBez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76200"/>
              <a:ext cx="1114126" cy="1407168"/>
            </a:xfrm>
            <a:prstGeom prst="rect">
              <a:avLst/>
            </a:prstGeom>
          </p:spPr>
          <p:txBody>
            <a:bodyPr lIns="55600" tIns="55600" rIns="55600" bIns="55600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4863054" y="3770227"/>
            <a:ext cx="1317740" cy="1317740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-66675"/>
              <a:ext cx="660400" cy="803275"/>
            </a:xfrm>
            <a:prstGeom prst="rect">
              <a:avLst/>
            </a:prstGeom>
          </p:spPr>
          <p:txBody>
            <a:bodyPr lIns="53246" tIns="53246" rIns="53246" bIns="53246" rtlCol="0" anchor="ctr"/>
            <a:lstStyle/>
            <a:p>
              <a:pPr algn="ctr">
                <a:lnSpc>
                  <a:spcPts val="4233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2162956" y="6382647"/>
            <a:ext cx="3033152" cy="2217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just">
              <a:lnSpc>
                <a:spcPts val="2546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Routes traffic through multiple volunteer-operated nodes.</a:t>
            </a:r>
          </a:p>
          <a:p>
            <a:pPr marL="285750" indent="-285750" algn="just">
              <a:lnSpc>
                <a:spcPts val="2546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Provides a high level of anonymity.</a:t>
            </a:r>
          </a:p>
          <a:p>
            <a:pPr marL="285750" indent="-285750" algn="just">
              <a:lnSpc>
                <a:spcPts val="2546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Makes user tracking difficult.</a:t>
            </a:r>
          </a:p>
          <a:p>
            <a:pPr marL="285750" indent="-285750" algn="just">
              <a:lnSpc>
                <a:spcPts val="2546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But is much slower than VPN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5009849" y="3917021"/>
            <a:ext cx="1024151" cy="1024151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76200" y="-66675"/>
              <a:ext cx="660400" cy="803275"/>
            </a:xfrm>
            <a:prstGeom prst="rect">
              <a:avLst/>
            </a:prstGeom>
          </p:spPr>
          <p:txBody>
            <a:bodyPr lIns="53246" tIns="53246" rIns="53246" bIns="53246" rtlCol="0" anchor="ctr"/>
            <a:lstStyle/>
            <a:p>
              <a:pPr algn="ctr">
                <a:lnSpc>
                  <a:spcPts val="4233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5172090" y="3989770"/>
            <a:ext cx="699670" cy="68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3"/>
              </a:lnSpc>
            </a:pPr>
            <a:r>
              <a:rPr lang="en-US" sz="33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162956" y="4669203"/>
            <a:ext cx="2541247" cy="439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258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Tor Network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65276" y="1238857"/>
            <a:ext cx="16460724" cy="711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54"/>
              </a:lnSpc>
            </a:pPr>
            <a:r>
              <a:rPr lang="en-US" sz="5097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Anonymity in BitTorrent Networks:  Best Options</a:t>
            </a:r>
          </a:p>
        </p:txBody>
      </p:sp>
      <p:sp>
        <p:nvSpPr>
          <p:cNvPr id="49" name="TextBox 30">
            <a:extLst>
              <a:ext uri="{FF2B5EF4-FFF2-40B4-BE49-F238E27FC236}">
                <a16:creationId xmlns:a16="http://schemas.microsoft.com/office/drawing/2014/main" id="{73E30FB2-2012-8B38-D070-2C9960541DBC}"/>
              </a:ext>
            </a:extLst>
          </p:cNvPr>
          <p:cNvSpPr txBox="1"/>
          <p:nvPr/>
        </p:nvSpPr>
        <p:spPr>
          <a:xfrm>
            <a:off x="1755192" y="2483167"/>
            <a:ext cx="14273799" cy="548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54"/>
              </a:lnSpc>
            </a:pPr>
            <a:r>
              <a:rPr lang="en-US" sz="153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These technologies Protect user identity, Increase privacy while sharing files and Reduce exposure to monitoring and tracking. Thus providing more security to the user.</a:t>
            </a:r>
          </a:p>
        </p:txBody>
      </p:sp>
      <p:sp>
        <p:nvSpPr>
          <p:cNvPr id="3" name="Freeform 8">
            <a:extLst>
              <a:ext uri="{FF2B5EF4-FFF2-40B4-BE49-F238E27FC236}">
                <a16:creationId xmlns:a16="http://schemas.microsoft.com/office/drawing/2014/main" id="{4A0E1FF4-D3A5-12E0-11D1-E5B85391764A}"/>
              </a:ext>
            </a:extLst>
          </p:cNvPr>
          <p:cNvSpPr/>
          <p:nvPr/>
        </p:nvSpPr>
        <p:spPr>
          <a:xfrm>
            <a:off x="19196134" y="2685317"/>
            <a:ext cx="7058549" cy="6882085"/>
          </a:xfrm>
          <a:custGeom>
            <a:avLst/>
            <a:gdLst/>
            <a:ahLst/>
            <a:cxnLst/>
            <a:rect l="l" t="t" r="r" b="b"/>
            <a:pathLst>
              <a:path w="7058549" h="6882085">
                <a:moveTo>
                  <a:pt x="0" y="0"/>
                </a:moveTo>
                <a:lnTo>
                  <a:pt x="7058549" y="0"/>
                </a:lnTo>
                <a:lnTo>
                  <a:pt x="7058549" y="6882085"/>
                </a:lnTo>
                <a:lnTo>
                  <a:pt x="0" y="68820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D515F-2E73-4F00-60B2-C227DA975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3BEBBAC-0704-7506-A3AC-970201EDB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" y="0"/>
            <a:ext cx="18282583" cy="10287000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A661EEAF-66A8-40CD-12B0-F0C0D8FCD7B1}"/>
              </a:ext>
            </a:extLst>
          </p:cNvPr>
          <p:cNvSpPr/>
          <p:nvPr/>
        </p:nvSpPr>
        <p:spPr>
          <a:xfrm flipV="1">
            <a:off x="1028700" y="2160669"/>
            <a:ext cx="16230600" cy="0"/>
          </a:xfrm>
          <a:prstGeom prst="line">
            <a:avLst/>
          </a:prstGeom>
          <a:ln w="9525" cap="rnd">
            <a:solidFill>
              <a:srgbClr val="182D8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613AA2F-4E7C-A046-D158-85B9600D4F15}"/>
              </a:ext>
            </a:extLst>
          </p:cNvPr>
          <p:cNvSpPr txBox="1"/>
          <p:nvPr/>
        </p:nvSpPr>
        <p:spPr>
          <a:xfrm>
            <a:off x="1046988" y="1280027"/>
            <a:ext cx="17241012" cy="711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54"/>
              </a:lnSpc>
            </a:pPr>
            <a:r>
              <a:rPr lang="en-US" sz="5097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Anonymity in BitTorrent Networks: Other Options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3A72A32-8B51-53ED-3CD9-CBBCD0419B5E}"/>
              </a:ext>
            </a:extLst>
          </p:cNvPr>
          <p:cNvSpPr/>
          <p:nvPr/>
        </p:nvSpPr>
        <p:spPr>
          <a:xfrm>
            <a:off x="1173028" y="2685317"/>
            <a:ext cx="7058549" cy="6882085"/>
          </a:xfrm>
          <a:custGeom>
            <a:avLst/>
            <a:gdLst/>
            <a:ahLst/>
            <a:cxnLst/>
            <a:rect l="l" t="t" r="r" b="b"/>
            <a:pathLst>
              <a:path w="7058549" h="6882085">
                <a:moveTo>
                  <a:pt x="0" y="0"/>
                </a:moveTo>
                <a:lnTo>
                  <a:pt x="7058549" y="0"/>
                </a:lnTo>
                <a:lnTo>
                  <a:pt x="7058549" y="6882085"/>
                </a:lnTo>
                <a:lnTo>
                  <a:pt x="0" y="68820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BA8A76C-7A12-BF63-44EE-4A61902D33F7}"/>
              </a:ext>
            </a:extLst>
          </p:cNvPr>
          <p:cNvSpPr txBox="1"/>
          <p:nvPr/>
        </p:nvSpPr>
        <p:spPr>
          <a:xfrm>
            <a:off x="9144000" y="2755630"/>
            <a:ext cx="7147015" cy="5786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1. </a:t>
            </a:r>
            <a:r>
              <a:rPr lang="en-US" sz="2000" b="1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BTGuard</a:t>
            </a:r>
            <a:r>
              <a:rPr lang="en-US" sz="20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Torrent-specific proxy service.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Hides the user's IP address from peers.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Designed specifically for BitTorrent traffic.</a:t>
            </a:r>
          </a:p>
          <a:p>
            <a:pPr>
              <a:buNone/>
            </a:pPr>
            <a:r>
              <a:rPr lang="en-US" sz="20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2. </a:t>
            </a:r>
            <a:r>
              <a:rPr lang="en-US" sz="2000" b="1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Anomos</a:t>
            </a:r>
            <a:r>
              <a:rPr lang="en-US" sz="20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Anonymous peer-to-peer file-sharing protocol.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Uses encryption and onion-routing techniques.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Provides stronger privacy than standard BitTorrent.</a:t>
            </a:r>
          </a:p>
          <a:p>
            <a:pPr>
              <a:buNone/>
            </a:pPr>
            <a:r>
              <a:rPr lang="en-US" sz="20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3. </a:t>
            </a:r>
            <a:r>
              <a:rPr lang="en-US" sz="2000" b="1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Seedboxes</a:t>
            </a:r>
            <a:r>
              <a:rPr lang="en-US" sz="20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Remote high-speed servers used for torrent downloads.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Torrent activity occurs on the remote server instead of the user's device.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 later downloads files through a secure connection.</a:t>
            </a:r>
          </a:p>
          <a:p>
            <a:pPr>
              <a:buNone/>
            </a:pPr>
            <a:r>
              <a:rPr lang="en-US" sz="24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4. Purpose: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Protect user identity.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Increase privacy while sharing files.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>
                  <a:lumMod val="20000"/>
                  <a:lumOff val="8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Freeform 3">
            <a:extLst>
              <a:ext uri="{FF2B5EF4-FFF2-40B4-BE49-F238E27FC236}">
                <a16:creationId xmlns:a16="http://schemas.microsoft.com/office/drawing/2014/main" id="{93A0F9B6-346F-4321-054B-40A9571D368D}"/>
              </a:ext>
            </a:extLst>
          </p:cNvPr>
          <p:cNvSpPr/>
          <p:nvPr/>
        </p:nvSpPr>
        <p:spPr>
          <a:xfrm>
            <a:off x="1028700" y="11169975"/>
            <a:ext cx="6898460" cy="6360380"/>
          </a:xfrm>
          <a:custGeom>
            <a:avLst/>
            <a:gdLst/>
            <a:ahLst/>
            <a:cxnLst/>
            <a:rect l="l" t="t" r="r" b="b"/>
            <a:pathLst>
              <a:path w="6898460" h="6360380">
                <a:moveTo>
                  <a:pt x="0" y="0"/>
                </a:moveTo>
                <a:lnTo>
                  <a:pt x="6898460" y="0"/>
                </a:lnTo>
                <a:lnTo>
                  <a:pt x="6898460" y="6360380"/>
                </a:lnTo>
                <a:lnTo>
                  <a:pt x="0" y="63603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">
            <a:extLst>
              <a:ext uri="{FF2B5EF4-FFF2-40B4-BE49-F238E27FC236}">
                <a16:creationId xmlns:a16="http://schemas.microsoft.com/office/drawing/2014/main" id="{0CCBCFBC-BD38-DF55-5B9B-94D77B7E746F}"/>
              </a:ext>
            </a:extLst>
          </p:cNvPr>
          <p:cNvGrpSpPr/>
          <p:nvPr/>
        </p:nvGrpSpPr>
        <p:grpSpPr>
          <a:xfrm>
            <a:off x="2107205" y="15659100"/>
            <a:ext cx="4192716" cy="5008742"/>
            <a:chOff x="0" y="0"/>
            <a:chExt cx="1114126" cy="1330968"/>
          </a:xfrm>
        </p:grpSpPr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1A5AA2A9-3585-32D4-259B-158DD75AAFA6}"/>
                </a:ext>
              </a:extLst>
            </p:cNvPr>
            <p:cNvSpPr/>
            <p:nvPr/>
          </p:nvSpPr>
          <p:spPr>
            <a:xfrm>
              <a:off x="0" y="0"/>
              <a:ext cx="1114126" cy="1330968"/>
            </a:xfrm>
            <a:custGeom>
              <a:avLst/>
              <a:gdLst/>
              <a:ahLst/>
              <a:cxnLst/>
              <a:rect l="l" t="t" r="r" b="b"/>
              <a:pathLst>
                <a:path w="1114126" h="1330968">
                  <a:moveTo>
                    <a:pt x="79400" y="0"/>
                  </a:moveTo>
                  <a:lnTo>
                    <a:pt x="1034726" y="0"/>
                  </a:lnTo>
                  <a:cubicBezTo>
                    <a:pt x="1055784" y="0"/>
                    <a:pt x="1075980" y="8365"/>
                    <a:pt x="1090870" y="23256"/>
                  </a:cubicBezTo>
                  <a:cubicBezTo>
                    <a:pt x="1105761" y="38146"/>
                    <a:pt x="1114126" y="58342"/>
                    <a:pt x="1114126" y="79400"/>
                  </a:cubicBezTo>
                  <a:lnTo>
                    <a:pt x="1114126" y="1251568"/>
                  </a:lnTo>
                  <a:cubicBezTo>
                    <a:pt x="1114126" y="1295419"/>
                    <a:pt x="1078577" y="1330968"/>
                    <a:pt x="1034726" y="1330968"/>
                  </a:cubicBezTo>
                  <a:lnTo>
                    <a:pt x="79400" y="1330968"/>
                  </a:lnTo>
                  <a:cubicBezTo>
                    <a:pt x="58342" y="1330968"/>
                    <a:pt x="38146" y="1322602"/>
                    <a:pt x="23256" y="1307712"/>
                  </a:cubicBezTo>
                  <a:cubicBezTo>
                    <a:pt x="8365" y="1292822"/>
                    <a:pt x="0" y="1272626"/>
                    <a:pt x="0" y="1251568"/>
                  </a:cubicBezTo>
                  <a:lnTo>
                    <a:pt x="0" y="79400"/>
                  </a:lnTo>
                  <a:cubicBezTo>
                    <a:pt x="0" y="58342"/>
                    <a:pt x="8365" y="38146"/>
                    <a:pt x="23256" y="23256"/>
                  </a:cubicBezTo>
                  <a:cubicBezTo>
                    <a:pt x="38146" y="8365"/>
                    <a:pt x="58342" y="0"/>
                    <a:pt x="79400" y="0"/>
                  </a:cubicBez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id="46" name="TextBox 6">
              <a:extLst>
                <a:ext uri="{FF2B5EF4-FFF2-40B4-BE49-F238E27FC236}">
                  <a16:creationId xmlns:a16="http://schemas.microsoft.com/office/drawing/2014/main" id="{3341176A-5517-CEFB-E1EB-3EF5FA06D81D}"/>
                </a:ext>
              </a:extLst>
            </p:cNvPr>
            <p:cNvSpPr txBox="1"/>
            <p:nvPr/>
          </p:nvSpPr>
          <p:spPr>
            <a:xfrm>
              <a:off x="0" y="-76200"/>
              <a:ext cx="1114126" cy="1407168"/>
            </a:xfrm>
            <a:prstGeom prst="rect">
              <a:avLst/>
            </a:prstGeom>
          </p:spPr>
          <p:txBody>
            <a:bodyPr lIns="55600" tIns="55600" rIns="55600" bIns="55600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grpSp>
        <p:nvGrpSpPr>
          <p:cNvPr id="47" name="Group 7">
            <a:extLst>
              <a:ext uri="{FF2B5EF4-FFF2-40B4-BE49-F238E27FC236}">
                <a16:creationId xmlns:a16="http://schemas.microsoft.com/office/drawing/2014/main" id="{A0613148-0584-107E-79C3-AD6E4FD5B84E}"/>
              </a:ext>
            </a:extLst>
          </p:cNvPr>
          <p:cNvGrpSpPr/>
          <p:nvPr/>
        </p:nvGrpSpPr>
        <p:grpSpPr>
          <a:xfrm>
            <a:off x="5387086" y="15179769"/>
            <a:ext cx="1317740" cy="1317740"/>
            <a:chOff x="0" y="0"/>
            <a:chExt cx="812800" cy="812800"/>
          </a:xfrm>
        </p:grpSpPr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id="{DFDF9C5C-B57B-1EC6-9D1F-05E0D36EAEB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9" name="TextBox 9">
              <a:extLst>
                <a:ext uri="{FF2B5EF4-FFF2-40B4-BE49-F238E27FC236}">
                  <a16:creationId xmlns:a16="http://schemas.microsoft.com/office/drawing/2014/main" id="{47FCEE62-D35D-E7EA-1F08-9D19979A9833}"/>
                </a:ext>
              </a:extLst>
            </p:cNvPr>
            <p:cNvSpPr txBox="1"/>
            <p:nvPr/>
          </p:nvSpPr>
          <p:spPr>
            <a:xfrm>
              <a:off x="76200" y="-66675"/>
              <a:ext cx="660400" cy="803275"/>
            </a:xfrm>
            <a:prstGeom prst="rect">
              <a:avLst/>
            </a:prstGeom>
          </p:spPr>
          <p:txBody>
            <a:bodyPr lIns="53246" tIns="53246" rIns="53246" bIns="53246" rtlCol="0" anchor="ctr"/>
            <a:lstStyle/>
            <a:p>
              <a:pPr algn="ctr">
                <a:lnSpc>
                  <a:spcPts val="4233"/>
                </a:lnSpc>
              </a:pPr>
              <a:endParaRPr/>
            </a:p>
          </p:txBody>
        </p:sp>
      </p:grpSp>
      <p:sp>
        <p:nvSpPr>
          <p:cNvPr id="50" name="TextBox 10">
            <a:extLst>
              <a:ext uri="{FF2B5EF4-FFF2-40B4-BE49-F238E27FC236}">
                <a16:creationId xmlns:a16="http://schemas.microsoft.com/office/drawing/2014/main" id="{521EFBE5-7667-F9FC-72B2-555F0636A2BA}"/>
              </a:ext>
            </a:extLst>
          </p:cNvPr>
          <p:cNvSpPr txBox="1"/>
          <p:nvPr/>
        </p:nvSpPr>
        <p:spPr>
          <a:xfrm>
            <a:off x="2686987" y="17792189"/>
            <a:ext cx="3033152" cy="2217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just">
              <a:lnSpc>
                <a:spcPts val="2546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Hides the user's real IP address.</a:t>
            </a:r>
          </a:p>
          <a:p>
            <a:pPr marL="285750" indent="-285750" algn="just">
              <a:lnSpc>
                <a:spcPts val="2546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Encrypts internet traffic.</a:t>
            </a:r>
          </a:p>
          <a:p>
            <a:pPr marL="285750" indent="-285750" algn="just">
              <a:lnSpc>
                <a:spcPts val="2546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Routes traffic through secure servers.</a:t>
            </a:r>
          </a:p>
          <a:p>
            <a:pPr marL="285750" indent="-285750" algn="just">
              <a:lnSpc>
                <a:spcPts val="2546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Prevents direct monitoring by third parties.</a:t>
            </a:r>
          </a:p>
        </p:txBody>
      </p:sp>
      <p:grpSp>
        <p:nvGrpSpPr>
          <p:cNvPr id="51" name="Group 11">
            <a:extLst>
              <a:ext uri="{FF2B5EF4-FFF2-40B4-BE49-F238E27FC236}">
                <a16:creationId xmlns:a16="http://schemas.microsoft.com/office/drawing/2014/main" id="{29FA45F4-7421-8D22-73A4-49F9A1155802}"/>
              </a:ext>
            </a:extLst>
          </p:cNvPr>
          <p:cNvGrpSpPr/>
          <p:nvPr/>
        </p:nvGrpSpPr>
        <p:grpSpPr>
          <a:xfrm>
            <a:off x="5533880" y="15326563"/>
            <a:ext cx="1024151" cy="1024151"/>
            <a:chOff x="0" y="0"/>
            <a:chExt cx="812800" cy="812800"/>
          </a:xfrm>
        </p:grpSpPr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506C6D7B-79C5-04DB-129F-A4204804A42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id="53" name="TextBox 13">
              <a:extLst>
                <a:ext uri="{FF2B5EF4-FFF2-40B4-BE49-F238E27FC236}">
                  <a16:creationId xmlns:a16="http://schemas.microsoft.com/office/drawing/2014/main" id="{4ADB8A1D-A18F-B56F-85C2-6235248A240D}"/>
                </a:ext>
              </a:extLst>
            </p:cNvPr>
            <p:cNvSpPr txBox="1"/>
            <p:nvPr/>
          </p:nvSpPr>
          <p:spPr>
            <a:xfrm>
              <a:off x="76200" y="-66675"/>
              <a:ext cx="660400" cy="803275"/>
            </a:xfrm>
            <a:prstGeom prst="rect">
              <a:avLst/>
            </a:prstGeom>
          </p:spPr>
          <p:txBody>
            <a:bodyPr lIns="53246" tIns="53246" rIns="53246" bIns="53246" rtlCol="0" anchor="ctr"/>
            <a:lstStyle/>
            <a:p>
              <a:pPr algn="ctr">
                <a:lnSpc>
                  <a:spcPts val="4233"/>
                </a:lnSpc>
              </a:pPr>
              <a:endParaRPr/>
            </a:p>
          </p:txBody>
        </p:sp>
      </p:grpSp>
      <p:sp>
        <p:nvSpPr>
          <p:cNvPr id="54" name="TextBox 14">
            <a:extLst>
              <a:ext uri="{FF2B5EF4-FFF2-40B4-BE49-F238E27FC236}">
                <a16:creationId xmlns:a16="http://schemas.microsoft.com/office/drawing/2014/main" id="{B2AB02C7-FD1B-2199-66B4-795CD8FB0724}"/>
              </a:ext>
            </a:extLst>
          </p:cNvPr>
          <p:cNvSpPr txBox="1"/>
          <p:nvPr/>
        </p:nvSpPr>
        <p:spPr>
          <a:xfrm>
            <a:off x="5696121" y="15399312"/>
            <a:ext cx="699670" cy="68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3"/>
              </a:lnSpc>
            </a:pPr>
            <a:r>
              <a:rPr lang="en-US" sz="33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id="55" name="TextBox 15">
            <a:extLst>
              <a:ext uri="{FF2B5EF4-FFF2-40B4-BE49-F238E27FC236}">
                <a16:creationId xmlns:a16="http://schemas.microsoft.com/office/drawing/2014/main" id="{73114EA1-F9CE-633F-AF6A-432FB8652959}"/>
              </a:ext>
            </a:extLst>
          </p:cNvPr>
          <p:cNvSpPr txBox="1"/>
          <p:nvPr/>
        </p:nvSpPr>
        <p:spPr>
          <a:xfrm>
            <a:off x="2686987" y="16078745"/>
            <a:ext cx="2541247" cy="1362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258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VPN (Virtual Private Network)</a:t>
            </a:r>
          </a:p>
        </p:txBody>
      </p:sp>
      <p:grpSp>
        <p:nvGrpSpPr>
          <p:cNvPr id="56" name="Group 16">
            <a:extLst>
              <a:ext uri="{FF2B5EF4-FFF2-40B4-BE49-F238E27FC236}">
                <a16:creationId xmlns:a16="http://schemas.microsoft.com/office/drawing/2014/main" id="{3C4D6927-5903-12C7-DF77-278D4CE8CB7C}"/>
              </a:ext>
            </a:extLst>
          </p:cNvPr>
          <p:cNvGrpSpPr/>
          <p:nvPr/>
        </p:nvGrpSpPr>
        <p:grpSpPr>
          <a:xfrm>
            <a:off x="6845190" y="15659100"/>
            <a:ext cx="4192716" cy="5008742"/>
            <a:chOff x="0" y="0"/>
            <a:chExt cx="1114126" cy="1330968"/>
          </a:xfrm>
        </p:grpSpPr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14C7415F-0C9A-B5C1-C988-45D48B196A22}"/>
                </a:ext>
              </a:extLst>
            </p:cNvPr>
            <p:cNvSpPr/>
            <p:nvPr/>
          </p:nvSpPr>
          <p:spPr>
            <a:xfrm>
              <a:off x="0" y="0"/>
              <a:ext cx="1114126" cy="1330968"/>
            </a:xfrm>
            <a:custGeom>
              <a:avLst/>
              <a:gdLst/>
              <a:ahLst/>
              <a:cxnLst/>
              <a:rect l="l" t="t" r="r" b="b"/>
              <a:pathLst>
                <a:path w="1114126" h="1330968">
                  <a:moveTo>
                    <a:pt x="79400" y="0"/>
                  </a:moveTo>
                  <a:lnTo>
                    <a:pt x="1034726" y="0"/>
                  </a:lnTo>
                  <a:cubicBezTo>
                    <a:pt x="1055784" y="0"/>
                    <a:pt x="1075980" y="8365"/>
                    <a:pt x="1090870" y="23256"/>
                  </a:cubicBezTo>
                  <a:cubicBezTo>
                    <a:pt x="1105761" y="38146"/>
                    <a:pt x="1114126" y="58342"/>
                    <a:pt x="1114126" y="79400"/>
                  </a:cubicBezTo>
                  <a:lnTo>
                    <a:pt x="1114126" y="1251568"/>
                  </a:lnTo>
                  <a:cubicBezTo>
                    <a:pt x="1114126" y="1295419"/>
                    <a:pt x="1078577" y="1330968"/>
                    <a:pt x="1034726" y="1330968"/>
                  </a:cubicBezTo>
                  <a:lnTo>
                    <a:pt x="79400" y="1330968"/>
                  </a:lnTo>
                  <a:cubicBezTo>
                    <a:pt x="58342" y="1330968"/>
                    <a:pt x="38146" y="1322602"/>
                    <a:pt x="23256" y="1307712"/>
                  </a:cubicBezTo>
                  <a:cubicBezTo>
                    <a:pt x="8365" y="1292822"/>
                    <a:pt x="0" y="1272626"/>
                    <a:pt x="0" y="1251568"/>
                  </a:cubicBezTo>
                  <a:lnTo>
                    <a:pt x="0" y="79400"/>
                  </a:lnTo>
                  <a:cubicBezTo>
                    <a:pt x="0" y="58342"/>
                    <a:pt x="8365" y="38146"/>
                    <a:pt x="23256" y="23256"/>
                  </a:cubicBezTo>
                  <a:cubicBezTo>
                    <a:pt x="38146" y="8365"/>
                    <a:pt x="58342" y="0"/>
                    <a:pt x="79400" y="0"/>
                  </a:cubicBezTo>
                  <a:close/>
                </a:path>
              </a:pathLst>
            </a:custGeom>
            <a:solidFill>
              <a:srgbClr val="097C5C"/>
            </a:solidFill>
          </p:spPr>
        </p:sp>
        <p:sp>
          <p:nvSpPr>
            <p:cNvPr id="58" name="TextBox 18">
              <a:extLst>
                <a:ext uri="{FF2B5EF4-FFF2-40B4-BE49-F238E27FC236}">
                  <a16:creationId xmlns:a16="http://schemas.microsoft.com/office/drawing/2014/main" id="{BA2759FE-E40D-5333-F2BB-AA13DBA33766}"/>
                </a:ext>
              </a:extLst>
            </p:cNvPr>
            <p:cNvSpPr txBox="1"/>
            <p:nvPr/>
          </p:nvSpPr>
          <p:spPr>
            <a:xfrm>
              <a:off x="0" y="-76200"/>
              <a:ext cx="1114126" cy="1407168"/>
            </a:xfrm>
            <a:prstGeom prst="rect">
              <a:avLst/>
            </a:prstGeom>
          </p:spPr>
          <p:txBody>
            <a:bodyPr lIns="55600" tIns="55600" rIns="55600" bIns="55600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grpSp>
        <p:nvGrpSpPr>
          <p:cNvPr id="59" name="Group 19">
            <a:extLst>
              <a:ext uri="{FF2B5EF4-FFF2-40B4-BE49-F238E27FC236}">
                <a16:creationId xmlns:a16="http://schemas.microsoft.com/office/drawing/2014/main" id="{27D2F4EC-3537-58AD-A581-0EFC15CF0381}"/>
              </a:ext>
            </a:extLst>
          </p:cNvPr>
          <p:cNvGrpSpPr/>
          <p:nvPr/>
        </p:nvGrpSpPr>
        <p:grpSpPr>
          <a:xfrm>
            <a:off x="10125070" y="15179769"/>
            <a:ext cx="1317740" cy="1317740"/>
            <a:chOff x="0" y="0"/>
            <a:chExt cx="812800" cy="812800"/>
          </a:xfrm>
        </p:grpSpPr>
        <p:sp>
          <p:nvSpPr>
            <p:cNvPr id="60" name="Freeform 20">
              <a:extLst>
                <a:ext uri="{FF2B5EF4-FFF2-40B4-BE49-F238E27FC236}">
                  <a16:creationId xmlns:a16="http://schemas.microsoft.com/office/drawing/2014/main" id="{B87EFCA2-FDDF-9DEB-15B5-3CF167C95CC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1" name="TextBox 21">
              <a:extLst>
                <a:ext uri="{FF2B5EF4-FFF2-40B4-BE49-F238E27FC236}">
                  <a16:creationId xmlns:a16="http://schemas.microsoft.com/office/drawing/2014/main" id="{8E7D1743-52B8-D1ED-C439-C4771E4281EE}"/>
                </a:ext>
              </a:extLst>
            </p:cNvPr>
            <p:cNvSpPr txBox="1"/>
            <p:nvPr/>
          </p:nvSpPr>
          <p:spPr>
            <a:xfrm>
              <a:off x="76200" y="-66675"/>
              <a:ext cx="660400" cy="803275"/>
            </a:xfrm>
            <a:prstGeom prst="rect">
              <a:avLst/>
            </a:prstGeom>
          </p:spPr>
          <p:txBody>
            <a:bodyPr lIns="53246" tIns="53246" rIns="53246" bIns="53246" rtlCol="0" anchor="ctr"/>
            <a:lstStyle/>
            <a:p>
              <a:pPr algn="ctr">
                <a:lnSpc>
                  <a:spcPts val="4233"/>
                </a:lnSpc>
              </a:pPr>
              <a:endParaRPr/>
            </a:p>
          </p:txBody>
        </p:sp>
      </p:grpSp>
      <p:sp>
        <p:nvSpPr>
          <p:cNvPr id="62" name="TextBox 22">
            <a:extLst>
              <a:ext uri="{FF2B5EF4-FFF2-40B4-BE49-F238E27FC236}">
                <a16:creationId xmlns:a16="http://schemas.microsoft.com/office/drawing/2014/main" id="{122D9014-6EDD-AC34-3F8A-EAA1D30E7ED3}"/>
              </a:ext>
            </a:extLst>
          </p:cNvPr>
          <p:cNvSpPr txBox="1"/>
          <p:nvPr/>
        </p:nvSpPr>
        <p:spPr>
          <a:xfrm>
            <a:off x="7424971" y="17792189"/>
            <a:ext cx="3033152" cy="2538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just">
              <a:lnSpc>
                <a:spcPts val="2546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Act as intermediaries between the user and the torrent network.</a:t>
            </a:r>
          </a:p>
          <a:p>
            <a:pPr marL="285750" indent="-285750" algn="just">
              <a:lnSpc>
                <a:spcPts val="2546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Hide the user's IP address.</a:t>
            </a:r>
          </a:p>
          <a:p>
            <a:pPr marL="285750" indent="-285750" algn="just">
              <a:lnSpc>
                <a:spcPts val="2546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Generally faster than VPNs but provide less security because traffic is usually not encrypted.</a:t>
            </a:r>
          </a:p>
        </p:txBody>
      </p:sp>
      <p:grpSp>
        <p:nvGrpSpPr>
          <p:cNvPr id="63" name="Group 23">
            <a:extLst>
              <a:ext uri="{FF2B5EF4-FFF2-40B4-BE49-F238E27FC236}">
                <a16:creationId xmlns:a16="http://schemas.microsoft.com/office/drawing/2014/main" id="{801CD039-573F-DEA9-0968-30A39BF36A39}"/>
              </a:ext>
            </a:extLst>
          </p:cNvPr>
          <p:cNvGrpSpPr/>
          <p:nvPr/>
        </p:nvGrpSpPr>
        <p:grpSpPr>
          <a:xfrm>
            <a:off x="10271865" y="15326563"/>
            <a:ext cx="1024151" cy="1024151"/>
            <a:chOff x="0" y="0"/>
            <a:chExt cx="812800" cy="812800"/>
          </a:xfrm>
        </p:grpSpPr>
        <p:sp>
          <p:nvSpPr>
            <p:cNvPr id="64" name="Freeform 24">
              <a:extLst>
                <a:ext uri="{FF2B5EF4-FFF2-40B4-BE49-F238E27FC236}">
                  <a16:creationId xmlns:a16="http://schemas.microsoft.com/office/drawing/2014/main" id="{BFC37FA5-6BC5-EC0E-9140-B8690D1D2E9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97C5C"/>
            </a:solidFill>
          </p:spPr>
        </p:sp>
        <p:sp>
          <p:nvSpPr>
            <p:cNvPr id="65" name="TextBox 25">
              <a:extLst>
                <a:ext uri="{FF2B5EF4-FFF2-40B4-BE49-F238E27FC236}">
                  <a16:creationId xmlns:a16="http://schemas.microsoft.com/office/drawing/2014/main" id="{FFCC3266-E0F7-F1A2-0243-604093D58553}"/>
                </a:ext>
              </a:extLst>
            </p:cNvPr>
            <p:cNvSpPr txBox="1"/>
            <p:nvPr/>
          </p:nvSpPr>
          <p:spPr>
            <a:xfrm>
              <a:off x="76200" y="-66675"/>
              <a:ext cx="660400" cy="803275"/>
            </a:xfrm>
            <a:prstGeom prst="rect">
              <a:avLst/>
            </a:prstGeom>
          </p:spPr>
          <p:txBody>
            <a:bodyPr lIns="53246" tIns="53246" rIns="53246" bIns="53246" rtlCol="0" anchor="ctr"/>
            <a:lstStyle/>
            <a:p>
              <a:pPr algn="ctr">
                <a:lnSpc>
                  <a:spcPts val="4233"/>
                </a:lnSpc>
              </a:pPr>
              <a:endParaRPr/>
            </a:p>
          </p:txBody>
        </p:sp>
      </p:grpSp>
      <p:sp>
        <p:nvSpPr>
          <p:cNvPr id="66" name="TextBox 26">
            <a:extLst>
              <a:ext uri="{FF2B5EF4-FFF2-40B4-BE49-F238E27FC236}">
                <a16:creationId xmlns:a16="http://schemas.microsoft.com/office/drawing/2014/main" id="{42E4FBE3-7878-8F89-7D31-67815F69CF6E}"/>
              </a:ext>
            </a:extLst>
          </p:cNvPr>
          <p:cNvSpPr txBox="1"/>
          <p:nvPr/>
        </p:nvSpPr>
        <p:spPr>
          <a:xfrm>
            <a:off x="10434105" y="15399312"/>
            <a:ext cx="699670" cy="68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3"/>
              </a:lnSpc>
            </a:pPr>
            <a:r>
              <a:rPr lang="en-US" sz="33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id="67" name="TextBox 27">
            <a:extLst>
              <a:ext uri="{FF2B5EF4-FFF2-40B4-BE49-F238E27FC236}">
                <a16:creationId xmlns:a16="http://schemas.microsoft.com/office/drawing/2014/main" id="{83293DBC-FDAE-6492-2E0B-87FAF4644568}"/>
              </a:ext>
            </a:extLst>
          </p:cNvPr>
          <p:cNvSpPr txBox="1"/>
          <p:nvPr/>
        </p:nvSpPr>
        <p:spPr>
          <a:xfrm>
            <a:off x="7424971" y="16078745"/>
            <a:ext cx="2541247" cy="439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258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Proxy Servers</a:t>
            </a:r>
          </a:p>
        </p:txBody>
      </p:sp>
      <p:grpSp>
        <p:nvGrpSpPr>
          <p:cNvPr id="68" name="Group 28">
            <a:extLst>
              <a:ext uri="{FF2B5EF4-FFF2-40B4-BE49-F238E27FC236}">
                <a16:creationId xmlns:a16="http://schemas.microsoft.com/office/drawing/2014/main" id="{B6C8CE7C-E640-2C5E-256C-8B466531763D}"/>
              </a:ext>
            </a:extLst>
          </p:cNvPr>
          <p:cNvGrpSpPr/>
          <p:nvPr/>
        </p:nvGrpSpPr>
        <p:grpSpPr>
          <a:xfrm>
            <a:off x="11583174" y="15659100"/>
            <a:ext cx="4192716" cy="5008742"/>
            <a:chOff x="0" y="0"/>
            <a:chExt cx="1114126" cy="1330968"/>
          </a:xfrm>
        </p:grpSpPr>
        <p:sp>
          <p:nvSpPr>
            <p:cNvPr id="69" name="Freeform 29">
              <a:extLst>
                <a:ext uri="{FF2B5EF4-FFF2-40B4-BE49-F238E27FC236}">
                  <a16:creationId xmlns:a16="http://schemas.microsoft.com/office/drawing/2014/main" id="{08C1EA44-BD5A-25B8-096F-C937E1DE21B9}"/>
                </a:ext>
              </a:extLst>
            </p:cNvPr>
            <p:cNvSpPr/>
            <p:nvPr/>
          </p:nvSpPr>
          <p:spPr>
            <a:xfrm>
              <a:off x="0" y="0"/>
              <a:ext cx="1114126" cy="1330968"/>
            </a:xfrm>
            <a:custGeom>
              <a:avLst/>
              <a:gdLst/>
              <a:ahLst/>
              <a:cxnLst/>
              <a:rect l="l" t="t" r="r" b="b"/>
              <a:pathLst>
                <a:path w="1114126" h="1330968">
                  <a:moveTo>
                    <a:pt x="79400" y="0"/>
                  </a:moveTo>
                  <a:lnTo>
                    <a:pt x="1034726" y="0"/>
                  </a:lnTo>
                  <a:cubicBezTo>
                    <a:pt x="1055784" y="0"/>
                    <a:pt x="1075980" y="8365"/>
                    <a:pt x="1090870" y="23256"/>
                  </a:cubicBezTo>
                  <a:cubicBezTo>
                    <a:pt x="1105761" y="38146"/>
                    <a:pt x="1114126" y="58342"/>
                    <a:pt x="1114126" y="79400"/>
                  </a:cubicBezTo>
                  <a:lnTo>
                    <a:pt x="1114126" y="1251568"/>
                  </a:lnTo>
                  <a:cubicBezTo>
                    <a:pt x="1114126" y="1295419"/>
                    <a:pt x="1078577" y="1330968"/>
                    <a:pt x="1034726" y="1330968"/>
                  </a:cubicBezTo>
                  <a:lnTo>
                    <a:pt x="79400" y="1330968"/>
                  </a:lnTo>
                  <a:cubicBezTo>
                    <a:pt x="58342" y="1330968"/>
                    <a:pt x="38146" y="1322602"/>
                    <a:pt x="23256" y="1307712"/>
                  </a:cubicBezTo>
                  <a:cubicBezTo>
                    <a:pt x="8365" y="1292822"/>
                    <a:pt x="0" y="1272626"/>
                    <a:pt x="0" y="1251568"/>
                  </a:cubicBezTo>
                  <a:lnTo>
                    <a:pt x="0" y="79400"/>
                  </a:lnTo>
                  <a:cubicBezTo>
                    <a:pt x="0" y="58342"/>
                    <a:pt x="8365" y="38146"/>
                    <a:pt x="23256" y="23256"/>
                  </a:cubicBezTo>
                  <a:cubicBezTo>
                    <a:pt x="38146" y="8365"/>
                    <a:pt x="58342" y="0"/>
                    <a:pt x="79400" y="0"/>
                  </a:cubicBez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id="70" name="TextBox 30">
              <a:extLst>
                <a:ext uri="{FF2B5EF4-FFF2-40B4-BE49-F238E27FC236}">
                  <a16:creationId xmlns:a16="http://schemas.microsoft.com/office/drawing/2014/main" id="{9AB916DD-F7CE-B2F8-5BBA-BF34404699A8}"/>
                </a:ext>
              </a:extLst>
            </p:cNvPr>
            <p:cNvSpPr txBox="1"/>
            <p:nvPr/>
          </p:nvSpPr>
          <p:spPr>
            <a:xfrm>
              <a:off x="0" y="-76200"/>
              <a:ext cx="1114126" cy="1407168"/>
            </a:xfrm>
            <a:prstGeom prst="rect">
              <a:avLst/>
            </a:prstGeom>
          </p:spPr>
          <p:txBody>
            <a:bodyPr lIns="55600" tIns="55600" rIns="55600" bIns="55600" rtlCol="0" anchor="ctr"/>
            <a:lstStyle/>
            <a:p>
              <a:pPr algn="ctr">
                <a:lnSpc>
                  <a:spcPts val="3451"/>
                </a:lnSpc>
              </a:pPr>
              <a:endParaRPr/>
            </a:p>
          </p:txBody>
        </p:sp>
      </p:grpSp>
      <p:grpSp>
        <p:nvGrpSpPr>
          <p:cNvPr id="71" name="Group 31">
            <a:extLst>
              <a:ext uri="{FF2B5EF4-FFF2-40B4-BE49-F238E27FC236}">
                <a16:creationId xmlns:a16="http://schemas.microsoft.com/office/drawing/2014/main" id="{6D5F51C7-D4B1-DEBC-5E44-821AC1FC5CB0}"/>
              </a:ext>
            </a:extLst>
          </p:cNvPr>
          <p:cNvGrpSpPr/>
          <p:nvPr/>
        </p:nvGrpSpPr>
        <p:grpSpPr>
          <a:xfrm>
            <a:off x="14863054" y="15179769"/>
            <a:ext cx="1317740" cy="1317740"/>
            <a:chOff x="0" y="0"/>
            <a:chExt cx="812800" cy="812800"/>
          </a:xfrm>
        </p:grpSpPr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29C1BFE4-C521-5822-CFA7-FD5477A600D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3" name="TextBox 33">
              <a:extLst>
                <a:ext uri="{FF2B5EF4-FFF2-40B4-BE49-F238E27FC236}">
                  <a16:creationId xmlns:a16="http://schemas.microsoft.com/office/drawing/2014/main" id="{11425463-DD14-6E8D-D651-0A4B0C65FD86}"/>
                </a:ext>
              </a:extLst>
            </p:cNvPr>
            <p:cNvSpPr txBox="1"/>
            <p:nvPr/>
          </p:nvSpPr>
          <p:spPr>
            <a:xfrm>
              <a:off x="76200" y="-66675"/>
              <a:ext cx="660400" cy="803275"/>
            </a:xfrm>
            <a:prstGeom prst="rect">
              <a:avLst/>
            </a:prstGeom>
          </p:spPr>
          <p:txBody>
            <a:bodyPr lIns="53246" tIns="53246" rIns="53246" bIns="53246" rtlCol="0" anchor="ctr"/>
            <a:lstStyle/>
            <a:p>
              <a:pPr algn="ctr">
                <a:lnSpc>
                  <a:spcPts val="4233"/>
                </a:lnSpc>
              </a:pPr>
              <a:endParaRPr/>
            </a:p>
          </p:txBody>
        </p:sp>
      </p:grpSp>
      <p:sp>
        <p:nvSpPr>
          <p:cNvPr id="74" name="TextBox 34">
            <a:extLst>
              <a:ext uri="{FF2B5EF4-FFF2-40B4-BE49-F238E27FC236}">
                <a16:creationId xmlns:a16="http://schemas.microsoft.com/office/drawing/2014/main" id="{95892008-4BC2-BA1D-E61C-FE0D5E1EF9C3}"/>
              </a:ext>
            </a:extLst>
          </p:cNvPr>
          <p:cNvSpPr txBox="1"/>
          <p:nvPr/>
        </p:nvSpPr>
        <p:spPr>
          <a:xfrm>
            <a:off x="12162956" y="17792189"/>
            <a:ext cx="3033152" cy="2217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just">
              <a:lnSpc>
                <a:spcPts val="2546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Routes traffic through multiple volunteer-operated nodes.</a:t>
            </a:r>
          </a:p>
          <a:p>
            <a:pPr marL="285750" indent="-285750" algn="just">
              <a:lnSpc>
                <a:spcPts val="2546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Provides a high level of anonymity.</a:t>
            </a:r>
          </a:p>
          <a:p>
            <a:pPr marL="285750" indent="-285750" algn="just">
              <a:lnSpc>
                <a:spcPts val="2546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Makes user tracking difficult.</a:t>
            </a:r>
          </a:p>
          <a:p>
            <a:pPr marL="285750" indent="-285750" algn="just">
              <a:lnSpc>
                <a:spcPts val="2546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But is much slower than VPN</a:t>
            </a:r>
          </a:p>
        </p:txBody>
      </p:sp>
      <p:grpSp>
        <p:nvGrpSpPr>
          <p:cNvPr id="75" name="Group 35">
            <a:extLst>
              <a:ext uri="{FF2B5EF4-FFF2-40B4-BE49-F238E27FC236}">
                <a16:creationId xmlns:a16="http://schemas.microsoft.com/office/drawing/2014/main" id="{85565F9C-A2DD-CDEA-EF07-F5F37607BA4E}"/>
              </a:ext>
            </a:extLst>
          </p:cNvPr>
          <p:cNvGrpSpPr/>
          <p:nvPr/>
        </p:nvGrpSpPr>
        <p:grpSpPr>
          <a:xfrm>
            <a:off x="15009849" y="15326563"/>
            <a:ext cx="1024151" cy="1024151"/>
            <a:chOff x="0" y="0"/>
            <a:chExt cx="812800" cy="812800"/>
          </a:xfrm>
        </p:grpSpPr>
        <p:sp>
          <p:nvSpPr>
            <p:cNvPr id="76" name="Freeform 36">
              <a:extLst>
                <a:ext uri="{FF2B5EF4-FFF2-40B4-BE49-F238E27FC236}">
                  <a16:creationId xmlns:a16="http://schemas.microsoft.com/office/drawing/2014/main" id="{A94EB552-A02A-5640-1FA3-E2438989E73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id="77" name="TextBox 37">
              <a:extLst>
                <a:ext uri="{FF2B5EF4-FFF2-40B4-BE49-F238E27FC236}">
                  <a16:creationId xmlns:a16="http://schemas.microsoft.com/office/drawing/2014/main" id="{2844D733-B7F8-D428-C74B-FB8AB486023B}"/>
                </a:ext>
              </a:extLst>
            </p:cNvPr>
            <p:cNvSpPr txBox="1"/>
            <p:nvPr/>
          </p:nvSpPr>
          <p:spPr>
            <a:xfrm>
              <a:off x="76200" y="-66675"/>
              <a:ext cx="660400" cy="803275"/>
            </a:xfrm>
            <a:prstGeom prst="rect">
              <a:avLst/>
            </a:prstGeom>
          </p:spPr>
          <p:txBody>
            <a:bodyPr lIns="53246" tIns="53246" rIns="53246" bIns="53246" rtlCol="0" anchor="ctr"/>
            <a:lstStyle/>
            <a:p>
              <a:pPr algn="ctr">
                <a:lnSpc>
                  <a:spcPts val="4233"/>
                </a:lnSpc>
              </a:pPr>
              <a:endParaRPr/>
            </a:p>
          </p:txBody>
        </p:sp>
      </p:grpSp>
      <p:sp>
        <p:nvSpPr>
          <p:cNvPr id="78" name="TextBox 38">
            <a:extLst>
              <a:ext uri="{FF2B5EF4-FFF2-40B4-BE49-F238E27FC236}">
                <a16:creationId xmlns:a16="http://schemas.microsoft.com/office/drawing/2014/main" id="{38060949-ED2C-8627-5717-C67181FB6565}"/>
              </a:ext>
            </a:extLst>
          </p:cNvPr>
          <p:cNvSpPr txBox="1"/>
          <p:nvPr/>
        </p:nvSpPr>
        <p:spPr>
          <a:xfrm>
            <a:off x="15172090" y="15399312"/>
            <a:ext cx="699670" cy="68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3"/>
              </a:lnSpc>
            </a:pPr>
            <a:r>
              <a:rPr lang="en-US" sz="33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id="79" name="TextBox 39">
            <a:extLst>
              <a:ext uri="{FF2B5EF4-FFF2-40B4-BE49-F238E27FC236}">
                <a16:creationId xmlns:a16="http://schemas.microsoft.com/office/drawing/2014/main" id="{29465327-9DE9-3FFC-0DC5-CA0F627D0880}"/>
              </a:ext>
            </a:extLst>
          </p:cNvPr>
          <p:cNvSpPr txBox="1"/>
          <p:nvPr/>
        </p:nvSpPr>
        <p:spPr>
          <a:xfrm>
            <a:off x="12162956" y="16078745"/>
            <a:ext cx="2541247" cy="439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258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Tor Network</a:t>
            </a:r>
          </a:p>
        </p:txBody>
      </p:sp>
    </p:spTree>
    <p:extLst>
      <p:ext uri="{BB962C8B-B14F-4D97-AF65-F5344CB8AC3E}">
        <p14:creationId xmlns:p14="http://schemas.microsoft.com/office/powerpoint/2010/main" val="36213908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AE0E6B5-1000-8CAD-BD56-4EC3B3599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" y="0"/>
            <a:ext cx="18282583" cy="10287000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 flipV="1">
            <a:off x="1028700" y="2160669"/>
            <a:ext cx="16230600" cy="0"/>
          </a:xfrm>
          <a:prstGeom prst="line">
            <a:avLst/>
          </a:prstGeom>
          <a:ln w="9525" cap="rnd">
            <a:solidFill>
              <a:srgbClr val="182D8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028700" y="2674657"/>
            <a:ext cx="6898460" cy="6360380"/>
          </a:xfrm>
          <a:custGeom>
            <a:avLst/>
            <a:gdLst/>
            <a:ahLst/>
            <a:cxnLst/>
            <a:rect l="l" t="t" r="r" b="b"/>
            <a:pathLst>
              <a:path w="6898460" h="6360380">
                <a:moveTo>
                  <a:pt x="0" y="0"/>
                </a:moveTo>
                <a:lnTo>
                  <a:pt x="6898460" y="0"/>
                </a:lnTo>
                <a:lnTo>
                  <a:pt x="6898460" y="6360380"/>
                </a:lnTo>
                <a:lnTo>
                  <a:pt x="0" y="63603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224018"/>
            <a:ext cx="6322404" cy="71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4"/>
              </a:lnSpc>
            </a:pPr>
            <a:r>
              <a:rPr lang="en-US" sz="5097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63931" y="3514630"/>
            <a:ext cx="7655766" cy="4673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Key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BitTorrent is a legal file-sharing technology.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Torrent poisoning is used to reduce illegal file sharing.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Anonymity tools help protect user privacy.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Privacy and copyright enforcement often conflict.</a:t>
            </a:r>
          </a:p>
          <a:p>
            <a:pPr>
              <a:buNone/>
            </a:pPr>
            <a:r>
              <a:rPr lang="en-US" sz="28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Conclusion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No single solution can completely prevent piracy.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Balancing security, privacy, and copyright protection remains a challenge.</a:t>
            </a:r>
          </a:p>
          <a:p>
            <a:pPr algn="just">
              <a:lnSpc>
                <a:spcPts val="2983"/>
              </a:lnSpc>
            </a:pPr>
            <a:endParaRPr lang="en-US" sz="2131" dirty="0">
              <a:solidFill>
                <a:schemeClr val="tx2">
                  <a:lumMod val="20000"/>
                  <a:lumOff val="8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4AD4BE0A-5F56-19D5-E6F4-B450EFF31250}"/>
              </a:ext>
            </a:extLst>
          </p:cNvPr>
          <p:cNvSpPr/>
          <p:nvPr/>
        </p:nvSpPr>
        <p:spPr>
          <a:xfrm>
            <a:off x="-8721435" y="2685317"/>
            <a:ext cx="7058549" cy="6882085"/>
          </a:xfrm>
          <a:custGeom>
            <a:avLst/>
            <a:gdLst/>
            <a:ahLst/>
            <a:cxnLst/>
            <a:rect l="l" t="t" r="r" b="b"/>
            <a:pathLst>
              <a:path w="7058549" h="6882085">
                <a:moveTo>
                  <a:pt x="0" y="0"/>
                </a:moveTo>
                <a:lnTo>
                  <a:pt x="7058549" y="0"/>
                </a:lnTo>
                <a:lnTo>
                  <a:pt x="7058549" y="6882085"/>
                </a:lnTo>
                <a:lnTo>
                  <a:pt x="0" y="68820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E2F41-485E-465D-0622-434583870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D66B96D-AD03-B36B-632D-7E6B61E04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" y="0"/>
            <a:ext cx="18282583" cy="10287000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A3D35C25-56AB-1EB0-D102-4B732D2C1B1E}"/>
              </a:ext>
            </a:extLst>
          </p:cNvPr>
          <p:cNvSpPr/>
          <p:nvPr/>
        </p:nvSpPr>
        <p:spPr>
          <a:xfrm flipV="1">
            <a:off x="1028700" y="2160669"/>
            <a:ext cx="16230600" cy="0"/>
          </a:xfrm>
          <a:prstGeom prst="line">
            <a:avLst/>
          </a:prstGeom>
          <a:ln w="9525" cap="rnd">
            <a:solidFill>
              <a:srgbClr val="182D8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27FF157-2D14-C6A5-12BE-B5A3F0CF0BF1}"/>
              </a:ext>
            </a:extLst>
          </p:cNvPr>
          <p:cNvSpPr/>
          <p:nvPr/>
        </p:nvSpPr>
        <p:spPr>
          <a:xfrm>
            <a:off x="1028700" y="2674657"/>
            <a:ext cx="6898460" cy="6360380"/>
          </a:xfrm>
          <a:custGeom>
            <a:avLst/>
            <a:gdLst/>
            <a:ahLst/>
            <a:cxnLst/>
            <a:rect l="l" t="t" r="r" b="b"/>
            <a:pathLst>
              <a:path w="6898460" h="6360380">
                <a:moveTo>
                  <a:pt x="0" y="0"/>
                </a:moveTo>
                <a:lnTo>
                  <a:pt x="6898460" y="0"/>
                </a:lnTo>
                <a:lnTo>
                  <a:pt x="6898460" y="6360380"/>
                </a:lnTo>
                <a:lnTo>
                  <a:pt x="0" y="63603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C601E19-F232-1CD0-5B09-73DF31970B11}"/>
              </a:ext>
            </a:extLst>
          </p:cNvPr>
          <p:cNvSpPr txBox="1"/>
          <p:nvPr/>
        </p:nvSpPr>
        <p:spPr>
          <a:xfrm>
            <a:off x="1028700" y="1224018"/>
            <a:ext cx="6322404" cy="71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4"/>
              </a:lnSpc>
            </a:pPr>
            <a:r>
              <a:rPr lang="en-US" sz="5097" b="1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References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B20B576-BA0C-223D-A001-73D885B964B4}"/>
              </a:ext>
            </a:extLst>
          </p:cNvPr>
          <p:cNvSpPr txBox="1"/>
          <p:nvPr/>
        </p:nvSpPr>
        <p:spPr>
          <a:xfrm>
            <a:off x="8963931" y="3514630"/>
            <a:ext cx="7655766" cy="2604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References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Sharma, A.K., &amp; Dabas, A. (2015).Torrent Poisoning: Antipiracy and Anonymity.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31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Wikipedia: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31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Peer-to-Peer Networking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31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BitTorrent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31" dirty="0">
                <a:solidFill>
                  <a:schemeClr val="tx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Torrent Poisoning</a:t>
            </a:r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BE066187-629F-9131-25A9-30FFB30093A7}"/>
              </a:ext>
            </a:extLst>
          </p:cNvPr>
          <p:cNvSpPr/>
          <p:nvPr/>
        </p:nvSpPr>
        <p:spPr>
          <a:xfrm>
            <a:off x="-8721435" y="2685317"/>
            <a:ext cx="7058549" cy="6882085"/>
          </a:xfrm>
          <a:custGeom>
            <a:avLst/>
            <a:gdLst/>
            <a:ahLst/>
            <a:cxnLst/>
            <a:rect l="l" t="t" r="r" b="b"/>
            <a:pathLst>
              <a:path w="7058549" h="6882085">
                <a:moveTo>
                  <a:pt x="0" y="0"/>
                </a:moveTo>
                <a:lnTo>
                  <a:pt x="7058549" y="0"/>
                </a:lnTo>
                <a:lnTo>
                  <a:pt x="7058549" y="6882085"/>
                </a:lnTo>
                <a:lnTo>
                  <a:pt x="0" y="68820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3501734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01E5B8-7DCB-AA46-77A9-2B838E1A0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" y="0"/>
            <a:ext cx="18282583" cy="10287000"/>
          </a:xfrm>
          <a:prstGeom prst="rect">
            <a:avLst/>
          </a:prstGeom>
        </p:spPr>
      </p:pic>
      <p:sp>
        <p:nvSpPr>
          <p:cNvPr id="428" name="Google Shape;428;p37"/>
          <p:cNvSpPr txBox="1"/>
          <p:nvPr/>
        </p:nvSpPr>
        <p:spPr>
          <a:xfrm>
            <a:off x="6886217" y="2707481"/>
            <a:ext cx="4515564" cy="1904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1250" b="1" dirty="0">
                <a:solidFill>
                  <a:schemeClr val="tx2">
                    <a:lumMod val="40000"/>
                    <a:lumOff val="6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Q&amp;A</a:t>
            </a:r>
            <a:endParaRPr sz="27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29" name="Google Shape;429;p37"/>
          <p:cNvSpPr txBox="1"/>
          <p:nvPr/>
        </p:nvSpPr>
        <p:spPr>
          <a:xfrm>
            <a:off x="7115531" y="6072834"/>
            <a:ext cx="4300538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700" dirty="0">
                <a:solidFill>
                  <a:schemeClr val="tx2">
                    <a:lumMod val="20000"/>
                    <a:lumOff val="8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attention!</a:t>
            </a:r>
            <a:endParaRPr sz="27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30" name="Google Shape;430;p37"/>
          <p:cNvSpPr/>
          <p:nvPr/>
        </p:nvSpPr>
        <p:spPr>
          <a:xfrm>
            <a:off x="7115531" y="5950742"/>
            <a:ext cx="4286250" cy="14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429;p37">
            <a:extLst>
              <a:ext uri="{FF2B5EF4-FFF2-40B4-BE49-F238E27FC236}">
                <a16:creationId xmlns:a16="http://schemas.microsoft.com/office/drawing/2014/main" id="{83E40ACF-B29F-9323-7509-078517C69EAD}"/>
              </a:ext>
            </a:extLst>
          </p:cNvPr>
          <p:cNvSpPr txBox="1"/>
          <p:nvPr/>
        </p:nvSpPr>
        <p:spPr>
          <a:xfrm>
            <a:off x="7101243" y="4596443"/>
            <a:ext cx="4300538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700" dirty="0">
                <a:solidFill>
                  <a:schemeClr val="tx2">
                    <a:lumMod val="20000"/>
                    <a:lumOff val="8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If you have any Questions, Let us know</a:t>
            </a:r>
            <a:endParaRPr sz="27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6" name="Picture 5" descr="Thank You Presentation Vector Art, Icons, and Graphics for Free Download">
            <a:extLst>
              <a:ext uri="{FF2B5EF4-FFF2-40B4-BE49-F238E27FC236}">
                <a16:creationId xmlns:a16="http://schemas.microsoft.com/office/drawing/2014/main" id="{69753CAF-C233-062A-BE55-9CEC568174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3" b="90000" l="9905" r="89905">
                        <a14:foregroundMark x1="25905" y1="3714" x2="25905" y2="38857"/>
                        <a14:foregroundMark x1="70857" y1="3143" x2="71429" y2="36857"/>
                      </a14:backgroundRemoval>
                    </a14:imgEffect>
                    <a14:imgEffect>
                      <a14:artisticTexturize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79342" y="-8496300"/>
            <a:ext cx="5929314" cy="39528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EEA211-DA5D-24A1-260F-949BB681A2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594" t="-232" r="37558" b="73681"/>
          <a:stretch>
            <a:fillRect/>
          </a:stretch>
        </p:blipFill>
        <p:spPr>
          <a:xfrm>
            <a:off x="6720065" y="-38100"/>
            <a:ext cx="5091469" cy="2731293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>
          <a:extLst>
            <a:ext uri="{FF2B5EF4-FFF2-40B4-BE49-F238E27FC236}">
              <a16:creationId xmlns:a16="http://schemas.microsoft.com/office/drawing/2014/main" id="{907552AD-B508-5497-D9D9-A774EB55E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3CDE1B-6D55-D041-A568-E8458300E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" y="0"/>
            <a:ext cx="18282583" cy="10287000"/>
          </a:xfrm>
          <a:prstGeom prst="rect">
            <a:avLst/>
          </a:prstGeom>
        </p:spPr>
      </p:pic>
      <p:sp>
        <p:nvSpPr>
          <p:cNvPr id="428" name="Google Shape;428;p37">
            <a:extLst>
              <a:ext uri="{FF2B5EF4-FFF2-40B4-BE49-F238E27FC236}">
                <a16:creationId xmlns:a16="http://schemas.microsoft.com/office/drawing/2014/main" id="{0545B69B-AA93-E600-D5DA-A83240453EE0}"/>
              </a:ext>
            </a:extLst>
          </p:cNvPr>
          <p:cNvSpPr txBox="1"/>
          <p:nvPr/>
        </p:nvSpPr>
        <p:spPr>
          <a:xfrm>
            <a:off x="6886217" y="-710712"/>
            <a:ext cx="4515564" cy="1904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1250" b="1" dirty="0">
                <a:solidFill>
                  <a:schemeClr val="tx2">
                    <a:lumMod val="40000"/>
                    <a:lumOff val="6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Q&amp;A</a:t>
            </a:r>
            <a:endParaRPr sz="27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29" name="Google Shape;429;p37">
            <a:extLst>
              <a:ext uri="{FF2B5EF4-FFF2-40B4-BE49-F238E27FC236}">
                <a16:creationId xmlns:a16="http://schemas.microsoft.com/office/drawing/2014/main" id="{848600E4-78ED-D108-68AC-BF45B4A56624}"/>
              </a:ext>
            </a:extLst>
          </p:cNvPr>
          <p:cNvSpPr txBox="1"/>
          <p:nvPr/>
        </p:nvSpPr>
        <p:spPr>
          <a:xfrm>
            <a:off x="6993729" y="5907799"/>
            <a:ext cx="430053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dirty="0">
                <a:solidFill>
                  <a:schemeClr val="tx2">
                    <a:lumMod val="20000"/>
                    <a:lumOff val="8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The End</a:t>
            </a:r>
            <a:endParaRPr sz="32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30" name="Google Shape;430;p37">
            <a:extLst>
              <a:ext uri="{FF2B5EF4-FFF2-40B4-BE49-F238E27FC236}">
                <a16:creationId xmlns:a16="http://schemas.microsoft.com/office/drawing/2014/main" id="{655AC4C5-6914-9500-5E12-2190A9C94D5A}"/>
              </a:ext>
            </a:extLst>
          </p:cNvPr>
          <p:cNvSpPr/>
          <p:nvPr/>
        </p:nvSpPr>
        <p:spPr>
          <a:xfrm>
            <a:off x="7115531" y="5950742"/>
            <a:ext cx="4286250" cy="14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429;p37">
            <a:extLst>
              <a:ext uri="{FF2B5EF4-FFF2-40B4-BE49-F238E27FC236}">
                <a16:creationId xmlns:a16="http://schemas.microsoft.com/office/drawing/2014/main" id="{9CA24813-041F-15F9-1599-C3F7222F2200}"/>
              </a:ext>
            </a:extLst>
          </p:cNvPr>
          <p:cNvSpPr txBox="1"/>
          <p:nvPr/>
        </p:nvSpPr>
        <p:spPr>
          <a:xfrm>
            <a:off x="7101243" y="1178250"/>
            <a:ext cx="4300538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700" dirty="0">
                <a:solidFill>
                  <a:schemeClr val="tx2">
                    <a:lumMod val="20000"/>
                    <a:lumOff val="8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If you have any Questions, Let us know</a:t>
            </a:r>
            <a:endParaRPr sz="27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7" name="Picture 6" descr="Thank You Presentation Vector Art, Icons, and Graphics for Free Download">
            <a:extLst>
              <a:ext uri="{FF2B5EF4-FFF2-40B4-BE49-F238E27FC236}">
                <a16:creationId xmlns:a16="http://schemas.microsoft.com/office/drawing/2014/main" id="{D0FD734C-585D-F2AB-8D17-7EFDCD7273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3" b="90000" l="9905" r="89905">
                        <a14:foregroundMark x1="25905" y1="3714" x2="25905" y2="38857"/>
                        <a14:foregroundMark x1="70857" y1="3143" x2="71429" y2="36857"/>
                      </a14:backgroundRemoval>
                    </a14:imgEffect>
                    <a14:imgEffect>
                      <a14:artisticTexturize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00698" y="1872129"/>
            <a:ext cx="7086600" cy="4724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ABDF95-A706-B4CC-DAB5-6F6FDB26E0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594" r="37558" b="73681"/>
          <a:stretch>
            <a:fillRect/>
          </a:stretch>
        </p:blipFill>
        <p:spPr>
          <a:xfrm>
            <a:off x="6720065" y="0"/>
            <a:ext cx="5091469" cy="270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3050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2537</Words>
  <Application>Microsoft Office PowerPoint</Application>
  <PresentationFormat>Custom</PresentationFormat>
  <Paragraphs>318</Paragraphs>
  <Slides>23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Poppins Bold</vt:lpstr>
      <vt:lpstr>Urbanist SemiBold</vt:lpstr>
      <vt:lpstr>Aptos</vt:lpstr>
      <vt:lpstr>Calibri</vt:lpstr>
      <vt:lpstr>Urbanist</vt:lpstr>
      <vt:lpstr>Space Grotesk</vt:lpstr>
      <vt:lpstr>Inter</vt:lpstr>
      <vt:lpstr>Poppins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Torrent Poisoning</dc:title>
  <cp:lastModifiedBy>Haani Bin Qaiser</cp:lastModifiedBy>
  <cp:revision>37</cp:revision>
  <dcterms:created xsi:type="dcterms:W3CDTF">2006-08-16T00:00:00Z</dcterms:created>
  <dcterms:modified xsi:type="dcterms:W3CDTF">2026-06-02T10:06:24Z</dcterms:modified>
  <dc:identifier>DAHLWzEyae0</dc:identifier>
</cp:coreProperties>
</file>