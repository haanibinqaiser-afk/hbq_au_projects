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79" r:id="rId5"/>
    <p:sldId id="261" r:id="rId6"/>
    <p:sldId id="259" r:id="rId7"/>
    <p:sldId id="266" r:id="rId8"/>
    <p:sldId id="281" r:id="rId9"/>
    <p:sldId id="260" r:id="rId10"/>
    <p:sldId id="277" r:id="rId11"/>
    <p:sldId id="278" r:id="rId12"/>
    <p:sldId id="263" r:id="rId13"/>
    <p:sldId id="268" r:id="rId14"/>
    <p:sldId id="283" r:id="rId15"/>
    <p:sldId id="284" r:id="rId16"/>
    <p:sldId id="271" r:id="rId17"/>
    <p:sldId id="289" r:id="rId18"/>
    <p:sldId id="290" r:id="rId19"/>
    <p:sldId id="272" r:id="rId20"/>
    <p:sldId id="273" r:id="rId21"/>
    <p:sldId id="274" r:id="rId22"/>
    <p:sldId id="291" r:id="rId23"/>
    <p:sldId id="276" r:id="rId24"/>
    <p:sldId id="265" r:id="rId25"/>
  </p:sldIdLst>
  <p:sldSz cx="18288000" cy="10287000"/>
  <p:notesSz cx="6858000" cy="9144000"/>
  <p:embeddedFontLst>
    <p:embeddedFont>
      <p:font typeface="AlexandriaFLF" panose="02000603070000020004" pitchFamily="2" charset="0"/>
      <p:regular r:id="rId27"/>
      <p:bold r:id="rId28"/>
      <p:italic r:id="rId29"/>
      <p:boldItalic r:id="rId30"/>
    </p:embeddedFont>
    <p:embeddedFont>
      <p:font typeface="Archivo Black" panose="020B0604020202020204" charset="0"/>
      <p:regular r:id="rId31"/>
    </p:embeddedFont>
    <p:embeddedFont>
      <p:font typeface="Arial Black" panose="020B0A04020102020204" pitchFamily="34" charset="0"/>
      <p:bold r:id="rId32"/>
    </p:embeddedFont>
    <p:embeddedFont>
      <p:font typeface="Bahnschrift Light" panose="020B0502040204020203" pitchFamily="34" charset="0"/>
      <p:regular r:id="rId33"/>
    </p:embeddedFont>
    <p:embeddedFont>
      <p:font typeface="Cambria Math" panose="02040503050406030204" pitchFamily="18" charset="0"/>
      <p:regular r:id="rId34"/>
    </p:embeddedFont>
    <p:embeddedFont>
      <p:font typeface="Lato" panose="020F0502020204030203" pitchFamily="34" charset="0"/>
      <p:regular r:id="rId35"/>
      <p:bold r:id="rId36"/>
      <p:italic r:id="rId37"/>
      <p:boldItalic r:id="rId38"/>
    </p:embeddedFont>
    <p:embeddedFont>
      <p:font typeface="Lato Bold" panose="020F0502020204030203" charset="0"/>
      <p:regular r:id="rId39"/>
    </p:embeddedFont>
    <p:embeddedFont>
      <p:font typeface="Montserrat Bold"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7879"/>
    <a:srgbClr val="9191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22" autoAdjust="0"/>
  </p:normalViewPr>
  <p:slideViewPr>
    <p:cSldViewPr>
      <p:cViewPr varScale="1">
        <p:scale>
          <a:sx n="56" d="100"/>
          <a:sy n="56" d="100"/>
        </p:scale>
        <p:origin x="150"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2A575A-13CF-46BE-A5B3-F686D44A4447}" type="datetimeFigureOut">
              <a:rPr lang="en-US" smtClean="0"/>
              <a:t>12/22/2025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D78E1E-F4E2-4E67-A2F2-15668A236372}" type="slidenum">
              <a:rPr lang="en-US" smtClean="0"/>
              <a:t>‹#›</a:t>
            </a:fld>
            <a:endParaRPr lang="en-US"/>
          </a:p>
        </p:txBody>
      </p:sp>
    </p:spTree>
    <p:extLst>
      <p:ext uri="{BB962C8B-B14F-4D97-AF65-F5344CB8AC3E}">
        <p14:creationId xmlns:p14="http://schemas.microsoft.com/office/powerpoint/2010/main" val="2604538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D78E1E-F4E2-4E67-A2F2-15668A236372}" type="slidenum">
              <a:rPr lang="en-US" smtClean="0"/>
              <a:t>9</a:t>
            </a:fld>
            <a:endParaRPr lang="en-US"/>
          </a:p>
        </p:txBody>
      </p:sp>
    </p:spTree>
    <p:extLst>
      <p:ext uri="{BB962C8B-B14F-4D97-AF65-F5344CB8AC3E}">
        <p14:creationId xmlns:p14="http://schemas.microsoft.com/office/powerpoint/2010/main" val="1350318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CEE74-E48E-1BCE-37EE-B27912A03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A0982-4828-25BB-6BBD-D2BFA20ED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C3C6C-8A09-D0F6-3F4A-C2FCE2BC92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CE429C-8D6E-B42D-5B5C-656E6F1BF5AA}"/>
              </a:ext>
            </a:extLst>
          </p:cNvPr>
          <p:cNvSpPr>
            <a:spLocks noGrp="1"/>
          </p:cNvSpPr>
          <p:nvPr>
            <p:ph type="sldNum" sz="quarter" idx="5"/>
          </p:nvPr>
        </p:nvSpPr>
        <p:spPr/>
        <p:txBody>
          <a:bodyPr/>
          <a:lstStyle/>
          <a:p>
            <a:fld id="{F9D78E1E-F4E2-4E67-A2F2-15668A236372}" type="slidenum">
              <a:rPr lang="en-US" smtClean="0"/>
              <a:t>10</a:t>
            </a:fld>
            <a:endParaRPr lang="en-US"/>
          </a:p>
        </p:txBody>
      </p:sp>
    </p:spTree>
    <p:extLst>
      <p:ext uri="{BB962C8B-B14F-4D97-AF65-F5344CB8AC3E}">
        <p14:creationId xmlns:p14="http://schemas.microsoft.com/office/powerpoint/2010/main" val="3648576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23880-1FC7-B7A0-B53C-9744C7151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FB959-51D4-28F4-D34F-D61CD5D4B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D1CA5-484E-AEDE-D314-C4B38D2871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9C4D49-680C-8187-2BC3-019DB21CB537}"/>
              </a:ext>
            </a:extLst>
          </p:cNvPr>
          <p:cNvSpPr>
            <a:spLocks noGrp="1"/>
          </p:cNvSpPr>
          <p:nvPr>
            <p:ph type="sldNum" sz="quarter" idx="5"/>
          </p:nvPr>
        </p:nvSpPr>
        <p:spPr/>
        <p:txBody>
          <a:bodyPr/>
          <a:lstStyle/>
          <a:p>
            <a:fld id="{F9D78E1E-F4E2-4E67-A2F2-15668A236372}" type="slidenum">
              <a:rPr lang="en-US" smtClean="0"/>
              <a:t>11</a:t>
            </a:fld>
            <a:endParaRPr lang="en-US"/>
          </a:p>
        </p:txBody>
      </p:sp>
    </p:spTree>
    <p:extLst>
      <p:ext uri="{BB962C8B-B14F-4D97-AF65-F5344CB8AC3E}">
        <p14:creationId xmlns:p14="http://schemas.microsoft.com/office/powerpoint/2010/main" val="2522712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image" Target="../media/image10.svg"/><Relationship Id="rId12" Type="http://schemas.openxmlformats.org/officeDocument/2006/relationships/image" Target="../media/image21.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0.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0.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20.png"/><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30.pn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7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10.sv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55.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57.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5.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10.sv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33202" y="8889160"/>
            <a:ext cx="11893526" cy="895859"/>
            <a:chOff x="0" y="0"/>
            <a:chExt cx="3132451" cy="235946"/>
          </a:xfrm>
        </p:grpSpPr>
        <p:sp>
          <p:nvSpPr>
            <p:cNvPr id="3" name="Freeform 3"/>
            <p:cNvSpPr/>
            <p:nvPr/>
          </p:nvSpPr>
          <p:spPr>
            <a:xfrm>
              <a:off x="0" y="0"/>
              <a:ext cx="3132451" cy="235946"/>
            </a:xfrm>
            <a:custGeom>
              <a:avLst/>
              <a:gdLst/>
              <a:ahLst/>
              <a:cxnLst/>
              <a:rect l="l" t="t" r="r" b="b"/>
              <a:pathLst>
                <a:path w="3132451" h="235946">
                  <a:moveTo>
                    <a:pt x="0" y="0"/>
                  </a:moveTo>
                  <a:lnTo>
                    <a:pt x="3132451" y="0"/>
                  </a:lnTo>
                  <a:lnTo>
                    <a:pt x="3132451" y="235946"/>
                  </a:lnTo>
                  <a:lnTo>
                    <a:pt x="0" y="235946"/>
                  </a:lnTo>
                  <a:close/>
                </a:path>
              </a:pathLst>
            </a:custGeom>
            <a:solidFill>
              <a:srgbClr val="1B294A"/>
            </a:solidFill>
          </p:spPr>
        </p:sp>
        <p:sp>
          <p:nvSpPr>
            <p:cNvPr id="4" name="TextBox 4"/>
            <p:cNvSpPr txBox="1"/>
            <p:nvPr/>
          </p:nvSpPr>
          <p:spPr>
            <a:xfrm>
              <a:off x="0" y="-38100"/>
              <a:ext cx="3132451" cy="274046"/>
            </a:xfrm>
            <a:prstGeom prst="rect">
              <a:avLst/>
            </a:prstGeom>
          </p:spPr>
          <p:txBody>
            <a:bodyPr lIns="50800" tIns="50800" rIns="50800" bIns="50800" rtlCol="0" anchor="ctr"/>
            <a:lstStyle/>
            <a:p>
              <a:pPr algn="ctr">
                <a:lnSpc>
                  <a:spcPts val="3080"/>
                </a:lnSpc>
              </a:pPr>
              <a:endParaRPr/>
            </a:p>
          </p:txBody>
        </p:sp>
      </p:grpSp>
      <p:sp>
        <p:nvSpPr>
          <p:cNvPr id="5" name="Freeform 5"/>
          <p:cNvSpPr/>
          <p:nvPr/>
        </p:nvSpPr>
        <p:spPr>
          <a:xfrm>
            <a:off x="-162419" y="7236394"/>
            <a:ext cx="6595621" cy="3585619"/>
          </a:xfrm>
          <a:custGeom>
            <a:avLst/>
            <a:gdLst/>
            <a:ahLst/>
            <a:cxnLst/>
            <a:rect l="l" t="t" r="r" b="b"/>
            <a:pathLst>
              <a:path w="6595621" h="3585619">
                <a:moveTo>
                  <a:pt x="0" y="0"/>
                </a:moveTo>
                <a:lnTo>
                  <a:pt x="6595621" y="0"/>
                </a:lnTo>
                <a:lnTo>
                  <a:pt x="6595621" y="3585620"/>
                </a:lnTo>
                <a:lnTo>
                  <a:pt x="0" y="35856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71874" y="-377589"/>
            <a:ext cx="2590500" cy="2590500"/>
            <a:chOff x="0" y="0"/>
            <a:chExt cx="812800" cy="812800"/>
          </a:xfrm>
        </p:grpSpPr>
        <p:sp>
          <p:nvSpPr>
            <p:cNvPr id="7" name="Freeform 7"/>
            <p:cNvSpPr/>
            <p:nvPr/>
          </p:nvSpPr>
          <p:spPr>
            <a:xfrm>
              <a:off x="42089" y="42089"/>
              <a:ext cx="728622" cy="728622"/>
            </a:xfrm>
            <a:custGeom>
              <a:avLst/>
              <a:gdLst/>
              <a:ahLst/>
              <a:cxnLst/>
              <a:rect l="l" t="t" r="r" b="b"/>
              <a:pathLst>
                <a:path w="728622" h="728622">
                  <a:moveTo>
                    <a:pt x="436161" y="29761"/>
                  </a:moveTo>
                  <a:lnTo>
                    <a:pt x="698861" y="292461"/>
                  </a:lnTo>
                  <a:cubicBezTo>
                    <a:pt x="738543" y="332142"/>
                    <a:pt x="738543" y="396480"/>
                    <a:pt x="698861" y="436161"/>
                  </a:cubicBezTo>
                  <a:lnTo>
                    <a:pt x="436161" y="698861"/>
                  </a:lnTo>
                  <a:cubicBezTo>
                    <a:pt x="396480" y="738543"/>
                    <a:pt x="332142" y="738543"/>
                    <a:pt x="292461" y="698861"/>
                  </a:cubicBezTo>
                  <a:lnTo>
                    <a:pt x="29761" y="436161"/>
                  </a:lnTo>
                  <a:cubicBezTo>
                    <a:pt x="-9920" y="396480"/>
                    <a:pt x="-9920" y="332142"/>
                    <a:pt x="29761" y="292461"/>
                  </a:cubicBezTo>
                  <a:lnTo>
                    <a:pt x="292461" y="29761"/>
                  </a:lnTo>
                  <a:cubicBezTo>
                    <a:pt x="332142" y="-9920"/>
                    <a:pt x="396480" y="-9920"/>
                    <a:pt x="436161" y="29761"/>
                  </a:cubicBezTo>
                  <a:close/>
                </a:path>
              </a:pathLst>
            </a:custGeom>
            <a:solidFill>
              <a:srgbClr val="99DFF9"/>
            </a:solidFill>
          </p:spPr>
        </p:sp>
        <p:sp>
          <p:nvSpPr>
            <p:cNvPr id="8" name="TextBox 8"/>
            <p:cNvSpPr txBox="1"/>
            <p:nvPr/>
          </p:nvSpPr>
          <p:spPr>
            <a:xfrm>
              <a:off x="139700" y="101600"/>
              <a:ext cx="533400" cy="571500"/>
            </a:xfrm>
            <a:prstGeom prst="rect">
              <a:avLst/>
            </a:prstGeom>
          </p:spPr>
          <p:txBody>
            <a:bodyPr lIns="50800" tIns="50800" rIns="50800" bIns="50800" rtlCol="0" anchor="ctr"/>
            <a:lstStyle/>
            <a:p>
              <a:pPr algn="ctr">
                <a:lnSpc>
                  <a:spcPts val="3080"/>
                </a:lnSpc>
              </a:pPr>
              <a:endParaRPr/>
            </a:p>
          </p:txBody>
        </p:sp>
      </p:grpSp>
      <p:grpSp>
        <p:nvGrpSpPr>
          <p:cNvPr id="9" name="Group 9"/>
          <p:cNvGrpSpPr/>
          <p:nvPr/>
        </p:nvGrpSpPr>
        <p:grpSpPr>
          <a:xfrm>
            <a:off x="321612" y="-1533918"/>
            <a:ext cx="2792411" cy="2792411"/>
            <a:chOff x="0" y="0"/>
            <a:chExt cx="812800" cy="812800"/>
          </a:xfrm>
        </p:grpSpPr>
        <p:sp>
          <p:nvSpPr>
            <p:cNvPr id="10" name="Freeform 10"/>
            <p:cNvSpPr/>
            <p:nvPr/>
          </p:nvSpPr>
          <p:spPr>
            <a:xfrm>
              <a:off x="39046" y="39046"/>
              <a:ext cx="734709" cy="734709"/>
            </a:xfrm>
            <a:custGeom>
              <a:avLst/>
              <a:gdLst/>
              <a:ahLst/>
              <a:cxnLst/>
              <a:rect l="l" t="t" r="r" b="b"/>
              <a:pathLst>
                <a:path w="734709" h="734709">
                  <a:moveTo>
                    <a:pt x="434009" y="27609"/>
                  </a:moveTo>
                  <a:lnTo>
                    <a:pt x="707099" y="300699"/>
                  </a:lnTo>
                  <a:cubicBezTo>
                    <a:pt x="743911" y="337512"/>
                    <a:pt x="743911" y="397197"/>
                    <a:pt x="707099" y="434009"/>
                  </a:cubicBezTo>
                  <a:lnTo>
                    <a:pt x="434009" y="707099"/>
                  </a:lnTo>
                  <a:cubicBezTo>
                    <a:pt x="397197" y="743911"/>
                    <a:pt x="337512" y="743911"/>
                    <a:pt x="300699" y="707099"/>
                  </a:cubicBezTo>
                  <a:lnTo>
                    <a:pt x="27609" y="434009"/>
                  </a:lnTo>
                  <a:cubicBezTo>
                    <a:pt x="-9204" y="397197"/>
                    <a:pt x="-9204" y="337512"/>
                    <a:pt x="27609" y="300699"/>
                  </a:cubicBezTo>
                  <a:lnTo>
                    <a:pt x="300699" y="27609"/>
                  </a:lnTo>
                  <a:cubicBezTo>
                    <a:pt x="337512" y="-9204"/>
                    <a:pt x="397197" y="-9204"/>
                    <a:pt x="434009" y="27609"/>
                  </a:cubicBezTo>
                  <a:close/>
                </a:path>
              </a:pathLst>
            </a:custGeom>
            <a:solidFill>
              <a:srgbClr val="1B294A"/>
            </a:solidFill>
          </p:spPr>
        </p:sp>
        <p:sp>
          <p:nvSpPr>
            <p:cNvPr id="11" name="TextBox 11"/>
            <p:cNvSpPr txBox="1"/>
            <p:nvPr/>
          </p:nvSpPr>
          <p:spPr>
            <a:xfrm>
              <a:off x="139700" y="101600"/>
              <a:ext cx="533400" cy="571500"/>
            </a:xfrm>
            <a:prstGeom prst="rect">
              <a:avLst/>
            </a:prstGeom>
          </p:spPr>
          <p:txBody>
            <a:bodyPr lIns="50800" tIns="50800" rIns="50800" bIns="50800" rtlCol="0" anchor="ctr"/>
            <a:lstStyle/>
            <a:p>
              <a:pPr algn="ctr">
                <a:lnSpc>
                  <a:spcPts val="3080"/>
                </a:lnSpc>
              </a:pPr>
              <a:endParaRPr/>
            </a:p>
          </p:txBody>
        </p:sp>
      </p:grpSp>
      <p:grpSp>
        <p:nvGrpSpPr>
          <p:cNvPr id="12" name="Group 12"/>
          <p:cNvGrpSpPr/>
          <p:nvPr/>
        </p:nvGrpSpPr>
        <p:grpSpPr>
          <a:xfrm>
            <a:off x="468457" y="994155"/>
            <a:ext cx="1544989" cy="1544989"/>
            <a:chOff x="0" y="0"/>
            <a:chExt cx="812800" cy="812800"/>
          </a:xfrm>
        </p:grpSpPr>
        <p:sp>
          <p:nvSpPr>
            <p:cNvPr id="13" name="Freeform 13"/>
            <p:cNvSpPr/>
            <p:nvPr/>
          </p:nvSpPr>
          <p:spPr>
            <a:xfrm>
              <a:off x="43588" y="43588"/>
              <a:ext cx="725624" cy="725624"/>
            </a:xfrm>
            <a:custGeom>
              <a:avLst/>
              <a:gdLst/>
              <a:ahLst/>
              <a:cxnLst/>
              <a:rect l="l" t="t" r="r" b="b"/>
              <a:pathLst>
                <a:path w="725624" h="725624">
                  <a:moveTo>
                    <a:pt x="437221" y="30821"/>
                  </a:moveTo>
                  <a:lnTo>
                    <a:pt x="694803" y="288403"/>
                  </a:lnTo>
                  <a:cubicBezTo>
                    <a:pt x="714537" y="308137"/>
                    <a:pt x="725624" y="334903"/>
                    <a:pt x="725624" y="362812"/>
                  </a:cubicBezTo>
                  <a:cubicBezTo>
                    <a:pt x="725624" y="390721"/>
                    <a:pt x="714537" y="417487"/>
                    <a:pt x="694803" y="437221"/>
                  </a:cubicBezTo>
                  <a:lnTo>
                    <a:pt x="437221" y="694803"/>
                  </a:lnTo>
                  <a:cubicBezTo>
                    <a:pt x="417487" y="714537"/>
                    <a:pt x="390721" y="725624"/>
                    <a:pt x="362812" y="725624"/>
                  </a:cubicBezTo>
                  <a:cubicBezTo>
                    <a:pt x="334903" y="725624"/>
                    <a:pt x="308137" y="714537"/>
                    <a:pt x="288403" y="694803"/>
                  </a:cubicBezTo>
                  <a:lnTo>
                    <a:pt x="30821" y="437221"/>
                  </a:lnTo>
                  <a:cubicBezTo>
                    <a:pt x="11087" y="417487"/>
                    <a:pt x="0" y="390721"/>
                    <a:pt x="0" y="362812"/>
                  </a:cubicBezTo>
                  <a:cubicBezTo>
                    <a:pt x="0" y="334903"/>
                    <a:pt x="11087" y="308137"/>
                    <a:pt x="30821" y="288403"/>
                  </a:cubicBezTo>
                  <a:lnTo>
                    <a:pt x="288403" y="30821"/>
                  </a:lnTo>
                  <a:cubicBezTo>
                    <a:pt x="308137" y="11087"/>
                    <a:pt x="334903" y="0"/>
                    <a:pt x="362812" y="0"/>
                  </a:cubicBezTo>
                  <a:cubicBezTo>
                    <a:pt x="390721" y="0"/>
                    <a:pt x="417487" y="11087"/>
                    <a:pt x="437221" y="30821"/>
                  </a:cubicBezTo>
                  <a:close/>
                </a:path>
              </a:pathLst>
            </a:custGeom>
            <a:solidFill>
              <a:srgbClr val="1B294A"/>
            </a:solidFill>
          </p:spPr>
        </p:sp>
        <p:sp>
          <p:nvSpPr>
            <p:cNvPr id="14" name="TextBox 14"/>
            <p:cNvSpPr txBox="1"/>
            <p:nvPr/>
          </p:nvSpPr>
          <p:spPr>
            <a:xfrm>
              <a:off x="139700" y="101600"/>
              <a:ext cx="533400" cy="571500"/>
            </a:xfrm>
            <a:prstGeom prst="rect">
              <a:avLst/>
            </a:prstGeom>
          </p:spPr>
          <p:txBody>
            <a:bodyPr lIns="50800" tIns="50800" rIns="50800" bIns="50800" rtlCol="0" anchor="ctr"/>
            <a:lstStyle/>
            <a:p>
              <a:pPr algn="ctr">
                <a:lnSpc>
                  <a:spcPts val="3080"/>
                </a:lnSpc>
              </a:pPr>
              <a:endParaRPr/>
            </a:p>
          </p:txBody>
        </p:sp>
      </p:grpSp>
      <p:grpSp>
        <p:nvGrpSpPr>
          <p:cNvPr id="15" name="Group 15"/>
          <p:cNvGrpSpPr/>
          <p:nvPr/>
        </p:nvGrpSpPr>
        <p:grpSpPr>
          <a:xfrm>
            <a:off x="11220104" y="1460000"/>
            <a:ext cx="7226922" cy="7226922"/>
            <a:chOff x="0" y="0"/>
            <a:chExt cx="812800" cy="812800"/>
          </a:xfrm>
          <a:blipFill>
            <a:blip r:embed="rId4"/>
            <a:stretch>
              <a:fillRect/>
            </a:stretch>
          </a:blipFill>
        </p:grpSpPr>
        <p:sp>
          <p:nvSpPr>
            <p:cNvPr id="16" name="Freeform 16"/>
            <p:cNvSpPr/>
            <p:nvPr/>
          </p:nvSpPr>
          <p:spPr>
            <a:xfrm>
              <a:off x="30617" y="30617"/>
              <a:ext cx="751565" cy="751565"/>
            </a:xfrm>
            <a:custGeom>
              <a:avLst/>
              <a:gdLst/>
              <a:ahLst/>
              <a:cxnLst/>
              <a:rect l="l" t="t" r="r" b="b"/>
              <a:pathLst>
                <a:path w="751565" h="751565">
                  <a:moveTo>
                    <a:pt x="428050" y="21650"/>
                  </a:moveTo>
                  <a:lnTo>
                    <a:pt x="729916" y="323516"/>
                  </a:lnTo>
                  <a:cubicBezTo>
                    <a:pt x="758782" y="352382"/>
                    <a:pt x="758782" y="399184"/>
                    <a:pt x="729916" y="428050"/>
                  </a:cubicBezTo>
                  <a:lnTo>
                    <a:pt x="428050" y="729916"/>
                  </a:lnTo>
                  <a:cubicBezTo>
                    <a:pt x="399184" y="758782"/>
                    <a:pt x="352382" y="758782"/>
                    <a:pt x="323516" y="729916"/>
                  </a:cubicBezTo>
                  <a:lnTo>
                    <a:pt x="21650" y="428050"/>
                  </a:lnTo>
                  <a:cubicBezTo>
                    <a:pt x="-7216" y="399184"/>
                    <a:pt x="-7216" y="352382"/>
                    <a:pt x="21650" y="323516"/>
                  </a:cubicBezTo>
                  <a:lnTo>
                    <a:pt x="323516" y="21650"/>
                  </a:lnTo>
                  <a:cubicBezTo>
                    <a:pt x="352382" y="-7216"/>
                    <a:pt x="399184" y="-7216"/>
                    <a:pt x="428050" y="21650"/>
                  </a:cubicBezTo>
                  <a:close/>
                </a:path>
              </a:pathLst>
            </a:custGeom>
            <a:grpFill/>
          </p:spPr>
        </p:sp>
      </p:grpSp>
      <p:grpSp>
        <p:nvGrpSpPr>
          <p:cNvPr id="17" name="Group 17"/>
          <p:cNvGrpSpPr/>
          <p:nvPr/>
        </p:nvGrpSpPr>
        <p:grpSpPr>
          <a:xfrm>
            <a:off x="15954135" y="6099727"/>
            <a:ext cx="3531676" cy="3531676"/>
            <a:chOff x="0" y="0"/>
            <a:chExt cx="812800" cy="812800"/>
          </a:xfrm>
          <a:blipFill>
            <a:blip r:embed="rId5"/>
            <a:stretch>
              <a:fillRect/>
            </a:stretch>
          </a:blipFill>
        </p:grpSpPr>
        <p:sp>
          <p:nvSpPr>
            <p:cNvPr id="18" name="Freeform 18"/>
            <p:cNvSpPr/>
            <p:nvPr/>
          </p:nvSpPr>
          <p:spPr>
            <a:xfrm>
              <a:off x="30872" y="30872"/>
              <a:ext cx="751055" cy="751055"/>
            </a:xfrm>
            <a:custGeom>
              <a:avLst/>
              <a:gdLst/>
              <a:ahLst/>
              <a:cxnLst/>
              <a:rect l="l" t="t" r="r" b="b"/>
              <a:pathLst>
                <a:path w="751055" h="751055">
                  <a:moveTo>
                    <a:pt x="428231" y="21831"/>
                  </a:moveTo>
                  <a:lnTo>
                    <a:pt x="729225" y="322825"/>
                  </a:lnTo>
                  <a:cubicBezTo>
                    <a:pt x="758332" y="351932"/>
                    <a:pt x="758332" y="399124"/>
                    <a:pt x="729225" y="428231"/>
                  </a:cubicBezTo>
                  <a:lnTo>
                    <a:pt x="428231" y="729225"/>
                  </a:lnTo>
                  <a:cubicBezTo>
                    <a:pt x="399124" y="758332"/>
                    <a:pt x="351932" y="758332"/>
                    <a:pt x="322825" y="729225"/>
                  </a:cubicBezTo>
                  <a:lnTo>
                    <a:pt x="21831" y="428231"/>
                  </a:lnTo>
                  <a:cubicBezTo>
                    <a:pt x="-7276" y="399124"/>
                    <a:pt x="-7276" y="351932"/>
                    <a:pt x="21831" y="322825"/>
                  </a:cubicBezTo>
                  <a:lnTo>
                    <a:pt x="322825" y="21831"/>
                  </a:lnTo>
                  <a:cubicBezTo>
                    <a:pt x="351932" y="-7276"/>
                    <a:pt x="399124" y="-7276"/>
                    <a:pt x="428231" y="21831"/>
                  </a:cubicBezTo>
                  <a:close/>
                </a:path>
              </a:pathLst>
            </a:custGeom>
            <a:grpFill/>
          </p:spPr>
        </p:sp>
      </p:grpSp>
      <p:grpSp>
        <p:nvGrpSpPr>
          <p:cNvPr id="19" name="Group 19"/>
          <p:cNvGrpSpPr/>
          <p:nvPr/>
        </p:nvGrpSpPr>
        <p:grpSpPr>
          <a:xfrm>
            <a:off x="16095759" y="655597"/>
            <a:ext cx="3390052" cy="3390052"/>
            <a:chOff x="0" y="0"/>
            <a:chExt cx="812800" cy="812800"/>
          </a:xfrm>
          <a:blipFill>
            <a:blip r:embed="rId6"/>
            <a:stretch>
              <a:fillRect/>
            </a:stretch>
          </a:blipFill>
        </p:grpSpPr>
        <p:sp>
          <p:nvSpPr>
            <p:cNvPr id="20" name="Freeform 20"/>
            <p:cNvSpPr/>
            <p:nvPr/>
          </p:nvSpPr>
          <p:spPr>
            <a:xfrm>
              <a:off x="32162" y="32162"/>
              <a:ext cx="748476" cy="748476"/>
            </a:xfrm>
            <a:custGeom>
              <a:avLst/>
              <a:gdLst/>
              <a:ahLst/>
              <a:cxnLst/>
              <a:rect l="l" t="t" r="r" b="b"/>
              <a:pathLst>
                <a:path w="748476" h="748476">
                  <a:moveTo>
                    <a:pt x="429142" y="22742"/>
                  </a:moveTo>
                  <a:lnTo>
                    <a:pt x="725734" y="319334"/>
                  </a:lnTo>
                  <a:cubicBezTo>
                    <a:pt x="756057" y="349657"/>
                    <a:pt x="756057" y="398819"/>
                    <a:pt x="725734" y="429142"/>
                  </a:cubicBezTo>
                  <a:lnTo>
                    <a:pt x="429142" y="725734"/>
                  </a:lnTo>
                  <a:cubicBezTo>
                    <a:pt x="398819" y="756057"/>
                    <a:pt x="349657" y="756057"/>
                    <a:pt x="319334" y="725734"/>
                  </a:cubicBezTo>
                  <a:lnTo>
                    <a:pt x="22742" y="429142"/>
                  </a:lnTo>
                  <a:cubicBezTo>
                    <a:pt x="-7581" y="398819"/>
                    <a:pt x="-7581" y="349657"/>
                    <a:pt x="22742" y="319334"/>
                  </a:cubicBezTo>
                  <a:lnTo>
                    <a:pt x="319334" y="22742"/>
                  </a:lnTo>
                  <a:cubicBezTo>
                    <a:pt x="349657" y="-7581"/>
                    <a:pt x="398819" y="-7581"/>
                    <a:pt x="429142" y="22742"/>
                  </a:cubicBezTo>
                  <a:close/>
                </a:path>
              </a:pathLst>
            </a:custGeom>
            <a:grpFill/>
          </p:spPr>
        </p:sp>
      </p:grpSp>
      <p:grpSp>
        <p:nvGrpSpPr>
          <p:cNvPr id="21" name="Group 21"/>
          <p:cNvGrpSpPr/>
          <p:nvPr/>
        </p:nvGrpSpPr>
        <p:grpSpPr>
          <a:xfrm>
            <a:off x="12028898" y="5634295"/>
            <a:ext cx="1937938" cy="1937938"/>
            <a:chOff x="0" y="0"/>
            <a:chExt cx="812800" cy="812800"/>
          </a:xfrm>
        </p:grpSpPr>
        <p:sp>
          <p:nvSpPr>
            <p:cNvPr id="22" name="Freeform 22"/>
            <p:cNvSpPr/>
            <p:nvPr/>
          </p:nvSpPr>
          <p:spPr>
            <a:xfrm>
              <a:off x="44678" y="44678"/>
              <a:ext cx="723443" cy="723443"/>
            </a:xfrm>
            <a:custGeom>
              <a:avLst/>
              <a:gdLst/>
              <a:ahLst/>
              <a:cxnLst/>
              <a:rect l="l" t="t" r="r" b="b"/>
              <a:pathLst>
                <a:path w="723443" h="723443">
                  <a:moveTo>
                    <a:pt x="437993" y="31593"/>
                  </a:moveTo>
                  <a:lnTo>
                    <a:pt x="691851" y="285451"/>
                  </a:lnTo>
                  <a:cubicBezTo>
                    <a:pt x="733974" y="327574"/>
                    <a:pt x="733974" y="395870"/>
                    <a:pt x="691851" y="437993"/>
                  </a:cubicBezTo>
                  <a:lnTo>
                    <a:pt x="437993" y="691851"/>
                  </a:lnTo>
                  <a:cubicBezTo>
                    <a:pt x="395870" y="733974"/>
                    <a:pt x="327574" y="733974"/>
                    <a:pt x="285451" y="691851"/>
                  </a:cubicBezTo>
                  <a:lnTo>
                    <a:pt x="31593" y="437993"/>
                  </a:lnTo>
                  <a:cubicBezTo>
                    <a:pt x="-10530" y="395870"/>
                    <a:pt x="-10530" y="327574"/>
                    <a:pt x="31593" y="285451"/>
                  </a:cubicBezTo>
                  <a:lnTo>
                    <a:pt x="285451" y="31593"/>
                  </a:lnTo>
                  <a:cubicBezTo>
                    <a:pt x="327574" y="-10530"/>
                    <a:pt x="395870" y="-10530"/>
                    <a:pt x="437993" y="31593"/>
                  </a:cubicBezTo>
                  <a:close/>
                </a:path>
              </a:pathLst>
            </a:custGeom>
            <a:solidFill>
              <a:srgbClr val="1B294A"/>
            </a:solidFill>
          </p:spPr>
        </p:sp>
        <p:sp>
          <p:nvSpPr>
            <p:cNvPr id="23" name="TextBox 23"/>
            <p:cNvSpPr txBox="1"/>
            <p:nvPr/>
          </p:nvSpPr>
          <p:spPr>
            <a:xfrm>
              <a:off x="139700" y="101600"/>
              <a:ext cx="533400" cy="571500"/>
            </a:xfrm>
            <a:prstGeom prst="rect">
              <a:avLst/>
            </a:prstGeom>
          </p:spPr>
          <p:txBody>
            <a:bodyPr lIns="50800" tIns="50800" rIns="50800" bIns="50800" rtlCol="0" anchor="ctr"/>
            <a:lstStyle/>
            <a:p>
              <a:pPr algn="ctr">
                <a:lnSpc>
                  <a:spcPts val="3080"/>
                </a:lnSpc>
              </a:pPr>
              <a:endParaRPr/>
            </a:p>
          </p:txBody>
        </p:sp>
      </p:grpSp>
      <p:sp>
        <p:nvSpPr>
          <p:cNvPr id="24" name="Freeform 24"/>
          <p:cNvSpPr/>
          <p:nvPr/>
        </p:nvSpPr>
        <p:spPr>
          <a:xfrm>
            <a:off x="12580646" y="6314243"/>
            <a:ext cx="834442" cy="578041"/>
          </a:xfrm>
          <a:custGeom>
            <a:avLst/>
            <a:gdLst/>
            <a:ahLst/>
            <a:cxnLst/>
            <a:rect l="l" t="t" r="r" b="b"/>
            <a:pathLst>
              <a:path w="834442" h="578041">
                <a:moveTo>
                  <a:pt x="0" y="0"/>
                </a:moveTo>
                <a:lnTo>
                  <a:pt x="834442" y="0"/>
                </a:lnTo>
                <a:lnTo>
                  <a:pt x="834442" y="578041"/>
                </a:lnTo>
                <a:lnTo>
                  <a:pt x="0" y="5780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TextBox 25"/>
          <p:cNvSpPr txBox="1"/>
          <p:nvPr/>
        </p:nvSpPr>
        <p:spPr>
          <a:xfrm>
            <a:off x="955561" y="2451219"/>
            <a:ext cx="7823523" cy="2338589"/>
          </a:xfrm>
          <a:prstGeom prst="rect">
            <a:avLst/>
          </a:prstGeom>
        </p:spPr>
        <p:txBody>
          <a:bodyPr lIns="0" tIns="0" rIns="0" bIns="0" rtlCol="0" anchor="t">
            <a:spAutoFit/>
          </a:bodyPr>
          <a:lstStyle/>
          <a:p>
            <a:pPr algn="l">
              <a:lnSpc>
                <a:spcPts val="6199"/>
              </a:lnSpc>
            </a:pPr>
            <a:r>
              <a:rPr lang="en-US" sz="4800" b="1" dirty="0">
                <a:solidFill>
                  <a:srgbClr val="1B294A"/>
                </a:solidFill>
                <a:latin typeface="Montserrat Bold"/>
                <a:ea typeface="Montserrat Bold"/>
                <a:cs typeface="Montserrat Bold"/>
                <a:sym typeface="Montserrat Bold"/>
              </a:rPr>
              <a:t>Calculus And Analytical Geometry in Everyday Life and </a:t>
            </a:r>
            <a:r>
              <a:rPr lang="en-US" sz="4800" b="1" dirty="0" err="1">
                <a:solidFill>
                  <a:srgbClr val="1B294A"/>
                </a:solidFill>
                <a:latin typeface="Montserrat Bold"/>
                <a:ea typeface="Montserrat Bold"/>
                <a:cs typeface="Montserrat Bold"/>
                <a:sym typeface="Montserrat Bold"/>
              </a:rPr>
              <a:t>CyberSecurity</a:t>
            </a:r>
            <a:endParaRPr lang="en-US" sz="4800" b="1" dirty="0">
              <a:solidFill>
                <a:srgbClr val="1B294A"/>
              </a:solidFill>
              <a:latin typeface="Montserrat Bold"/>
              <a:ea typeface="Montserrat Bold"/>
              <a:cs typeface="Montserrat Bold"/>
              <a:sym typeface="Montserrat Bold"/>
            </a:endParaRPr>
          </a:p>
        </p:txBody>
      </p:sp>
      <p:sp>
        <p:nvSpPr>
          <p:cNvPr id="26" name="TextBox 26"/>
          <p:cNvSpPr txBox="1"/>
          <p:nvPr/>
        </p:nvSpPr>
        <p:spPr>
          <a:xfrm>
            <a:off x="1009081" y="5007250"/>
            <a:ext cx="7621612" cy="2546851"/>
          </a:xfrm>
          <a:prstGeom prst="rect">
            <a:avLst/>
          </a:prstGeom>
        </p:spPr>
        <p:txBody>
          <a:bodyPr wrap="square" lIns="0" tIns="0" rIns="0" bIns="0" rtlCol="0" anchor="t">
            <a:spAutoFit/>
          </a:bodyPr>
          <a:lstStyle/>
          <a:p>
            <a:pPr algn="l">
              <a:lnSpc>
                <a:spcPts val="4480"/>
              </a:lnSpc>
            </a:pPr>
            <a:r>
              <a:rPr lang="en-US" sz="3200" dirty="0">
                <a:solidFill>
                  <a:srgbClr val="1B294A"/>
                </a:solidFill>
                <a:latin typeface="Lato"/>
                <a:ea typeface="Lato"/>
                <a:cs typeface="Lato"/>
                <a:sym typeface="Lato"/>
              </a:rPr>
              <a:t>Presented by:</a:t>
            </a:r>
          </a:p>
          <a:p>
            <a:pPr algn="l"/>
            <a:r>
              <a:rPr lang="en-US" sz="3200" dirty="0">
                <a:solidFill>
                  <a:srgbClr val="1B294A"/>
                </a:solidFill>
                <a:latin typeface="Lato"/>
                <a:ea typeface="Lato"/>
                <a:cs typeface="Lato"/>
                <a:sym typeface="Lato"/>
              </a:rPr>
              <a:t>Haani Bin Qaiser</a:t>
            </a:r>
            <a:br>
              <a:rPr lang="en-US" sz="3200" dirty="0">
                <a:solidFill>
                  <a:srgbClr val="1B294A"/>
                </a:solidFill>
                <a:latin typeface="Lato"/>
                <a:ea typeface="Lato"/>
                <a:cs typeface="Lato"/>
                <a:sym typeface="Lato"/>
              </a:rPr>
            </a:br>
            <a:r>
              <a:rPr lang="en-US" sz="3200" dirty="0">
                <a:solidFill>
                  <a:srgbClr val="1B294A"/>
                </a:solidFill>
                <a:latin typeface="Lato"/>
                <a:ea typeface="Lato"/>
                <a:cs typeface="Lato"/>
                <a:sym typeface="Lato"/>
              </a:rPr>
              <a:t>Asim Saleem</a:t>
            </a:r>
            <a:br>
              <a:rPr lang="en-US" sz="3200" dirty="0">
                <a:solidFill>
                  <a:srgbClr val="1B294A"/>
                </a:solidFill>
                <a:latin typeface="Lato"/>
                <a:ea typeface="Lato"/>
                <a:cs typeface="Lato"/>
                <a:sym typeface="Lato"/>
              </a:rPr>
            </a:br>
            <a:r>
              <a:rPr lang="en-US" sz="3200" dirty="0">
                <a:solidFill>
                  <a:srgbClr val="1B294A"/>
                </a:solidFill>
                <a:latin typeface="Lato"/>
                <a:ea typeface="Lato"/>
                <a:cs typeface="Lato"/>
                <a:sym typeface="Lato"/>
              </a:rPr>
              <a:t>M. </a:t>
            </a:r>
            <a:r>
              <a:rPr lang="en-US" sz="3200" dirty="0" err="1">
                <a:solidFill>
                  <a:srgbClr val="1B294A"/>
                </a:solidFill>
                <a:latin typeface="Lato"/>
                <a:ea typeface="Lato"/>
                <a:cs typeface="Lato"/>
                <a:sym typeface="Lato"/>
              </a:rPr>
              <a:t>Abaid</a:t>
            </a:r>
            <a:endParaRPr lang="en-US" sz="3200" dirty="0">
              <a:solidFill>
                <a:srgbClr val="1B294A"/>
              </a:solidFill>
              <a:latin typeface="Lato"/>
              <a:ea typeface="Lato"/>
              <a:cs typeface="Lato"/>
              <a:sym typeface="Lato"/>
            </a:endParaRPr>
          </a:p>
          <a:p>
            <a:pPr algn="l"/>
            <a:r>
              <a:rPr lang="en-US" sz="3200" dirty="0">
                <a:solidFill>
                  <a:srgbClr val="1B294A"/>
                </a:solidFill>
                <a:latin typeface="Lato"/>
                <a:ea typeface="Lato"/>
                <a:cs typeface="Lato"/>
                <a:sym typeface="Lato"/>
              </a:rPr>
              <a:t>M. Rizwan</a:t>
            </a:r>
          </a:p>
        </p:txBody>
      </p:sp>
      <p:sp>
        <p:nvSpPr>
          <p:cNvPr id="27" name="TextBox 27"/>
          <p:cNvSpPr txBox="1"/>
          <p:nvPr/>
        </p:nvSpPr>
        <p:spPr>
          <a:xfrm>
            <a:off x="9078815" y="9102189"/>
            <a:ext cx="7441735" cy="404919"/>
          </a:xfrm>
          <a:prstGeom prst="rect">
            <a:avLst/>
          </a:prstGeom>
        </p:spPr>
        <p:txBody>
          <a:bodyPr lIns="0" tIns="0" rIns="0" bIns="0" rtlCol="0" anchor="t">
            <a:spAutoFit/>
          </a:bodyPr>
          <a:lstStyle/>
          <a:p>
            <a:pPr algn="r">
              <a:lnSpc>
                <a:spcPts val="3499"/>
              </a:lnSpc>
            </a:pPr>
            <a:r>
              <a:rPr lang="en-US" sz="2499">
                <a:solidFill>
                  <a:srgbClr val="FFFFFF"/>
                </a:solidFill>
                <a:latin typeface="Lato"/>
                <a:ea typeface="Lato"/>
                <a:cs typeface="Lato"/>
                <a:sym typeface="Lato"/>
              </a:rPr>
              <a:t>BSCYS-F24B </a:t>
            </a:r>
            <a:r>
              <a:rPr lang="en-US" sz="2499" dirty="0">
                <a:solidFill>
                  <a:srgbClr val="FFFFFF"/>
                </a:solidFill>
                <a:latin typeface="Lato"/>
                <a:ea typeface="Lato"/>
                <a:cs typeface="Lato"/>
                <a:sym typeface="Lato"/>
              </a:rPr>
              <a:t>| Air University </a:t>
            </a:r>
          </a:p>
        </p:txBody>
      </p:sp>
      <p:sp>
        <p:nvSpPr>
          <p:cNvPr id="28" name="TextBox 26">
            <a:extLst>
              <a:ext uri="{FF2B5EF4-FFF2-40B4-BE49-F238E27FC236}">
                <a16:creationId xmlns:a16="http://schemas.microsoft.com/office/drawing/2014/main" id="{3F47D011-3851-E098-0FB8-5C4204645044}"/>
              </a:ext>
            </a:extLst>
          </p:cNvPr>
          <p:cNvSpPr txBox="1"/>
          <p:nvPr/>
        </p:nvSpPr>
        <p:spPr>
          <a:xfrm>
            <a:off x="5605025" y="5598987"/>
            <a:ext cx="7621612" cy="1969770"/>
          </a:xfrm>
          <a:prstGeom prst="rect">
            <a:avLst/>
          </a:prstGeom>
        </p:spPr>
        <p:txBody>
          <a:bodyPr lIns="0" tIns="0" rIns="0" bIns="0" rtlCol="0" anchor="t">
            <a:spAutoFit/>
          </a:bodyPr>
          <a:lstStyle/>
          <a:p>
            <a:pPr algn="l"/>
            <a:r>
              <a:rPr lang="en-US" sz="3200" dirty="0">
                <a:solidFill>
                  <a:srgbClr val="1B294A"/>
                </a:solidFill>
                <a:latin typeface="Lato"/>
                <a:ea typeface="Lato"/>
                <a:cs typeface="Lato"/>
                <a:sym typeface="Lato"/>
              </a:rPr>
              <a:t>Nayab Farooq</a:t>
            </a:r>
          </a:p>
          <a:p>
            <a:pPr algn="l"/>
            <a:r>
              <a:rPr lang="en-US" sz="3200" dirty="0" err="1">
                <a:solidFill>
                  <a:srgbClr val="1B294A"/>
                </a:solidFill>
                <a:latin typeface="Lato"/>
                <a:ea typeface="Lato"/>
                <a:cs typeface="Lato"/>
                <a:sym typeface="Lato"/>
              </a:rPr>
              <a:t>Umaria</a:t>
            </a:r>
            <a:r>
              <a:rPr lang="en-US" sz="3200" dirty="0">
                <a:solidFill>
                  <a:srgbClr val="1B294A"/>
                </a:solidFill>
                <a:latin typeface="Lato"/>
                <a:ea typeface="Lato"/>
                <a:cs typeface="Lato"/>
                <a:sym typeface="Lato"/>
              </a:rPr>
              <a:t> Kanwal</a:t>
            </a:r>
          </a:p>
          <a:p>
            <a:pPr algn="l"/>
            <a:r>
              <a:rPr lang="en-US" sz="3200" dirty="0">
                <a:solidFill>
                  <a:srgbClr val="1B294A"/>
                </a:solidFill>
                <a:latin typeface="Lato"/>
                <a:ea typeface="Lato"/>
                <a:cs typeface="Lato"/>
                <a:sym typeface="Lato"/>
              </a:rPr>
              <a:t>Kshaf Asjad</a:t>
            </a:r>
          </a:p>
          <a:p>
            <a:pPr algn="l"/>
            <a:r>
              <a:rPr lang="en-US" sz="3200" dirty="0">
                <a:solidFill>
                  <a:srgbClr val="1B294A"/>
                </a:solidFill>
                <a:latin typeface="Lato"/>
                <a:ea typeface="Lato"/>
                <a:cs typeface="Lato"/>
                <a:sym typeface="Lato"/>
              </a:rPr>
              <a:t>Zakia Qayyum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769381" y="-851192"/>
            <a:ext cx="889629" cy="5080241"/>
            <a:chOff x="0" y="0"/>
            <a:chExt cx="234306" cy="1338006"/>
          </a:xfrm>
        </p:grpSpPr>
        <p:sp>
          <p:nvSpPr>
            <p:cNvPr id="3" name="Freeform 3"/>
            <p:cNvSpPr/>
            <p:nvPr/>
          </p:nvSpPr>
          <p:spPr>
            <a:xfrm>
              <a:off x="0" y="0"/>
              <a:ext cx="234306" cy="1338006"/>
            </a:xfrm>
            <a:custGeom>
              <a:avLst/>
              <a:gdLst/>
              <a:ahLst/>
              <a:cxnLst/>
              <a:rect l="l" t="t" r="r" b="b"/>
              <a:pathLst>
                <a:path w="234306" h="1338006">
                  <a:moveTo>
                    <a:pt x="117153" y="0"/>
                  </a:moveTo>
                  <a:lnTo>
                    <a:pt x="117153" y="0"/>
                  </a:lnTo>
                  <a:cubicBezTo>
                    <a:pt x="181855" y="0"/>
                    <a:pt x="234306" y="52451"/>
                    <a:pt x="234306" y="117153"/>
                  </a:cubicBezTo>
                  <a:lnTo>
                    <a:pt x="234306" y="1220853"/>
                  </a:lnTo>
                  <a:cubicBezTo>
                    <a:pt x="234306" y="1285555"/>
                    <a:pt x="181855" y="1338006"/>
                    <a:pt x="117153" y="1338006"/>
                  </a:cubicBezTo>
                  <a:lnTo>
                    <a:pt x="117153" y="1338006"/>
                  </a:lnTo>
                  <a:cubicBezTo>
                    <a:pt x="52451" y="1338006"/>
                    <a:pt x="0" y="1285555"/>
                    <a:pt x="0" y="1220853"/>
                  </a:cubicBezTo>
                  <a:lnTo>
                    <a:pt x="0" y="117153"/>
                  </a:lnTo>
                  <a:cubicBezTo>
                    <a:pt x="0" y="52451"/>
                    <a:pt x="52451" y="0"/>
                    <a:pt x="117153" y="0"/>
                  </a:cubicBezTo>
                  <a:close/>
                </a:path>
              </a:pathLst>
            </a:custGeom>
            <a:solidFill>
              <a:srgbClr val="1B294A"/>
            </a:solidFill>
          </p:spPr>
        </p:sp>
        <p:sp>
          <p:nvSpPr>
            <p:cNvPr id="4" name="TextBox 4"/>
            <p:cNvSpPr txBox="1"/>
            <p:nvPr/>
          </p:nvSpPr>
          <p:spPr>
            <a:xfrm>
              <a:off x="0" y="-38100"/>
              <a:ext cx="234306" cy="1376106"/>
            </a:xfrm>
            <a:prstGeom prst="rect">
              <a:avLst/>
            </a:prstGeom>
          </p:spPr>
          <p:txBody>
            <a:bodyPr lIns="50800" tIns="50800" rIns="50800" bIns="50800" rtlCol="0" anchor="ctr"/>
            <a:lstStyle/>
            <a:p>
              <a:pPr algn="l">
                <a:lnSpc>
                  <a:spcPts val="3080"/>
                </a:lnSpc>
              </a:pPr>
              <a:endParaRPr/>
            </a:p>
          </p:txBody>
        </p:sp>
      </p:grpSp>
      <p:sp>
        <p:nvSpPr>
          <p:cNvPr id="5" name="Freeform 5"/>
          <p:cNvSpPr/>
          <p:nvPr/>
        </p:nvSpPr>
        <p:spPr>
          <a:xfrm>
            <a:off x="1026867" y="2952894"/>
            <a:ext cx="8246293" cy="5761786"/>
          </a:xfrm>
          <a:custGeom>
            <a:avLst/>
            <a:gdLst/>
            <a:ahLst/>
            <a:cxnLst/>
            <a:rect l="l" t="t" r="r" b="b"/>
            <a:pathLst>
              <a:path w="8246293" h="5761786">
                <a:moveTo>
                  <a:pt x="0" y="0"/>
                </a:moveTo>
                <a:lnTo>
                  <a:pt x="8246293" y="0"/>
                </a:lnTo>
                <a:lnTo>
                  <a:pt x="8246293" y="5761786"/>
                </a:lnTo>
                <a:lnTo>
                  <a:pt x="0" y="5761786"/>
                </a:lnTo>
                <a:lnTo>
                  <a:pt x="0" y="0"/>
                </a:lnTo>
                <a:close/>
              </a:path>
            </a:pathLst>
          </a:custGeom>
          <a:blipFill>
            <a:blip r:embed="rId2">
              <a:alphaModFix amt="47000"/>
            </a:blip>
            <a:stretch>
              <a:fillRect t="-42830"/>
            </a:stretch>
          </a:blipFill>
        </p:spPr>
        <p:txBody>
          <a:bodyPr/>
          <a:lstStyle/>
          <a:p>
            <a:endParaRPr lang="en-US"/>
          </a:p>
        </p:txBody>
      </p:sp>
      <p:grpSp>
        <p:nvGrpSpPr>
          <p:cNvPr id="6" name="Group 6"/>
          <p:cNvGrpSpPr/>
          <p:nvPr/>
        </p:nvGrpSpPr>
        <p:grpSpPr>
          <a:xfrm>
            <a:off x="1210561" y="2781593"/>
            <a:ext cx="8062600" cy="5634793"/>
            <a:chOff x="0" y="-47625"/>
            <a:chExt cx="2123483" cy="1484061"/>
          </a:xfrm>
        </p:grpSpPr>
        <p:sp>
          <p:nvSpPr>
            <p:cNvPr id="7" name="Freeform 7"/>
            <p:cNvSpPr/>
            <p:nvPr/>
          </p:nvSpPr>
          <p:spPr>
            <a:xfrm>
              <a:off x="0" y="0"/>
              <a:ext cx="2123483" cy="1436436"/>
            </a:xfrm>
            <a:custGeom>
              <a:avLst/>
              <a:gdLst/>
              <a:ahLst/>
              <a:cxnLst/>
              <a:rect l="l" t="t" r="r" b="b"/>
              <a:pathLst>
                <a:path w="2123483" h="1436436">
                  <a:moveTo>
                    <a:pt x="0" y="0"/>
                  </a:moveTo>
                  <a:lnTo>
                    <a:pt x="2123483" y="0"/>
                  </a:lnTo>
                  <a:lnTo>
                    <a:pt x="2123483" y="1436436"/>
                  </a:lnTo>
                  <a:lnTo>
                    <a:pt x="0" y="1436436"/>
                  </a:lnTo>
                  <a:close/>
                </a:path>
              </a:pathLst>
            </a:custGeom>
            <a:solidFill>
              <a:srgbClr val="FFFFFF"/>
            </a:solidFill>
          </p:spPr>
        </p:sp>
        <p:sp>
          <p:nvSpPr>
            <p:cNvPr id="8" name="TextBox 8"/>
            <p:cNvSpPr txBox="1"/>
            <p:nvPr/>
          </p:nvSpPr>
          <p:spPr>
            <a:xfrm>
              <a:off x="0" y="-47625"/>
              <a:ext cx="2123483" cy="1484061"/>
            </a:xfrm>
            <a:prstGeom prst="rect">
              <a:avLst/>
            </a:prstGeom>
          </p:spPr>
          <p:txBody>
            <a:bodyPr lIns="50800" tIns="50800" rIns="50800" bIns="50800" rtlCol="0" anchor="ctr"/>
            <a:lstStyle/>
            <a:p>
              <a:pPr algn="ctr">
                <a:lnSpc>
                  <a:spcPts val="3080"/>
                </a:lnSpc>
              </a:pPr>
              <a:endParaRPr/>
            </a:p>
          </p:txBody>
        </p:sp>
      </p:grpSp>
      <p:grpSp>
        <p:nvGrpSpPr>
          <p:cNvPr id="9" name="Group 9"/>
          <p:cNvGrpSpPr/>
          <p:nvPr/>
        </p:nvGrpSpPr>
        <p:grpSpPr>
          <a:xfrm rot="-5400000">
            <a:off x="10657770" y="3245045"/>
            <a:ext cx="10875274" cy="4385185"/>
            <a:chOff x="0" y="0"/>
            <a:chExt cx="2864270" cy="1154946"/>
          </a:xfrm>
        </p:grpSpPr>
        <p:sp>
          <p:nvSpPr>
            <p:cNvPr id="10" name="Freeform 10"/>
            <p:cNvSpPr/>
            <p:nvPr/>
          </p:nvSpPr>
          <p:spPr>
            <a:xfrm>
              <a:off x="0" y="0"/>
              <a:ext cx="2864270" cy="1154946"/>
            </a:xfrm>
            <a:custGeom>
              <a:avLst/>
              <a:gdLst/>
              <a:ahLst/>
              <a:cxnLst/>
              <a:rect l="l" t="t" r="r" b="b"/>
              <a:pathLst>
                <a:path w="2864270" h="1154946">
                  <a:moveTo>
                    <a:pt x="0" y="0"/>
                  </a:moveTo>
                  <a:lnTo>
                    <a:pt x="2864270" y="0"/>
                  </a:lnTo>
                  <a:lnTo>
                    <a:pt x="2864270" y="1154946"/>
                  </a:lnTo>
                  <a:lnTo>
                    <a:pt x="0" y="1154946"/>
                  </a:lnTo>
                  <a:close/>
                </a:path>
              </a:pathLst>
            </a:custGeom>
            <a:solidFill>
              <a:srgbClr val="1B294A"/>
            </a:solidFill>
          </p:spPr>
        </p:sp>
        <p:sp>
          <p:nvSpPr>
            <p:cNvPr id="11" name="TextBox 11"/>
            <p:cNvSpPr txBox="1"/>
            <p:nvPr/>
          </p:nvSpPr>
          <p:spPr>
            <a:xfrm>
              <a:off x="0" y="-38100"/>
              <a:ext cx="2864270" cy="1193046"/>
            </a:xfrm>
            <a:prstGeom prst="rect">
              <a:avLst/>
            </a:prstGeom>
          </p:spPr>
          <p:txBody>
            <a:bodyPr lIns="50800" tIns="50800" rIns="50800" bIns="50800" rtlCol="0" anchor="ctr"/>
            <a:lstStyle/>
            <a:p>
              <a:pPr algn="l">
                <a:lnSpc>
                  <a:spcPts val="3080"/>
                </a:lnSpc>
              </a:pPr>
              <a:endParaRPr/>
            </a:p>
          </p:txBody>
        </p:sp>
      </p:grpSp>
      <p:grpSp>
        <p:nvGrpSpPr>
          <p:cNvPr id="12" name="Group 12"/>
          <p:cNvGrpSpPr/>
          <p:nvPr/>
        </p:nvGrpSpPr>
        <p:grpSpPr>
          <a:xfrm>
            <a:off x="11353622" y="2064995"/>
            <a:ext cx="6934378" cy="5923682"/>
            <a:chOff x="0" y="0"/>
            <a:chExt cx="535945" cy="457830"/>
          </a:xfrm>
          <a:blipFill>
            <a:blip r:embed="rId3"/>
            <a:stretch>
              <a:fillRect/>
            </a:stretch>
          </a:blipFill>
        </p:grpSpPr>
        <p:sp>
          <p:nvSpPr>
            <p:cNvPr id="13" name="Freeform 13"/>
            <p:cNvSpPr/>
            <p:nvPr/>
          </p:nvSpPr>
          <p:spPr>
            <a:xfrm>
              <a:off x="0" y="0"/>
              <a:ext cx="535945" cy="457830"/>
            </a:xfrm>
            <a:custGeom>
              <a:avLst/>
              <a:gdLst/>
              <a:ahLst/>
              <a:cxnLst/>
              <a:rect l="l" t="t" r="r" b="b"/>
              <a:pathLst>
                <a:path w="535945" h="457830">
                  <a:moveTo>
                    <a:pt x="25678" y="0"/>
                  </a:moveTo>
                  <a:lnTo>
                    <a:pt x="510266" y="0"/>
                  </a:lnTo>
                  <a:cubicBezTo>
                    <a:pt x="524448" y="0"/>
                    <a:pt x="535945" y="11497"/>
                    <a:pt x="535945" y="25678"/>
                  </a:cubicBezTo>
                  <a:lnTo>
                    <a:pt x="535945" y="432151"/>
                  </a:lnTo>
                  <a:cubicBezTo>
                    <a:pt x="535945" y="446333"/>
                    <a:pt x="524448" y="457830"/>
                    <a:pt x="510266" y="457830"/>
                  </a:cubicBezTo>
                  <a:lnTo>
                    <a:pt x="25678" y="457830"/>
                  </a:lnTo>
                  <a:cubicBezTo>
                    <a:pt x="11497" y="457830"/>
                    <a:pt x="0" y="446333"/>
                    <a:pt x="0" y="432151"/>
                  </a:cubicBezTo>
                  <a:lnTo>
                    <a:pt x="0" y="25678"/>
                  </a:lnTo>
                  <a:cubicBezTo>
                    <a:pt x="0" y="11497"/>
                    <a:pt x="11497" y="0"/>
                    <a:pt x="25678" y="0"/>
                  </a:cubicBezTo>
                  <a:close/>
                </a:path>
              </a:pathLst>
            </a:custGeom>
            <a:grpFill/>
          </p:spPr>
        </p:sp>
      </p:grpSp>
      <p:sp>
        <p:nvSpPr>
          <p:cNvPr id="14" name="Freeform 14"/>
          <p:cNvSpPr/>
          <p:nvPr/>
        </p:nvSpPr>
        <p:spPr>
          <a:xfrm>
            <a:off x="12151561" y="898916"/>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1028700" y="1359248"/>
            <a:ext cx="3546358" cy="629854"/>
          </a:xfrm>
          <a:prstGeom prst="rect">
            <a:avLst/>
          </a:prstGeom>
        </p:spPr>
        <p:txBody>
          <a:bodyPr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Introduction</a:t>
            </a:r>
          </a:p>
        </p:txBody>
      </p:sp>
      <p:sp>
        <p:nvSpPr>
          <p:cNvPr id="16" name="TextBox 16"/>
          <p:cNvSpPr txBox="1"/>
          <p:nvPr/>
        </p:nvSpPr>
        <p:spPr>
          <a:xfrm>
            <a:off x="1371600" y="3028798"/>
            <a:ext cx="7315200" cy="5140382"/>
          </a:xfrm>
          <a:prstGeom prst="rect">
            <a:avLst/>
          </a:prstGeom>
        </p:spPr>
        <p:txBody>
          <a:bodyPr wrap="square" lIns="0" tIns="0" rIns="0" bIns="0" rtlCol="0" anchor="t">
            <a:spAutoFit/>
          </a:bodyPr>
          <a:lstStyle/>
          <a:p>
            <a:pPr marL="345440" lvl="1">
              <a:lnSpc>
                <a:spcPts val="4479"/>
              </a:lnSpc>
            </a:pPr>
            <a:r>
              <a:rPr lang="en-US" sz="2600" dirty="0">
                <a:latin typeface="Bahnschrift Light" panose="020B0502040204020203" pitchFamily="34" charset="0"/>
              </a:rPr>
              <a:t>Mathematics is deeply integrated into our everyday life and technological systems. Calculus and analytical geometry allow us to model real-world problems mathematically and find efficient solutions. From predicting motion to securing computer networks, these branches of mathematics are widely used in science, engineering, computer science, artificial intelligence, and cyber security.</a:t>
            </a:r>
            <a:endParaRPr lang="en-US" sz="2600" dirty="0">
              <a:solidFill>
                <a:srgbClr val="1B294A"/>
              </a:solidFill>
              <a:latin typeface="Bahnschrift Light" panose="020B0502040204020203" pitchFamily="34" charset="0"/>
              <a:ea typeface="Lato"/>
              <a:cs typeface="Lato"/>
              <a:sym typeface="Lato"/>
            </a:endParaRPr>
          </a:p>
        </p:txBody>
      </p:sp>
      <p:sp>
        <p:nvSpPr>
          <p:cNvPr id="23" name="Freeform 23"/>
          <p:cNvSpPr/>
          <p:nvPr/>
        </p:nvSpPr>
        <p:spPr>
          <a:xfrm>
            <a:off x="691424" y="9378693"/>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825179" y="496778"/>
            <a:ext cx="4098804" cy="5169791"/>
            <a:chOff x="0" y="0"/>
            <a:chExt cx="1079520" cy="1361591"/>
          </a:xfrm>
        </p:grpSpPr>
        <p:sp>
          <p:nvSpPr>
            <p:cNvPr id="3" name="Freeform 3"/>
            <p:cNvSpPr/>
            <p:nvPr/>
          </p:nvSpPr>
          <p:spPr>
            <a:xfrm>
              <a:off x="0" y="0"/>
              <a:ext cx="1079520" cy="1361591"/>
            </a:xfrm>
            <a:custGeom>
              <a:avLst/>
              <a:gdLst/>
              <a:ahLst/>
              <a:cxnLst/>
              <a:rect l="l" t="t" r="r" b="b"/>
              <a:pathLst>
                <a:path w="1079520" h="1361591">
                  <a:moveTo>
                    <a:pt x="35888" y="0"/>
                  </a:moveTo>
                  <a:lnTo>
                    <a:pt x="1043633" y="0"/>
                  </a:lnTo>
                  <a:cubicBezTo>
                    <a:pt x="1063453" y="0"/>
                    <a:pt x="1079520" y="16067"/>
                    <a:pt x="1079520" y="35888"/>
                  </a:cubicBezTo>
                  <a:lnTo>
                    <a:pt x="1079520" y="1325703"/>
                  </a:lnTo>
                  <a:cubicBezTo>
                    <a:pt x="1079520" y="1345523"/>
                    <a:pt x="1063453" y="1361591"/>
                    <a:pt x="1043633" y="1361591"/>
                  </a:cubicBezTo>
                  <a:lnTo>
                    <a:pt x="35888" y="1361591"/>
                  </a:lnTo>
                  <a:cubicBezTo>
                    <a:pt x="16067" y="1361591"/>
                    <a:pt x="0" y="1345523"/>
                    <a:pt x="0" y="1325703"/>
                  </a:cubicBezTo>
                  <a:lnTo>
                    <a:pt x="0" y="35888"/>
                  </a:lnTo>
                  <a:cubicBezTo>
                    <a:pt x="0" y="16067"/>
                    <a:pt x="16067" y="0"/>
                    <a:pt x="35888" y="0"/>
                  </a:cubicBezTo>
                  <a:close/>
                </a:path>
              </a:pathLst>
            </a:custGeom>
            <a:solidFill>
              <a:srgbClr val="1B294A"/>
            </a:solidFill>
          </p:spPr>
        </p:sp>
        <p:sp>
          <p:nvSpPr>
            <p:cNvPr id="4" name="TextBox 4"/>
            <p:cNvSpPr txBox="1"/>
            <p:nvPr/>
          </p:nvSpPr>
          <p:spPr>
            <a:xfrm>
              <a:off x="0" y="-38100"/>
              <a:ext cx="1079520" cy="1399691"/>
            </a:xfrm>
            <a:prstGeom prst="rect">
              <a:avLst/>
            </a:prstGeom>
          </p:spPr>
          <p:txBody>
            <a:bodyPr lIns="50800" tIns="50800" rIns="50800" bIns="50800" rtlCol="0" anchor="ctr"/>
            <a:lstStyle/>
            <a:p>
              <a:pPr algn="ctr">
                <a:lnSpc>
                  <a:spcPts val="3080"/>
                </a:lnSpc>
              </a:pPr>
              <a:endParaRPr/>
            </a:p>
          </p:txBody>
        </p:sp>
      </p:grpSp>
      <p:grpSp>
        <p:nvGrpSpPr>
          <p:cNvPr id="5" name="Group 5"/>
          <p:cNvGrpSpPr/>
          <p:nvPr/>
        </p:nvGrpSpPr>
        <p:grpSpPr>
          <a:xfrm>
            <a:off x="10150698" y="1028700"/>
            <a:ext cx="8137302" cy="4114800"/>
            <a:chOff x="0" y="0"/>
            <a:chExt cx="628916" cy="318025"/>
          </a:xfrm>
        </p:grpSpPr>
        <p:sp>
          <p:nvSpPr>
            <p:cNvPr id="6" name="Freeform 6"/>
            <p:cNvSpPr/>
            <p:nvPr/>
          </p:nvSpPr>
          <p:spPr>
            <a:xfrm>
              <a:off x="0" y="0"/>
              <a:ext cx="628916" cy="318025"/>
            </a:xfrm>
            <a:custGeom>
              <a:avLst/>
              <a:gdLst/>
              <a:ahLst/>
              <a:cxnLst/>
              <a:rect l="l" t="t" r="r" b="b"/>
              <a:pathLst>
                <a:path w="628916" h="318025">
                  <a:moveTo>
                    <a:pt x="21882" y="0"/>
                  </a:moveTo>
                  <a:lnTo>
                    <a:pt x="607034" y="0"/>
                  </a:lnTo>
                  <a:cubicBezTo>
                    <a:pt x="619119" y="0"/>
                    <a:pt x="628916" y="9797"/>
                    <a:pt x="628916" y="21882"/>
                  </a:cubicBezTo>
                  <a:lnTo>
                    <a:pt x="628916" y="296142"/>
                  </a:lnTo>
                  <a:cubicBezTo>
                    <a:pt x="628916" y="308228"/>
                    <a:pt x="619119" y="318025"/>
                    <a:pt x="607034" y="318025"/>
                  </a:cubicBezTo>
                  <a:lnTo>
                    <a:pt x="21882" y="318025"/>
                  </a:lnTo>
                  <a:cubicBezTo>
                    <a:pt x="9797" y="318025"/>
                    <a:pt x="0" y="308228"/>
                    <a:pt x="0" y="296142"/>
                  </a:cubicBezTo>
                  <a:lnTo>
                    <a:pt x="0" y="21882"/>
                  </a:lnTo>
                  <a:cubicBezTo>
                    <a:pt x="0" y="9797"/>
                    <a:pt x="9797" y="0"/>
                    <a:pt x="21882" y="0"/>
                  </a:cubicBezTo>
                  <a:close/>
                </a:path>
              </a:pathLst>
            </a:custGeom>
            <a:blipFill>
              <a:blip r:embed="rId2"/>
              <a:stretch>
                <a:fillRect t="-73213" b="-73213"/>
              </a:stretch>
            </a:blipFill>
          </p:spPr>
        </p:sp>
      </p:grpSp>
      <p:grpSp>
        <p:nvGrpSpPr>
          <p:cNvPr id="7" name="Group 7"/>
          <p:cNvGrpSpPr/>
          <p:nvPr/>
        </p:nvGrpSpPr>
        <p:grpSpPr>
          <a:xfrm rot="-5400000">
            <a:off x="1989639" y="-1123902"/>
            <a:ext cx="1024532" cy="5655661"/>
            <a:chOff x="0" y="0"/>
            <a:chExt cx="269836" cy="1489557"/>
          </a:xfrm>
        </p:grpSpPr>
        <p:sp>
          <p:nvSpPr>
            <p:cNvPr id="8" name="Freeform 8"/>
            <p:cNvSpPr/>
            <p:nvPr/>
          </p:nvSpPr>
          <p:spPr>
            <a:xfrm>
              <a:off x="0" y="0"/>
              <a:ext cx="269836" cy="1489557"/>
            </a:xfrm>
            <a:custGeom>
              <a:avLst/>
              <a:gdLst/>
              <a:ahLst/>
              <a:cxnLst/>
              <a:rect l="l" t="t" r="r" b="b"/>
              <a:pathLst>
                <a:path w="269836" h="1489557">
                  <a:moveTo>
                    <a:pt x="120905" y="0"/>
                  </a:moveTo>
                  <a:lnTo>
                    <a:pt x="148931" y="0"/>
                  </a:lnTo>
                  <a:cubicBezTo>
                    <a:pt x="215705" y="0"/>
                    <a:pt x="269836" y="54131"/>
                    <a:pt x="269836" y="120905"/>
                  </a:cubicBezTo>
                  <a:lnTo>
                    <a:pt x="269836" y="1368652"/>
                  </a:lnTo>
                  <a:cubicBezTo>
                    <a:pt x="269836" y="1435426"/>
                    <a:pt x="215705" y="1489557"/>
                    <a:pt x="148931" y="1489557"/>
                  </a:cubicBezTo>
                  <a:lnTo>
                    <a:pt x="120905" y="1489557"/>
                  </a:lnTo>
                  <a:cubicBezTo>
                    <a:pt x="54131" y="1489557"/>
                    <a:pt x="0" y="1435426"/>
                    <a:pt x="0" y="1368652"/>
                  </a:cubicBezTo>
                  <a:lnTo>
                    <a:pt x="0" y="120905"/>
                  </a:lnTo>
                  <a:cubicBezTo>
                    <a:pt x="0" y="54131"/>
                    <a:pt x="54131" y="0"/>
                    <a:pt x="120905" y="0"/>
                  </a:cubicBezTo>
                  <a:close/>
                </a:path>
              </a:pathLst>
            </a:custGeom>
            <a:solidFill>
              <a:srgbClr val="1B294A"/>
            </a:solidFill>
          </p:spPr>
        </p:sp>
        <p:sp>
          <p:nvSpPr>
            <p:cNvPr id="9" name="TextBox 9"/>
            <p:cNvSpPr txBox="1"/>
            <p:nvPr/>
          </p:nvSpPr>
          <p:spPr>
            <a:xfrm>
              <a:off x="0" y="-38100"/>
              <a:ext cx="269836" cy="1527657"/>
            </a:xfrm>
            <a:prstGeom prst="rect">
              <a:avLst/>
            </a:prstGeom>
          </p:spPr>
          <p:txBody>
            <a:bodyPr lIns="50800" tIns="50800" rIns="50800" bIns="50800" rtlCol="0" anchor="ctr"/>
            <a:lstStyle/>
            <a:p>
              <a:pPr algn="l">
                <a:lnSpc>
                  <a:spcPts val="3080"/>
                </a:lnSpc>
              </a:pPr>
              <a:endParaRPr/>
            </a:p>
          </p:txBody>
        </p:sp>
      </p:grpSp>
      <p:sp>
        <p:nvSpPr>
          <p:cNvPr id="10" name="TextBox 10"/>
          <p:cNvSpPr txBox="1"/>
          <p:nvPr/>
        </p:nvSpPr>
        <p:spPr>
          <a:xfrm>
            <a:off x="1294525" y="1349079"/>
            <a:ext cx="4301036" cy="629854"/>
          </a:xfrm>
          <a:prstGeom prst="rect">
            <a:avLst/>
          </a:prstGeom>
        </p:spPr>
        <p:txBody>
          <a:bodyPr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Calculus</a:t>
            </a:r>
          </a:p>
        </p:txBody>
      </p:sp>
      <p:sp>
        <p:nvSpPr>
          <p:cNvPr id="11" name="TextBox 11"/>
          <p:cNvSpPr txBox="1"/>
          <p:nvPr/>
        </p:nvSpPr>
        <p:spPr>
          <a:xfrm>
            <a:off x="1028700" y="3034049"/>
            <a:ext cx="7530780" cy="455295"/>
          </a:xfrm>
          <a:prstGeom prst="rect">
            <a:avLst/>
          </a:prstGeom>
        </p:spPr>
        <p:txBody>
          <a:bodyPr lIns="0" tIns="0" rIns="0" bIns="0" rtlCol="0" anchor="t">
            <a:spAutoFit/>
          </a:bodyPr>
          <a:lstStyle/>
          <a:p>
            <a:pPr algn="l">
              <a:lnSpc>
                <a:spcPts val="3780"/>
              </a:lnSpc>
            </a:pPr>
            <a:r>
              <a:rPr lang="en-US" sz="2700" b="1" dirty="0">
                <a:solidFill>
                  <a:srgbClr val="1B294A"/>
                </a:solidFill>
                <a:latin typeface="Montserrat Bold"/>
                <a:ea typeface="Montserrat Bold"/>
                <a:cs typeface="Montserrat Bold"/>
                <a:sym typeface="Montserrat Bold"/>
              </a:rPr>
              <a:t>Definition</a:t>
            </a:r>
          </a:p>
        </p:txBody>
      </p:sp>
      <p:sp>
        <p:nvSpPr>
          <p:cNvPr id="12" name="TextBox 12"/>
          <p:cNvSpPr txBox="1"/>
          <p:nvPr/>
        </p:nvSpPr>
        <p:spPr>
          <a:xfrm>
            <a:off x="10150698" y="6116056"/>
            <a:ext cx="6704780"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Branches</a:t>
            </a:r>
          </a:p>
        </p:txBody>
      </p:sp>
      <p:sp>
        <p:nvSpPr>
          <p:cNvPr id="13" name="TextBox 13"/>
          <p:cNvSpPr txBox="1"/>
          <p:nvPr/>
        </p:nvSpPr>
        <p:spPr>
          <a:xfrm>
            <a:off x="1028700" y="3664751"/>
            <a:ext cx="7530780" cy="2351413"/>
          </a:xfrm>
          <a:prstGeom prst="rect">
            <a:avLst/>
          </a:prstGeom>
        </p:spPr>
        <p:txBody>
          <a:bodyPr lIns="0" tIns="0" rIns="0" bIns="0" rtlCol="0" anchor="t">
            <a:spAutoFit/>
          </a:bodyPr>
          <a:lstStyle/>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Studies continuous change</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Explains motion, growth, and optimization</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Used in science, engineering, and computing</a:t>
            </a:r>
          </a:p>
          <a:p>
            <a:pPr algn="just">
              <a:lnSpc>
                <a:spcPts val="3080"/>
              </a:lnSpc>
            </a:pPr>
            <a:r>
              <a:rPr lang="en-US" sz="2400" dirty="0">
                <a:solidFill>
                  <a:srgbClr val="777879"/>
                </a:solidFill>
                <a:latin typeface="Lato"/>
                <a:ea typeface="Lato"/>
                <a:cs typeface="Lato"/>
                <a:sym typeface="Lato"/>
              </a:rPr>
              <a:t>Calculus helps us understand how one quantity changes with respect to another, such as speed changing over time.</a:t>
            </a:r>
          </a:p>
        </p:txBody>
      </p:sp>
      <p:grpSp>
        <p:nvGrpSpPr>
          <p:cNvPr id="14" name="Group 14"/>
          <p:cNvGrpSpPr/>
          <p:nvPr/>
        </p:nvGrpSpPr>
        <p:grpSpPr>
          <a:xfrm>
            <a:off x="-745889" y="8474969"/>
            <a:ext cx="3272804" cy="2498037"/>
            <a:chOff x="0" y="0"/>
            <a:chExt cx="861973" cy="657919"/>
          </a:xfrm>
        </p:grpSpPr>
        <p:sp>
          <p:nvSpPr>
            <p:cNvPr id="15" name="Freeform 15"/>
            <p:cNvSpPr/>
            <p:nvPr/>
          </p:nvSpPr>
          <p:spPr>
            <a:xfrm>
              <a:off x="0" y="0"/>
              <a:ext cx="861973" cy="657919"/>
            </a:xfrm>
            <a:custGeom>
              <a:avLst/>
              <a:gdLst/>
              <a:ahLst/>
              <a:cxnLst/>
              <a:rect l="l" t="t" r="r" b="b"/>
              <a:pathLst>
                <a:path w="861973" h="657919">
                  <a:moveTo>
                    <a:pt x="44945" y="0"/>
                  </a:moveTo>
                  <a:lnTo>
                    <a:pt x="817028" y="0"/>
                  </a:lnTo>
                  <a:cubicBezTo>
                    <a:pt x="828948" y="0"/>
                    <a:pt x="840380" y="4735"/>
                    <a:pt x="848809" y="13164"/>
                  </a:cubicBezTo>
                  <a:cubicBezTo>
                    <a:pt x="857238" y="21593"/>
                    <a:pt x="861973" y="33025"/>
                    <a:pt x="861973" y="44945"/>
                  </a:cubicBezTo>
                  <a:lnTo>
                    <a:pt x="861973" y="612974"/>
                  </a:lnTo>
                  <a:cubicBezTo>
                    <a:pt x="861973" y="624894"/>
                    <a:pt x="857238" y="636326"/>
                    <a:pt x="848809" y="644755"/>
                  </a:cubicBezTo>
                  <a:cubicBezTo>
                    <a:pt x="840380" y="653184"/>
                    <a:pt x="828948" y="657919"/>
                    <a:pt x="817028" y="657919"/>
                  </a:cubicBezTo>
                  <a:lnTo>
                    <a:pt x="44945" y="657919"/>
                  </a:lnTo>
                  <a:cubicBezTo>
                    <a:pt x="33025" y="657919"/>
                    <a:pt x="21593" y="653184"/>
                    <a:pt x="13164" y="644755"/>
                  </a:cubicBezTo>
                  <a:cubicBezTo>
                    <a:pt x="4735" y="636326"/>
                    <a:pt x="0" y="624894"/>
                    <a:pt x="0" y="612974"/>
                  </a:cubicBezTo>
                  <a:lnTo>
                    <a:pt x="0" y="44945"/>
                  </a:lnTo>
                  <a:cubicBezTo>
                    <a:pt x="0" y="33025"/>
                    <a:pt x="4735" y="21593"/>
                    <a:pt x="13164" y="13164"/>
                  </a:cubicBezTo>
                  <a:cubicBezTo>
                    <a:pt x="21593" y="4735"/>
                    <a:pt x="33025" y="0"/>
                    <a:pt x="44945" y="0"/>
                  </a:cubicBezTo>
                  <a:close/>
                </a:path>
              </a:pathLst>
            </a:custGeom>
            <a:solidFill>
              <a:srgbClr val="1B294A"/>
            </a:solidFill>
          </p:spPr>
        </p:sp>
        <p:sp>
          <p:nvSpPr>
            <p:cNvPr id="16" name="TextBox 16"/>
            <p:cNvSpPr txBox="1"/>
            <p:nvPr/>
          </p:nvSpPr>
          <p:spPr>
            <a:xfrm>
              <a:off x="0" y="-38100"/>
              <a:ext cx="861973" cy="696019"/>
            </a:xfrm>
            <a:prstGeom prst="rect">
              <a:avLst/>
            </a:prstGeom>
          </p:spPr>
          <p:txBody>
            <a:bodyPr lIns="50800" tIns="50800" rIns="50800" bIns="50800" rtlCol="0" anchor="ctr"/>
            <a:lstStyle/>
            <a:p>
              <a:pPr algn="ctr">
                <a:lnSpc>
                  <a:spcPts val="3080"/>
                </a:lnSpc>
              </a:pPr>
              <a:endParaRPr/>
            </a:p>
          </p:txBody>
        </p:sp>
      </p:grpSp>
      <p:grpSp>
        <p:nvGrpSpPr>
          <p:cNvPr id="17" name="Group 17"/>
          <p:cNvGrpSpPr/>
          <p:nvPr/>
        </p:nvGrpSpPr>
        <p:grpSpPr>
          <a:xfrm>
            <a:off x="-268645" y="6171493"/>
            <a:ext cx="8828124" cy="3502920"/>
            <a:chOff x="0" y="0"/>
            <a:chExt cx="1006816" cy="399495"/>
          </a:xfrm>
          <a:blipFill>
            <a:blip r:embed="rId3"/>
            <a:stretch>
              <a:fillRect/>
            </a:stretch>
          </a:blipFill>
        </p:grpSpPr>
        <p:sp>
          <p:nvSpPr>
            <p:cNvPr id="18" name="Freeform 18"/>
            <p:cNvSpPr/>
            <p:nvPr/>
          </p:nvSpPr>
          <p:spPr>
            <a:xfrm>
              <a:off x="0" y="0"/>
              <a:ext cx="1006816" cy="399495"/>
            </a:xfrm>
            <a:custGeom>
              <a:avLst/>
              <a:gdLst/>
              <a:ahLst/>
              <a:cxnLst/>
              <a:rect l="l" t="t" r="r" b="b"/>
              <a:pathLst>
                <a:path w="1006816" h="399495">
                  <a:moveTo>
                    <a:pt x="20170" y="0"/>
                  </a:moveTo>
                  <a:lnTo>
                    <a:pt x="986646" y="0"/>
                  </a:lnTo>
                  <a:cubicBezTo>
                    <a:pt x="997785" y="0"/>
                    <a:pt x="1006816" y="9030"/>
                    <a:pt x="1006816" y="20170"/>
                  </a:cubicBezTo>
                  <a:lnTo>
                    <a:pt x="1006816" y="379325"/>
                  </a:lnTo>
                  <a:cubicBezTo>
                    <a:pt x="1006816" y="384675"/>
                    <a:pt x="1004691" y="389805"/>
                    <a:pt x="1000908" y="393588"/>
                  </a:cubicBezTo>
                  <a:cubicBezTo>
                    <a:pt x="997126" y="397370"/>
                    <a:pt x="991995" y="399495"/>
                    <a:pt x="986646" y="399495"/>
                  </a:cubicBezTo>
                  <a:lnTo>
                    <a:pt x="20170" y="399495"/>
                  </a:lnTo>
                  <a:cubicBezTo>
                    <a:pt x="9030" y="399495"/>
                    <a:pt x="0" y="390465"/>
                    <a:pt x="0" y="379325"/>
                  </a:cubicBezTo>
                  <a:lnTo>
                    <a:pt x="0" y="20170"/>
                  </a:lnTo>
                  <a:cubicBezTo>
                    <a:pt x="0" y="9030"/>
                    <a:pt x="9030" y="0"/>
                    <a:pt x="20170" y="0"/>
                  </a:cubicBezTo>
                  <a:close/>
                </a:path>
              </a:pathLst>
            </a:custGeom>
            <a:grpFill/>
          </p:spPr>
        </p:sp>
      </p:grpSp>
      <p:sp>
        <p:nvSpPr>
          <p:cNvPr id="19" name="TextBox 19"/>
          <p:cNvSpPr txBox="1"/>
          <p:nvPr/>
        </p:nvSpPr>
        <p:spPr>
          <a:xfrm>
            <a:off x="10150698" y="6761153"/>
            <a:ext cx="6704780" cy="1556323"/>
          </a:xfrm>
          <a:prstGeom prst="rect">
            <a:avLst/>
          </a:prstGeom>
        </p:spPr>
        <p:txBody>
          <a:bodyPr lIns="0" tIns="0" rIns="0" bIns="0" rtlCol="0" anchor="t">
            <a:spAutoFit/>
          </a:bodyPr>
          <a:lstStyle/>
          <a:p>
            <a:pPr algn="just">
              <a:lnSpc>
                <a:spcPts val="3080"/>
              </a:lnSpc>
            </a:pPr>
            <a:r>
              <a:rPr lang="en-US" sz="2400" dirty="0">
                <a:solidFill>
                  <a:srgbClr val="777879"/>
                </a:solidFill>
                <a:latin typeface="Lato"/>
                <a:ea typeface="Lato"/>
                <a:cs typeface="Lato"/>
                <a:sym typeface="Lato"/>
              </a:rPr>
              <a:t>Calculus is divided into two major branches: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Differential Calculus: Rate of Change of Functions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Integral Calculus: Deals with Accumulation</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DF407-5D1D-692C-D0B2-11B16DB9429B}"/>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C3E30877-E5AE-5C62-DE26-415EA21E3572}"/>
              </a:ext>
            </a:extLst>
          </p:cNvPr>
          <p:cNvPicPr>
            <a:picLocks noChangeAspect="1"/>
          </p:cNvPicPr>
          <p:nvPr/>
        </p:nvPicPr>
        <p:blipFill>
          <a:blip r:embed="rId2"/>
          <a:stretch>
            <a:fillRect/>
          </a:stretch>
        </p:blipFill>
        <p:spPr>
          <a:xfrm>
            <a:off x="4876800" y="6607927"/>
            <a:ext cx="3344745" cy="3121763"/>
          </a:xfrm>
          <a:prstGeom prst="rect">
            <a:avLst/>
          </a:prstGeom>
        </p:spPr>
      </p:pic>
      <p:grpSp>
        <p:nvGrpSpPr>
          <p:cNvPr id="2" name="Group 2">
            <a:extLst>
              <a:ext uri="{FF2B5EF4-FFF2-40B4-BE49-F238E27FC236}">
                <a16:creationId xmlns:a16="http://schemas.microsoft.com/office/drawing/2014/main" id="{2853A5C0-71D6-31F4-71B7-8E6BA3C40309}"/>
              </a:ext>
            </a:extLst>
          </p:cNvPr>
          <p:cNvGrpSpPr/>
          <p:nvPr/>
        </p:nvGrpSpPr>
        <p:grpSpPr>
          <a:xfrm>
            <a:off x="11181539" y="1126987"/>
            <a:ext cx="8033026" cy="8033026"/>
            <a:chOff x="0" y="0"/>
            <a:chExt cx="812800" cy="812800"/>
          </a:xfrm>
          <a:blipFill>
            <a:blip r:embed="rId3"/>
            <a:stretch>
              <a:fillRect/>
            </a:stretch>
          </a:blipFill>
        </p:grpSpPr>
        <p:sp>
          <p:nvSpPr>
            <p:cNvPr id="3" name="Freeform 3">
              <a:extLst>
                <a:ext uri="{FF2B5EF4-FFF2-40B4-BE49-F238E27FC236}">
                  <a16:creationId xmlns:a16="http://schemas.microsoft.com/office/drawing/2014/main" id="{C09BC1F9-5A28-F3B6-9F71-CC8CE29664BC}"/>
                </a:ext>
              </a:extLst>
            </p:cNvPr>
            <p:cNvSpPr/>
            <p:nvPr/>
          </p:nvSpPr>
          <p:spPr>
            <a:xfrm>
              <a:off x="17964" y="17964"/>
              <a:ext cx="776872" cy="776872"/>
            </a:xfrm>
            <a:custGeom>
              <a:avLst/>
              <a:gdLst/>
              <a:ahLst/>
              <a:cxnLst/>
              <a:rect l="l" t="t" r="r" b="b"/>
              <a:pathLst>
                <a:path w="776872" h="776872">
                  <a:moveTo>
                    <a:pt x="419103" y="12703"/>
                  </a:moveTo>
                  <a:lnTo>
                    <a:pt x="764169" y="357769"/>
                  </a:lnTo>
                  <a:cubicBezTo>
                    <a:pt x="781106" y="374706"/>
                    <a:pt x="781106" y="402166"/>
                    <a:pt x="764169" y="419103"/>
                  </a:cubicBezTo>
                  <a:lnTo>
                    <a:pt x="419103" y="764169"/>
                  </a:lnTo>
                  <a:cubicBezTo>
                    <a:pt x="402166" y="781106"/>
                    <a:pt x="374706" y="781106"/>
                    <a:pt x="357769" y="764169"/>
                  </a:cubicBezTo>
                  <a:lnTo>
                    <a:pt x="12703" y="419103"/>
                  </a:lnTo>
                  <a:cubicBezTo>
                    <a:pt x="-4234" y="402166"/>
                    <a:pt x="-4234" y="374706"/>
                    <a:pt x="12703" y="357769"/>
                  </a:cubicBezTo>
                  <a:lnTo>
                    <a:pt x="357769" y="12703"/>
                  </a:lnTo>
                  <a:cubicBezTo>
                    <a:pt x="374706" y="-4234"/>
                    <a:pt x="402166" y="-4234"/>
                    <a:pt x="419103" y="12703"/>
                  </a:cubicBezTo>
                  <a:close/>
                </a:path>
              </a:pathLst>
            </a:custGeom>
            <a:grpFill/>
          </p:spPr>
        </p:sp>
      </p:grpSp>
      <p:grpSp>
        <p:nvGrpSpPr>
          <p:cNvPr id="4" name="Group 4">
            <a:extLst>
              <a:ext uri="{FF2B5EF4-FFF2-40B4-BE49-F238E27FC236}">
                <a16:creationId xmlns:a16="http://schemas.microsoft.com/office/drawing/2014/main" id="{DBAA8060-2AD6-69E4-02B0-E80ADC97CEC6}"/>
              </a:ext>
            </a:extLst>
          </p:cNvPr>
          <p:cNvGrpSpPr/>
          <p:nvPr/>
        </p:nvGrpSpPr>
        <p:grpSpPr>
          <a:xfrm>
            <a:off x="10486534" y="6917885"/>
            <a:ext cx="4236003" cy="4236003"/>
            <a:chOff x="0" y="0"/>
            <a:chExt cx="812800" cy="812800"/>
          </a:xfrm>
          <a:blipFill>
            <a:blip r:embed="rId4"/>
            <a:stretch>
              <a:fillRect/>
            </a:stretch>
          </a:blipFill>
        </p:grpSpPr>
        <p:sp>
          <p:nvSpPr>
            <p:cNvPr id="5" name="Freeform 5">
              <a:extLst>
                <a:ext uri="{FF2B5EF4-FFF2-40B4-BE49-F238E27FC236}">
                  <a16:creationId xmlns:a16="http://schemas.microsoft.com/office/drawing/2014/main" id="{3D03451C-027D-EFE2-2C52-DF557FB57989}"/>
                </a:ext>
              </a:extLst>
            </p:cNvPr>
            <p:cNvSpPr/>
            <p:nvPr/>
          </p:nvSpPr>
          <p:spPr>
            <a:xfrm>
              <a:off x="34067" y="34067"/>
              <a:ext cx="744667" cy="744667"/>
            </a:xfrm>
            <a:custGeom>
              <a:avLst/>
              <a:gdLst/>
              <a:ahLst/>
              <a:cxnLst/>
              <a:rect l="l" t="t" r="r" b="b"/>
              <a:pathLst>
                <a:path w="744667" h="744667">
                  <a:moveTo>
                    <a:pt x="430488" y="24088"/>
                  </a:moveTo>
                  <a:lnTo>
                    <a:pt x="720578" y="314178"/>
                  </a:lnTo>
                  <a:cubicBezTo>
                    <a:pt x="736001" y="329601"/>
                    <a:pt x="744666" y="350520"/>
                    <a:pt x="744666" y="372333"/>
                  </a:cubicBezTo>
                  <a:cubicBezTo>
                    <a:pt x="744666" y="394145"/>
                    <a:pt x="736001" y="415065"/>
                    <a:pt x="720578" y="430488"/>
                  </a:cubicBezTo>
                  <a:lnTo>
                    <a:pt x="430488" y="720578"/>
                  </a:lnTo>
                  <a:cubicBezTo>
                    <a:pt x="415065" y="736001"/>
                    <a:pt x="394145" y="744666"/>
                    <a:pt x="372333" y="744666"/>
                  </a:cubicBezTo>
                  <a:cubicBezTo>
                    <a:pt x="350520" y="744666"/>
                    <a:pt x="329601" y="736001"/>
                    <a:pt x="314178" y="720578"/>
                  </a:cubicBezTo>
                  <a:lnTo>
                    <a:pt x="24088" y="430488"/>
                  </a:lnTo>
                  <a:cubicBezTo>
                    <a:pt x="8665" y="415065"/>
                    <a:pt x="0" y="394145"/>
                    <a:pt x="0" y="372333"/>
                  </a:cubicBezTo>
                  <a:cubicBezTo>
                    <a:pt x="0" y="350520"/>
                    <a:pt x="8665" y="329601"/>
                    <a:pt x="24088" y="314178"/>
                  </a:cubicBezTo>
                  <a:lnTo>
                    <a:pt x="314178" y="24088"/>
                  </a:lnTo>
                  <a:cubicBezTo>
                    <a:pt x="329601" y="8665"/>
                    <a:pt x="350520" y="0"/>
                    <a:pt x="372333" y="0"/>
                  </a:cubicBezTo>
                  <a:cubicBezTo>
                    <a:pt x="394145" y="0"/>
                    <a:pt x="415065" y="8665"/>
                    <a:pt x="430488" y="24088"/>
                  </a:cubicBezTo>
                  <a:close/>
                </a:path>
              </a:pathLst>
            </a:custGeom>
            <a:grpFill/>
          </p:spPr>
        </p:sp>
      </p:grpSp>
      <p:grpSp>
        <p:nvGrpSpPr>
          <p:cNvPr id="6" name="Group 6">
            <a:extLst>
              <a:ext uri="{FF2B5EF4-FFF2-40B4-BE49-F238E27FC236}">
                <a16:creationId xmlns:a16="http://schemas.microsoft.com/office/drawing/2014/main" id="{794C11FF-2A77-0AE2-A0AA-4DA9D39A7FAE}"/>
              </a:ext>
            </a:extLst>
          </p:cNvPr>
          <p:cNvGrpSpPr/>
          <p:nvPr/>
        </p:nvGrpSpPr>
        <p:grpSpPr>
          <a:xfrm>
            <a:off x="16169998" y="-393392"/>
            <a:ext cx="4236003" cy="4236003"/>
            <a:chOff x="0" y="0"/>
            <a:chExt cx="812800" cy="812800"/>
          </a:xfrm>
          <a:blipFill>
            <a:blip r:embed="rId5"/>
            <a:stretch>
              <a:fillRect/>
            </a:stretch>
          </a:blipFill>
        </p:grpSpPr>
        <p:sp>
          <p:nvSpPr>
            <p:cNvPr id="7" name="Freeform 7">
              <a:extLst>
                <a:ext uri="{FF2B5EF4-FFF2-40B4-BE49-F238E27FC236}">
                  <a16:creationId xmlns:a16="http://schemas.microsoft.com/office/drawing/2014/main" id="{03296510-0691-DFF7-507F-154E2528F146}"/>
                </a:ext>
              </a:extLst>
            </p:cNvPr>
            <p:cNvSpPr/>
            <p:nvPr/>
          </p:nvSpPr>
          <p:spPr>
            <a:xfrm>
              <a:off x="34067" y="34067"/>
              <a:ext cx="744667" cy="744667"/>
            </a:xfrm>
            <a:custGeom>
              <a:avLst/>
              <a:gdLst/>
              <a:ahLst/>
              <a:cxnLst/>
              <a:rect l="l" t="t" r="r" b="b"/>
              <a:pathLst>
                <a:path w="744667" h="744667">
                  <a:moveTo>
                    <a:pt x="430488" y="24088"/>
                  </a:moveTo>
                  <a:lnTo>
                    <a:pt x="720578" y="314178"/>
                  </a:lnTo>
                  <a:cubicBezTo>
                    <a:pt x="736001" y="329601"/>
                    <a:pt x="744666" y="350520"/>
                    <a:pt x="744666" y="372333"/>
                  </a:cubicBezTo>
                  <a:cubicBezTo>
                    <a:pt x="744666" y="394145"/>
                    <a:pt x="736001" y="415065"/>
                    <a:pt x="720578" y="430488"/>
                  </a:cubicBezTo>
                  <a:lnTo>
                    <a:pt x="430488" y="720578"/>
                  </a:lnTo>
                  <a:cubicBezTo>
                    <a:pt x="415065" y="736001"/>
                    <a:pt x="394145" y="744666"/>
                    <a:pt x="372333" y="744666"/>
                  </a:cubicBezTo>
                  <a:cubicBezTo>
                    <a:pt x="350520" y="744666"/>
                    <a:pt x="329601" y="736001"/>
                    <a:pt x="314178" y="720578"/>
                  </a:cubicBezTo>
                  <a:lnTo>
                    <a:pt x="24088" y="430488"/>
                  </a:lnTo>
                  <a:cubicBezTo>
                    <a:pt x="8665" y="415065"/>
                    <a:pt x="0" y="394145"/>
                    <a:pt x="0" y="372333"/>
                  </a:cubicBezTo>
                  <a:cubicBezTo>
                    <a:pt x="0" y="350520"/>
                    <a:pt x="8665" y="329601"/>
                    <a:pt x="24088" y="314178"/>
                  </a:cubicBezTo>
                  <a:lnTo>
                    <a:pt x="314178" y="24088"/>
                  </a:lnTo>
                  <a:cubicBezTo>
                    <a:pt x="329601" y="8665"/>
                    <a:pt x="350520" y="0"/>
                    <a:pt x="372333" y="0"/>
                  </a:cubicBezTo>
                  <a:cubicBezTo>
                    <a:pt x="394145" y="0"/>
                    <a:pt x="415065" y="8665"/>
                    <a:pt x="430488" y="24088"/>
                  </a:cubicBezTo>
                  <a:close/>
                </a:path>
              </a:pathLst>
            </a:custGeom>
            <a:grpFill/>
          </p:spPr>
        </p:sp>
      </p:grpSp>
      <p:grpSp>
        <p:nvGrpSpPr>
          <p:cNvPr id="8" name="Group 8">
            <a:extLst>
              <a:ext uri="{FF2B5EF4-FFF2-40B4-BE49-F238E27FC236}">
                <a16:creationId xmlns:a16="http://schemas.microsoft.com/office/drawing/2014/main" id="{C98EEFBE-F530-0174-1E05-8A606CC8025D}"/>
              </a:ext>
            </a:extLst>
          </p:cNvPr>
          <p:cNvGrpSpPr/>
          <p:nvPr/>
        </p:nvGrpSpPr>
        <p:grpSpPr>
          <a:xfrm rot="-5400000">
            <a:off x="2282972" y="-1233590"/>
            <a:ext cx="1024532" cy="5916401"/>
            <a:chOff x="0" y="0"/>
            <a:chExt cx="269836" cy="1558229"/>
          </a:xfrm>
        </p:grpSpPr>
        <p:sp>
          <p:nvSpPr>
            <p:cNvPr id="9" name="Freeform 9">
              <a:extLst>
                <a:ext uri="{FF2B5EF4-FFF2-40B4-BE49-F238E27FC236}">
                  <a16:creationId xmlns:a16="http://schemas.microsoft.com/office/drawing/2014/main" id="{30FC960D-1749-4889-5D4D-B979541AC16D}"/>
                </a:ext>
              </a:extLst>
            </p:cNvPr>
            <p:cNvSpPr/>
            <p:nvPr/>
          </p:nvSpPr>
          <p:spPr>
            <a:xfrm>
              <a:off x="0" y="0"/>
              <a:ext cx="269836" cy="1558229"/>
            </a:xfrm>
            <a:custGeom>
              <a:avLst/>
              <a:gdLst/>
              <a:ahLst/>
              <a:cxnLst/>
              <a:rect l="l" t="t" r="r" b="b"/>
              <a:pathLst>
                <a:path w="269836" h="1558229">
                  <a:moveTo>
                    <a:pt x="120905" y="0"/>
                  </a:moveTo>
                  <a:lnTo>
                    <a:pt x="148931" y="0"/>
                  </a:lnTo>
                  <a:cubicBezTo>
                    <a:pt x="215705" y="0"/>
                    <a:pt x="269836" y="54131"/>
                    <a:pt x="269836" y="120905"/>
                  </a:cubicBezTo>
                  <a:lnTo>
                    <a:pt x="269836" y="1437324"/>
                  </a:lnTo>
                  <a:cubicBezTo>
                    <a:pt x="269836" y="1504098"/>
                    <a:pt x="215705" y="1558229"/>
                    <a:pt x="148931" y="1558229"/>
                  </a:cubicBezTo>
                  <a:lnTo>
                    <a:pt x="120905" y="1558229"/>
                  </a:lnTo>
                  <a:cubicBezTo>
                    <a:pt x="54131" y="1558229"/>
                    <a:pt x="0" y="1504098"/>
                    <a:pt x="0" y="1437324"/>
                  </a:cubicBezTo>
                  <a:lnTo>
                    <a:pt x="0" y="120905"/>
                  </a:lnTo>
                  <a:cubicBezTo>
                    <a:pt x="0" y="54131"/>
                    <a:pt x="54131" y="0"/>
                    <a:pt x="120905" y="0"/>
                  </a:cubicBezTo>
                  <a:close/>
                </a:path>
              </a:pathLst>
            </a:custGeom>
            <a:solidFill>
              <a:srgbClr val="1B294A"/>
            </a:solidFill>
          </p:spPr>
        </p:sp>
        <p:sp>
          <p:nvSpPr>
            <p:cNvPr id="10" name="TextBox 10">
              <a:extLst>
                <a:ext uri="{FF2B5EF4-FFF2-40B4-BE49-F238E27FC236}">
                  <a16:creationId xmlns:a16="http://schemas.microsoft.com/office/drawing/2014/main" id="{2BB216F2-5F89-BABA-D3B4-F51B78D07E52}"/>
                </a:ext>
              </a:extLst>
            </p:cNvPr>
            <p:cNvSpPr txBox="1"/>
            <p:nvPr/>
          </p:nvSpPr>
          <p:spPr>
            <a:xfrm>
              <a:off x="0" y="-38100"/>
              <a:ext cx="269836" cy="1596329"/>
            </a:xfrm>
            <a:prstGeom prst="rect">
              <a:avLst/>
            </a:prstGeom>
          </p:spPr>
          <p:txBody>
            <a:bodyPr lIns="50800" tIns="50800" rIns="50800" bIns="50800" rtlCol="0" anchor="ctr"/>
            <a:lstStyle/>
            <a:p>
              <a:pPr algn="l">
                <a:lnSpc>
                  <a:spcPts val="3080"/>
                </a:lnSpc>
              </a:pPr>
              <a:endParaRPr/>
            </a:p>
          </p:txBody>
        </p:sp>
      </p:grpSp>
      <p:sp>
        <p:nvSpPr>
          <p:cNvPr id="11" name="TextBox 11">
            <a:extLst>
              <a:ext uri="{FF2B5EF4-FFF2-40B4-BE49-F238E27FC236}">
                <a16:creationId xmlns:a16="http://schemas.microsoft.com/office/drawing/2014/main" id="{09C2C377-AABC-4605-C5F5-AA21E23AA74B}"/>
              </a:ext>
            </a:extLst>
          </p:cNvPr>
          <p:cNvSpPr txBox="1"/>
          <p:nvPr/>
        </p:nvSpPr>
        <p:spPr>
          <a:xfrm>
            <a:off x="1556483" y="1415936"/>
            <a:ext cx="5372438"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Examples</a:t>
            </a:r>
          </a:p>
        </p:txBody>
      </p:sp>
      <p:sp>
        <p:nvSpPr>
          <p:cNvPr id="12" name="TextBox 12">
            <a:extLst>
              <a:ext uri="{FF2B5EF4-FFF2-40B4-BE49-F238E27FC236}">
                <a16:creationId xmlns:a16="http://schemas.microsoft.com/office/drawing/2014/main" id="{EE28B2E3-5FD5-2701-61CE-C1A07A0B2F6E}"/>
              </a:ext>
            </a:extLst>
          </p:cNvPr>
          <p:cNvSpPr txBox="1"/>
          <p:nvPr/>
        </p:nvSpPr>
        <p:spPr>
          <a:xfrm>
            <a:off x="1060293" y="2735037"/>
            <a:ext cx="8115300"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Derivation</a:t>
            </a:r>
          </a:p>
        </p:txBody>
      </p:sp>
      <p:sp>
        <p:nvSpPr>
          <p:cNvPr id="15" name="Freeform 15">
            <a:extLst>
              <a:ext uri="{FF2B5EF4-FFF2-40B4-BE49-F238E27FC236}">
                <a16:creationId xmlns:a16="http://schemas.microsoft.com/office/drawing/2014/main" id="{DC8D17AF-9783-B478-1606-F35F891BBF86}"/>
              </a:ext>
            </a:extLst>
          </p:cNvPr>
          <p:cNvSpPr/>
          <p:nvPr/>
        </p:nvSpPr>
        <p:spPr>
          <a:xfrm>
            <a:off x="793084" y="9160013"/>
            <a:ext cx="1038273" cy="259568"/>
          </a:xfrm>
          <a:custGeom>
            <a:avLst/>
            <a:gdLst/>
            <a:ahLst/>
            <a:cxnLst/>
            <a:rect l="l" t="t" r="r" b="b"/>
            <a:pathLst>
              <a:path w="1038273" h="259568">
                <a:moveTo>
                  <a:pt x="0" y="0"/>
                </a:moveTo>
                <a:lnTo>
                  <a:pt x="1038273" y="0"/>
                </a:lnTo>
                <a:lnTo>
                  <a:pt x="1038273" y="259569"/>
                </a:lnTo>
                <a:lnTo>
                  <a:pt x="0" y="2595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Freeform 16">
            <a:extLst>
              <a:ext uri="{FF2B5EF4-FFF2-40B4-BE49-F238E27FC236}">
                <a16:creationId xmlns:a16="http://schemas.microsoft.com/office/drawing/2014/main" id="{A4E3978A-A92E-B5A9-4183-E17A47AC86AA}"/>
              </a:ext>
            </a:extLst>
          </p:cNvPr>
          <p:cNvSpPr/>
          <p:nvPr/>
        </p:nvSpPr>
        <p:spPr>
          <a:xfrm>
            <a:off x="14722538" y="769132"/>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TextBox 12">
            <a:extLst>
              <a:ext uri="{FF2B5EF4-FFF2-40B4-BE49-F238E27FC236}">
                <a16:creationId xmlns:a16="http://schemas.microsoft.com/office/drawing/2014/main" id="{455773F1-A54B-0867-93C3-84AF2828703D}"/>
              </a:ext>
            </a:extLst>
          </p:cNvPr>
          <p:cNvSpPr txBox="1"/>
          <p:nvPr/>
        </p:nvSpPr>
        <p:spPr>
          <a:xfrm>
            <a:off x="1060293" y="5662090"/>
            <a:ext cx="8115300"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Integration</a:t>
            </a:r>
          </a:p>
        </p:txBody>
      </p:sp>
      <p:pic>
        <p:nvPicPr>
          <p:cNvPr id="19" name="Picture 18">
            <a:extLst>
              <a:ext uri="{FF2B5EF4-FFF2-40B4-BE49-F238E27FC236}">
                <a16:creationId xmlns:a16="http://schemas.microsoft.com/office/drawing/2014/main" id="{31B252D5-96BE-2883-C175-925CAD5398B4}"/>
              </a:ext>
            </a:extLst>
          </p:cNvPr>
          <p:cNvPicPr>
            <a:picLocks noChangeAspect="1"/>
          </p:cNvPicPr>
          <p:nvPr/>
        </p:nvPicPr>
        <p:blipFill>
          <a:blip r:embed="rId8"/>
          <a:stretch>
            <a:fillRect/>
          </a:stretch>
        </p:blipFill>
        <p:spPr>
          <a:xfrm>
            <a:off x="1278830" y="3316439"/>
            <a:ext cx="2254390" cy="971719"/>
          </a:xfrm>
          <a:prstGeom prst="rect">
            <a:avLst/>
          </a:prstGeom>
        </p:spPr>
      </p:pic>
      <p:pic>
        <p:nvPicPr>
          <p:cNvPr id="22" name="Picture 21">
            <a:extLst>
              <a:ext uri="{FF2B5EF4-FFF2-40B4-BE49-F238E27FC236}">
                <a16:creationId xmlns:a16="http://schemas.microsoft.com/office/drawing/2014/main" id="{55F6787E-0439-ECAB-5854-BAA65959D48D}"/>
              </a:ext>
            </a:extLst>
          </p:cNvPr>
          <p:cNvPicPr>
            <a:picLocks noChangeAspect="1"/>
          </p:cNvPicPr>
          <p:nvPr/>
        </p:nvPicPr>
        <p:blipFill>
          <a:blip r:embed="rId9"/>
          <a:stretch>
            <a:fillRect/>
          </a:stretch>
        </p:blipFill>
        <p:spPr>
          <a:xfrm>
            <a:off x="1189619" y="4047694"/>
            <a:ext cx="3421330" cy="733142"/>
          </a:xfrm>
          <a:prstGeom prst="rect">
            <a:avLst/>
          </a:prstGeom>
        </p:spPr>
      </p:pic>
      <p:pic>
        <p:nvPicPr>
          <p:cNvPr id="24" name="Picture 23">
            <a:extLst>
              <a:ext uri="{FF2B5EF4-FFF2-40B4-BE49-F238E27FC236}">
                <a16:creationId xmlns:a16="http://schemas.microsoft.com/office/drawing/2014/main" id="{28ACABFD-A1CB-CA5B-AF4B-9C2A1C066B05}"/>
              </a:ext>
            </a:extLst>
          </p:cNvPr>
          <p:cNvPicPr>
            <a:picLocks noChangeAspect="1"/>
          </p:cNvPicPr>
          <p:nvPr/>
        </p:nvPicPr>
        <p:blipFill>
          <a:blip r:embed="rId10"/>
          <a:stretch>
            <a:fillRect/>
          </a:stretch>
        </p:blipFill>
        <p:spPr>
          <a:xfrm>
            <a:off x="5753439" y="3390209"/>
            <a:ext cx="4118836" cy="501876"/>
          </a:xfrm>
          <a:prstGeom prst="rect">
            <a:avLst/>
          </a:prstGeom>
        </p:spPr>
      </p:pic>
      <p:pic>
        <p:nvPicPr>
          <p:cNvPr id="26" name="Picture 25">
            <a:extLst>
              <a:ext uri="{FF2B5EF4-FFF2-40B4-BE49-F238E27FC236}">
                <a16:creationId xmlns:a16="http://schemas.microsoft.com/office/drawing/2014/main" id="{9F30FA53-8030-C8F0-CC97-5A100DE6676A}"/>
              </a:ext>
            </a:extLst>
          </p:cNvPr>
          <p:cNvPicPr>
            <a:picLocks noChangeAspect="1"/>
          </p:cNvPicPr>
          <p:nvPr/>
        </p:nvPicPr>
        <p:blipFill>
          <a:blip r:embed="rId11"/>
          <a:stretch>
            <a:fillRect/>
          </a:stretch>
        </p:blipFill>
        <p:spPr>
          <a:xfrm>
            <a:off x="5640507" y="4015456"/>
            <a:ext cx="3732093" cy="486795"/>
          </a:xfrm>
          <a:prstGeom prst="rect">
            <a:avLst/>
          </a:prstGeom>
        </p:spPr>
      </p:pic>
      <p:pic>
        <p:nvPicPr>
          <p:cNvPr id="28" name="Picture 27">
            <a:extLst>
              <a:ext uri="{FF2B5EF4-FFF2-40B4-BE49-F238E27FC236}">
                <a16:creationId xmlns:a16="http://schemas.microsoft.com/office/drawing/2014/main" id="{6DFA5FC6-FE18-E4D5-4C1C-EA0840668A52}"/>
              </a:ext>
            </a:extLst>
          </p:cNvPr>
          <p:cNvPicPr>
            <a:picLocks noChangeAspect="1"/>
          </p:cNvPicPr>
          <p:nvPr/>
        </p:nvPicPr>
        <p:blipFill>
          <a:blip r:embed="rId12"/>
          <a:stretch>
            <a:fillRect/>
          </a:stretch>
        </p:blipFill>
        <p:spPr>
          <a:xfrm>
            <a:off x="1492992" y="6354663"/>
            <a:ext cx="2040228" cy="879408"/>
          </a:xfrm>
          <a:prstGeom prst="rect">
            <a:avLst/>
          </a:prstGeom>
        </p:spPr>
      </p:pic>
      <p:pic>
        <p:nvPicPr>
          <p:cNvPr id="30" name="Picture 29">
            <a:extLst>
              <a:ext uri="{FF2B5EF4-FFF2-40B4-BE49-F238E27FC236}">
                <a16:creationId xmlns:a16="http://schemas.microsoft.com/office/drawing/2014/main" id="{D2C49012-CBB0-043E-7196-14997C92BCB7}"/>
              </a:ext>
            </a:extLst>
          </p:cNvPr>
          <p:cNvPicPr>
            <a:picLocks noChangeAspect="1"/>
          </p:cNvPicPr>
          <p:nvPr/>
        </p:nvPicPr>
        <p:blipFill>
          <a:blip r:embed="rId13"/>
          <a:stretch>
            <a:fillRect/>
          </a:stretch>
        </p:blipFill>
        <p:spPr>
          <a:xfrm>
            <a:off x="1758363" y="7095430"/>
            <a:ext cx="1774857" cy="626420"/>
          </a:xfrm>
          <a:prstGeom prst="rect">
            <a:avLst/>
          </a:prstGeom>
        </p:spPr>
      </p:pic>
      <p:pic>
        <p:nvPicPr>
          <p:cNvPr id="32" name="Picture 31">
            <a:extLst>
              <a:ext uri="{FF2B5EF4-FFF2-40B4-BE49-F238E27FC236}">
                <a16:creationId xmlns:a16="http://schemas.microsoft.com/office/drawing/2014/main" id="{0072768B-D532-B8A1-140F-3EE4DD8AA8FC}"/>
              </a:ext>
            </a:extLst>
          </p:cNvPr>
          <p:cNvPicPr>
            <a:picLocks noChangeAspect="1"/>
          </p:cNvPicPr>
          <p:nvPr/>
        </p:nvPicPr>
        <p:blipFill>
          <a:blip r:embed="rId14"/>
          <a:stretch>
            <a:fillRect/>
          </a:stretch>
        </p:blipFill>
        <p:spPr>
          <a:xfrm>
            <a:off x="5784368" y="5962557"/>
            <a:ext cx="2628561" cy="784211"/>
          </a:xfrm>
          <a:prstGeom prst="rect">
            <a:avLst/>
          </a:prstGeom>
        </p:spPr>
      </p:pic>
    </p:spTree>
    <p:extLst>
      <p:ext uri="{BB962C8B-B14F-4D97-AF65-F5344CB8AC3E}">
        <p14:creationId xmlns:p14="http://schemas.microsoft.com/office/powerpoint/2010/main" val="17433047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AF7B177-0DB3-A481-CC92-1A2EF2D0E6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15400" y="5143500"/>
            <a:ext cx="5546945" cy="5546945"/>
          </a:xfrm>
          <a:prstGeom prst="rect">
            <a:avLst/>
          </a:prstGeom>
        </p:spPr>
      </p:pic>
      <p:grpSp>
        <p:nvGrpSpPr>
          <p:cNvPr id="2" name="Group 2"/>
          <p:cNvGrpSpPr/>
          <p:nvPr/>
        </p:nvGrpSpPr>
        <p:grpSpPr>
          <a:xfrm>
            <a:off x="11181539" y="1126987"/>
            <a:ext cx="8033026" cy="8033026"/>
            <a:chOff x="0" y="0"/>
            <a:chExt cx="812800" cy="812800"/>
          </a:xfrm>
          <a:blipFill>
            <a:blip r:embed="rId3"/>
            <a:stretch>
              <a:fillRect/>
            </a:stretch>
          </a:blipFill>
        </p:grpSpPr>
        <p:sp>
          <p:nvSpPr>
            <p:cNvPr id="3" name="Freeform 3"/>
            <p:cNvSpPr/>
            <p:nvPr/>
          </p:nvSpPr>
          <p:spPr>
            <a:xfrm>
              <a:off x="17964" y="17964"/>
              <a:ext cx="776872" cy="776872"/>
            </a:xfrm>
            <a:custGeom>
              <a:avLst/>
              <a:gdLst/>
              <a:ahLst/>
              <a:cxnLst/>
              <a:rect l="l" t="t" r="r" b="b"/>
              <a:pathLst>
                <a:path w="776872" h="776872">
                  <a:moveTo>
                    <a:pt x="419103" y="12703"/>
                  </a:moveTo>
                  <a:lnTo>
                    <a:pt x="764169" y="357769"/>
                  </a:lnTo>
                  <a:cubicBezTo>
                    <a:pt x="781106" y="374706"/>
                    <a:pt x="781106" y="402166"/>
                    <a:pt x="764169" y="419103"/>
                  </a:cubicBezTo>
                  <a:lnTo>
                    <a:pt x="419103" y="764169"/>
                  </a:lnTo>
                  <a:cubicBezTo>
                    <a:pt x="402166" y="781106"/>
                    <a:pt x="374706" y="781106"/>
                    <a:pt x="357769" y="764169"/>
                  </a:cubicBezTo>
                  <a:lnTo>
                    <a:pt x="12703" y="419103"/>
                  </a:lnTo>
                  <a:cubicBezTo>
                    <a:pt x="-4234" y="402166"/>
                    <a:pt x="-4234" y="374706"/>
                    <a:pt x="12703" y="357769"/>
                  </a:cubicBezTo>
                  <a:lnTo>
                    <a:pt x="357769" y="12703"/>
                  </a:lnTo>
                  <a:cubicBezTo>
                    <a:pt x="374706" y="-4234"/>
                    <a:pt x="402166" y="-4234"/>
                    <a:pt x="419103" y="12703"/>
                  </a:cubicBezTo>
                  <a:close/>
                </a:path>
              </a:pathLst>
            </a:custGeom>
            <a:grpFill/>
          </p:spPr>
        </p:sp>
      </p:grpSp>
      <p:grpSp>
        <p:nvGrpSpPr>
          <p:cNvPr id="6" name="Group 6"/>
          <p:cNvGrpSpPr/>
          <p:nvPr/>
        </p:nvGrpSpPr>
        <p:grpSpPr>
          <a:xfrm>
            <a:off x="16169998" y="-393392"/>
            <a:ext cx="4236003" cy="4236003"/>
            <a:chOff x="0" y="0"/>
            <a:chExt cx="812800" cy="812800"/>
          </a:xfrm>
          <a:blipFill>
            <a:blip r:embed="rId4"/>
            <a:stretch>
              <a:fillRect/>
            </a:stretch>
          </a:blipFill>
        </p:grpSpPr>
        <p:sp>
          <p:nvSpPr>
            <p:cNvPr id="7" name="Freeform 7"/>
            <p:cNvSpPr/>
            <p:nvPr/>
          </p:nvSpPr>
          <p:spPr>
            <a:xfrm>
              <a:off x="34067" y="34067"/>
              <a:ext cx="744667" cy="744667"/>
            </a:xfrm>
            <a:custGeom>
              <a:avLst/>
              <a:gdLst/>
              <a:ahLst/>
              <a:cxnLst/>
              <a:rect l="l" t="t" r="r" b="b"/>
              <a:pathLst>
                <a:path w="744667" h="744667">
                  <a:moveTo>
                    <a:pt x="430488" y="24088"/>
                  </a:moveTo>
                  <a:lnTo>
                    <a:pt x="720578" y="314178"/>
                  </a:lnTo>
                  <a:cubicBezTo>
                    <a:pt x="736001" y="329601"/>
                    <a:pt x="744666" y="350520"/>
                    <a:pt x="744666" y="372333"/>
                  </a:cubicBezTo>
                  <a:cubicBezTo>
                    <a:pt x="744666" y="394145"/>
                    <a:pt x="736001" y="415065"/>
                    <a:pt x="720578" y="430488"/>
                  </a:cubicBezTo>
                  <a:lnTo>
                    <a:pt x="430488" y="720578"/>
                  </a:lnTo>
                  <a:cubicBezTo>
                    <a:pt x="415065" y="736001"/>
                    <a:pt x="394145" y="744666"/>
                    <a:pt x="372333" y="744666"/>
                  </a:cubicBezTo>
                  <a:cubicBezTo>
                    <a:pt x="350520" y="744666"/>
                    <a:pt x="329601" y="736001"/>
                    <a:pt x="314178" y="720578"/>
                  </a:cubicBezTo>
                  <a:lnTo>
                    <a:pt x="24088" y="430488"/>
                  </a:lnTo>
                  <a:cubicBezTo>
                    <a:pt x="8665" y="415065"/>
                    <a:pt x="0" y="394145"/>
                    <a:pt x="0" y="372333"/>
                  </a:cubicBezTo>
                  <a:cubicBezTo>
                    <a:pt x="0" y="350520"/>
                    <a:pt x="8665" y="329601"/>
                    <a:pt x="24088" y="314178"/>
                  </a:cubicBezTo>
                  <a:lnTo>
                    <a:pt x="314178" y="24088"/>
                  </a:lnTo>
                  <a:cubicBezTo>
                    <a:pt x="329601" y="8665"/>
                    <a:pt x="350520" y="0"/>
                    <a:pt x="372333" y="0"/>
                  </a:cubicBezTo>
                  <a:cubicBezTo>
                    <a:pt x="394145" y="0"/>
                    <a:pt x="415065" y="8665"/>
                    <a:pt x="430488" y="24088"/>
                  </a:cubicBezTo>
                  <a:close/>
                </a:path>
              </a:pathLst>
            </a:custGeom>
            <a:grpFill/>
          </p:spPr>
        </p:sp>
      </p:grpSp>
      <p:grpSp>
        <p:nvGrpSpPr>
          <p:cNvPr id="8" name="Group 8"/>
          <p:cNvGrpSpPr/>
          <p:nvPr/>
        </p:nvGrpSpPr>
        <p:grpSpPr>
          <a:xfrm rot="-5400000">
            <a:off x="2282972" y="-1233590"/>
            <a:ext cx="1024532" cy="5916401"/>
            <a:chOff x="0" y="0"/>
            <a:chExt cx="269836" cy="1558229"/>
          </a:xfrm>
        </p:grpSpPr>
        <p:sp>
          <p:nvSpPr>
            <p:cNvPr id="9" name="Freeform 9"/>
            <p:cNvSpPr/>
            <p:nvPr/>
          </p:nvSpPr>
          <p:spPr>
            <a:xfrm>
              <a:off x="0" y="0"/>
              <a:ext cx="269836" cy="1558229"/>
            </a:xfrm>
            <a:custGeom>
              <a:avLst/>
              <a:gdLst/>
              <a:ahLst/>
              <a:cxnLst/>
              <a:rect l="l" t="t" r="r" b="b"/>
              <a:pathLst>
                <a:path w="269836" h="1558229">
                  <a:moveTo>
                    <a:pt x="120905" y="0"/>
                  </a:moveTo>
                  <a:lnTo>
                    <a:pt x="148931" y="0"/>
                  </a:lnTo>
                  <a:cubicBezTo>
                    <a:pt x="215705" y="0"/>
                    <a:pt x="269836" y="54131"/>
                    <a:pt x="269836" y="120905"/>
                  </a:cubicBezTo>
                  <a:lnTo>
                    <a:pt x="269836" y="1437324"/>
                  </a:lnTo>
                  <a:cubicBezTo>
                    <a:pt x="269836" y="1504098"/>
                    <a:pt x="215705" y="1558229"/>
                    <a:pt x="148931" y="1558229"/>
                  </a:cubicBezTo>
                  <a:lnTo>
                    <a:pt x="120905" y="1558229"/>
                  </a:lnTo>
                  <a:cubicBezTo>
                    <a:pt x="54131" y="1558229"/>
                    <a:pt x="0" y="1504098"/>
                    <a:pt x="0" y="1437324"/>
                  </a:cubicBezTo>
                  <a:lnTo>
                    <a:pt x="0" y="120905"/>
                  </a:lnTo>
                  <a:cubicBezTo>
                    <a:pt x="0" y="54131"/>
                    <a:pt x="54131" y="0"/>
                    <a:pt x="120905" y="0"/>
                  </a:cubicBezTo>
                  <a:close/>
                </a:path>
              </a:pathLst>
            </a:custGeom>
            <a:solidFill>
              <a:srgbClr val="1B294A"/>
            </a:solidFill>
          </p:spPr>
        </p:sp>
        <p:sp>
          <p:nvSpPr>
            <p:cNvPr id="10" name="TextBox 10"/>
            <p:cNvSpPr txBox="1"/>
            <p:nvPr/>
          </p:nvSpPr>
          <p:spPr>
            <a:xfrm>
              <a:off x="0" y="-38100"/>
              <a:ext cx="269836" cy="1596329"/>
            </a:xfrm>
            <a:prstGeom prst="rect">
              <a:avLst/>
            </a:prstGeom>
          </p:spPr>
          <p:txBody>
            <a:bodyPr lIns="50800" tIns="50800" rIns="50800" bIns="50800" rtlCol="0" anchor="ctr"/>
            <a:lstStyle/>
            <a:p>
              <a:pPr algn="l">
                <a:lnSpc>
                  <a:spcPts val="3080"/>
                </a:lnSpc>
              </a:pPr>
              <a:endParaRPr/>
            </a:p>
          </p:txBody>
        </p:sp>
      </p:grpSp>
      <p:sp>
        <p:nvSpPr>
          <p:cNvPr id="11" name="TextBox 11"/>
          <p:cNvSpPr txBox="1"/>
          <p:nvPr/>
        </p:nvSpPr>
        <p:spPr>
          <a:xfrm>
            <a:off x="381001" y="1376345"/>
            <a:ext cx="5372438"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Analytical Geometry</a:t>
            </a:r>
          </a:p>
        </p:txBody>
      </p:sp>
      <p:sp>
        <p:nvSpPr>
          <p:cNvPr id="12" name="TextBox 12"/>
          <p:cNvSpPr txBox="1"/>
          <p:nvPr/>
        </p:nvSpPr>
        <p:spPr>
          <a:xfrm>
            <a:off x="1060293" y="2735037"/>
            <a:ext cx="8115300"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Definition</a:t>
            </a:r>
          </a:p>
        </p:txBody>
      </p:sp>
      <p:sp>
        <p:nvSpPr>
          <p:cNvPr id="13" name="TextBox 13"/>
          <p:cNvSpPr txBox="1"/>
          <p:nvPr/>
        </p:nvSpPr>
        <p:spPr>
          <a:xfrm>
            <a:off x="1060293" y="3494543"/>
            <a:ext cx="8115300" cy="1948419"/>
          </a:xfrm>
          <a:prstGeom prst="rect">
            <a:avLst/>
          </a:prstGeom>
        </p:spPr>
        <p:txBody>
          <a:bodyPr lIns="0" tIns="0" rIns="0" bIns="0" rtlCol="0" anchor="t">
            <a:spAutoFit/>
          </a:bodyPr>
          <a:lstStyle/>
          <a:p>
            <a:pPr algn="just">
              <a:lnSpc>
                <a:spcPts val="3080"/>
              </a:lnSpc>
            </a:pPr>
            <a:r>
              <a:rPr lang="en-US" sz="2400" dirty="0">
                <a:solidFill>
                  <a:srgbClr val="777879"/>
                </a:solidFill>
                <a:latin typeface="Lato"/>
                <a:ea typeface="Lato"/>
                <a:cs typeface="Lato"/>
                <a:sym typeface="Lato"/>
              </a:rPr>
              <a:t>Analytical geometry connects algebra with geometry by representing shapes using equations.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Uses coordinates and graphs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Helps study lines, curves, and circles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Widely used in design and navigation</a:t>
            </a:r>
          </a:p>
        </p:txBody>
      </p:sp>
      <p:sp>
        <p:nvSpPr>
          <p:cNvPr id="14" name="TextBox 14"/>
          <p:cNvSpPr txBox="1"/>
          <p:nvPr/>
        </p:nvSpPr>
        <p:spPr>
          <a:xfrm>
            <a:off x="1060293" y="6303907"/>
            <a:ext cx="8115300" cy="2748958"/>
          </a:xfrm>
          <a:prstGeom prst="rect">
            <a:avLst/>
          </a:prstGeom>
        </p:spPr>
        <p:txBody>
          <a:bodyPr lIns="0" tIns="0" rIns="0" bIns="0" rtlCol="0" anchor="t">
            <a:spAutoFit/>
          </a:bodyPr>
          <a:lstStyle/>
          <a:p>
            <a:pPr algn="just">
              <a:lnSpc>
                <a:spcPts val="3080"/>
              </a:lnSpc>
            </a:pPr>
            <a:r>
              <a:rPr lang="en-US" sz="2400" dirty="0">
                <a:solidFill>
                  <a:srgbClr val="777879"/>
                </a:solidFill>
                <a:latin typeface="Lato"/>
                <a:ea typeface="Lato"/>
                <a:cs typeface="Lato"/>
                <a:sym typeface="Lato"/>
              </a:rPr>
              <a:t>The coordinate system consists of two perpendicular axes called the X-axis and Y-axis. Every point on a plane is represented by an ordered pair (x, y). This system is the basis of graph plotting, digital mapping, and screen display systems.</a:t>
            </a:r>
          </a:p>
          <a:p>
            <a:pPr algn="just">
              <a:lnSpc>
                <a:spcPts val="3080"/>
              </a:lnSpc>
            </a:pPr>
            <a:r>
              <a:rPr lang="en-US" sz="2400" dirty="0">
                <a:solidFill>
                  <a:srgbClr val="777879"/>
                </a:solidFill>
                <a:latin typeface="Lato"/>
                <a:ea typeface="Lato"/>
                <a:cs typeface="Lato"/>
                <a:sym typeface="Lato"/>
              </a:rPr>
              <a:t>Example: Point (−2, 3) is located by moving 2 units left and 3 units upward.</a:t>
            </a:r>
          </a:p>
        </p:txBody>
      </p:sp>
      <p:sp>
        <p:nvSpPr>
          <p:cNvPr id="15" name="Freeform 15"/>
          <p:cNvSpPr/>
          <p:nvPr/>
        </p:nvSpPr>
        <p:spPr>
          <a:xfrm>
            <a:off x="793084" y="9160013"/>
            <a:ext cx="1038273" cy="259568"/>
          </a:xfrm>
          <a:custGeom>
            <a:avLst/>
            <a:gdLst/>
            <a:ahLst/>
            <a:cxnLst/>
            <a:rect l="l" t="t" r="r" b="b"/>
            <a:pathLst>
              <a:path w="1038273" h="259568">
                <a:moveTo>
                  <a:pt x="0" y="0"/>
                </a:moveTo>
                <a:lnTo>
                  <a:pt x="1038273" y="0"/>
                </a:lnTo>
                <a:lnTo>
                  <a:pt x="1038273" y="259569"/>
                </a:lnTo>
                <a:lnTo>
                  <a:pt x="0" y="2595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4722538" y="769132"/>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2">
            <a:extLst>
              <a:ext uri="{FF2B5EF4-FFF2-40B4-BE49-F238E27FC236}">
                <a16:creationId xmlns:a16="http://schemas.microsoft.com/office/drawing/2014/main" id="{6EC16574-D05A-B692-2275-10A33C0B2652}"/>
              </a:ext>
            </a:extLst>
          </p:cNvPr>
          <p:cNvSpPr txBox="1"/>
          <p:nvPr/>
        </p:nvSpPr>
        <p:spPr>
          <a:xfrm>
            <a:off x="1060293" y="5662090"/>
            <a:ext cx="8115300"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Coordinate System</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133" y="0"/>
            <a:ext cx="18655036" cy="4424724"/>
            <a:chOff x="0" y="0"/>
            <a:chExt cx="2127540" cy="504624"/>
          </a:xfrm>
          <a:blipFill>
            <a:blip r:embed="rId2"/>
            <a:stretch>
              <a:fillRect/>
            </a:stretch>
          </a:blipFill>
        </p:grpSpPr>
        <p:sp>
          <p:nvSpPr>
            <p:cNvPr id="3" name="Freeform 3"/>
            <p:cNvSpPr/>
            <p:nvPr/>
          </p:nvSpPr>
          <p:spPr>
            <a:xfrm>
              <a:off x="0" y="0"/>
              <a:ext cx="2127540" cy="504624"/>
            </a:xfrm>
            <a:custGeom>
              <a:avLst/>
              <a:gdLst/>
              <a:ahLst/>
              <a:cxnLst/>
              <a:rect l="l" t="t" r="r" b="b"/>
              <a:pathLst>
                <a:path w="2127540" h="504624">
                  <a:moveTo>
                    <a:pt x="9545" y="0"/>
                  </a:moveTo>
                  <a:lnTo>
                    <a:pt x="2117995" y="0"/>
                  </a:lnTo>
                  <a:cubicBezTo>
                    <a:pt x="2120526" y="0"/>
                    <a:pt x="2122954" y="1006"/>
                    <a:pt x="2124744" y="2796"/>
                  </a:cubicBezTo>
                  <a:cubicBezTo>
                    <a:pt x="2126534" y="4586"/>
                    <a:pt x="2127540" y="7014"/>
                    <a:pt x="2127540" y="9545"/>
                  </a:cubicBezTo>
                  <a:lnTo>
                    <a:pt x="2127540" y="495079"/>
                  </a:lnTo>
                  <a:cubicBezTo>
                    <a:pt x="2127540" y="497610"/>
                    <a:pt x="2126534" y="500038"/>
                    <a:pt x="2124744" y="501828"/>
                  </a:cubicBezTo>
                  <a:cubicBezTo>
                    <a:pt x="2122954" y="503618"/>
                    <a:pt x="2120526" y="504624"/>
                    <a:pt x="2117995" y="504624"/>
                  </a:cubicBezTo>
                  <a:lnTo>
                    <a:pt x="9545" y="504624"/>
                  </a:lnTo>
                  <a:cubicBezTo>
                    <a:pt x="4273" y="504624"/>
                    <a:pt x="0" y="500350"/>
                    <a:pt x="0" y="495079"/>
                  </a:cubicBezTo>
                  <a:lnTo>
                    <a:pt x="0" y="9545"/>
                  </a:lnTo>
                  <a:cubicBezTo>
                    <a:pt x="0" y="4273"/>
                    <a:pt x="4273" y="0"/>
                    <a:pt x="9545" y="0"/>
                  </a:cubicBezTo>
                  <a:close/>
                </a:path>
              </a:pathLst>
            </a:custGeom>
            <a:grpFill/>
          </p:spPr>
        </p:sp>
      </p:grpSp>
      <p:grpSp>
        <p:nvGrpSpPr>
          <p:cNvPr id="4" name="Group 4"/>
          <p:cNvGrpSpPr/>
          <p:nvPr/>
        </p:nvGrpSpPr>
        <p:grpSpPr>
          <a:xfrm>
            <a:off x="-246888" y="0"/>
            <a:ext cx="18781776" cy="4424724"/>
            <a:chOff x="0" y="0"/>
            <a:chExt cx="4946641" cy="1165359"/>
          </a:xfrm>
        </p:grpSpPr>
        <p:sp>
          <p:nvSpPr>
            <p:cNvPr id="5" name="Freeform 5"/>
            <p:cNvSpPr/>
            <p:nvPr/>
          </p:nvSpPr>
          <p:spPr>
            <a:xfrm>
              <a:off x="0" y="0"/>
              <a:ext cx="4946641" cy="1165359"/>
            </a:xfrm>
            <a:custGeom>
              <a:avLst/>
              <a:gdLst/>
              <a:ahLst/>
              <a:cxnLst/>
              <a:rect l="l" t="t" r="r" b="b"/>
              <a:pathLst>
                <a:path w="4946641" h="1165359">
                  <a:moveTo>
                    <a:pt x="9481" y="0"/>
                  </a:moveTo>
                  <a:lnTo>
                    <a:pt x="4937160" y="0"/>
                  </a:lnTo>
                  <a:cubicBezTo>
                    <a:pt x="4939674" y="0"/>
                    <a:pt x="4942086" y="999"/>
                    <a:pt x="4943864" y="2777"/>
                  </a:cubicBezTo>
                  <a:cubicBezTo>
                    <a:pt x="4945642" y="4555"/>
                    <a:pt x="4946641" y="6966"/>
                    <a:pt x="4946641" y="9481"/>
                  </a:cubicBezTo>
                  <a:lnTo>
                    <a:pt x="4946641" y="1155879"/>
                  </a:lnTo>
                  <a:cubicBezTo>
                    <a:pt x="4946641" y="1158393"/>
                    <a:pt x="4945642" y="1160805"/>
                    <a:pt x="4943864" y="1162583"/>
                  </a:cubicBezTo>
                  <a:cubicBezTo>
                    <a:pt x="4942086" y="1164361"/>
                    <a:pt x="4939674" y="1165359"/>
                    <a:pt x="4937160" y="1165359"/>
                  </a:cubicBezTo>
                  <a:lnTo>
                    <a:pt x="9481" y="1165359"/>
                  </a:lnTo>
                  <a:cubicBezTo>
                    <a:pt x="6966" y="1165359"/>
                    <a:pt x="4555" y="1164361"/>
                    <a:pt x="2777" y="1162583"/>
                  </a:cubicBezTo>
                  <a:cubicBezTo>
                    <a:pt x="999" y="1160805"/>
                    <a:pt x="0" y="1158393"/>
                    <a:pt x="0" y="1155879"/>
                  </a:cubicBezTo>
                  <a:lnTo>
                    <a:pt x="0" y="9481"/>
                  </a:lnTo>
                  <a:cubicBezTo>
                    <a:pt x="0" y="6966"/>
                    <a:pt x="999" y="4555"/>
                    <a:pt x="2777" y="2777"/>
                  </a:cubicBezTo>
                  <a:cubicBezTo>
                    <a:pt x="4555" y="999"/>
                    <a:pt x="6966" y="0"/>
                    <a:pt x="9481" y="0"/>
                  </a:cubicBezTo>
                  <a:close/>
                </a:path>
              </a:pathLst>
            </a:custGeom>
            <a:solidFill>
              <a:srgbClr val="1B294A">
                <a:alpha val="53725"/>
              </a:srgbClr>
            </a:solidFill>
          </p:spPr>
        </p:sp>
        <p:sp>
          <p:nvSpPr>
            <p:cNvPr id="6" name="TextBox 6"/>
            <p:cNvSpPr txBox="1"/>
            <p:nvPr/>
          </p:nvSpPr>
          <p:spPr>
            <a:xfrm>
              <a:off x="0" y="-38100"/>
              <a:ext cx="4946641" cy="1203459"/>
            </a:xfrm>
            <a:prstGeom prst="rect">
              <a:avLst/>
            </a:prstGeom>
          </p:spPr>
          <p:txBody>
            <a:bodyPr lIns="50800" tIns="50800" rIns="50800" bIns="50800" rtlCol="0" anchor="ctr"/>
            <a:lstStyle/>
            <a:p>
              <a:pPr algn="ctr">
                <a:lnSpc>
                  <a:spcPts val="3080"/>
                </a:lnSpc>
              </a:pPr>
              <a:endParaRPr/>
            </a:p>
          </p:txBody>
        </p:sp>
      </p:grpSp>
      <p:grpSp>
        <p:nvGrpSpPr>
          <p:cNvPr id="7" name="Group 7"/>
          <p:cNvGrpSpPr/>
          <p:nvPr/>
        </p:nvGrpSpPr>
        <p:grpSpPr>
          <a:xfrm>
            <a:off x="1193286" y="6342330"/>
            <a:ext cx="809650" cy="737408"/>
            <a:chOff x="0" y="0"/>
            <a:chExt cx="213241" cy="194214"/>
          </a:xfrm>
        </p:grpSpPr>
        <p:sp>
          <p:nvSpPr>
            <p:cNvPr id="8" name="Freeform 8"/>
            <p:cNvSpPr/>
            <p:nvPr/>
          </p:nvSpPr>
          <p:spPr>
            <a:xfrm>
              <a:off x="0" y="0"/>
              <a:ext cx="213241" cy="194214"/>
            </a:xfrm>
            <a:custGeom>
              <a:avLst/>
              <a:gdLst/>
              <a:ahLst/>
              <a:cxnLst/>
              <a:rect l="l" t="t" r="r" b="b"/>
              <a:pathLst>
                <a:path w="213241" h="194214">
                  <a:moveTo>
                    <a:pt x="0" y="0"/>
                  </a:moveTo>
                  <a:lnTo>
                    <a:pt x="213241" y="0"/>
                  </a:lnTo>
                  <a:lnTo>
                    <a:pt x="213241" y="194214"/>
                  </a:lnTo>
                  <a:lnTo>
                    <a:pt x="0" y="194214"/>
                  </a:lnTo>
                  <a:close/>
                </a:path>
              </a:pathLst>
            </a:custGeom>
            <a:solidFill>
              <a:srgbClr val="1B294A"/>
            </a:solidFill>
          </p:spPr>
        </p:sp>
        <p:sp>
          <p:nvSpPr>
            <p:cNvPr id="9" name="TextBox 9"/>
            <p:cNvSpPr txBox="1"/>
            <p:nvPr/>
          </p:nvSpPr>
          <p:spPr>
            <a:xfrm>
              <a:off x="0" y="-38100"/>
              <a:ext cx="213241" cy="232314"/>
            </a:xfrm>
            <a:prstGeom prst="rect">
              <a:avLst/>
            </a:prstGeom>
          </p:spPr>
          <p:txBody>
            <a:bodyPr lIns="50800" tIns="50800" rIns="50800" bIns="50800" rtlCol="0" anchor="ctr"/>
            <a:lstStyle/>
            <a:p>
              <a:pPr algn="ctr">
                <a:lnSpc>
                  <a:spcPts val="3080"/>
                </a:lnSpc>
              </a:pPr>
              <a:endParaRPr/>
            </a:p>
          </p:txBody>
        </p:sp>
      </p:grpSp>
      <p:sp>
        <p:nvSpPr>
          <p:cNvPr id="10" name="TextBox 10"/>
          <p:cNvSpPr txBox="1"/>
          <p:nvPr/>
        </p:nvSpPr>
        <p:spPr>
          <a:xfrm>
            <a:off x="1272656" y="4824148"/>
            <a:ext cx="7881359" cy="712338"/>
          </a:xfrm>
          <a:prstGeom prst="rect">
            <a:avLst/>
          </a:prstGeom>
        </p:spPr>
        <p:txBody>
          <a:bodyPr lIns="0" tIns="0" rIns="0" bIns="0" rtlCol="0" anchor="t">
            <a:spAutoFit/>
          </a:bodyPr>
          <a:lstStyle/>
          <a:p>
            <a:pPr algn="ctr">
              <a:lnSpc>
                <a:spcPts val="5880"/>
              </a:lnSpc>
            </a:pPr>
            <a:r>
              <a:rPr lang="en-US" sz="4200" b="1" dirty="0">
                <a:solidFill>
                  <a:srgbClr val="1B294A"/>
                </a:solidFill>
                <a:latin typeface="Montserrat Bold"/>
                <a:ea typeface="Montserrat Bold"/>
                <a:cs typeface="Montserrat Bold"/>
                <a:sym typeface="Montserrat Bold"/>
              </a:rPr>
              <a:t>Calculus in Daily Life</a:t>
            </a:r>
          </a:p>
        </p:txBody>
      </p:sp>
      <p:sp>
        <p:nvSpPr>
          <p:cNvPr id="11" name="TextBox 11"/>
          <p:cNvSpPr txBox="1"/>
          <p:nvPr/>
        </p:nvSpPr>
        <p:spPr>
          <a:xfrm>
            <a:off x="2364886" y="6191114"/>
            <a:ext cx="6117402" cy="1953868"/>
          </a:xfrm>
          <a:prstGeom prst="rect">
            <a:avLst/>
          </a:prstGeom>
        </p:spPr>
        <p:txBody>
          <a:bodyPr lIns="0" tIns="0" rIns="0" bIns="0" rtlCol="0" anchor="t">
            <a:spAutoFit/>
          </a:bodyPr>
          <a:lstStyle/>
          <a:p>
            <a:pPr algn="just">
              <a:lnSpc>
                <a:spcPts val="3080"/>
              </a:lnSpc>
            </a:pPr>
            <a:r>
              <a:rPr lang="en-US" sz="2400" dirty="0">
                <a:solidFill>
                  <a:srgbClr val="777879"/>
                </a:solidFill>
                <a:latin typeface="Lato"/>
                <a:ea typeface="Lato"/>
                <a:cs typeface="Lato"/>
                <a:sym typeface="Lato"/>
              </a:rPr>
              <a:t>Calculus appears in many daily activities where change occurs.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Speed and acceleration of vehicles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Weather forecasting models</a:t>
            </a:r>
          </a:p>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Medical signal analysis</a:t>
            </a:r>
          </a:p>
        </p:txBody>
      </p:sp>
      <p:sp>
        <p:nvSpPr>
          <p:cNvPr id="13" name="TextBox 13"/>
          <p:cNvSpPr txBox="1"/>
          <p:nvPr/>
        </p:nvSpPr>
        <p:spPr>
          <a:xfrm>
            <a:off x="1193286" y="6379246"/>
            <a:ext cx="809650" cy="580258"/>
          </a:xfrm>
          <a:prstGeom prst="rect">
            <a:avLst/>
          </a:prstGeom>
        </p:spPr>
        <p:txBody>
          <a:bodyPr lIns="0" tIns="0" rIns="0" bIns="0" rtlCol="0" anchor="t">
            <a:spAutoFit/>
          </a:bodyPr>
          <a:lstStyle/>
          <a:p>
            <a:pPr algn="ctr">
              <a:lnSpc>
                <a:spcPts val="4760"/>
              </a:lnSpc>
            </a:pPr>
            <a:r>
              <a:rPr lang="en-US" sz="3400" b="1">
                <a:solidFill>
                  <a:srgbClr val="FFFFFF"/>
                </a:solidFill>
                <a:latin typeface="Lato Bold"/>
                <a:ea typeface="Lato Bold"/>
                <a:cs typeface="Lato Bold"/>
                <a:sym typeface="Lato Bold"/>
              </a:rPr>
              <a:t>01</a:t>
            </a:r>
          </a:p>
        </p:txBody>
      </p:sp>
      <p:grpSp>
        <p:nvGrpSpPr>
          <p:cNvPr id="14" name="Group 14"/>
          <p:cNvGrpSpPr/>
          <p:nvPr/>
        </p:nvGrpSpPr>
        <p:grpSpPr>
          <a:xfrm>
            <a:off x="9641623" y="6342330"/>
            <a:ext cx="809650" cy="737408"/>
            <a:chOff x="0" y="0"/>
            <a:chExt cx="213241" cy="194214"/>
          </a:xfrm>
        </p:grpSpPr>
        <p:sp>
          <p:nvSpPr>
            <p:cNvPr id="15" name="Freeform 15"/>
            <p:cNvSpPr/>
            <p:nvPr/>
          </p:nvSpPr>
          <p:spPr>
            <a:xfrm>
              <a:off x="0" y="0"/>
              <a:ext cx="213241" cy="194214"/>
            </a:xfrm>
            <a:custGeom>
              <a:avLst/>
              <a:gdLst/>
              <a:ahLst/>
              <a:cxnLst/>
              <a:rect l="l" t="t" r="r" b="b"/>
              <a:pathLst>
                <a:path w="213241" h="194214">
                  <a:moveTo>
                    <a:pt x="0" y="0"/>
                  </a:moveTo>
                  <a:lnTo>
                    <a:pt x="213241" y="0"/>
                  </a:lnTo>
                  <a:lnTo>
                    <a:pt x="213241" y="194214"/>
                  </a:lnTo>
                  <a:lnTo>
                    <a:pt x="0" y="194214"/>
                  </a:lnTo>
                  <a:close/>
                </a:path>
              </a:pathLst>
            </a:custGeom>
            <a:solidFill>
              <a:srgbClr val="1B294A"/>
            </a:solidFill>
          </p:spPr>
        </p:sp>
        <p:sp>
          <p:nvSpPr>
            <p:cNvPr id="16" name="TextBox 16"/>
            <p:cNvSpPr txBox="1"/>
            <p:nvPr/>
          </p:nvSpPr>
          <p:spPr>
            <a:xfrm>
              <a:off x="0" y="-38100"/>
              <a:ext cx="213241" cy="232314"/>
            </a:xfrm>
            <a:prstGeom prst="rect">
              <a:avLst/>
            </a:prstGeom>
          </p:spPr>
          <p:txBody>
            <a:bodyPr lIns="50800" tIns="50800" rIns="50800" bIns="50800" rtlCol="0" anchor="ctr"/>
            <a:lstStyle/>
            <a:p>
              <a:pPr algn="ctr">
                <a:lnSpc>
                  <a:spcPts val="3080"/>
                </a:lnSpc>
              </a:pPr>
              <a:endParaRPr/>
            </a:p>
          </p:txBody>
        </p:sp>
      </p:grpSp>
      <p:sp>
        <p:nvSpPr>
          <p:cNvPr id="17" name="TextBox 17"/>
          <p:cNvSpPr txBox="1"/>
          <p:nvPr/>
        </p:nvSpPr>
        <p:spPr>
          <a:xfrm>
            <a:off x="9641623" y="6379246"/>
            <a:ext cx="809650" cy="580258"/>
          </a:xfrm>
          <a:prstGeom prst="rect">
            <a:avLst/>
          </a:prstGeom>
        </p:spPr>
        <p:txBody>
          <a:bodyPr lIns="0" tIns="0" rIns="0" bIns="0" rtlCol="0" anchor="t">
            <a:spAutoFit/>
          </a:bodyPr>
          <a:lstStyle/>
          <a:p>
            <a:pPr algn="ctr">
              <a:lnSpc>
                <a:spcPts val="4760"/>
              </a:lnSpc>
            </a:pPr>
            <a:r>
              <a:rPr lang="en-US" sz="3400" b="1">
                <a:solidFill>
                  <a:srgbClr val="FFFFFF"/>
                </a:solidFill>
                <a:latin typeface="Lato Bold"/>
                <a:ea typeface="Lato Bold"/>
                <a:cs typeface="Lato Bold"/>
                <a:sym typeface="Lato Bold"/>
              </a:rPr>
              <a:t>02</a:t>
            </a:r>
          </a:p>
        </p:txBody>
      </p:sp>
      <p:grpSp>
        <p:nvGrpSpPr>
          <p:cNvPr id="18" name="Group 18"/>
          <p:cNvGrpSpPr/>
          <p:nvPr/>
        </p:nvGrpSpPr>
        <p:grpSpPr>
          <a:xfrm>
            <a:off x="5773697" y="9680872"/>
            <a:ext cx="6887375" cy="752794"/>
            <a:chOff x="0" y="0"/>
            <a:chExt cx="1813959" cy="198267"/>
          </a:xfrm>
        </p:grpSpPr>
        <p:sp>
          <p:nvSpPr>
            <p:cNvPr id="19" name="Freeform 19"/>
            <p:cNvSpPr/>
            <p:nvPr/>
          </p:nvSpPr>
          <p:spPr>
            <a:xfrm>
              <a:off x="0" y="0"/>
              <a:ext cx="1813959" cy="198267"/>
            </a:xfrm>
            <a:custGeom>
              <a:avLst/>
              <a:gdLst/>
              <a:ahLst/>
              <a:cxnLst/>
              <a:rect l="l" t="t" r="r" b="b"/>
              <a:pathLst>
                <a:path w="1813959" h="198267">
                  <a:moveTo>
                    <a:pt x="0" y="0"/>
                  </a:moveTo>
                  <a:lnTo>
                    <a:pt x="1813959" y="0"/>
                  </a:lnTo>
                  <a:lnTo>
                    <a:pt x="1813959" y="198267"/>
                  </a:lnTo>
                  <a:lnTo>
                    <a:pt x="0" y="198267"/>
                  </a:lnTo>
                  <a:close/>
                </a:path>
              </a:pathLst>
            </a:custGeom>
            <a:solidFill>
              <a:srgbClr val="1B294A"/>
            </a:solidFill>
          </p:spPr>
        </p:sp>
        <p:sp>
          <p:nvSpPr>
            <p:cNvPr id="20" name="TextBox 20"/>
            <p:cNvSpPr txBox="1"/>
            <p:nvPr/>
          </p:nvSpPr>
          <p:spPr>
            <a:xfrm>
              <a:off x="0" y="-38100"/>
              <a:ext cx="1813959" cy="236367"/>
            </a:xfrm>
            <a:prstGeom prst="rect">
              <a:avLst/>
            </a:prstGeom>
          </p:spPr>
          <p:txBody>
            <a:bodyPr lIns="50800" tIns="50800" rIns="50800" bIns="50800" rtlCol="0" anchor="ctr"/>
            <a:lstStyle/>
            <a:p>
              <a:pPr algn="ctr">
                <a:lnSpc>
                  <a:spcPts val="3080"/>
                </a:lnSpc>
              </a:pPr>
              <a:endParaRPr/>
            </a:p>
          </p:txBody>
        </p:sp>
      </p:grpSp>
      <p:sp>
        <p:nvSpPr>
          <p:cNvPr id="21" name="TextBox 10">
            <a:extLst>
              <a:ext uri="{FF2B5EF4-FFF2-40B4-BE49-F238E27FC236}">
                <a16:creationId xmlns:a16="http://schemas.microsoft.com/office/drawing/2014/main" id="{6ADB691B-D0FE-687C-CE1F-60C2262C0D08}"/>
              </a:ext>
            </a:extLst>
          </p:cNvPr>
          <p:cNvSpPr txBox="1"/>
          <p:nvPr/>
        </p:nvSpPr>
        <p:spPr>
          <a:xfrm>
            <a:off x="9641623" y="4899985"/>
            <a:ext cx="8156216" cy="694229"/>
          </a:xfrm>
          <a:prstGeom prst="rect">
            <a:avLst/>
          </a:prstGeom>
        </p:spPr>
        <p:txBody>
          <a:bodyPr wrap="square" lIns="0" tIns="0" rIns="0" bIns="0" rtlCol="0" anchor="t">
            <a:spAutoFit/>
          </a:bodyPr>
          <a:lstStyle/>
          <a:p>
            <a:pPr algn="ctr">
              <a:lnSpc>
                <a:spcPts val="5880"/>
              </a:lnSpc>
            </a:pPr>
            <a:r>
              <a:rPr lang="en-US" sz="4000" b="1" dirty="0">
                <a:solidFill>
                  <a:srgbClr val="1B294A"/>
                </a:solidFill>
                <a:latin typeface="Montserrat Bold"/>
                <a:ea typeface="Montserrat Bold"/>
                <a:cs typeface="Montserrat Bold"/>
                <a:sym typeface="Montserrat Bold"/>
              </a:rPr>
              <a:t>Example</a:t>
            </a:r>
          </a:p>
        </p:txBody>
      </p:sp>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345A724-DBBA-4192-40A8-F990187F24B7}"/>
                  </a:ext>
                </a:extLst>
              </p:cNvPr>
              <p:cNvSpPr txBox="1"/>
              <p:nvPr/>
            </p:nvSpPr>
            <p:spPr>
              <a:xfrm>
                <a:off x="10841451" y="5940742"/>
                <a:ext cx="6117402" cy="3146502"/>
              </a:xfrm>
              <a:prstGeom prst="rect">
                <a:avLst/>
              </a:prstGeom>
            </p:spPr>
            <p:txBody>
              <a:bodyPr lIns="0" tIns="0" rIns="0" bIns="0" rtlCol="0" anchor="t">
                <a:spAutoFit/>
              </a:bodyPr>
              <a:lstStyle/>
              <a:p>
                <a:pPr algn="just">
                  <a:lnSpc>
                    <a:spcPts val="3080"/>
                  </a:lnSpc>
                </a:pPr>
                <a:r>
                  <a:rPr lang="en-US" sz="2400" dirty="0">
                    <a:solidFill>
                      <a:srgbClr val="777879"/>
                    </a:solidFill>
                    <a:latin typeface="Lato"/>
                    <a:ea typeface="Lato"/>
                    <a:cs typeface="Lato"/>
                    <a:sym typeface="Lato"/>
                  </a:rPr>
                  <a:t>Example:</a:t>
                </a:r>
              </a:p>
              <a:p>
                <a:pPr algn="just">
                  <a:lnSpc>
                    <a:spcPts val="3080"/>
                  </a:lnSpc>
                </a:pPr>
                <a:r>
                  <a:rPr lang="en-US" sz="2400" dirty="0">
                    <a:solidFill>
                      <a:srgbClr val="777879"/>
                    </a:solidFill>
                    <a:latin typeface="Lato"/>
                    <a:ea typeface="Lato"/>
                    <a:cs typeface="Lato"/>
                    <a:sym typeface="Lato"/>
                  </a:rPr>
                  <a:t>A car’s position changes with time.</a:t>
                </a:r>
              </a:p>
              <a:p>
                <a:pPr algn="just">
                  <a:lnSpc>
                    <a:spcPts val="3080"/>
                  </a:lnSpc>
                </a:pPr>
                <a:r>
                  <a:rPr lang="en-US" sz="2400" dirty="0">
                    <a:solidFill>
                      <a:srgbClr val="777879"/>
                    </a:solidFill>
                  </a:rPr>
                  <a:t>x(t)=</a:t>
                </a:r>
                <a14:m>
                  <m:oMath xmlns:m="http://schemas.openxmlformats.org/officeDocument/2006/math">
                    <m:r>
                      <a:rPr lang="en-US" sz="2400" b="0" i="1" smtClean="0">
                        <a:solidFill>
                          <a:srgbClr val="777879"/>
                        </a:solidFill>
                        <a:latin typeface="Cambria Math" panose="02040503050406030204" pitchFamily="18" charset="0"/>
                      </a:rPr>
                      <m:t>4</m:t>
                    </m:r>
                    <m:sSup>
                      <m:sSupPr>
                        <m:ctrlPr>
                          <a:rPr lang="en-US" sz="2400" b="0" i="1" smtClean="0">
                            <a:solidFill>
                              <a:srgbClr val="777879"/>
                            </a:solidFill>
                            <a:latin typeface="Cambria Math" panose="02040503050406030204" pitchFamily="18" charset="0"/>
                          </a:rPr>
                        </m:ctrlPr>
                      </m:sSupPr>
                      <m:e>
                        <m:r>
                          <a:rPr lang="en-US" sz="2400" b="0" i="1" smtClean="0">
                            <a:solidFill>
                              <a:srgbClr val="777879"/>
                            </a:solidFill>
                            <a:latin typeface="Cambria Math" panose="02040503050406030204" pitchFamily="18" charset="0"/>
                          </a:rPr>
                          <m:t>𝑡</m:t>
                        </m:r>
                      </m:e>
                      <m:sup>
                        <m:r>
                          <a:rPr lang="en-US" sz="2400" b="0" i="1" smtClean="0">
                            <a:solidFill>
                              <a:srgbClr val="777879"/>
                            </a:solidFill>
                            <a:latin typeface="Cambria Math" panose="02040503050406030204" pitchFamily="18" charset="0"/>
                          </a:rPr>
                          <m:t>2</m:t>
                        </m:r>
                      </m:sup>
                    </m:sSup>
                  </m:oMath>
                </a14:m>
                <a:endParaRPr lang="en-US" sz="2400" b="0" dirty="0">
                  <a:solidFill>
                    <a:srgbClr val="777879"/>
                  </a:solidFill>
                </a:endParaRPr>
              </a:p>
              <a:p>
                <a:pPr algn="just">
                  <a:lnSpc>
                    <a:spcPts val="3080"/>
                  </a:lnSpc>
                </a:pPr>
                <a:r>
                  <a:rPr lang="en-US" sz="2400" b="0" dirty="0">
                    <a:solidFill>
                      <a:srgbClr val="777879"/>
                    </a:solidFill>
                  </a:rPr>
                  <a:t>Velocity is the rate of change of distance:</a:t>
                </a:r>
              </a:p>
              <a:p>
                <a:pPr algn="just">
                  <a:lnSpc>
                    <a:spcPts val="3080"/>
                  </a:lnSpc>
                </a:pPr>
                <a:r>
                  <a:rPr lang="en-US" sz="2400" dirty="0">
                    <a:solidFill>
                      <a:srgbClr val="777879"/>
                    </a:solidFill>
                  </a:rPr>
                  <a:t>v(t)=8t</a:t>
                </a:r>
              </a:p>
              <a:p>
                <a:pPr algn="just">
                  <a:lnSpc>
                    <a:spcPts val="3080"/>
                  </a:lnSpc>
                </a:pPr>
                <a:r>
                  <a:rPr lang="en-US" sz="2400" dirty="0">
                    <a:solidFill>
                      <a:srgbClr val="777879"/>
                    </a:solidFill>
                    <a:latin typeface="Lato"/>
                    <a:ea typeface="Lato"/>
                    <a:cs typeface="Lato"/>
                    <a:sym typeface="Lato"/>
                  </a:rPr>
                  <a:t>After t=2s</a:t>
                </a:r>
              </a:p>
              <a:p>
                <a:pPr algn="just">
                  <a:lnSpc>
                    <a:spcPts val="3080"/>
                  </a:lnSpc>
                </a:pPr>
                <a:r>
                  <a:rPr lang="en-US" sz="2400" dirty="0">
                    <a:solidFill>
                      <a:srgbClr val="777879"/>
                    </a:solidFill>
                    <a:latin typeface="Lato"/>
                    <a:ea typeface="Lato"/>
                    <a:cs typeface="Lato"/>
                    <a:sym typeface="Lato"/>
                  </a:rPr>
                  <a:t>v=8(2)=16 m/s</a:t>
                </a:r>
              </a:p>
              <a:p>
                <a:pPr algn="just">
                  <a:lnSpc>
                    <a:spcPts val="3080"/>
                  </a:lnSpc>
                </a:pPr>
                <a:endParaRPr lang="en-US" sz="2400" dirty="0">
                  <a:solidFill>
                    <a:srgbClr val="777879"/>
                  </a:solidFill>
                  <a:latin typeface="Lato"/>
                  <a:ea typeface="Lato"/>
                  <a:cs typeface="Lato"/>
                  <a:sym typeface="Lato"/>
                </a:endParaRPr>
              </a:p>
            </p:txBody>
          </p:sp>
        </mc:Choice>
        <mc:Fallback xmlns="">
          <p:sp>
            <p:nvSpPr>
              <p:cNvPr id="22" name="TextBox 11">
                <a:extLst>
                  <a:ext uri="{FF2B5EF4-FFF2-40B4-BE49-F238E27FC236}">
                    <a16:creationId xmlns:a16="http://schemas.microsoft.com/office/drawing/2014/main" id="{A345A724-DBBA-4192-40A8-F990187F24B7}"/>
                  </a:ext>
                </a:extLst>
              </p:cNvPr>
              <p:cNvSpPr txBox="1">
                <a:spLocks noRot="1" noChangeAspect="1" noMove="1" noResize="1" noEditPoints="1" noAdjustHandles="1" noChangeArrowheads="1" noChangeShapeType="1" noTextEdit="1"/>
              </p:cNvSpPr>
              <p:nvPr/>
            </p:nvSpPr>
            <p:spPr>
              <a:xfrm>
                <a:off x="10841451" y="5940742"/>
                <a:ext cx="6117402" cy="3146502"/>
              </a:xfrm>
              <a:prstGeom prst="rect">
                <a:avLst/>
              </a:prstGeom>
              <a:blipFill>
                <a:blip r:embed="rId3"/>
                <a:stretch>
                  <a:fillRect l="-2988" t="-3295"/>
                </a:stretch>
              </a:blipFill>
            </p:spPr>
            <p:txBody>
              <a:bodyPr/>
              <a:lstStyle/>
              <a:p>
                <a:r>
                  <a:rPr lang="en-US">
                    <a:noFill/>
                  </a:rPr>
                  <a:t> </a:t>
                </a:r>
              </a:p>
            </p:txBody>
          </p:sp>
        </mc:Fallback>
      </mc:AlternateContent>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EF061-8F5A-1171-F7F1-C339A28C59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E6B6D0-F01F-C3D2-BC0A-A68512206E87}"/>
              </a:ext>
            </a:extLst>
          </p:cNvPr>
          <p:cNvGrpSpPr/>
          <p:nvPr/>
        </p:nvGrpSpPr>
        <p:grpSpPr>
          <a:xfrm rot="-5400000">
            <a:off x="3545123" y="-2626935"/>
            <a:ext cx="889629" cy="8631725"/>
            <a:chOff x="0" y="0"/>
            <a:chExt cx="234306" cy="1338006"/>
          </a:xfrm>
        </p:grpSpPr>
        <p:sp>
          <p:nvSpPr>
            <p:cNvPr id="3" name="Freeform 3">
              <a:extLst>
                <a:ext uri="{FF2B5EF4-FFF2-40B4-BE49-F238E27FC236}">
                  <a16:creationId xmlns:a16="http://schemas.microsoft.com/office/drawing/2014/main" id="{451363E4-F920-3723-0573-03FB6CC090E5}"/>
                </a:ext>
              </a:extLst>
            </p:cNvPr>
            <p:cNvSpPr/>
            <p:nvPr/>
          </p:nvSpPr>
          <p:spPr>
            <a:xfrm>
              <a:off x="0" y="0"/>
              <a:ext cx="234306" cy="1338006"/>
            </a:xfrm>
            <a:custGeom>
              <a:avLst/>
              <a:gdLst/>
              <a:ahLst/>
              <a:cxnLst/>
              <a:rect l="l" t="t" r="r" b="b"/>
              <a:pathLst>
                <a:path w="234306" h="1338006">
                  <a:moveTo>
                    <a:pt x="117153" y="0"/>
                  </a:moveTo>
                  <a:lnTo>
                    <a:pt x="117153" y="0"/>
                  </a:lnTo>
                  <a:cubicBezTo>
                    <a:pt x="181855" y="0"/>
                    <a:pt x="234306" y="52451"/>
                    <a:pt x="234306" y="117153"/>
                  </a:cubicBezTo>
                  <a:lnTo>
                    <a:pt x="234306" y="1220853"/>
                  </a:lnTo>
                  <a:cubicBezTo>
                    <a:pt x="234306" y="1285555"/>
                    <a:pt x="181855" y="1338006"/>
                    <a:pt x="117153" y="1338006"/>
                  </a:cubicBezTo>
                  <a:lnTo>
                    <a:pt x="117153" y="1338006"/>
                  </a:lnTo>
                  <a:cubicBezTo>
                    <a:pt x="52451" y="1338006"/>
                    <a:pt x="0" y="1285555"/>
                    <a:pt x="0" y="1220853"/>
                  </a:cubicBezTo>
                  <a:lnTo>
                    <a:pt x="0" y="117153"/>
                  </a:lnTo>
                  <a:cubicBezTo>
                    <a:pt x="0" y="52451"/>
                    <a:pt x="52451" y="0"/>
                    <a:pt x="117153" y="0"/>
                  </a:cubicBezTo>
                  <a:close/>
                </a:path>
              </a:pathLst>
            </a:custGeom>
            <a:solidFill>
              <a:srgbClr val="1B294A"/>
            </a:solidFill>
          </p:spPr>
        </p:sp>
        <p:sp>
          <p:nvSpPr>
            <p:cNvPr id="4" name="TextBox 4">
              <a:extLst>
                <a:ext uri="{FF2B5EF4-FFF2-40B4-BE49-F238E27FC236}">
                  <a16:creationId xmlns:a16="http://schemas.microsoft.com/office/drawing/2014/main" id="{142C8B58-A672-C95E-CF22-B3FCE297E09E}"/>
                </a:ext>
              </a:extLst>
            </p:cNvPr>
            <p:cNvSpPr txBox="1"/>
            <p:nvPr/>
          </p:nvSpPr>
          <p:spPr>
            <a:xfrm>
              <a:off x="0" y="-38100"/>
              <a:ext cx="234306" cy="1376106"/>
            </a:xfrm>
            <a:prstGeom prst="rect">
              <a:avLst/>
            </a:prstGeom>
          </p:spPr>
          <p:txBody>
            <a:bodyPr lIns="50800" tIns="50800" rIns="50800" bIns="50800" rtlCol="0" anchor="ctr"/>
            <a:lstStyle/>
            <a:p>
              <a:pPr algn="l">
                <a:lnSpc>
                  <a:spcPts val="3080"/>
                </a:lnSpc>
              </a:pPr>
              <a:endParaRPr/>
            </a:p>
          </p:txBody>
        </p:sp>
      </p:grpSp>
      <p:sp>
        <p:nvSpPr>
          <p:cNvPr id="5" name="Freeform 5">
            <a:extLst>
              <a:ext uri="{FF2B5EF4-FFF2-40B4-BE49-F238E27FC236}">
                <a16:creationId xmlns:a16="http://schemas.microsoft.com/office/drawing/2014/main" id="{BDAA3D12-768D-3A46-4D03-C9286AF203E6}"/>
              </a:ext>
            </a:extLst>
          </p:cNvPr>
          <p:cNvSpPr/>
          <p:nvPr/>
        </p:nvSpPr>
        <p:spPr>
          <a:xfrm>
            <a:off x="1026867" y="2952894"/>
            <a:ext cx="8246293" cy="5761786"/>
          </a:xfrm>
          <a:custGeom>
            <a:avLst/>
            <a:gdLst/>
            <a:ahLst/>
            <a:cxnLst/>
            <a:rect l="l" t="t" r="r" b="b"/>
            <a:pathLst>
              <a:path w="8246293" h="5761786">
                <a:moveTo>
                  <a:pt x="0" y="0"/>
                </a:moveTo>
                <a:lnTo>
                  <a:pt x="8246293" y="0"/>
                </a:lnTo>
                <a:lnTo>
                  <a:pt x="8246293" y="5761786"/>
                </a:lnTo>
                <a:lnTo>
                  <a:pt x="0" y="5761786"/>
                </a:lnTo>
                <a:lnTo>
                  <a:pt x="0" y="0"/>
                </a:lnTo>
                <a:close/>
              </a:path>
            </a:pathLst>
          </a:custGeom>
          <a:blipFill>
            <a:blip r:embed="rId2">
              <a:alphaModFix amt="47000"/>
            </a:blip>
            <a:stretch>
              <a:fillRect t="-42830"/>
            </a:stretch>
          </a:blipFill>
        </p:spPr>
        <p:txBody>
          <a:bodyPr/>
          <a:lstStyle/>
          <a:p>
            <a:endParaRPr lang="en-US"/>
          </a:p>
        </p:txBody>
      </p:sp>
      <p:grpSp>
        <p:nvGrpSpPr>
          <p:cNvPr id="6" name="Group 6">
            <a:extLst>
              <a:ext uri="{FF2B5EF4-FFF2-40B4-BE49-F238E27FC236}">
                <a16:creationId xmlns:a16="http://schemas.microsoft.com/office/drawing/2014/main" id="{5A7F9C53-C545-77B2-67E0-26FCB1547B6C}"/>
              </a:ext>
            </a:extLst>
          </p:cNvPr>
          <p:cNvGrpSpPr/>
          <p:nvPr/>
        </p:nvGrpSpPr>
        <p:grpSpPr>
          <a:xfrm>
            <a:off x="1210561" y="2781593"/>
            <a:ext cx="8062600" cy="5634793"/>
            <a:chOff x="0" y="-47625"/>
            <a:chExt cx="2123483" cy="1484061"/>
          </a:xfrm>
        </p:grpSpPr>
        <p:sp>
          <p:nvSpPr>
            <p:cNvPr id="7" name="Freeform 7">
              <a:extLst>
                <a:ext uri="{FF2B5EF4-FFF2-40B4-BE49-F238E27FC236}">
                  <a16:creationId xmlns:a16="http://schemas.microsoft.com/office/drawing/2014/main" id="{1A931D76-3220-F920-8161-4E78BAF73623}"/>
                </a:ext>
              </a:extLst>
            </p:cNvPr>
            <p:cNvSpPr/>
            <p:nvPr/>
          </p:nvSpPr>
          <p:spPr>
            <a:xfrm>
              <a:off x="0" y="0"/>
              <a:ext cx="2123483" cy="1436436"/>
            </a:xfrm>
            <a:custGeom>
              <a:avLst/>
              <a:gdLst/>
              <a:ahLst/>
              <a:cxnLst/>
              <a:rect l="l" t="t" r="r" b="b"/>
              <a:pathLst>
                <a:path w="2123483" h="1436436">
                  <a:moveTo>
                    <a:pt x="0" y="0"/>
                  </a:moveTo>
                  <a:lnTo>
                    <a:pt x="2123483" y="0"/>
                  </a:lnTo>
                  <a:lnTo>
                    <a:pt x="2123483" y="1436436"/>
                  </a:lnTo>
                  <a:lnTo>
                    <a:pt x="0" y="1436436"/>
                  </a:lnTo>
                  <a:close/>
                </a:path>
              </a:pathLst>
            </a:custGeom>
            <a:solidFill>
              <a:srgbClr val="FFFFFF"/>
            </a:solidFill>
          </p:spPr>
        </p:sp>
        <p:sp>
          <p:nvSpPr>
            <p:cNvPr id="8" name="TextBox 8">
              <a:extLst>
                <a:ext uri="{FF2B5EF4-FFF2-40B4-BE49-F238E27FC236}">
                  <a16:creationId xmlns:a16="http://schemas.microsoft.com/office/drawing/2014/main" id="{58693473-577C-D1E5-0297-C83DD40C5D42}"/>
                </a:ext>
              </a:extLst>
            </p:cNvPr>
            <p:cNvSpPr txBox="1"/>
            <p:nvPr/>
          </p:nvSpPr>
          <p:spPr>
            <a:xfrm>
              <a:off x="0" y="-47625"/>
              <a:ext cx="2123483" cy="1484061"/>
            </a:xfrm>
            <a:prstGeom prst="rect">
              <a:avLst/>
            </a:prstGeom>
          </p:spPr>
          <p:txBody>
            <a:bodyPr lIns="50800" tIns="50800" rIns="50800" bIns="50800" rtlCol="0" anchor="ctr"/>
            <a:lstStyle/>
            <a:p>
              <a:pPr algn="ctr">
                <a:lnSpc>
                  <a:spcPts val="3080"/>
                </a:lnSpc>
              </a:pPr>
              <a:endParaRPr/>
            </a:p>
          </p:txBody>
        </p:sp>
      </p:grpSp>
      <p:grpSp>
        <p:nvGrpSpPr>
          <p:cNvPr id="9" name="Group 9">
            <a:extLst>
              <a:ext uri="{FF2B5EF4-FFF2-40B4-BE49-F238E27FC236}">
                <a16:creationId xmlns:a16="http://schemas.microsoft.com/office/drawing/2014/main" id="{A5E3492F-FA26-F849-BEFB-609395DD42F1}"/>
              </a:ext>
            </a:extLst>
          </p:cNvPr>
          <p:cNvGrpSpPr/>
          <p:nvPr/>
        </p:nvGrpSpPr>
        <p:grpSpPr>
          <a:xfrm rot="-5400000">
            <a:off x="10657770" y="3245045"/>
            <a:ext cx="10875274" cy="4385185"/>
            <a:chOff x="0" y="0"/>
            <a:chExt cx="2864270" cy="1154946"/>
          </a:xfrm>
        </p:grpSpPr>
        <p:sp>
          <p:nvSpPr>
            <p:cNvPr id="10" name="Freeform 10">
              <a:extLst>
                <a:ext uri="{FF2B5EF4-FFF2-40B4-BE49-F238E27FC236}">
                  <a16:creationId xmlns:a16="http://schemas.microsoft.com/office/drawing/2014/main" id="{67C3CD40-C2C5-7F94-6F0C-300B61E6BABD}"/>
                </a:ext>
              </a:extLst>
            </p:cNvPr>
            <p:cNvSpPr/>
            <p:nvPr/>
          </p:nvSpPr>
          <p:spPr>
            <a:xfrm>
              <a:off x="0" y="0"/>
              <a:ext cx="2864270" cy="1154946"/>
            </a:xfrm>
            <a:custGeom>
              <a:avLst/>
              <a:gdLst/>
              <a:ahLst/>
              <a:cxnLst/>
              <a:rect l="l" t="t" r="r" b="b"/>
              <a:pathLst>
                <a:path w="2864270" h="1154946">
                  <a:moveTo>
                    <a:pt x="0" y="0"/>
                  </a:moveTo>
                  <a:lnTo>
                    <a:pt x="2864270" y="0"/>
                  </a:lnTo>
                  <a:lnTo>
                    <a:pt x="2864270" y="1154946"/>
                  </a:lnTo>
                  <a:lnTo>
                    <a:pt x="0" y="1154946"/>
                  </a:lnTo>
                  <a:close/>
                </a:path>
              </a:pathLst>
            </a:custGeom>
            <a:solidFill>
              <a:srgbClr val="1B294A"/>
            </a:solidFill>
          </p:spPr>
        </p:sp>
        <p:sp>
          <p:nvSpPr>
            <p:cNvPr id="11" name="TextBox 11">
              <a:extLst>
                <a:ext uri="{FF2B5EF4-FFF2-40B4-BE49-F238E27FC236}">
                  <a16:creationId xmlns:a16="http://schemas.microsoft.com/office/drawing/2014/main" id="{95F717DA-F2C3-5F34-8AA0-69647C8C0A54}"/>
                </a:ext>
              </a:extLst>
            </p:cNvPr>
            <p:cNvSpPr txBox="1"/>
            <p:nvPr/>
          </p:nvSpPr>
          <p:spPr>
            <a:xfrm>
              <a:off x="0" y="-38100"/>
              <a:ext cx="2864270" cy="1193046"/>
            </a:xfrm>
            <a:prstGeom prst="rect">
              <a:avLst/>
            </a:prstGeom>
          </p:spPr>
          <p:txBody>
            <a:bodyPr lIns="50800" tIns="50800" rIns="50800" bIns="50800" rtlCol="0" anchor="ctr"/>
            <a:lstStyle/>
            <a:p>
              <a:pPr algn="l">
                <a:lnSpc>
                  <a:spcPts val="3080"/>
                </a:lnSpc>
              </a:pPr>
              <a:endParaRPr/>
            </a:p>
          </p:txBody>
        </p:sp>
      </p:grpSp>
      <p:grpSp>
        <p:nvGrpSpPr>
          <p:cNvPr id="12" name="Group 12">
            <a:extLst>
              <a:ext uri="{FF2B5EF4-FFF2-40B4-BE49-F238E27FC236}">
                <a16:creationId xmlns:a16="http://schemas.microsoft.com/office/drawing/2014/main" id="{36381C8D-6432-73B3-88A7-A5DFFC1578B4}"/>
              </a:ext>
            </a:extLst>
          </p:cNvPr>
          <p:cNvGrpSpPr/>
          <p:nvPr/>
        </p:nvGrpSpPr>
        <p:grpSpPr>
          <a:xfrm>
            <a:off x="11353622" y="2064995"/>
            <a:ext cx="6934378" cy="5923682"/>
            <a:chOff x="0" y="0"/>
            <a:chExt cx="535945" cy="457830"/>
          </a:xfrm>
        </p:grpSpPr>
        <p:sp>
          <p:nvSpPr>
            <p:cNvPr id="13" name="Freeform 13">
              <a:extLst>
                <a:ext uri="{FF2B5EF4-FFF2-40B4-BE49-F238E27FC236}">
                  <a16:creationId xmlns:a16="http://schemas.microsoft.com/office/drawing/2014/main" id="{C7BFD5BD-226E-EBAD-AA5F-867A5CFB6F5D}"/>
                </a:ext>
              </a:extLst>
            </p:cNvPr>
            <p:cNvSpPr/>
            <p:nvPr/>
          </p:nvSpPr>
          <p:spPr>
            <a:xfrm>
              <a:off x="0" y="0"/>
              <a:ext cx="535945" cy="457830"/>
            </a:xfrm>
            <a:custGeom>
              <a:avLst/>
              <a:gdLst/>
              <a:ahLst/>
              <a:cxnLst/>
              <a:rect l="l" t="t" r="r" b="b"/>
              <a:pathLst>
                <a:path w="535945" h="457830">
                  <a:moveTo>
                    <a:pt x="25678" y="0"/>
                  </a:moveTo>
                  <a:lnTo>
                    <a:pt x="510266" y="0"/>
                  </a:lnTo>
                  <a:cubicBezTo>
                    <a:pt x="524448" y="0"/>
                    <a:pt x="535945" y="11497"/>
                    <a:pt x="535945" y="25678"/>
                  </a:cubicBezTo>
                  <a:lnTo>
                    <a:pt x="535945" y="432151"/>
                  </a:lnTo>
                  <a:cubicBezTo>
                    <a:pt x="535945" y="446333"/>
                    <a:pt x="524448" y="457830"/>
                    <a:pt x="510266" y="457830"/>
                  </a:cubicBezTo>
                  <a:lnTo>
                    <a:pt x="25678" y="457830"/>
                  </a:lnTo>
                  <a:cubicBezTo>
                    <a:pt x="11497" y="457830"/>
                    <a:pt x="0" y="446333"/>
                    <a:pt x="0" y="432151"/>
                  </a:cubicBezTo>
                  <a:lnTo>
                    <a:pt x="0" y="25678"/>
                  </a:lnTo>
                  <a:cubicBezTo>
                    <a:pt x="0" y="11497"/>
                    <a:pt x="11497" y="0"/>
                    <a:pt x="25678" y="0"/>
                  </a:cubicBezTo>
                  <a:close/>
                </a:path>
              </a:pathLst>
            </a:custGeom>
            <a:blipFill>
              <a:blip r:embed="rId3"/>
              <a:stretch>
                <a:fillRect l="-13988" r="-13988"/>
              </a:stretch>
            </a:blipFill>
          </p:spPr>
        </p:sp>
      </p:grpSp>
      <p:sp>
        <p:nvSpPr>
          <p:cNvPr id="14" name="Freeform 14">
            <a:extLst>
              <a:ext uri="{FF2B5EF4-FFF2-40B4-BE49-F238E27FC236}">
                <a16:creationId xmlns:a16="http://schemas.microsoft.com/office/drawing/2014/main" id="{CF9F235F-940E-9DA3-FA96-D066FA0C5BC6}"/>
              </a:ext>
            </a:extLst>
          </p:cNvPr>
          <p:cNvSpPr/>
          <p:nvPr/>
        </p:nvSpPr>
        <p:spPr>
          <a:xfrm>
            <a:off x="12151561" y="898916"/>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BDD6BCDD-5F8C-7854-7E3A-1884ADF0CC96}"/>
              </a:ext>
            </a:extLst>
          </p:cNvPr>
          <p:cNvSpPr txBox="1"/>
          <p:nvPr/>
        </p:nvSpPr>
        <p:spPr>
          <a:xfrm>
            <a:off x="1028700" y="1359248"/>
            <a:ext cx="6210300"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Calculus In Technology</a:t>
            </a:r>
          </a:p>
        </p:txBody>
      </p:sp>
      <p:sp>
        <p:nvSpPr>
          <p:cNvPr id="16" name="TextBox 16">
            <a:extLst>
              <a:ext uri="{FF2B5EF4-FFF2-40B4-BE49-F238E27FC236}">
                <a16:creationId xmlns:a16="http://schemas.microsoft.com/office/drawing/2014/main" id="{A0452B02-4E12-08F2-A0D1-1AC6E5DC2325}"/>
              </a:ext>
            </a:extLst>
          </p:cNvPr>
          <p:cNvSpPr txBox="1"/>
          <p:nvPr/>
        </p:nvSpPr>
        <p:spPr>
          <a:xfrm>
            <a:off x="1371600" y="3028798"/>
            <a:ext cx="7315200" cy="3381631"/>
          </a:xfrm>
          <a:prstGeom prst="rect">
            <a:avLst/>
          </a:prstGeom>
        </p:spPr>
        <p:txBody>
          <a:bodyPr wrap="square" lIns="0" tIns="0" rIns="0" bIns="0" rtlCol="0" anchor="t">
            <a:spAutoFit/>
          </a:bodyPr>
          <a:lstStyle/>
          <a:p>
            <a:pPr marL="345440" lvl="1">
              <a:lnSpc>
                <a:spcPts val="4479"/>
              </a:lnSpc>
            </a:pPr>
            <a:r>
              <a:rPr lang="en-US" sz="2400" dirty="0">
                <a:latin typeface="Bahnschrift Light" panose="020B0502040204020203" pitchFamily="34" charset="0"/>
              </a:rPr>
              <a:t>Modern technology relies heavily on calculus for optimization and prediction. Signal processing, image enhancement, and system control all use derivatives and integrals. Calculus ensures efficient use of resources in engineering and computing systems.</a:t>
            </a:r>
          </a:p>
        </p:txBody>
      </p:sp>
      <p:sp>
        <p:nvSpPr>
          <p:cNvPr id="23" name="Freeform 23">
            <a:extLst>
              <a:ext uri="{FF2B5EF4-FFF2-40B4-BE49-F238E27FC236}">
                <a16:creationId xmlns:a16="http://schemas.microsoft.com/office/drawing/2014/main" id="{C70A59D4-C85C-16C8-CD47-12A8A89B156B}"/>
              </a:ext>
            </a:extLst>
          </p:cNvPr>
          <p:cNvSpPr/>
          <p:nvPr/>
        </p:nvSpPr>
        <p:spPr>
          <a:xfrm>
            <a:off x="691424" y="9378693"/>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721164766"/>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6C21C-6DA8-958E-1D5D-2E71E0473B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143E2A6-FE5B-7D7E-0765-3BEFC29A43CB}"/>
              </a:ext>
            </a:extLst>
          </p:cNvPr>
          <p:cNvGrpSpPr/>
          <p:nvPr/>
        </p:nvGrpSpPr>
        <p:grpSpPr>
          <a:xfrm rot="-5400000">
            <a:off x="3545123" y="-2626935"/>
            <a:ext cx="889629" cy="8631725"/>
            <a:chOff x="0" y="0"/>
            <a:chExt cx="234306" cy="1338006"/>
          </a:xfrm>
        </p:grpSpPr>
        <p:sp>
          <p:nvSpPr>
            <p:cNvPr id="3" name="Freeform 3">
              <a:extLst>
                <a:ext uri="{FF2B5EF4-FFF2-40B4-BE49-F238E27FC236}">
                  <a16:creationId xmlns:a16="http://schemas.microsoft.com/office/drawing/2014/main" id="{79753535-48FB-BE4C-332C-D948CD8BB56F}"/>
                </a:ext>
              </a:extLst>
            </p:cNvPr>
            <p:cNvSpPr/>
            <p:nvPr/>
          </p:nvSpPr>
          <p:spPr>
            <a:xfrm>
              <a:off x="0" y="0"/>
              <a:ext cx="234306" cy="1338006"/>
            </a:xfrm>
            <a:custGeom>
              <a:avLst/>
              <a:gdLst/>
              <a:ahLst/>
              <a:cxnLst/>
              <a:rect l="l" t="t" r="r" b="b"/>
              <a:pathLst>
                <a:path w="234306" h="1338006">
                  <a:moveTo>
                    <a:pt x="117153" y="0"/>
                  </a:moveTo>
                  <a:lnTo>
                    <a:pt x="117153" y="0"/>
                  </a:lnTo>
                  <a:cubicBezTo>
                    <a:pt x="181855" y="0"/>
                    <a:pt x="234306" y="52451"/>
                    <a:pt x="234306" y="117153"/>
                  </a:cubicBezTo>
                  <a:lnTo>
                    <a:pt x="234306" y="1220853"/>
                  </a:lnTo>
                  <a:cubicBezTo>
                    <a:pt x="234306" y="1285555"/>
                    <a:pt x="181855" y="1338006"/>
                    <a:pt x="117153" y="1338006"/>
                  </a:cubicBezTo>
                  <a:lnTo>
                    <a:pt x="117153" y="1338006"/>
                  </a:lnTo>
                  <a:cubicBezTo>
                    <a:pt x="52451" y="1338006"/>
                    <a:pt x="0" y="1285555"/>
                    <a:pt x="0" y="1220853"/>
                  </a:cubicBezTo>
                  <a:lnTo>
                    <a:pt x="0" y="117153"/>
                  </a:lnTo>
                  <a:cubicBezTo>
                    <a:pt x="0" y="52451"/>
                    <a:pt x="52451" y="0"/>
                    <a:pt x="117153" y="0"/>
                  </a:cubicBezTo>
                  <a:close/>
                </a:path>
              </a:pathLst>
            </a:custGeom>
            <a:solidFill>
              <a:srgbClr val="1B294A"/>
            </a:solidFill>
          </p:spPr>
        </p:sp>
        <p:sp>
          <p:nvSpPr>
            <p:cNvPr id="4" name="TextBox 4">
              <a:extLst>
                <a:ext uri="{FF2B5EF4-FFF2-40B4-BE49-F238E27FC236}">
                  <a16:creationId xmlns:a16="http://schemas.microsoft.com/office/drawing/2014/main" id="{279C8296-2D4D-2F5A-B0EF-07A9FD9675EB}"/>
                </a:ext>
              </a:extLst>
            </p:cNvPr>
            <p:cNvSpPr txBox="1"/>
            <p:nvPr/>
          </p:nvSpPr>
          <p:spPr>
            <a:xfrm>
              <a:off x="0" y="-38100"/>
              <a:ext cx="234306" cy="1376106"/>
            </a:xfrm>
            <a:prstGeom prst="rect">
              <a:avLst/>
            </a:prstGeom>
          </p:spPr>
          <p:txBody>
            <a:bodyPr lIns="50800" tIns="50800" rIns="50800" bIns="50800" rtlCol="0" anchor="ctr"/>
            <a:lstStyle/>
            <a:p>
              <a:pPr algn="l">
                <a:lnSpc>
                  <a:spcPts val="3080"/>
                </a:lnSpc>
              </a:pPr>
              <a:endParaRPr/>
            </a:p>
          </p:txBody>
        </p:sp>
      </p:grpSp>
      <p:sp>
        <p:nvSpPr>
          <p:cNvPr id="5" name="Freeform 5">
            <a:extLst>
              <a:ext uri="{FF2B5EF4-FFF2-40B4-BE49-F238E27FC236}">
                <a16:creationId xmlns:a16="http://schemas.microsoft.com/office/drawing/2014/main" id="{1F9328F1-29DC-B9A1-098F-431AFEB07B51}"/>
              </a:ext>
            </a:extLst>
          </p:cNvPr>
          <p:cNvSpPr/>
          <p:nvPr/>
        </p:nvSpPr>
        <p:spPr>
          <a:xfrm>
            <a:off x="1026867" y="2952894"/>
            <a:ext cx="8246293" cy="5761786"/>
          </a:xfrm>
          <a:custGeom>
            <a:avLst/>
            <a:gdLst/>
            <a:ahLst/>
            <a:cxnLst/>
            <a:rect l="l" t="t" r="r" b="b"/>
            <a:pathLst>
              <a:path w="8246293" h="5761786">
                <a:moveTo>
                  <a:pt x="0" y="0"/>
                </a:moveTo>
                <a:lnTo>
                  <a:pt x="8246293" y="0"/>
                </a:lnTo>
                <a:lnTo>
                  <a:pt x="8246293" y="5761786"/>
                </a:lnTo>
                <a:lnTo>
                  <a:pt x="0" y="5761786"/>
                </a:lnTo>
                <a:lnTo>
                  <a:pt x="0" y="0"/>
                </a:lnTo>
                <a:close/>
              </a:path>
            </a:pathLst>
          </a:custGeom>
          <a:blipFill>
            <a:blip r:embed="rId2">
              <a:alphaModFix amt="47000"/>
            </a:blip>
            <a:stretch>
              <a:fillRect t="-42830"/>
            </a:stretch>
          </a:blipFill>
        </p:spPr>
        <p:txBody>
          <a:bodyPr/>
          <a:lstStyle/>
          <a:p>
            <a:endParaRPr lang="en-US"/>
          </a:p>
        </p:txBody>
      </p:sp>
      <p:grpSp>
        <p:nvGrpSpPr>
          <p:cNvPr id="6" name="Group 6">
            <a:extLst>
              <a:ext uri="{FF2B5EF4-FFF2-40B4-BE49-F238E27FC236}">
                <a16:creationId xmlns:a16="http://schemas.microsoft.com/office/drawing/2014/main" id="{E8652542-CC72-9F13-560F-A5191E3435F4}"/>
              </a:ext>
            </a:extLst>
          </p:cNvPr>
          <p:cNvGrpSpPr/>
          <p:nvPr/>
        </p:nvGrpSpPr>
        <p:grpSpPr>
          <a:xfrm>
            <a:off x="1210561" y="2781593"/>
            <a:ext cx="8062600" cy="5634793"/>
            <a:chOff x="0" y="-47625"/>
            <a:chExt cx="2123483" cy="1484061"/>
          </a:xfrm>
        </p:grpSpPr>
        <p:sp>
          <p:nvSpPr>
            <p:cNvPr id="7" name="Freeform 7">
              <a:extLst>
                <a:ext uri="{FF2B5EF4-FFF2-40B4-BE49-F238E27FC236}">
                  <a16:creationId xmlns:a16="http://schemas.microsoft.com/office/drawing/2014/main" id="{0E171B6C-7433-79DF-9E40-FDBA7148CA99}"/>
                </a:ext>
              </a:extLst>
            </p:cNvPr>
            <p:cNvSpPr/>
            <p:nvPr/>
          </p:nvSpPr>
          <p:spPr>
            <a:xfrm>
              <a:off x="0" y="0"/>
              <a:ext cx="2123483" cy="1436436"/>
            </a:xfrm>
            <a:custGeom>
              <a:avLst/>
              <a:gdLst/>
              <a:ahLst/>
              <a:cxnLst/>
              <a:rect l="l" t="t" r="r" b="b"/>
              <a:pathLst>
                <a:path w="2123483" h="1436436">
                  <a:moveTo>
                    <a:pt x="0" y="0"/>
                  </a:moveTo>
                  <a:lnTo>
                    <a:pt x="2123483" y="0"/>
                  </a:lnTo>
                  <a:lnTo>
                    <a:pt x="2123483" y="1436436"/>
                  </a:lnTo>
                  <a:lnTo>
                    <a:pt x="0" y="1436436"/>
                  </a:lnTo>
                  <a:close/>
                </a:path>
              </a:pathLst>
            </a:custGeom>
            <a:solidFill>
              <a:srgbClr val="FFFFFF"/>
            </a:solidFill>
          </p:spPr>
        </p:sp>
        <p:sp>
          <p:nvSpPr>
            <p:cNvPr id="8" name="TextBox 8">
              <a:extLst>
                <a:ext uri="{FF2B5EF4-FFF2-40B4-BE49-F238E27FC236}">
                  <a16:creationId xmlns:a16="http://schemas.microsoft.com/office/drawing/2014/main" id="{677D15F7-0D00-944E-6C48-6A7A4AF791FB}"/>
                </a:ext>
              </a:extLst>
            </p:cNvPr>
            <p:cNvSpPr txBox="1"/>
            <p:nvPr/>
          </p:nvSpPr>
          <p:spPr>
            <a:xfrm>
              <a:off x="0" y="-47625"/>
              <a:ext cx="2123483" cy="1484061"/>
            </a:xfrm>
            <a:prstGeom prst="rect">
              <a:avLst/>
            </a:prstGeom>
          </p:spPr>
          <p:txBody>
            <a:bodyPr lIns="50800" tIns="50800" rIns="50800" bIns="50800" rtlCol="0" anchor="ctr"/>
            <a:lstStyle/>
            <a:p>
              <a:pPr algn="ctr">
                <a:lnSpc>
                  <a:spcPts val="3080"/>
                </a:lnSpc>
              </a:pPr>
              <a:endParaRPr/>
            </a:p>
          </p:txBody>
        </p:sp>
      </p:grpSp>
      <p:grpSp>
        <p:nvGrpSpPr>
          <p:cNvPr id="9" name="Group 9">
            <a:extLst>
              <a:ext uri="{FF2B5EF4-FFF2-40B4-BE49-F238E27FC236}">
                <a16:creationId xmlns:a16="http://schemas.microsoft.com/office/drawing/2014/main" id="{3C67CCAC-0CE5-8030-725D-B21137C2FAEE}"/>
              </a:ext>
            </a:extLst>
          </p:cNvPr>
          <p:cNvGrpSpPr/>
          <p:nvPr/>
        </p:nvGrpSpPr>
        <p:grpSpPr>
          <a:xfrm rot="-5400000">
            <a:off x="10657770" y="3245045"/>
            <a:ext cx="10875274" cy="4385185"/>
            <a:chOff x="0" y="0"/>
            <a:chExt cx="2864270" cy="1154946"/>
          </a:xfrm>
        </p:grpSpPr>
        <p:sp>
          <p:nvSpPr>
            <p:cNvPr id="10" name="Freeform 10">
              <a:extLst>
                <a:ext uri="{FF2B5EF4-FFF2-40B4-BE49-F238E27FC236}">
                  <a16:creationId xmlns:a16="http://schemas.microsoft.com/office/drawing/2014/main" id="{7894D728-8E09-4848-48EF-D83586C6F792}"/>
                </a:ext>
              </a:extLst>
            </p:cNvPr>
            <p:cNvSpPr/>
            <p:nvPr/>
          </p:nvSpPr>
          <p:spPr>
            <a:xfrm>
              <a:off x="0" y="0"/>
              <a:ext cx="2864270" cy="1154946"/>
            </a:xfrm>
            <a:custGeom>
              <a:avLst/>
              <a:gdLst/>
              <a:ahLst/>
              <a:cxnLst/>
              <a:rect l="l" t="t" r="r" b="b"/>
              <a:pathLst>
                <a:path w="2864270" h="1154946">
                  <a:moveTo>
                    <a:pt x="0" y="0"/>
                  </a:moveTo>
                  <a:lnTo>
                    <a:pt x="2864270" y="0"/>
                  </a:lnTo>
                  <a:lnTo>
                    <a:pt x="2864270" y="1154946"/>
                  </a:lnTo>
                  <a:lnTo>
                    <a:pt x="0" y="1154946"/>
                  </a:lnTo>
                  <a:close/>
                </a:path>
              </a:pathLst>
            </a:custGeom>
            <a:solidFill>
              <a:srgbClr val="1B294A"/>
            </a:solidFill>
          </p:spPr>
        </p:sp>
        <p:sp>
          <p:nvSpPr>
            <p:cNvPr id="11" name="TextBox 11">
              <a:extLst>
                <a:ext uri="{FF2B5EF4-FFF2-40B4-BE49-F238E27FC236}">
                  <a16:creationId xmlns:a16="http://schemas.microsoft.com/office/drawing/2014/main" id="{7F4BFFAA-911E-7E1C-EA15-77F8F993854D}"/>
                </a:ext>
              </a:extLst>
            </p:cNvPr>
            <p:cNvSpPr txBox="1"/>
            <p:nvPr/>
          </p:nvSpPr>
          <p:spPr>
            <a:xfrm>
              <a:off x="0" y="-38100"/>
              <a:ext cx="2864270" cy="1193046"/>
            </a:xfrm>
            <a:prstGeom prst="rect">
              <a:avLst/>
            </a:prstGeom>
          </p:spPr>
          <p:txBody>
            <a:bodyPr lIns="50800" tIns="50800" rIns="50800" bIns="50800" rtlCol="0" anchor="ctr"/>
            <a:lstStyle/>
            <a:p>
              <a:pPr algn="l">
                <a:lnSpc>
                  <a:spcPts val="3080"/>
                </a:lnSpc>
              </a:pPr>
              <a:endParaRPr/>
            </a:p>
          </p:txBody>
        </p:sp>
      </p:grpSp>
      <p:grpSp>
        <p:nvGrpSpPr>
          <p:cNvPr id="12" name="Group 12">
            <a:extLst>
              <a:ext uri="{FF2B5EF4-FFF2-40B4-BE49-F238E27FC236}">
                <a16:creationId xmlns:a16="http://schemas.microsoft.com/office/drawing/2014/main" id="{A5394F16-3550-E2D1-5A43-51A4AC2C7366}"/>
              </a:ext>
            </a:extLst>
          </p:cNvPr>
          <p:cNvGrpSpPr/>
          <p:nvPr/>
        </p:nvGrpSpPr>
        <p:grpSpPr>
          <a:xfrm>
            <a:off x="11353622" y="2064995"/>
            <a:ext cx="6934378" cy="5923682"/>
            <a:chOff x="0" y="0"/>
            <a:chExt cx="535945" cy="457830"/>
          </a:xfrm>
        </p:grpSpPr>
        <p:sp>
          <p:nvSpPr>
            <p:cNvPr id="13" name="Freeform 13">
              <a:extLst>
                <a:ext uri="{FF2B5EF4-FFF2-40B4-BE49-F238E27FC236}">
                  <a16:creationId xmlns:a16="http://schemas.microsoft.com/office/drawing/2014/main" id="{A7E6B37B-84DE-31D2-8091-53C3DD179766}"/>
                </a:ext>
              </a:extLst>
            </p:cNvPr>
            <p:cNvSpPr/>
            <p:nvPr/>
          </p:nvSpPr>
          <p:spPr>
            <a:xfrm>
              <a:off x="0" y="0"/>
              <a:ext cx="535945" cy="457830"/>
            </a:xfrm>
            <a:custGeom>
              <a:avLst/>
              <a:gdLst/>
              <a:ahLst/>
              <a:cxnLst/>
              <a:rect l="l" t="t" r="r" b="b"/>
              <a:pathLst>
                <a:path w="535945" h="457830">
                  <a:moveTo>
                    <a:pt x="25678" y="0"/>
                  </a:moveTo>
                  <a:lnTo>
                    <a:pt x="510266" y="0"/>
                  </a:lnTo>
                  <a:cubicBezTo>
                    <a:pt x="524448" y="0"/>
                    <a:pt x="535945" y="11497"/>
                    <a:pt x="535945" y="25678"/>
                  </a:cubicBezTo>
                  <a:lnTo>
                    <a:pt x="535945" y="432151"/>
                  </a:lnTo>
                  <a:cubicBezTo>
                    <a:pt x="535945" y="446333"/>
                    <a:pt x="524448" y="457830"/>
                    <a:pt x="510266" y="457830"/>
                  </a:cubicBezTo>
                  <a:lnTo>
                    <a:pt x="25678" y="457830"/>
                  </a:lnTo>
                  <a:cubicBezTo>
                    <a:pt x="11497" y="457830"/>
                    <a:pt x="0" y="446333"/>
                    <a:pt x="0" y="432151"/>
                  </a:cubicBezTo>
                  <a:lnTo>
                    <a:pt x="0" y="25678"/>
                  </a:lnTo>
                  <a:cubicBezTo>
                    <a:pt x="0" y="11497"/>
                    <a:pt x="11497" y="0"/>
                    <a:pt x="25678" y="0"/>
                  </a:cubicBezTo>
                  <a:close/>
                </a:path>
              </a:pathLst>
            </a:custGeom>
            <a:blipFill>
              <a:blip r:embed="rId3"/>
              <a:stretch>
                <a:fillRect l="-13988" r="-13988"/>
              </a:stretch>
            </a:blipFill>
          </p:spPr>
        </p:sp>
      </p:grpSp>
      <p:sp>
        <p:nvSpPr>
          <p:cNvPr id="14" name="Freeform 14">
            <a:extLst>
              <a:ext uri="{FF2B5EF4-FFF2-40B4-BE49-F238E27FC236}">
                <a16:creationId xmlns:a16="http://schemas.microsoft.com/office/drawing/2014/main" id="{819E61F2-5FE9-61E8-4AC5-30EA37C7C380}"/>
              </a:ext>
            </a:extLst>
          </p:cNvPr>
          <p:cNvSpPr/>
          <p:nvPr/>
        </p:nvSpPr>
        <p:spPr>
          <a:xfrm>
            <a:off x="12151561" y="898916"/>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F0EDC643-0DB0-13EB-778A-81F575D4E949}"/>
              </a:ext>
            </a:extLst>
          </p:cNvPr>
          <p:cNvSpPr txBox="1"/>
          <p:nvPr/>
        </p:nvSpPr>
        <p:spPr>
          <a:xfrm>
            <a:off x="1028700" y="1359248"/>
            <a:ext cx="6210300"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Calculus In Technology</a:t>
            </a:r>
          </a:p>
        </p:txBody>
      </p:sp>
      <mc:AlternateContent xmlns:mc="http://schemas.openxmlformats.org/markup-compatibility/2006" xmlns:a14="http://schemas.microsoft.com/office/drawing/2010/main">
        <mc:Choice Requires="a14">
          <p:sp>
            <p:nvSpPr>
              <p:cNvPr id="16" name="TextBox 16">
                <a:extLst>
                  <a:ext uri="{FF2B5EF4-FFF2-40B4-BE49-F238E27FC236}">
                    <a16:creationId xmlns:a16="http://schemas.microsoft.com/office/drawing/2014/main" id="{8B9E2642-ABBD-3C63-6AEC-A0F747C2EBB9}"/>
                  </a:ext>
                </a:extLst>
              </p:cNvPr>
              <p:cNvSpPr txBox="1"/>
              <p:nvPr/>
            </p:nvSpPr>
            <p:spPr>
              <a:xfrm>
                <a:off x="1371600" y="3028798"/>
                <a:ext cx="7315200" cy="5112875"/>
              </a:xfrm>
              <a:prstGeom prst="rect">
                <a:avLst/>
              </a:prstGeom>
            </p:spPr>
            <p:txBody>
              <a:bodyPr wrap="square" lIns="0" tIns="0" rIns="0" bIns="0" rtlCol="0" anchor="t">
                <a:spAutoFit/>
              </a:bodyPr>
              <a:lstStyle/>
              <a:p>
                <a:pPr marL="345440" lvl="1">
                  <a:lnSpc>
                    <a:spcPts val="4479"/>
                  </a:lnSpc>
                </a:pPr>
                <a:r>
                  <a:rPr lang="en-US" sz="2400" dirty="0">
                    <a:latin typeface="Bahnschrift Light" panose="020B0502040204020203" pitchFamily="34" charset="0"/>
                  </a:rPr>
                  <a:t>Example:</a:t>
                </a:r>
              </a:p>
              <a:p>
                <a:pPr marL="345440" lvl="1">
                  <a:lnSpc>
                    <a:spcPts val="4479"/>
                  </a:lnSpc>
                </a:pPr>
                <a:r>
                  <a:rPr lang="en-US" sz="2400" dirty="0">
                    <a:solidFill>
                      <a:srgbClr val="1B294A"/>
                    </a:solidFill>
                    <a:latin typeface="Bahnschrift Light" panose="020B0502040204020203" pitchFamily="34" charset="0"/>
                    <a:ea typeface="Lato"/>
                    <a:cs typeface="Lato"/>
                    <a:sym typeface="Lato"/>
                  </a:rPr>
                  <a:t>A system’s processing cost (time, power, or resources) depends on some variable 𝑥.</a:t>
                </a:r>
              </a:p>
              <a:p>
                <a:pPr marL="345440" lvl="1">
                  <a:lnSpc>
                    <a:spcPts val="4479"/>
                  </a:lnSpc>
                </a:pPr>
                <a:r>
                  <a:rPr lang="en-US" sz="2400" dirty="0">
                    <a:solidFill>
                      <a:srgbClr val="1B294A"/>
                    </a:solidFill>
                    <a:latin typeface="Bahnschrift Light" panose="020B0502040204020203" pitchFamily="34" charset="0"/>
                    <a:ea typeface="Lato"/>
                    <a:cs typeface="Lato"/>
                    <a:sym typeface="Lato"/>
                  </a:rPr>
                  <a:t>The cost function is:</a:t>
                </a:r>
              </a:p>
              <a:p>
                <a:pPr marL="345440" lvl="1">
                  <a:lnSpc>
                    <a:spcPts val="4479"/>
                  </a:lnSpc>
                </a:pPr>
                <a14:m>
                  <m:oMathPara xmlns:m="http://schemas.openxmlformats.org/officeDocument/2006/math">
                    <m:oMathParaPr>
                      <m:jc m:val="centerGroup"/>
                    </m:oMathParaPr>
                    <m:oMath xmlns:m="http://schemas.openxmlformats.org/officeDocument/2006/math">
                      <m:r>
                        <m:rPr>
                          <m:nor/>
                        </m:rPr>
                        <a:rPr lang="en-US" sz="2400"/>
                        <m:t>C</m:t>
                      </m:r>
                      <m:r>
                        <m:rPr>
                          <m:nor/>
                        </m:rPr>
                        <a:rPr lang="en-US" sz="2400"/>
                        <m:t>(</m:t>
                      </m:r>
                      <m:r>
                        <m:rPr>
                          <m:nor/>
                        </m:rPr>
                        <a:rPr lang="en-US" sz="2400"/>
                        <m:t>x</m:t>
                      </m:r>
                      <m:r>
                        <m:rPr>
                          <m:nor/>
                        </m:rPr>
                        <a:rPr lang="en-US" sz="2400"/>
                        <m:t>)= </m:t>
                      </m:r>
                      <m:r>
                        <m:rPr>
                          <m:nor/>
                        </m:rPr>
                        <a:rPr lang="en-US" sz="2400" b="0" i="0" smtClean="0"/>
                        <m:t>x</m:t>
                      </m:r>
                      <m:r>
                        <m:rPr>
                          <m:nor/>
                        </m:rPr>
                        <a:rPr lang="en-US" sz="2400" b="0" i="0" smtClean="0"/>
                        <m:t>^2 − 8</m:t>
                      </m:r>
                      <m:r>
                        <m:rPr>
                          <m:nor/>
                        </m:rPr>
                        <a:rPr lang="en-US" sz="2400"/>
                        <m:t>x</m:t>
                      </m:r>
                      <m:r>
                        <m:rPr>
                          <m:nor/>
                        </m:rPr>
                        <a:rPr lang="en-US" sz="2400" b="0" i="0" smtClean="0"/>
                        <m:t> </m:t>
                      </m:r>
                      <m:r>
                        <m:rPr>
                          <m:nor/>
                        </m:rPr>
                        <a:rPr lang="en-US" sz="2400"/>
                        <m:t>+</m:t>
                      </m:r>
                      <m:r>
                        <m:rPr>
                          <m:nor/>
                        </m:rPr>
                        <a:rPr lang="en-US" sz="2400" b="0" i="0" smtClean="0"/>
                        <m:t> </m:t>
                      </m:r>
                      <m:r>
                        <m:rPr>
                          <m:nor/>
                        </m:rPr>
                        <a:rPr lang="en-US" sz="2400"/>
                        <m:t>20</m:t>
                      </m:r>
                    </m:oMath>
                  </m:oMathPara>
                </a14:m>
                <a:endParaRPr lang="en-US" sz="2400" dirty="0">
                  <a:solidFill>
                    <a:srgbClr val="1B294A"/>
                  </a:solidFill>
                  <a:latin typeface="Bahnschrift Light" panose="020B0502040204020203" pitchFamily="34" charset="0"/>
                  <a:ea typeface="Lato"/>
                  <a:cs typeface="Lato"/>
                  <a:sym typeface="Lato"/>
                </a:endParaRPr>
              </a:p>
              <a:p>
                <a:pPr marL="345440" lvl="1">
                  <a:lnSpc>
                    <a:spcPts val="4479"/>
                  </a:lnSpc>
                </a:pPr>
                <a:r>
                  <a:rPr lang="en-US" sz="2400" dirty="0">
                    <a:solidFill>
                      <a:srgbClr val="1B294A"/>
                    </a:solidFill>
                    <a:latin typeface="Bahnschrift Light" panose="020B0502040204020203" pitchFamily="34" charset="0"/>
                    <a:ea typeface="Lato"/>
                    <a:cs typeface="Lato"/>
                    <a:sym typeface="Lato"/>
                  </a:rPr>
                  <a:t>For minimum value of cost, let C’(x) = 0</a:t>
                </a:r>
              </a:p>
              <a:p>
                <a:pPr marL="345440" lvl="1">
                  <a:lnSpc>
                    <a:spcPts val="4479"/>
                  </a:lnSpc>
                </a:pPr>
                <a:r>
                  <a:rPr lang="en-US" sz="2400" dirty="0">
                    <a:solidFill>
                      <a:srgbClr val="1B294A"/>
                    </a:solidFill>
                    <a:latin typeface="Bahnschrift Light" panose="020B0502040204020203" pitchFamily="34" charset="0"/>
                    <a:ea typeface="Lato"/>
                    <a:cs typeface="Lato"/>
                    <a:sym typeface="Lato"/>
                  </a:rPr>
                  <a:t>C’(x) = 2x – 8 = 0</a:t>
                </a:r>
              </a:p>
              <a:p>
                <a:pPr marL="345440" lvl="1">
                  <a:lnSpc>
                    <a:spcPts val="4479"/>
                  </a:lnSpc>
                </a:pPr>
                <a:r>
                  <a:rPr lang="en-US" sz="2400" dirty="0">
                    <a:solidFill>
                      <a:srgbClr val="1B294A"/>
                    </a:solidFill>
                    <a:latin typeface="Bahnschrift Light" panose="020B0502040204020203" pitchFamily="34" charset="0"/>
                    <a:ea typeface="Lato"/>
                    <a:cs typeface="Lato"/>
                    <a:sym typeface="Lato"/>
                  </a:rPr>
                  <a:t>x = 4</a:t>
                </a:r>
              </a:p>
              <a:p>
                <a:pPr marL="345440" lvl="1">
                  <a:lnSpc>
                    <a:spcPts val="4479"/>
                  </a:lnSpc>
                </a:pPr>
                <a:r>
                  <a:rPr lang="en-US" sz="2400" dirty="0"/>
                  <a:t>When </a:t>
                </a:r>
                <a14:m>
                  <m:oMath xmlns:m="http://schemas.openxmlformats.org/officeDocument/2006/math">
                    <m:r>
                      <a:rPr lang="en-US" i="1">
                        <a:latin typeface="Cambria Math" panose="02040503050406030204" pitchFamily="18" charset="0"/>
                      </a:rPr>
                      <m:t>𝑥</m:t>
                    </m:r>
                    <m:r>
                      <a:rPr lang="en-US">
                        <a:latin typeface="Cambria Math" panose="02040503050406030204" pitchFamily="18" charset="0"/>
                      </a:rPr>
                      <m:t>=4</m:t>
                    </m:r>
                  </m:oMath>
                </a14:m>
                <a:r>
                  <a:rPr lang="en-US" sz="2400" dirty="0"/>
                  <a:t>, the system’s processing cost is </a:t>
                </a:r>
                <a:r>
                  <a:rPr lang="en-US" sz="2400" b="1" dirty="0"/>
                  <a:t>minimum</a:t>
                </a:r>
                <a:endParaRPr lang="en-US" sz="2400" dirty="0">
                  <a:solidFill>
                    <a:srgbClr val="1B294A"/>
                  </a:solidFill>
                  <a:latin typeface="Bahnschrift Light" panose="020B0502040204020203" pitchFamily="34" charset="0"/>
                  <a:ea typeface="Lato"/>
                  <a:cs typeface="Lato"/>
                  <a:sym typeface="Lato"/>
                </a:endParaRPr>
              </a:p>
            </p:txBody>
          </p:sp>
        </mc:Choice>
        <mc:Fallback xmlns="">
          <p:sp>
            <p:nvSpPr>
              <p:cNvPr id="16" name="TextBox 16">
                <a:extLst>
                  <a:ext uri="{FF2B5EF4-FFF2-40B4-BE49-F238E27FC236}">
                    <a16:creationId xmlns:a16="http://schemas.microsoft.com/office/drawing/2014/main" id="{8B9E2642-ABBD-3C63-6AEC-A0F747C2EBB9}"/>
                  </a:ext>
                </a:extLst>
              </p:cNvPr>
              <p:cNvSpPr txBox="1">
                <a:spLocks noRot="1" noChangeAspect="1" noMove="1" noResize="1" noEditPoints="1" noAdjustHandles="1" noChangeArrowheads="1" noChangeShapeType="1" noTextEdit="1"/>
              </p:cNvSpPr>
              <p:nvPr/>
            </p:nvSpPr>
            <p:spPr>
              <a:xfrm>
                <a:off x="1371600" y="3028798"/>
                <a:ext cx="7315200" cy="5112875"/>
              </a:xfrm>
              <a:prstGeom prst="rect">
                <a:avLst/>
              </a:prstGeom>
              <a:blipFill>
                <a:blip r:embed="rId6"/>
                <a:stretch>
                  <a:fillRect b="-2861"/>
                </a:stretch>
              </a:blipFill>
            </p:spPr>
            <p:txBody>
              <a:bodyPr/>
              <a:lstStyle/>
              <a:p>
                <a:r>
                  <a:rPr lang="en-US">
                    <a:noFill/>
                  </a:rPr>
                  <a:t> </a:t>
                </a:r>
              </a:p>
            </p:txBody>
          </p:sp>
        </mc:Fallback>
      </mc:AlternateContent>
      <p:sp>
        <p:nvSpPr>
          <p:cNvPr id="23" name="Freeform 23">
            <a:extLst>
              <a:ext uri="{FF2B5EF4-FFF2-40B4-BE49-F238E27FC236}">
                <a16:creationId xmlns:a16="http://schemas.microsoft.com/office/drawing/2014/main" id="{5E94F32E-289A-F9C4-D6B1-CE406F0667A8}"/>
              </a:ext>
            </a:extLst>
          </p:cNvPr>
          <p:cNvSpPr/>
          <p:nvPr/>
        </p:nvSpPr>
        <p:spPr>
          <a:xfrm>
            <a:off x="691424" y="9378693"/>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1754099295"/>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2040034" y="4540735"/>
            <a:ext cx="10944618" cy="1752231"/>
            <a:chOff x="0" y="0"/>
            <a:chExt cx="2882533" cy="461493"/>
          </a:xfrm>
        </p:grpSpPr>
        <p:sp>
          <p:nvSpPr>
            <p:cNvPr id="3" name="Freeform 3"/>
            <p:cNvSpPr/>
            <p:nvPr/>
          </p:nvSpPr>
          <p:spPr>
            <a:xfrm>
              <a:off x="0" y="0"/>
              <a:ext cx="2882533" cy="461493"/>
            </a:xfrm>
            <a:custGeom>
              <a:avLst/>
              <a:gdLst/>
              <a:ahLst/>
              <a:cxnLst/>
              <a:rect l="l" t="t" r="r" b="b"/>
              <a:pathLst>
                <a:path w="2882533" h="461493">
                  <a:moveTo>
                    <a:pt x="0" y="0"/>
                  </a:moveTo>
                  <a:lnTo>
                    <a:pt x="2882533" y="0"/>
                  </a:lnTo>
                  <a:lnTo>
                    <a:pt x="2882533" y="461493"/>
                  </a:lnTo>
                  <a:lnTo>
                    <a:pt x="0" y="461493"/>
                  </a:lnTo>
                  <a:close/>
                </a:path>
              </a:pathLst>
            </a:custGeom>
            <a:solidFill>
              <a:srgbClr val="1B294A"/>
            </a:solidFill>
          </p:spPr>
        </p:sp>
        <p:sp>
          <p:nvSpPr>
            <p:cNvPr id="4" name="TextBox 4"/>
            <p:cNvSpPr txBox="1"/>
            <p:nvPr/>
          </p:nvSpPr>
          <p:spPr>
            <a:xfrm>
              <a:off x="0" y="-38100"/>
              <a:ext cx="2882533" cy="499593"/>
            </a:xfrm>
            <a:prstGeom prst="rect">
              <a:avLst/>
            </a:prstGeom>
          </p:spPr>
          <p:txBody>
            <a:bodyPr lIns="50800" tIns="50800" rIns="50800" bIns="50800" rtlCol="0" anchor="ctr"/>
            <a:lstStyle/>
            <a:p>
              <a:pPr algn="l">
                <a:lnSpc>
                  <a:spcPts val="3080"/>
                </a:lnSpc>
              </a:pPr>
              <a:endParaRPr/>
            </a:p>
          </p:txBody>
        </p:sp>
      </p:grpSp>
      <p:grpSp>
        <p:nvGrpSpPr>
          <p:cNvPr id="5" name="Group 5"/>
          <p:cNvGrpSpPr/>
          <p:nvPr/>
        </p:nvGrpSpPr>
        <p:grpSpPr>
          <a:xfrm>
            <a:off x="-530936" y="3482897"/>
            <a:ext cx="8420070" cy="4677676"/>
            <a:chOff x="0" y="0"/>
            <a:chExt cx="1073478" cy="533472"/>
          </a:xfrm>
          <a:blipFill>
            <a:blip r:embed="rId3"/>
            <a:stretch>
              <a:fillRect/>
            </a:stretch>
          </a:blipFill>
        </p:grpSpPr>
        <p:sp>
          <p:nvSpPr>
            <p:cNvPr id="6" name="Freeform 6"/>
            <p:cNvSpPr/>
            <p:nvPr/>
          </p:nvSpPr>
          <p:spPr>
            <a:xfrm>
              <a:off x="0" y="0"/>
              <a:ext cx="1073478" cy="533472"/>
            </a:xfrm>
            <a:custGeom>
              <a:avLst/>
              <a:gdLst/>
              <a:ahLst/>
              <a:cxnLst/>
              <a:rect l="l" t="t" r="r" b="b"/>
              <a:pathLst>
                <a:path w="1073478" h="533472">
                  <a:moveTo>
                    <a:pt x="18918" y="0"/>
                  </a:moveTo>
                  <a:lnTo>
                    <a:pt x="1054561" y="0"/>
                  </a:lnTo>
                  <a:cubicBezTo>
                    <a:pt x="1059578" y="0"/>
                    <a:pt x="1064390" y="1993"/>
                    <a:pt x="1067937" y="5541"/>
                  </a:cubicBezTo>
                  <a:cubicBezTo>
                    <a:pt x="1071485" y="9089"/>
                    <a:pt x="1073478" y="13900"/>
                    <a:pt x="1073478" y="18918"/>
                  </a:cubicBezTo>
                  <a:lnTo>
                    <a:pt x="1073478" y="514555"/>
                  </a:lnTo>
                  <a:cubicBezTo>
                    <a:pt x="1073478" y="525002"/>
                    <a:pt x="1065009" y="533472"/>
                    <a:pt x="1054561" y="533472"/>
                  </a:cubicBezTo>
                  <a:lnTo>
                    <a:pt x="18918" y="533472"/>
                  </a:lnTo>
                  <a:cubicBezTo>
                    <a:pt x="13900" y="533472"/>
                    <a:pt x="9089" y="531479"/>
                    <a:pt x="5541" y="527931"/>
                  </a:cubicBezTo>
                  <a:cubicBezTo>
                    <a:pt x="1993" y="524384"/>
                    <a:pt x="0" y="519572"/>
                    <a:pt x="0" y="514555"/>
                  </a:cubicBezTo>
                  <a:lnTo>
                    <a:pt x="0" y="18918"/>
                  </a:lnTo>
                  <a:cubicBezTo>
                    <a:pt x="0" y="13900"/>
                    <a:pt x="1993" y="9089"/>
                    <a:pt x="5541" y="5541"/>
                  </a:cubicBezTo>
                  <a:cubicBezTo>
                    <a:pt x="9089" y="1993"/>
                    <a:pt x="13900" y="0"/>
                    <a:pt x="18918" y="0"/>
                  </a:cubicBezTo>
                  <a:close/>
                </a:path>
              </a:pathLst>
            </a:custGeom>
            <a:grpFill/>
          </p:spPr>
        </p:sp>
      </p:grpSp>
      <p:grpSp>
        <p:nvGrpSpPr>
          <p:cNvPr id="7" name="Group 7"/>
          <p:cNvGrpSpPr/>
          <p:nvPr/>
        </p:nvGrpSpPr>
        <p:grpSpPr>
          <a:xfrm rot="-5400000">
            <a:off x="3849608" y="-2767461"/>
            <a:ext cx="1024532" cy="9412647"/>
            <a:chOff x="0" y="0"/>
            <a:chExt cx="269836" cy="1923050"/>
          </a:xfrm>
        </p:grpSpPr>
        <p:sp>
          <p:nvSpPr>
            <p:cNvPr id="8" name="Freeform 8"/>
            <p:cNvSpPr/>
            <p:nvPr/>
          </p:nvSpPr>
          <p:spPr>
            <a:xfrm>
              <a:off x="0" y="0"/>
              <a:ext cx="269836" cy="1923050"/>
            </a:xfrm>
            <a:custGeom>
              <a:avLst/>
              <a:gdLst/>
              <a:ahLst/>
              <a:cxnLst/>
              <a:rect l="l" t="t" r="r" b="b"/>
              <a:pathLst>
                <a:path w="269836" h="1923050">
                  <a:moveTo>
                    <a:pt x="120905" y="0"/>
                  </a:moveTo>
                  <a:lnTo>
                    <a:pt x="148931" y="0"/>
                  </a:lnTo>
                  <a:cubicBezTo>
                    <a:pt x="215705" y="0"/>
                    <a:pt x="269836" y="54131"/>
                    <a:pt x="269836" y="120905"/>
                  </a:cubicBezTo>
                  <a:lnTo>
                    <a:pt x="269836" y="1802145"/>
                  </a:lnTo>
                  <a:cubicBezTo>
                    <a:pt x="269836" y="1868919"/>
                    <a:pt x="215705" y="1923050"/>
                    <a:pt x="148931" y="1923050"/>
                  </a:cubicBezTo>
                  <a:lnTo>
                    <a:pt x="120905" y="1923050"/>
                  </a:lnTo>
                  <a:cubicBezTo>
                    <a:pt x="54131" y="1923050"/>
                    <a:pt x="0" y="1868919"/>
                    <a:pt x="0" y="1802145"/>
                  </a:cubicBezTo>
                  <a:lnTo>
                    <a:pt x="0" y="120905"/>
                  </a:lnTo>
                  <a:cubicBezTo>
                    <a:pt x="0" y="54131"/>
                    <a:pt x="54131" y="0"/>
                    <a:pt x="120905" y="0"/>
                  </a:cubicBezTo>
                  <a:close/>
                </a:path>
              </a:pathLst>
            </a:custGeom>
            <a:solidFill>
              <a:srgbClr val="1B294A"/>
            </a:solidFill>
          </p:spPr>
        </p:sp>
        <p:sp>
          <p:nvSpPr>
            <p:cNvPr id="9" name="TextBox 9"/>
            <p:cNvSpPr txBox="1"/>
            <p:nvPr/>
          </p:nvSpPr>
          <p:spPr>
            <a:xfrm>
              <a:off x="0" y="-38100"/>
              <a:ext cx="269836" cy="1961150"/>
            </a:xfrm>
            <a:prstGeom prst="rect">
              <a:avLst/>
            </a:prstGeom>
          </p:spPr>
          <p:txBody>
            <a:bodyPr lIns="50800" tIns="50800" rIns="50800" bIns="50800" rtlCol="0" anchor="ctr"/>
            <a:lstStyle/>
            <a:p>
              <a:pPr algn="l">
                <a:lnSpc>
                  <a:spcPts val="3080"/>
                </a:lnSpc>
              </a:pPr>
              <a:endParaRPr/>
            </a:p>
          </p:txBody>
        </p:sp>
      </p:grpSp>
      <p:sp>
        <p:nvSpPr>
          <p:cNvPr id="10" name="Freeform 10"/>
          <p:cNvSpPr/>
          <p:nvPr/>
        </p:nvSpPr>
        <p:spPr>
          <a:xfrm>
            <a:off x="793084" y="9427398"/>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5094370" y="769132"/>
            <a:ext cx="1038273" cy="259568"/>
          </a:xfrm>
          <a:custGeom>
            <a:avLst/>
            <a:gdLst/>
            <a:ahLst/>
            <a:cxnLst/>
            <a:rect l="l" t="t" r="r" b="b"/>
            <a:pathLst>
              <a:path w="1038273" h="259568">
                <a:moveTo>
                  <a:pt x="0" y="0"/>
                </a:moveTo>
                <a:lnTo>
                  <a:pt x="1038274" y="0"/>
                </a:lnTo>
                <a:lnTo>
                  <a:pt x="1038274"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286232" y="1598724"/>
            <a:ext cx="8610602"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Applications in Computer Science</a:t>
            </a:r>
          </a:p>
        </p:txBody>
      </p:sp>
      <p:sp>
        <p:nvSpPr>
          <p:cNvPr id="14" name="TextBox 14"/>
          <p:cNvSpPr txBox="1"/>
          <p:nvPr/>
        </p:nvSpPr>
        <p:spPr>
          <a:xfrm>
            <a:off x="9918283" y="1925674"/>
            <a:ext cx="5695224" cy="1553448"/>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Time complexity tells us how fast or slow an algorithm runs as input size increases. It is expressed using mathematical functions such as linear, quadratic, or logarithmic functions.</a:t>
            </a:r>
          </a:p>
        </p:txBody>
      </p:sp>
      <mc:AlternateContent xmlns:mc="http://schemas.openxmlformats.org/markup-compatibility/2006" xmlns:a14="http://schemas.microsoft.com/office/drawing/2010/main">
        <mc:Choice Requires="a14">
          <p:sp>
            <p:nvSpPr>
              <p:cNvPr id="15" name="TextBox 15"/>
              <p:cNvSpPr txBox="1"/>
              <p:nvPr/>
            </p:nvSpPr>
            <p:spPr>
              <a:xfrm>
                <a:off x="9918283" y="4616314"/>
                <a:ext cx="5695224" cy="3936142"/>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For Example:</a:t>
                </a:r>
              </a:p>
              <a:p>
                <a:pPr algn="just">
                  <a:lnSpc>
                    <a:spcPts val="3080"/>
                  </a:lnSpc>
                </a:pPr>
                <a:r>
                  <a:rPr lang="en-US" sz="2200" dirty="0">
                    <a:solidFill>
                      <a:srgbClr val="777879"/>
                    </a:solidFill>
                    <a:latin typeface="Lato"/>
                    <a:ea typeface="Lato"/>
                    <a:cs typeface="Lato"/>
                    <a:sym typeface="Lato"/>
                  </a:rPr>
                  <a:t>Given Algorithm Time Function:</a:t>
                </a:r>
              </a:p>
              <a:p>
                <a:pPr algn="just">
                  <a:lnSpc>
                    <a:spcPts val="3080"/>
                  </a:lnSpc>
                </a:pPr>
                <a14:m>
                  <m:oMathPara xmlns:m="http://schemas.openxmlformats.org/officeDocument/2006/math">
                    <m:oMathParaPr>
                      <m:jc m:val="centerGroup"/>
                    </m:oMathParaPr>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𝑓</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𝑛</m:t>
                          </m:r>
                        </m:e>
                      </m:d>
                      <m:r>
                        <a:rPr lang="en-US" sz="2200" b="0" i="1" smtClean="0">
                          <a:solidFill>
                            <a:srgbClr val="777879"/>
                          </a:solidFill>
                          <a:latin typeface="Cambria Math" panose="02040503050406030204" pitchFamily="18" charset="0"/>
                          <a:ea typeface="Lato"/>
                          <a:cs typeface="Lato"/>
                          <a:sym typeface="Lato"/>
                        </a:rPr>
                        <m:t>=</m:t>
                      </m:r>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𝑛</m:t>
                          </m:r>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+3</m:t>
                      </m:r>
                      <m:r>
                        <a:rPr lang="en-US" sz="2200" b="0" i="1" smtClean="0">
                          <a:solidFill>
                            <a:srgbClr val="777879"/>
                          </a:solidFill>
                          <a:latin typeface="Cambria Math" panose="02040503050406030204" pitchFamily="18" charset="0"/>
                          <a:ea typeface="Lato"/>
                          <a:cs typeface="Lato"/>
                          <a:sym typeface="Lato"/>
                        </a:rPr>
                        <m:t>𝑛</m:t>
                      </m:r>
                    </m:oMath>
                  </m:oMathPara>
                </a14:m>
                <a:endParaRPr lang="en-US" sz="220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Find Time when,</a:t>
                </a:r>
              </a:p>
              <a:p>
                <a:pPr algn="just">
                  <a:lnSpc>
                    <a:spcPts val="3080"/>
                  </a:lnSpc>
                </a:pPr>
                <a:r>
                  <a:rPr lang="en-US" sz="2200" dirty="0">
                    <a:solidFill>
                      <a:srgbClr val="777879"/>
                    </a:solidFill>
                    <a:latin typeface="Lato"/>
                    <a:ea typeface="Lato"/>
                    <a:cs typeface="Lato"/>
                    <a:sym typeface="Lato"/>
                  </a:rPr>
                  <a:t>n = 5</a:t>
                </a:r>
              </a:p>
              <a:p>
                <a:pPr algn="just">
                  <a:lnSpc>
                    <a:spcPts val="3080"/>
                  </a:lnSpc>
                </a:pPr>
                <a:r>
                  <a:rPr lang="en-US" sz="2200" dirty="0">
                    <a:solidFill>
                      <a:srgbClr val="777879"/>
                    </a:solidFill>
                    <a:latin typeface="Lato"/>
                    <a:ea typeface="Lato"/>
                    <a:cs typeface="Lato"/>
                    <a:sym typeface="Lato"/>
                  </a:rPr>
                  <a:t>Then,	</a:t>
                </a:r>
                <a14:m>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𝑓</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5</m:t>
                        </m:r>
                      </m:e>
                    </m:d>
                    <m:r>
                      <a:rPr lang="en-US" sz="2200" b="0" i="1" smtClean="0">
                        <a:solidFill>
                          <a:srgbClr val="777879"/>
                        </a:solidFill>
                        <a:latin typeface="Cambria Math" panose="02040503050406030204" pitchFamily="18" charset="0"/>
                        <a:ea typeface="Lato"/>
                        <a:cs typeface="Lato"/>
                        <a:sym typeface="Lato"/>
                      </a:rPr>
                      <m:t>=</m:t>
                    </m:r>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5</m:t>
                        </m:r>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+3</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5</m:t>
                        </m:r>
                      </m:e>
                    </m:d>
                    <m:r>
                      <a:rPr lang="en-US" sz="2200" b="0" i="1" smtClean="0">
                        <a:solidFill>
                          <a:srgbClr val="777879"/>
                        </a:solidFill>
                        <a:latin typeface="Cambria Math" panose="02040503050406030204" pitchFamily="18" charset="0"/>
                        <a:ea typeface="Lato"/>
                        <a:cs typeface="Lato"/>
                        <a:sym typeface="Lato"/>
                      </a:rPr>
                      <m:t>=40</m:t>
                    </m:r>
                  </m:oMath>
                </a14:m>
                <a:endParaRPr lang="en-US" sz="220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 Conclusion: When the input size is 5, the number of operations will be 40, which shows quadratic growth, meaning time increases rapidly.</a:t>
                </a:r>
              </a:p>
            </p:txBody>
          </p:sp>
        </mc:Choice>
        <mc:Fallback xmlns="">
          <p:sp>
            <p:nvSpPr>
              <p:cNvPr id="15" name="TextBox 15"/>
              <p:cNvSpPr txBox="1">
                <a:spLocks noRot="1" noChangeAspect="1" noMove="1" noResize="1" noEditPoints="1" noAdjustHandles="1" noChangeArrowheads="1" noChangeShapeType="1" noTextEdit="1"/>
              </p:cNvSpPr>
              <p:nvPr/>
            </p:nvSpPr>
            <p:spPr>
              <a:xfrm>
                <a:off x="9918283" y="4616314"/>
                <a:ext cx="5695224" cy="3936142"/>
              </a:xfrm>
              <a:prstGeom prst="rect">
                <a:avLst/>
              </a:prstGeom>
              <a:blipFill>
                <a:blip r:embed="rId6"/>
                <a:stretch>
                  <a:fillRect l="-2998" t="-1703" r="-2998" b="-3406"/>
                </a:stretch>
              </a:blipFill>
            </p:spPr>
            <p:txBody>
              <a:bodyPr/>
              <a:lstStyle/>
              <a:p>
                <a:r>
                  <a:rPr lang="en-US">
                    <a:noFill/>
                  </a:rPr>
                  <a:t> </a:t>
                </a:r>
              </a:p>
            </p:txBody>
          </p:sp>
        </mc:Fallback>
      </mc:AlternateContent>
      <p:sp>
        <p:nvSpPr>
          <p:cNvPr id="17" name="TextBox 17"/>
          <p:cNvSpPr txBox="1"/>
          <p:nvPr/>
        </p:nvSpPr>
        <p:spPr>
          <a:xfrm>
            <a:off x="9918283" y="1378972"/>
            <a:ext cx="5695224"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Algorithm Time Complexity</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DD46-987E-D044-5CA6-8F37B12174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1450EDE-DAEA-6C90-AC2E-6759167A2023}"/>
              </a:ext>
            </a:extLst>
          </p:cNvPr>
          <p:cNvGrpSpPr/>
          <p:nvPr/>
        </p:nvGrpSpPr>
        <p:grpSpPr>
          <a:xfrm rot="-5400000">
            <a:off x="12040034" y="4540735"/>
            <a:ext cx="10944618" cy="1752231"/>
            <a:chOff x="0" y="0"/>
            <a:chExt cx="2882533" cy="461493"/>
          </a:xfrm>
        </p:grpSpPr>
        <p:sp>
          <p:nvSpPr>
            <p:cNvPr id="3" name="Freeform 3">
              <a:extLst>
                <a:ext uri="{FF2B5EF4-FFF2-40B4-BE49-F238E27FC236}">
                  <a16:creationId xmlns:a16="http://schemas.microsoft.com/office/drawing/2014/main" id="{85595CDE-CE83-9139-D106-A0AC39EFC14C}"/>
                </a:ext>
              </a:extLst>
            </p:cNvPr>
            <p:cNvSpPr/>
            <p:nvPr/>
          </p:nvSpPr>
          <p:spPr>
            <a:xfrm>
              <a:off x="0" y="0"/>
              <a:ext cx="2882533" cy="461493"/>
            </a:xfrm>
            <a:custGeom>
              <a:avLst/>
              <a:gdLst/>
              <a:ahLst/>
              <a:cxnLst/>
              <a:rect l="l" t="t" r="r" b="b"/>
              <a:pathLst>
                <a:path w="2882533" h="461493">
                  <a:moveTo>
                    <a:pt x="0" y="0"/>
                  </a:moveTo>
                  <a:lnTo>
                    <a:pt x="2882533" y="0"/>
                  </a:lnTo>
                  <a:lnTo>
                    <a:pt x="2882533" y="461493"/>
                  </a:lnTo>
                  <a:lnTo>
                    <a:pt x="0" y="461493"/>
                  </a:lnTo>
                  <a:close/>
                </a:path>
              </a:pathLst>
            </a:custGeom>
            <a:solidFill>
              <a:srgbClr val="1B294A"/>
            </a:solidFill>
          </p:spPr>
        </p:sp>
        <p:sp>
          <p:nvSpPr>
            <p:cNvPr id="4" name="TextBox 4">
              <a:extLst>
                <a:ext uri="{FF2B5EF4-FFF2-40B4-BE49-F238E27FC236}">
                  <a16:creationId xmlns:a16="http://schemas.microsoft.com/office/drawing/2014/main" id="{1A98704B-5F9B-8CFD-C63C-177D6D4949CE}"/>
                </a:ext>
              </a:extLst>
            </p:cNvPr>
            <p:cNvSpPr txBox="1"/>
            <p:nvPr/>
          </p:nvSpPr>
          <p:spPr>
            <a:xfrm>
              <a:off x="0" y="-38100"/>
              <a:ext cx="2882533" cy="499593"/>
            </a:xfrm>
            <a:prstGeom prst="rect">
              <a:avLst/>
            </a:prstGeom>
          </p:spPr>
          <p:txBody>
            <a:bodyPr lIns="50800" tIns="50800" rIns="50800" bIns="50800" rtlCol="0" anchor="ctr"/>
            <a:lstStyle/>
            <a:p>
              <a:pPr algn="l">
                <a:lnSpc>
                  <a:spcPts val="3080"/>
                </a:lnSpc>
              </a:pPr>
              <a:endParaRPr/>
            </a:p>
          </p:txBody>
        </p:sp>
      </p:grpSp>
      <p:grpSp>
        <p:nvGrpSpPr>
          <p:cNvPr id="7" name="Group 7">
            <a:extLst>
              <a:ext uri="{FF2B5EF4-FFF2-40B4-BE49-F238E27FC236}">
                <a16:creationId xmlns:a16="http://schemas.microsoft.com/office/drawing/2014/main" id="{841947DD-A5C3-2DB9-9BE7-1C6553913D9A}"/>
              </a:ext>
            </a:extLst>
          </p:cNvPr>
          <p:cNvGrpSpPr/>
          <p:nvPr/>
        </p:nvGrpSpPr>
        <p:grpSpPr>
          <a:xfrm rot="-5400000">
            <a:off x="3849608" y="-2767461"/>
            <a:ext cx="1024532" cy="9412647"/>
            <a:chOff x="0" y="0"/>
            <a:chExt cx="269836" cy="1923050"/>
          </a:xfrm>
        </p:grpSpPr>
        <p:sp>
          <p:nvSpPr>
            <p:cNvPr id="8" name="Freeform 8">
              <a:extLst>
                <a:ext uri="{FF2B5EF4-FFF2-40B4-BE49-F238E27FC236}">
                  <a16:creationId xmlns:a16="http://schemas.microsoft.com/office/drawing/2014/main" id="{051460A0-1CAF-004B-E533-9CA71C84EC23}"/>
                </a:ext>
              </a:extLst>
            </p:cNvPr>
            <p:cNvSpPr/>
            <p:nvPr/>
          </p:nvSpPr>
          <p:spPr>
            <a:xfrm>
              <a:off x="0" y="0"/>
              <a:ext cx="269836" cy="1923050"/>
            </a:xfrm>
            <a:custGeom>
              <a:avLst/>
              <a:gdLst/>
              <a:ahLst/>
              <a:cxnLst/>
              <a:rect l="l" t="t" r="r" b="b"/>
              <a:pathLst>
                <a:path w="269836" h="1923050">
                  <a:moveTo>
                    <a:pt x="120905" y="0"/>
                  </a:moveTo>
                  <a:lnTo>
                    <a:pt x="148931" y="0"/>
                  </a:lnTo>
                  <a:cubicBezTo>
                    <a:pt x="215705" y="0"/>
                    <a:pt x="269836" y="54131"/>
                    <a:pt x="269836" y="120905"/>
                  </a:cubicBezTo>
                  <a:lnTo>
                    <a:pt x="269836" y="1802145"/>
                  </a:lnTo>
                  <a:cubicBezTo>
                    <a:pt x="269836" y="1868919"/>
                    <a:pt x="215705" y="1923050"/>
                    <a:pt x="148931" y="1923050"/>
                  </a:cubicBezTo>
                  <a:lnTo>
                    <a:pt x="120905" y="1923050"/>
                  </a:lnTo>
                  <a:cubicBezTo>
                    <a:pt x="54131" y="1923050"/>
                    <a:pt x="0" y="1868919"/>
                    <a:pt x="0" y="1802145"/>
                  </a:cubicBezTo>
                  <a:lnTo>
                    <a:pt x="0" y="120905"/>
                  </a:lnTo>
                  <a:cubicBezTo>
                    <a:pt x="0" y="54131"/>
                    <a:pt x="54131" y="0"/>
                    <a:pt x="120905" y="0"/>
                  </a:cubicBezTo>
                  <a:close/>
                </a:path>
              </a:pathLst>
            </a:custGeom>
            <a:solidFill>
              <a:srgbClr val="1B294A"/>
            </a:solidFill>
          </p:spPr>
        </p:sp>
        <p:sp>
          <p:nvSpPr>
            <p:cNvPr id="9" name="TextBox 9">
              <a:extLst>
                <a:ext uri="{FF2B5EF4-FFF2-40B4-BE49-F238E27FC236}">
                  <a16:creationId xmlns:a16="http://schemas.microsoft.com/office/drawing/2014/main" id="{10265176-EA17-54F3-8EFD-0B0564888F7E}"/>
                </a:ext>
              </a:extLst>
            </p:cNvPr>
            <p:cNvSpPr txBox="1"/>
            <p:nvPr/>
          </p:nvSpPr>
          <p:spPr>
            <a:xfrm>
              <a:off x="0" y="-38100"/>
              <a:ext cx="269836" cy="1961150"/>
            </a:xfrm>
            <a:prstGeom prst="rect">
              <a:avLst/>
            </a:prstGeom>
          </p:spPr>
          <p:txBody>
            <a:bodyPr lIns="50800" tIns="50800" rIns="50800" bIns="50800" rtlCol="0" anchor="ctr"/>
            <a:lstStyle/>
            <a:p>
              <a:pPr algn="l">
                <a:lnSpc>
                  <a:spcPts val="3080"/>
                </a:lnSpc>
              </a:pPr>
              <a:endParaRPr/>
            </a:p>
          </p:txBody>
        </p:sp>
      </p:grpSp>
      <p:sp>
        <p:nvSpPr>
          <p:cNvPr id="10" name="Freeform 10">
            <a:extLst>
              <a:ext uri="{FF2B5EF4-FFF2-40B4-BE49-F238E27FC236}">
                <a16:creationId xmlns:a16="http://schemas.microsoft.com/office/drawing/2014/main" id="{A8130E52-1A23-B516-FE38-DA66BAD76C9B}"/>
              </a:ext>
            </a:extLst>
          </p:cNvPr>
          <p:cNvSpPr/>
          <p:nvPr/>
        </p:nvSpPr>
        <p:spPr>
          <a:xfrm>
            <a:off x="793084" y="9427398"/>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48C04ED5-8595-7DD1-28A4-33265F0D46B3}"/>
              </a:ext>
            </a:extLst>
          </p:cNvPr>
          <p:cNvSpPr/>
          <p:nvPr/>
        </p:nvSpPr>
        <p:spPr>
          <a:xfrm>
            <a:off x="15094370" y="769132"/>
            <a:ext cx="1038273" cy="259568"/>
          </a:xfrm>
          <a:custGeom>
            <a:avLst/>
            <a:gdLst/>
            <a:ahLst/>
            <a:cxnLst/>
            <a:rect l="l" t="t" r="r" b="b"/>
            <a:pathLst>
              <a:path w="1038273" h="259568">
                <a:moveTo>
                  <a:pt x="0" y="0"/>
                </a:moveTo>
                <a:lnTo>
                  <a:pt x="1038274" y="0"/>
                </a:lnTo>
                <a:lnTo>
                  <a:pt x="1038274"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824D14EC-288D-B8E5-468B-18F79B0494C9}"/>
              </a:ext>
            </a:extLst>
          </p:cNvPr>
          <p:cNvSpPr txBox="1"/>
          <p:nvPr/>
        </p:nvSpPr>
        <p:spPr>
          <a:xfrm>
            <a:off x="286232" y="1598724"/>
            <a:ext cx="8610602"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Applications in Computer Science</a:t>
            </a:r>
          </a:p>
        </p:txBody>
      </p:sp>
      <p:sp>
        <p:nvSpPr>
          <p:cNvPr id="15" name="TextBox 15">
            <a:extLst>
              <a:ext uri="{FF2B5EF4-FFF2-40B4-BE49-F238E27FC236}">
                <a16:creationId xmlns:a16="http://schemas.microsoft.com/office/drawing/2014/main" id="{C4F94F70-EF34-EF0C-193D-4E4104E8C0CE}"/>
              </a:ext>
            </a:extLst>
          </p:cNvPr>
          <p:cNvSpPr txBox="1"/>
          <p:nvPr/>
        </p:nvSpPr>
        <p:spPr>
          <a:xfrm>
            <a:off x="9918283" y="1929449"/>
            <a:ext cx="5695224" cy="1553448"/>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Data structures like arrays, trees, and graphs are represented using graphs and coordinates. Analytical geometry helps visualize how data is connected and accessed.</a:t>
            </a:r>
          </a:p>
        </p:txBody>
      </p:sp>
      <p:sp>
        <p:nvSpPr>
          <p:cNvPr id="18" name="TextBox 18">
            <a:extLst>
              <a:ext uri="{FF2B5EF4-FFF2-40B4-BE49-F238E27FC236}">
                <a16:creationId xmlns:a16="http://schemas.microsoft.com/office/drawing/2014/main" id="{8CCC4C91-5CF7-512A-5642-4EA32226761C}"/>
              </a:ext>
            </a:extLst>
          </p:cNvPr>
          <p:cNvSpPr txBox="1"/>
          <p:nvPr/>
        </p:nvSpPr>
        <p:spPr>
          <a:xfrm>
            <a:off x="9918283" y="1373253"/>
            <a:ext cx="5695224"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Data Structure Visualization</a:t>
            </a:r>
          </a:p>
        </p:txBody>
      </p:sp>
      <mc:AlternateContent xmlns:mc="http://schemas.openxmlformats.org/markup-compatibility/2006" xmlns:a14="http://schemas.microsoft.com/office/drawing/2010/main">
        <mc:Choice Requires="a14">
          <p:sp>
            <p:nvSpPr>
              <p:cNvPr id="12" name="TextBox 15">
                <a:extLst>
                  <a:ext uri="{FF2B5EF4-FFF2-40B4-BE49-F238E27FC236}">
                    <a16:creationId xmlns:a16="http://schemas.microsoft.com/office/drawing/2014/main" id="{846FD02A-265D-B3E0-C964-2F35D8F41CE4}"/>
                  </a:ext>
                </a:extLst>
              </p:cNvPr>
              <p:cNvSpPr txBox="1"/>
              <p:nvPr/>
            </p:nvSpPr>
            <p:spPr>
              <a:xfrm>
                <a:off x="9918283" y="4616314"/>
                <a:ext cx="5695224" cy="2345963"/>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For Example:</a:t>
                </a:r>
              </a:p>
              <a:p>
                <a:pPr algn="just">
                  <a:lnSpc>
                    <a:spcPts val="3080"/>
                  </a:lnSpc>
                </a:pPr>
                <a:r>
                  <a:rPr lang="en-US" sz="2200" dirty="0">
                    <a:solidFill>
                      <a:srgbClr val="777879"/>
                    </a:solidFill>
                    <a:latin typeface="Lato"/>
                    <a:ea typeface="Lato"/>
                    <a:cs typeface="Lato"/>
                    <a:sym typeface="Lato"/>
                  </a:rPr>
                  <a:t>Given Nodes at Positions:</a:t>
                </a:r>
              </a:p>
              <a:p>
                <a:pPr algn="just">
                  <a:lnSpc>
                    <a:spcPts val="3080"/>
                  </a:lnSpc>
                </a:pPr>
                <a:r>
                  <a:rPr lang="en-US" sz="2200" dirty="0">
                    <a:solidFill>
                      <a:srgbClr val="777879"/>
                    </a:solidFill>
                    <a:latin typeface="Lato"/>
                    <a:ea typeface="Lato"/>
                    <a:cs typeface="Lato"/>
                    <a:sym typeface="Lato"/>
                  </a:rPr>
                  <a:t>A(1,2), B(3,4), C(5,2)</a:t>
                </a:r>
              </a:p>
              <a:p>
                <a:pPr algn="just">
                  <a:lnSpc>
                    <a:spcPts val="3080"/>
                  </a:lnSpc>
                </a:pPr>
                <a:r>
                  <a:rPr lang="en-US" sz="2200" dirty="0">
                    <a:solidFill>
                      <a:srgbClr val="777879"/>
                    </a:solidFill>
                    <a:latin typeface="Lato"/>
                    <a:ea typeface="Lato"/>
                    <a:cs typeface="Lato"/>
                    <a:sym typeface="Lato"/>
                  </a:rPr>
                  <a:t>Distance Between A and B:</a:t>
                </a:r>
              </a:p>
              <a:p>
                <a:pPr algn="just">
                  <a:lnSpc>
                    <a:spcPts val="3080"/>
                  </a:lnSpc>
                </a:pPr>
                <a:r>
                  <a:rPr lang="en-US" sz="2200" dirty="0">
                    <a:solidFill>
                      <a:srgbClr val="777879"/>
                    </a:solidFill>
                    <a:latin typeface="Lato"/>
                    <a:ea typeface="Lato"/>
                    <a:cs typeface="Lato"/>
                    <a:sym typeface="Lato"/>
                  </a:rPr>
                  <a:t>d = </a:t>
                </a:r>
                <a14:m>
                  <m:oMath xmlns:m="http://schemas.openxmlformats.org/officeDocument/2006/math">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3−1</m:t>
                            </m:r>
                          </m:e>
                        </m:d>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m:t>
                    </m:r>
                    <m:sSup>
                      <m:sSupPr>
                        <m:ctrlPr>
                          <a:rPr lang="en-US" sz="2200" b="0" i="1" smtClean="0">
                            <a:solidFill>
                              <a:srgbClr val="777879"/>
                            </a:solidFill>
                            <a:latin typeface="Cambria Math" panose="02040503050406030204" pitchFamily="18" charset="0"/>
                            <a:ea typeface="Lato"/>
                            <a:cs typeface="Lato"/>
                            <a:sym typeface="Lato"/>
                          </a:rPr>
                        </m:ctrlPr>
                      </m:sSupPr>
                      <m:e>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4−2</m:t>
                            </m:r>
                          </m:e>
                        </m:d>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m:t>
                    </m:r>
                    <m:f>
                      <m:fPr>
                        <m:ctrlPr>
                          <a:rPr lang="en-US" sz="2200" b="0" i="1" smtClean="0">
                            <a:solidFill>
                              <a:srgbClr val="777879"/>
                            </a:solidFill>
                            <a:latin typeface="Cambria Math" panose="02040503050406030204" pitchFamily="18" charset="0"/>
                            <a:ea typeface="Lato"/>
                            <a:cs typeface="Lato"/>
                            <a:sym typeface="Lato"/>
                          </a:rPr>
                        </m:ctrlPr>
                      </m:fPr>
                      <m:num>
                        <m:r>
                          <a:rPr lang="en-US" sz="2200" b="0" i="1" smtClean="0">
                            <a:solidFill>
                              <a:srgbClr val="777879"/>
                            </a:solidFill>
                            <a:latin typeface="Cambria Math" panose="02040503050406030204" pitchFamily="18" charset="0"/>
                            <a:ea typeface="Lato"/>
                            <a:cs typeface="Lato"/>
                            <a:sym typeface="Lato"/>
                          </a:rPr>
                          <m:t>1</m:t>
                        </m:r>
                      </m:num>
                      <m:den>
                        <m:r>
                          <a:rPr lang="en-US" sz="2200" b="0" i="1" smtClean="0">
                            <a:solidFill>
                              <a:srgbClr val="777879"/>
                            </a:solidFill>
                            <a:latin typeface="Cambria Math" panose="02040503050406030204" pitchFamily="18" charset="0"/>
                            <a:ea typeface="Lato"/>
                            <a:cs typeface="Lato"/>
                            <a:sym typeface="Lato"/>
                          </a:rPr>
                          <m:t>2</m:t>
                        </m:r>
                      </m:den>
                    </m:f>
                    <m:r>
                      <a:rPr lang="en-US" sz="2200" b="0" i="1" smtClean="0">
                        <a:solidFill>
                          <a:srgbClr val="777879"/>
                        </a:solidFill>
                        <a:latin typeface="Cambria Math" panose="02040503050406030204" pitchFamily="18" charset="0"/>
                        <a:ea typeface="Lato"/>
                        <a:cs typeface="Lato"/>
                        <a:sym typeface="Lato"/>
                      </a:rPr>
                      <m:t>)</m:t>
                    </m:r>
                  </m:oMath>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d = sqrt (8)</a:t>
                </a:r>
              </a:p>
            </p:txBody>
          </p:sp>
        </mc:Choice>
        <mc:Fallback xmlns="">
          <p:sp>
            <p:nvSpPr>
              <p:cNvPr id="12" name="TextBox 15">
                <a:extLst>
                  <a:ext uri="{FF2B5EF4-FFF2-40B4-BE49-F238E27FC236}">
                    <a16:creationId xmlns:a16="http://schemas.microsoft.com/office/drawing/2014/main" id="{846FD02A-265D-B3E0-C964-2F35D8F41CE4}"/>
                  </a:ext>
                </a:extLst>
              </p:cNvPr>
              <p:cNvSpPr txBox="1">
                <a:spLocks noRot="1" noChangeAspect="1" noMove="1" noResize="1" noEditPoints="1" noAdjustHandles="1" noChangeArrowheads="1" noChangeShapeType="1" noTextEdit="1"/>
              </p:cNvSpPr>
              <p:nvPr/>
            </p:nvSpPr>
            <p:spPr>
              <a:xfrm>
                <a:off x="9918283" y="4616314"/>
                <a:ext cx="5695224" cy="2345963"/>
              </a:xfrm>
              <a:prstGeom prst="rect">
                <a:avLst/>
              </a:prstGeom>
              <a:blipFill>
                <a:blip r:embed="rId6"/>
                <a:stretch>
                  <a:fillRect l="-2998" t="-2857" b="-6234"/>
                </a:stretch>
              </a:blipFill>
            </p:spPr>
            <p:txBody>
              <a:bodyPr/>
              <a:lstStyle/>
              <a:p>
                <a:r>
                  <a:rPr lang="en-US">
                    <a:noFill/>
                  </a:rPr>
                  <a:t> </a:t>
                </a:r>
              </a:p>
            </p:txBody>
          </p:sp>
        </mc:Fallback>
      </mc:AlternateContent>
      <p:grpSp>
        <p:nvGrpSpPr>
          <p:cNvPr id="14" name="Group 5">
            <a:extLst>
              <a:ext uri="{FF2B5EF4-FFF2-40B4-BE49-F238E27FC236}">
                <a16:creationId xmlns:a16="http://schemas.microsoft.com/office/drawing/2014/main" id="{9BF8E876-B03E-8487-7748-08B20B92C026}"/>
              </a:ext>
            </a:extLst>
          </p:cNvPr>
          <p:cNvGrpSpPr/>
          <p:nvPr/>
        </p:nvGrpSpPr>
        <p:grpSpPr>
          <a:xfrm>
            <a:off x="-580137" y="3482897"/>
            <a:ext cx="8420070" cy="4677676"/>
            <a:chOff x="0" y="0"/>
            <a:chExt cx="1073478" cy="533472"/>
          </a:xfrm>
          <a:blipFill dpi="0" rotWithShape="1">
            <a:blip r:embed="rId7"/>
            <a:srcRect/>
            <a:stretch>
              <a:fillRect l="1000" t="-20000" b="-10000"/>
            </a:stretch>
          </a:blipFill>
        </p:grpSpPr>
        <p:sp>
          <p:nvSpPr>
            <p:cNvPr id="16" name="Freeform 6">
              <a:extLst>
                <a:ext uri="{FF2B5EF4-FFF2-40B4-BE49-F238E27FC236}">
                  <a16:creationId xmlns:a16="http://schemas.microsoft.com/office/drawing/2014/main" id="{06725A30-A254-5A59-E02A-FF3938FADB9D}"/>
                </a:ext>
              </a:extLst>
            </p:cNvPr>
            <p:cNvSpPr/>
            <p:nvPr/>
          </p:nvSpPr>
          <p:spPr>
            <a:xfrm>
              <a:off x="0" y="0"/>
              <a:ext cx="1073478" cy="533472"/>
            </a:xfrm>
            <a:custGeom>
              <a:avLst/>
              <a:gdLst/>
              <a:ahLst/>
              <a:cxnLst/>
              <a:rect l="l" t="t" r="r" b="b"/>
              <a:pathLst>
                <a:path w="1073478" h="533472">
                  <a:moveTo>
                    <a:pt x="18918" y="0"/>
                  </a:moveTo>
                  <a:lnTo>
                    <a:pt x="1054561" y="0"/>
                  </a:lnTo>
                  <a:cubicBezTo>
                    <a:pt x="1059578" y="0"/>
                    <a:pt x="1064390" y="1993"/>
                    <a:pt x="1067937" y="5541"/>
                  </a:cubicBezTo>
                  <a:cubicBezTo>
                    <a:pt x="1071485" y="9089"/>
                    <a:pt x="1073478" y="13900"/>
                    <a:pt x="1073478" y="18918"/>
                  </a:cubicBezTo>
                  <a:lnTo>
                    <a:pt x="1073478" y="514555"/>
                  </a:lnTo>
                  <a:cubicBezTo>
                    <a:pt x="1073478" y="525002"/>
                    <a:pt x="1065009" y="533472"/>
                    <a:pt x="1054561" y="533472"/>
                  </a:cubicBezTo>
                  <a:lnTo>
                    <a:pt x="18918" y="533472"/>
                  </a:lnTo>
                  <a:cubicBezTo>
                    <a:pt x="13900" y="533472"/>
                    <a:pt x="9089" y="531479"/>
                    <a:pt x="5541" y="527931"/>
                  </a:cubicBezTo>
                  <a:cubicBezTo>
                    <a:pt x="1993" y="524384"/>
                    <a:pt x="0" y="519572"/>
                    <a:pt x="0" y="514555"/>
                  </a:cubicBezTo>
                  <a:lnTo>
                    <a:pt x="0" y="18918"/>
                  </a:lnTo>
                  <a:cubicBezTo>
                    <a:pt x="0" y="13900"/>
                    <a:pt x="1993" y="9089"/>
                    <a:pt x="5541" y="5541"/>
                  </a:cubicBezTo>
                  <a:cubicBezTo>
                    <a:pt x="9089" y="1993"/>
                    <a:pt x="13900" y="0"/>
                    <a:pt x="18918" y="0"/>
                  </a:cubicBezTo>
                  <a:close/>
                </a:path>
              </a:pathLst>
            </a:custGeom>
            <a:grpFill/>
          </p:spPr>
        </p:sp>
      </p:grpSp>
    </p:spTree>
    <p:extLst>
      <p:ext uri="{BB962C8B-B14F-4D97-AF65-F5344CB8AC3E}">
        <p14:creationId xmlns:p14="http://schemas.microsoft.com/office/powerpoint/2010/main" val="121612759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1B5F9-8DAF-59E0-B218-3CB94D3196B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C5380A1-C5FF-E7AB-BA14-F7B4D87A24FB}"/>
              </a:ext>
            </a:extLst>
          </p:cNvPr>
          <p:cNvGrpSpPr/>
          <p:nvPr/>
        </p:nvGrpSpPr>
        <p:grpSpPr>
          <a:xfrm rot="-5400000">
            <a:off x="12040034" y="4540735"/>
            <a:ext cx="10944618" cy="1752231"/>
            <a:chOff x="0" y="0"/>
            <a:chExt cx="2882533" cy="461493"/>
          </a:xfrm>
        </p:grpSpPr>
        <p:sp>
          <p:nvSpPr>
            <p:cNvPr id="3" name="Freeform 3">
              <a:extLst>
                <a:ext uri="{FF2B5EF4-FFF2-40B4-BE49-F238E27FC236}">
                  <a16:creationId xmlns:a16="http://schemas.microsoft.com/office/drawing/2014/main" id="{8716EEB3-7256-D079-D708-B4E7F6278736}"/>
                </a:ext>
              </a:extLst>
            </p:cNvPr>
            <p:cNvSpPr/>
            <p:nvPr/>
          </p:nvSpPr>
          <p:spPr>
            <a:xfrm>
              <a:off x="0" y="0"/>
              <a:ext cx="2882533" cy="461493"/>
            </a:xfrm>
            <a:custGeom>
              <a:avLst/>
              <a:gdLst/>
              <a:ahLst/>
              <a:cxnLst/>
              <a:rect l="l" t="t" r="r" b="b"/>
              <a:pathLst>
                <a:path w="2882533" h="461493">
                  <a:moveTo>
                    <a:pt x="0" y="0"/>
                  </a:moveTo>
                  <a:lnTo>
                    <a:pt x="2882533" y="0"/>
                  </a:lnTo>
                  <a:lnTo>
                    <a:pt x="2882533" y="461493"/>
                  </a:lnTo>
                  <a:lnTo>
                    <a:pt x="0" y="461493"/>
                  </a:lnTo>
                  <a:close/>
                </a:path>
              </a:pathLst>
            </a:custGeom>
            <a:solidFill>
              <a:srgbClr val="1B294A"/>
            </a:solidFill>
          </p:spPr>
        </p:sp>
        <p:sp>
          <p:nvSpPr>
            <p:cNvPr id="4" name="TextBox 4">
              <a:extLst>
                <a:ext uri="{FF2B5EF4-FFF2-40B4-BE49-F238E27FC236}">
                  <a16:creationId xmlns:a16="http://schemas.microsoft.com/office/drawing/2014/main" id="{DC2CCE4B-B390-6C71-3893-D2555E0FCBE6}"/>
                </a:ext>
              </a:extLst>
            </p:cNvPr>
            <p:cNvSpPr txBox="1"/>
            <p:nvPr/>
          </p:nvSpPr>
          <p:spPr>
            <a:xfrm>
              <a:off x="0" y="-38100"/>
              <a:ext cx="2882533" cy="499593"/>
            </a:xfrm>
            <a:prstGeom prst="rect">
              <a:avLst/>
            </a:prstGeom>
          </p:spPr>
          <p:txBody>
            <a:bodyPr lIns="50800" tIns="50800" rIns="50800" bIns="50800" rtlCol="0" anchor="ctr"/>
            <a:lstStyle/>
            <a:p>
              <a:pPr algn="l">
                <a:lnSpc>
                  <a:spcPts val="3080"/>
                </a:lnSpc>
              </a:pPr>
              <a:endParaRPr/>
            </a:p>
          </p:txBody>
        </p:sp>
      </p:grpSp>
      <p:grpSp>
        <p:nvGrpSpPr>
          <p:cNvPr id="5" name="Group 5">
            <a:extLst>
              <a:ext uri="{FF2B5EF4-FFF2-40B4-BE49-F238E27FC236}">
                <a16:creationId xmlns:a16="http://schemas.microsoft.com/office/drawing/2014/main" id="{A24CB660-4D50-C1DF-ED66-1980E0CE7EEA}"/>
              </a:ext>
            </a:extLst>
          </p:cNvPr>
          <p:cNvGrpSpPr/>
          <p:nvPr/>
        </p:nvGrpSpPr>
        <p:grpSpPr>
          <a:xfrm>
            <a:off x="5862" y="3450457"/>
            <a:ext cx="8420070" cy="4677676"/>
            <a:chOff x="0" y="0"/>
            <a:chExt cx="1073478" cy="533472"/>
          </a:xfrm>
          <a:blipFill dpi="0" rotWithShape="1">
            <a:blip r:embed="rId3"/>
            <a:srcRect/>
            <a:stretch>
              <a:fillRect t="-20000" b="-10000"/>
            </a:stretch>
          </a:blipFill>
        </p:grpSpPr>
        <p:sp>
          <p:nvSpPr>
            <p:cNvPr id="6" name="Freeform 6">
              <a:extLst>
                <a:ext uri="{FF2B5EF4-FFF2-40B4-BE49-F238E27FC236}">
                  <a16:creationId xmlns:a16="http://schemas.microsoft.com/office/drawing/2014/main" id="{2E4118DE-57BE-8774-8DD6-BC83B5658211}"/>
                </a:ext>
              </a:extLst>
            </p:cNvPr>
            <p:cNvSpPr/>
            <p:nvPr/>
          </p:nvSpPr>
          <p:spPr>
            <a:xfrm>
              <a:off x="0" y="0"/>
              <a:ext cx="1073478" cy="533472"/>
            </a:xfrm>
            <a:custGeom>
              <a:avLst/>
              <a:gdLst/>
              <a:ahLst/>
              <a:cxnLst/>
              <a:rect l="l" t="t" r="r" b="b"/>
              <a:pathLst>
                <a:path w="1073478" h="533472">
                  <a:moveTo>
                    <a:pt x="18918" y="0"/>
                  </a:moveTo>
                  <a:lnTo>
                    <a:pt x="1054561" y="0"/>
                  </a:lnTo>
                  <a:cubicBezTo>
                    <a:pt x="1059578" y="0"/>
                    <a:pt x="1064390" y="1993"/>
                    <a:pt x="1067937" y="5541"/>
                  </a:cubicBezTo>
                  <a:cubicBezTo>
                    <a:pt x="1071485" y="9089"/>
                    <a:pt x="1073478" y="13900"/>
                    <a:pt x="1073478" y="18918"/>
                  </a:cubicBezTo>
                  <a:lnTo>
                    <a:pt x="1073478" y="514555"/>
                  </a:lnTo>
                  <a:cubicBezTo>
                    <a:pt x="1073478" y="525002"/>
                    <a:pt x="1065009" y="533472"/>
                    <a:pt x="1054561" y="533472"/>
                  </a:cubicBezTo>
                  <a:lnTo>
                    <a:pt x="18918" y="533472"/>
                  </a:lnTo>
                  <a:cubicBezTo>
                    <a:pt x="13900" y="533472"/>
                    <a:pt x="9089" y="531479"/>
                    <a:pt x="5541" y="527931"/>
                  </a:cubicBezTo>
                  <a:cubicBezTo>
                    <a:pt x="1993" y="524384"/>
                    <a:pt x="0" y="519572"/>
                    <a:pt x="0" y="514555"/>
                  </a:cubicBezTo>
                  <a:lnTo>
                    <a:pt x="0" y="18918"/>
                  </a:lnTo>
                  <a:cubicBezTo>
                    <a:pt x="0" y="13900"/>
                    <a:pt x="1993" y="9089"/>
                    <a:pt x="5541" y="5541"/>
                  </a:cubicBezTo>
                  <a:cubicBezTo>
                    <a:pt x="9089" y="1993"/>
                    <a:pt x="13900" y="0"/>
                    <a:pt x="18918" y="0"/>
                  </a:cubicBezTo>
                  <a:close/>
                </a:path>
              </a:pathLst>
            </a:custGeom>
            <a:grpFill/>
          </p:spPr>
        </p:sp>
      </p:grpSp>
      <p:grpSp>
        <p:nvGrpSpPr>
          <p:cNvPr id="7" name="Group 7">
            <a:extLst>
              <a:ext uri="{FF2B5EF4-FFF2-40B4-BE49-F238E27FC236}">
                <a16:creationId xmlns:a16="http://schemas.microsoft.com/office/drawing/2014/main" id="{3F974C79-7EB8-767F-3452-F53A5E774455}"/>
              </a:ext>
            </a:extLst>
          </p:cNvPr>
          <p:cNvGrpSpPr/>
          <p:nvPr/>
        </p:nvGrpSpPr>
        <p:grpSpPr>
          <a:xfrm rot="-5400000">
            <a:off x="3849608" y="-2767461"/>
            <a:ext cx="1024532" cy="9412647"/>
            <a:chOff x="0" y="0"/>
            <a:chExt cx="269836" cy="1923050"/>
          </a:xfrm>
        </p:grpSpPr>
        <p:sp>
          <p:nvSpPr>
            <p:cNvPr id="8" name="Freeform 8">
              <a:extLst>
                <a:ext uri="{FF2B5EF4-FFF2-40B4-BE49-F238E27FC236}">
                  <a16:creationId xmlns:a16="http://schemas.microsoft.com/office/drawing/2014/main" id="{4F9F78D2-D234-B523-48B2-F5F92D0CB11B}"/>
                </a:ext>
              </a:extLst>
            </p:cNvPr>
            <p:cNvSpPr/>
            <p:nvPr/>
          </p:nvSpPr>
          <p:spPr>
            <a:xfrm>
              <a:off x="0" y="0"/>
              <a:ext cx="269836" cy="1923050"/>
            </a:xfrm>
            <a:custGeom>
              <a:avLst/>
              <a:gdLst/>
              <a:ahLst/>
              <a:cxnLst/>
              <a:rect l="l" t="t" r="r" b="b"/>
              <a:pathLst>
                <a:path w="269836" h="1923050">
                  <a:moveTo>
                    <a:pt x="120905" y="0"/>
                  </a:moveTo>
                  <a:lnTo>
                    <a:pt x="148931" y="0"/>
                  </a:lnTo>
                  <a:cubicBezTo>
                    <a:pt x="215705" y="0"/>
                    <a:pt x="269836" y="54131"/>
                    <a:pt x="269836" y="120905"/>
                  </a:cubicBezTo>
                  <a:lnTo>
                    <a:pt x="269836" y="1802145"/>
                  </a:lnTo>
                  <a:cubicBezTo>
                    <a:pt x="269836" y="1868919"/>
                    <a:pt x="215705" y="1923050"/>
                    <a:pt x="148931" y="1923050"/>
                  </a:cubicBezTo>
                  <a:lnTo>
                    <a:pt x="120905" y="1923050"/>
                  </a:lnTo>
                  <a:cubicBezTo>
                    <a:pt x="54131" y="1923050"/>
                    <a:pt x="0" y="1868919"/>
                    <a:pt x="0" y="1802145"/>
                  </a:cubicBezTo>
                  <a:lnTo>
                    <a:pt x="0" y="120905"/>
                  </a:lnTo>
                  <a:cubicBezTo>
                    <a:pt x="0" y="54131"/>
                    <a:pt x="54131" y="0"/>
                    <a:pt x="120905" y="0"/>
                  </a:cubicBezTo>
                  <a:close/>
                </a:path>
              </a:pathLst>
            </a:custGeom>
            <a:solidFill>
              <a:srgbClr val="1B294A"/>
            </a:solidFill>
          </p:spPr>
        </p:sp>
        <p:sp>
          <p:nvSpPr>
            <p:cNvPr id="9" name="TextBox 9">
              <a:extLst>
                <a:ext uri="{FF2B5EF4-FFF2-40B4-BE49-F238E27FC236}">
                  <a16:creationId xmlns:a16="http://schemas.microsoft.com/office/drawing/2014/main" id="{E74DA7F1-768E-D218-5B19-3CD4415A874D}"/>
                </a:ext>
              </a:extLst>
            </p:cNvPr>
            <p:cNvSpPr txBox="1"/>
            <p:nvPr/>
          </p:nvSpPr>
          <p:spPr>
            <a:xfrm>
              <a:off x="0" y="-38100"/>
              <a:ext cx="269836" cy="1961150"/>
            </a:xfrm>
            <a:prstGeom prst="rect">
              <a:avLst/>
            </a:prstGeom>
          </p:spPr>
          <p:txBody>
            <a:bodyPr lIns="50800" tIns="50800" rIns="50800" bIns="50800" rtlCol="0" anchor="ctr"/>
            <a:lstStyle/>
            <a:p>
              <a:pPr algn="l">
                <a:lnSpc>
                  <a:spcPts val="3080"/>
                </a:lnSpc>
              </a:pPr>
              <a:endParaRPr/>
            </a:p>
          </p:txBody>
        </p:sp>
      </p:grpSp>
      <p:sp>
        <p:nvSpPr>
          <p:cNvPr id="10" name="Freeform 10">
            <a:extLst>
              <a:ext uri="{FF2B5EF4-FFF2-40B4-BE49-F238E27FC236}">
                <a16:creationId xmlns:a16="http://schemas.microsoft.com/office/drawing/2014/main" id="{D8B8EAB7-C399-C1E3-7418-01C53AEF833D}"/>
              </a:ext>
            </a:extLst>
          </p:cNvPr>
          <p:cNvSpPr/>
          <p:nvPr/>
        </p:nvSpPr>
        <p:spPr>
          <a:xfrm>
            <a:off x="793084" y="9427398"/>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a:extLst>
              <a:ext uri="{FF2B5EF4-FFF2-40B4-BE49-F238E27FC236}">
                <a16:creationId xmlns:a16="http://schemas.microsoft.com/office/drawing/2014/main" id="{D7CE8A49-7407-9FE9-DCDF-9699B0DDBBD1}"/>
              </a:ext>
            </a:extLst>
          </p:cNvPr>
          <p:cNvSpPr/>
          <p:nvPr/>
        </p:nvSpPr>
        <p:spPr>
          <a:xfrm>
            <a:off x="15094370" y="769132"/>
            <a:ext cx="1038273" cy="259568"/>
          </a:xfrm>
          <a:custGeom>
            <a:avLst/>
            <a:gdLst/>
            <a:ahLst/>
            <a:cxnLst/>
            <a:rect l="l" t="t" r="r" b="b"/>
            <a:pathLst>
              <a:path w="1038273" h="259568">
                <a:moveTo>
                  <a:pt x="0" y="0"/>
                </a:moveTo>
                <a:lnTo>
                  <a:pt x="1038274" y="0"/>
                </a:lnTo>
                <a:lnTo>
                  <a:pt x="1038274"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a:extLst>
              <a:ext uri="{FF2B5EF4-FFF2-40B4-BE49-F238E27FC236}">
                <a16:creationId xmlns:a16="http://schemas.microsoft.com/office/drawing/2014/main" id="{19ACEFC6-4AC9-ECCF-6DEF-7A40831B38F9}"/>
              </a:ext>
            </a:extLst>
          </p:cNvPr>
          <p:cNvSpPr txBox="1"/>
          <p:nvPr/>
        </p:nvSpPr>
        <p:spPr>
          <a:xfrm>
            <a:off x="286232" y="1598724"/>
            <a:ext cx="8610602"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Applications in Computer Science</a:t>
            </a:r>
          </a:p>
        </p:txBody>
      </p:sp>
      <p:sp>
        <p:nvSpPr>
          <p:cNvPr id="16" name="TextBox 16">
            <a:extLst>
              <a:ext uri="{FF2B5EF4-FFF2-40B4-BE49-F238E27FC236}">
                <a16:creationId xmlns:a16="http://schemas.microsoft.com/office/drawing/2014/main" id="{23671EC3-9A7A-5F76-7AE3-A60D2F66122C}"/>
              </a:ext>
            </a:extLst>
          </p:cNvPr>
          <p:cNvSpPr txBox="1"/>
          <p:nvPr/>
        </p:nvSpPr>
        <p:spPr>
          <a:xfrm>
            <a:off x="9918283" y="1990045"/>
            <a:ext cx="5695224" cy="1553448"/>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Computer graphics use geometry and functions to draw images on screens. Every shape is plotted using equations and coordinate points.</a:t>
            </a:r>
          </a:p>
        </p:txBody>
      </p:sp>
      <p:sp>
        <p:nvSpPr>
          <p:cNvPr id="19" name="TextBox 19">
            <a:extLst>
              <a:ext uri="{FF2B5EF4-FFF2-40B4-BE49-F238E27FC236}">
                <a16:creationId xmlns:a16="http://schemas.microsoft.com/office/drawing/2014/main" id="{A7322E17-6D18-ACBA-6FD5-02DEB0633F55}"/>
              </a:ext>
            </a:extLst>
          </p:cNvPr>
          <p:cNvSpPr txBox="1"/>
          <p:nvPr/>
        </p:nvSpPr>
        <p:spPr>
          <a:xfrm>
            <a:off x="9918283" y="1424354"/>
            <a:ext cx="5695224"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Computer Graphics</a:t>
            </a:r>
          </a:p>
        </p:txBody>
      </p:sp>
      <p:pic>
        <p:nvPicPr>
          <p:cNvPr id="27" name="Picture 26">
            <a:extLst>
              <a:ext uri="{FF2B5EF4-FFF2-40B4-BE49-F238E27FC236}">
                <a16:creationId xmlns:a16="http://schemas.microsoft.com/office/drawing/2014/main" id="{AE341FD4-FB4E-F4BF-C16B-5A0439B654BB}"/>
              </a:ext>
            </a:extLst>
          </p:cNvPr>
          <p:cNvPicPr>
            <a:picLocks noChangeAspect="1"/>
          </p:cNvPicPr>
          <p:nvPr/>
        </p:nvPicPr>
        <p:blipFill>
          <a:blip r:embed="rId6"/>
          <a:stretch>
            <a:fillRect/>
          </a:stretch>
        </p:blipFill>
        <p:spPr>
          <a:xfrm>
            <a:off x="19266519" y="2333347"/>
            <a:ext cx="7423369" cy="7094051"/>
          </a:xfrm>
          <a:prstGeom prst="rect">
            <a:avLst/>
          </a:prstGeom>
        </p:spPr>
      </p:pic>
      <mc:AlternateContent xmlns:mc="http://schemas.openxmlformats.org/markup-compatibility/2006" xmlns:a14="http://schemas.microsoft.com/office/drawing/2010/main">
        <mc:Choice Requires="a14">
          <p:sp>
            <p:nvSpPr>
              <p:cNvPr id="12" name="TextBox 15">
                <a:extLst>
                  <a:ext uri="{FF2B5EF4-FFF2-40B4-BE49-F238E27FC236}">
                    <a16:creationId xmlns:a16="http://schemas.microsoft.com/office/drawing/2014/main" id="{BF1C6C33-DA3B-3FD2-1D9F-267CF6FDD871}"/>
                  </a:ext>
                </a:extLst>
              </p:cNvPr>
              <p:cNvSpPr txBox="1"/>
              <p:nvPr/>
            </p:nvSpPr>
            <p:spPr>
              <a:xfrm>
                <a:off x="9918283" y="4616314"/>
                <a:ext cx="5695224" cy="2345963"/>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For Example:</a:t>
                </a:r>
              </a:p>
              <a:p>
                <a:pPr algn="just">
                  <a:lnSpc>
                    <a:spcPts val="3080"/>
                  </a:lnSpc>
                </a:pPr>
                <a:r>
                  <a:rPr lang="en-US" sz="2200" dirty="0">
                    <a:solidFill>
                      <a:srgbClr val="777879"/>
                    </a:solidFill>
                    <a:latin typeface="Lato"/>
                    <a:ea typeface="Lato"/>
                    <a:cs typeface="Lato"/>
                    <a:sym typeface="Lato"/>
                  </a:rPr>
                  <a:t>Given Nodes at Positions:</a:t>
                </a:r>
              </a:p>
              <a:p>
                <a:pPr algn="just">
                  <a:lnSpc>
                    <a:spcPts val="3080"/>
                  </a:lnSpc>
                </a:pPr>
                <a:r>
                  <a:rPr lang="en-US" sz="2200" dirty="0">
                    <a:solidFill>
                      <a:srgbClr val="777879"/>
                    </a:solidFill>
                    <a:latin typeface="Lato"/>
                    <a:ea typeface="Lato"/>
                    <a:cs typeface="Lato"/>
                    <a:sym typeface="Lato"/>
                  </a:rPr>
                  <a:t>A(1,2), B(3,4), C(5,2)</a:t>
                </a:r>
              </a:p>
              <a:p>
                <a:pPr algn="just">
                  <a:lnSpc>
                    <a:spcPts val="3080"/>
                  </a:lnSpc>
                </a:pPr>
                <a:r>
                  <a:rPr lang="en-US" sz="2200" dirty="0">
                    <a:solidFill>
                      <a:srgbClr val="777879"/>
                    </a:solidFill>
                    <a:latin typeface="Lato"/>
                    <a:ea typeface="Lato"/>
                    <a:cs typeface="Lato"/>
                    <a:sym typeface="Lato"/>
                  </a:rPr>
                  <a:t>Distance Between A and B:</a:t>
                </a:r>
              </a:p>
              <a:p>
                <a:pPr algn="just">
                  <a:lnSpc>
                    <a:spcPts val="3080"/>
                  </a:lnSpc>
                </a:pPr>
                <a:r>
                  <a:rPr lang="en-US" sz="2200" dirty="0">
                    <a:solidFill>
                      <a:srgbClr val="777879"/>
                    </a:solidFill>
                    <a:latin typeface="Lato"/>
                    <a:ea typeface="Lato"/>
                    <a:cs typeface="Lato"/>
                    <a:sym typeface="Lato"/>
                  </a:rPr>
                  <a:t>d = </a:t>
                </a:r>
                <a14:m>
                  <m:oMath xmlns:m="http://schemas.openxmlformats.org/officeDocument/2006/math">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3−1</m:t>
                            </m:r>
                          </m:e>
                        </m:d>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m:t>
                    </m:r>
                    <m:sSup>
                      <m:sSupPr>
                        <m:ctrlPr>
                          <a:rPr lang="en-US" sz="2200" b="0" i="1" smtClean="0">
                            <a:solidFill>
                              <a:srgbClr val="777879"/>
                            </a:solidFill>
                            <a:latin typeface="Cambria Math" panose="02040503050406030204" pitchFamily="18" charset="0"/>
                            <a:ea typeface="Lato"/>
                            <a:cs typeface="Lato"/>
                            <a:sym typeface="Lato"/>
                          </a:rPr>
                        </m:ctrlPr>
                      </m:sSupPr>
                      <m:e>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4−2</m:t>
                            </m:r>
                          </m:e>
                        </m:d>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m:t>
                    </m:r>
                    <m:f>
                      <m:fPr>
                        <m:ctrlPr>
                          <a:rPr lang="en-US" sz="2200" b="0" i="1" smtClean="0">
                            <a:solidFill>
                              <a:srgbClr val="777879"/>
                            </a:solidFill>
                            <a:latin typeface="Cambria Math" panose="02040503050406030204" pitchFamily="18" charset="0"/>
                            <a:ea typeface="Lato"/>
                            <a:cs typeface="Lato"/>
                            <a:sym typeface="Lato"/>
                          </a:rPr>
                        </m:ctrlPr>
                      </m:fPr>
                      <m:num>
                        <m:r>
                          <a:rPr lang="en-US" sz="2200" b="0" i="1" smtClean="0">
                            <a:solidFill>
                              <a:srgbClr val="777879"/>
                            </a:solidFill>
                            <a:latin typeface="Cambria Math" panose="02040503050406030204" pitchFamily="18" charset="0"/>
                            <a:ea typeface="Lato"/>
                            <a:cs typeface="Lato"/>
                            <a:sym typeface="Lato"/>
                          </a:rPr>
                          <m:t>1</m:t>
                        </m:r>
                      </m:num>
                      <m:den>
                        <m:r>
                          <a:rPr lang="en-US" sz="2200" b="0" i="1" smtClean="0">
                            <a:solidFill>
                              <a:srgbClr val="777879"/>
                            </a:solidFill>
                            <a:latin typeface="Cambria Math" panose="02040503050406030204" pitchFamily="18" charset="0"/>
                            <a:ea typeface="Lato"/>
                            <a:cs typeface="Lato"/>
                            <a:sym typeface="Lato"/>
                          </a:rPr>
                          <m:t>2</m:t>
                        </m:r>
                      </m:den>
                    </m:f>
                    <m:r>
                      <a:rPr lang="en-US" sz="2200" b="0" i="1" smtClean="0">
                        <a:solidFill>
                          <a:srgbClr val="777879"/>
                        </a:solidFill>
                        <a:latin typeface="Cambria Math" panose="02040503050406030204" pitchFamily="18" charset="0"/>
                        <a:ea typeface="Lato"/>
                        <a:cs typeface="Lato"/>
                        <a:sym typeface="Lato"/>
                      </a:rPr>
                      <m:t>)</m:t>
                    </m:r>
                  </m:oMath>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d = sqrt (8)</a:t>
                </a:r>
              </a:p>
            </p:txBody>
          </p:sp>
        </mc:Choice>
        <mc:Fallback xmlns="">
          <p:sp>
            <p:nvSpPr>
              <p:cNvPr id="12" name="TextBox 15">
                <a:extLst>
                  <a:ext uri="{FF2B5EF4-FFF2-40B4-BE49-F238E27FC236}">
                    <a16:creationId xmlns:a16="http://schemas.microsoft.com/office/drawing/2014/main" id="{BF1C6C33-DA3B-3FD2-1D9F-267CF6FDD871}"/>
                  </a:ext>
                </a:extLst>
              </p:cNvPr>
              <p:cNvSpPr txBox="1">
                <a:spLocks noRot="1" noChangeAspect="1" noMove="1" noResize="1" noEditPoints="1" noAdjustHandles="1" noChangeArrowheads="1" noChangeShapeType="1" noTextEdit="1"/>
              </p:cNvSpPr>
              <p:nvPr/>
            </p:nvSpPr>
            <p:spPr>
              <a:xfrm>
                <a:off x="9918283" y="4616314"/>
                <a:ext cx="5695224" cy="2345963"/>
              </a:xfrm>
              <a:prstGeom prst="rect">
                <a:avLst/>
              </a:prstGeom>
              <a:blipFill>
                <a:blip r:embed="rId7"/>
                <a:stretch>
                  <a:fillRect l="-2998" t="-2857" b="-6234"/>
                </a:stretch>
              </a:blipFill>
            </p:spPr>
            <p:txBody>
              <a:bodyPr/>
              <a:lstStyle/>
              <a:p>
                <a:r>
                  <a:rPr lang="en-US">
                    <a:noFill/>
                  </a:rPr>
                  <a:t> </a:t>
                </a:r>
              </a:p>
            </p:txBody>
          </p:sp>
        </mc:Fallback>
      </mc:AlternateContent>
    </p:spTree>
    <p:extLst>
      <p:ext uri="{BB962C8B-B14F-4D97-AF65-F5344CB8AC3E}">
        <p14:creationId xmlns:p14="http://schemas.microsoft.com/office/powerpoint/2010/main" val="186939044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6002" y="8805887"/>
            <a:ext cx="19255699" cy="1752231"/>
            <a:chOff x="0" y="0"/>
            <a:chExt cx="5071460" cy="461493"/>
          </a:xfrm>
        </p:grpSpPr>
        <p:sp>
          <p:nvSpPr>
            <p:cNvPr id="3" name="Freeform 3"/>
            <p:cNvSpPr/>
            <p:nvPr/>
          </p:nvSpPr>
          <p:spPr>
            <a:xfrm>
              <a:off x="0" y="0"/>
              <a:ext cx="5071460" cy="461493"/>
            </a:xfrm>
            <a:custGeom>
              <a:avLst/>
              <a:gdLst/>
              <a:ahLst/>
              <a:cxnLst/>
              <a:rect l="l" t="t" r="r" b="b"/>
              <a:pathLst>
                <a:path w="5071460" h="461493">
                  <a:moveTo>
                    <a:pt x="0" y="0"/>
                  </a:moveTo>
                  <a:lnTo>
                    <a:pt x="5071460" y="0"/>
                  </a:lnTo>
                  <a:lnTo>
                    <a:pt x="5071460" y="461493"/>
                  </a:lnTo>
                  <a:lnTo>
                    <a:pt x="0" y="461493"/>
                  </a:lnTo>
                  <a:close/>
                </a:path>
              </a:pathLst>
            </a:custGeom>
            <a:solidFill>
              <a:srgbClr val="1B294A"/>
            </a:solidFill>
          </p:spPr>
        </p:sp>
        <p:sp>
          <p:nvSpPr>
            <p:cNvPr id="4" name="TextBox 4"/>
            <p:cNvSpPr txBox="1"/>
            <p:nvPr/>
          </p:nvSpPr>
          <p:spPr>
            <a:xfrm>
              <a:off x="0" y="-38100"/>
              <a:ext cx="5071460" cy="499593"/>
            </a:xfrm>
            <a:prstGeom prst="rect">
              <a:avLst/>
            </a:prstGeom>
          </p:spPr>
          <p:txBody>
            <a:bodyPr lIns="50800" tIns="50800" rIns="50800" bIns="50800" rtlCol="0" anchor="ctr"/>
            <a:lstStyle/>
            <a:p>
              <a:pPr algn="l">
                <a:lnSpc>
                  <a:spcPts val="3080"/>
                </a:lnSpc>
              </a:pPr>
              <a:endParaRPr/>
            </a:p>
          </p:txBody>
        </p:sp>
      </p:grpSp>
      <p:grpSp>
        <p:nvGrpSpPr>
          <p:cNvPr id="5" name="Group 5"/>
          <p:cNvGrpSpPr/>
          <p:nvPr/>
        </p:nvGrpSpPr>
        <p:grpSpPr>
          <a:xfrm>
            <a:off x="0" y="5371647"/>
            <a:ext cx="18288000" cy="4310355"/>
            <a:chOff x="0" y="0"/>
            <a:chExt cx="2833290" cy="667787"/>
          </a:xfrm>
          <a:blipFill dpi="0" rotWithShape="1">
            <a:blip r:embed="rId2">
              <a:alphaModFix amt="89000"/>
            </a:blip>
            <a:srcRect/>
            <a:stretch>
              <a:fillRect/>
            </a:stretch>
          </a:blipFill>
        </p:grpSpPr>
        <p:sp>
          <p:nvSpPr>
            <p:cNvPr id="6" name="Freeform 6"/>
            <p:cNvSpPr/>
            <p:nvPr/>
          </p:nvSpPr>
          <p:spPr>
            <a:xfrm>
              <a:off x="0" y="0"/>
              <a:ext cx="2833290" cy="667787"/>
            </a:xfrm>
            <a:custGeom>
              <a:avLst/>
              <a:gdLst/>
              <a:ahLst/>
              <a:cxnLst/>
              <a:rect l="l" t="t" r="r" b="b"/>
              <a:pathLst>
                <a:path w="2833290" h="667787">
                  <a:moveTo>
                    <a:pt x="0" y="0"/>
                  </a:moveTo>
                  <a:lnTo>
                    <a:pt x="2833290" y="0"/>
                  </a:lnTo>
                  <a:lnTo>
                    <a:pt x="2833290" y="667787"/>
                  </a:lnTo>
                  <a:lnTo>
                    <a:pt x="0" y="667787"/>
                  </a:lnTo>
                  <a:close/>
                </a:path>
              </a:pathLst>
            </a:custGeom>
            <a:grpFill/>
          </p:spPr>
        </p:sp>
      </p:grpSp>
      <p:sp>
        <p:nvSpPr>
          <p:cNvPr id="7" name="TextBox 7"/>
          <p:cNvSpPr txBox="1"/>
          <p:nvPr/>
        </p:nvSpPr>
        <p:spPr>
          <a:xfrm>
            <a:off x="3722345" y="3220271"/>
            <a:ext cx="10843310" cy="1163022"/>
          </a:xfrm>
          <a:prstGeom prst="rect">
            <a:avLst/>
          </a:prstGeom>
        </p:spPr>
        <p:txBody>
          <a:bodyPr lIns="0" tIns="0" rIns="0" bIns="0" rtlCol="0" anchor="t">
            <a:spAutoFit/>
          </a:bodyPr>
          <a:lstStyle/>
          <a:p>
            <a:pPr algn="ctr">
              <a:lnSpc>
                <a:spcPts val="3080"/>
              </a:lnSpc>
            </a:pPr>
            <a:r>
              <a:rPr lang="en-US" sz="2400" dirty="0">
                <a:solidFill>
                  <a:srgbClr val="777879"/>
                </a:solidFill>
                <a:latin typeface="Lato"/>
                <a:ea typeface="Lato"/>
                <a:cs typeface="Lato"/>
                <a:sym typeface="Lato"/>
              </a:rPr>
              <a:t>Cyber security focuses on protecting digital systems and data from unauthorized access and attacks. Mathematics plays a critical role in securing information and analyzing network behavior.</a:t>
            </a:r>
          </a:p>
        </p:txBody>
      </p:sp>
      <p:grpSp>
        <p:nvGrpSpPr>
          <p:cNvPr id="8" name="Group 8"/>
          <p:cNvGrpSpPr/>
          <p:nvPr/>
        </p:nvGrpSpPr>
        <p:grpSpPr>
          <a:xfrm>
            <a:off x="3722345" y="1663875"/>
            <a:ext cx="10843309" cy="909000"/>
            <a:chOff x="0" y="0"/>
            <a:chExt cx="1823113" cy="239408"/>
          </a:xfrm>
        </p:grpSpPr>
        <p:sp>
          <p:nvSpPr>
            <p:cNvPr id="9" name="Freeform 9"/>
            <p:cNvSpPr/>
            <p:nvPr/>
          </p:nvSpPr>
          <p:spPr>
            <a:xfrm>
              <a:off x="0" y="0"/>
              <a:ext cx="1823113" cy="239408"/>
            </a:xfrm>
            <a:custGeom>
              <a:avLst/>
              <a:gdLst/>
              <a:ahLst/>
              <a:cxnLst/>
              <a:rect l="l" t="t" r="r" b="b"/>
              <a:pathLst>
                <a:path w="1823113" h="239408">
                  <a:moveTo>
                    <a:pt x="13421" y="0"/>
                  </a:moveTo>
                  <a:lnTo>
                    <a:pt x="1809692" y="0"/>
                  </a:lnTo>
                  <a:cubicBezTo>
                    <a:pt x="1813252" y="0"/>
                    <a:pt x="1816665" y="1414"/>
                    <a:pt x="1819182" y="3931"/>
                  </a:cubicBezTo>
                  <a:cubicBezTo>
                    <a:pt x="1821699" y="6448"/>
                    <a:pt x="1823113" y="9862"/>
                    <a:pt x="1823113" y="13421"/>
                  </a:cubicBezTo>
                  <a:lnTo>
                    <a:pt x="1823113" y="225986"/>
                  </a:lnTo>
                  <a:cubicBezTo>
                    <a:pt x="1823113" y="233399"/>
                    <a:pt x="1817104" y="239408"/>
                    <a:pt x="1809692" y="239408"/>
                  </a:cubicBezTo>
                  <a:lnTo>
                    <a:pt x="13421" y="239408"/>
                  </a:lnTo>
                  <a:cubicBezTo>
                    <a:pt x="6009" y="239408"/>
                    <a:pt x="0" y="233399"/>
                    <a:pt x="0" y="225986"/>
                  </a:cubicBezTo>
                  <a:lnTo>
                    <a:pt x="0" y="13421"/>
                  </a:lnTo>
                  <a:cubicBezTo>
                    <a:pt x="0" y="6009"/>
                    <a:pt x="6009" y="0"/>
                    <a:pt x="13421" y="0"/>
                  </a:cubicBezTo>
                  <a:close/>
                </a:path>
              </a:pathLst>
            </a:custGeom>
            <a:solidFill>
              <a:srgbClr val="1B294A"/>
            </a:solidFill>
          </p:spPr>
        </p:sp>
        <p:sp>
          <p:nvSpPr>
            <p:cNvPr id="10" name="TextBox 10"/>
            <p:cNvSpPr txBox="1"/>
            <p:nvPr/>
          </p:nvSpPr>
          <p:spPr>
            <a:xfrm>
              <a:off x="0" y="-38100"/>
              <a:ext cx="1823113" cy="277508"/>
            </a:xfrm>
            <a:prstGeom prst="rect">
              <a:avLst/>
            </a:prstGeom>
          </p:spPr>
          <p:txBody>
            <a:bodyPr lIns="50800" tIns="50800" rIns="50800" bIns="50800" rtlCol="0" anchor="ctr"/>
            <a:lstStyle/>
            <a:p>
              <a:pPr algn="l">
                <a:lnSpc>
                  <a:spcPts val="3080"/>
                </a:lnSpc>
              </a:pPr>
              <a:endParaRPr/>
            </a:p>
          </p:txBody>
        </p:sp>
      </p:grpSp>
      <p:sp>
        <p:nvSpPr>
          <p:cNvPr id="11" name="TextBox 11"/>
          <p:cNvSpPr txBox="1"/>
          <p:nvPr/>
        </p:nvSpPr>
        <p:spPr>
          <a:xfrm>
            <a:off x="4767817" y="1724106"/>
            <a:ext cx="8752364" cy="700513"/>
          </a:xfrm>
          <a:prstGeom prst="rect">
            <a:avLst/>
          </a:prstGeom>
        </p:spPr>
        <p:txBody>
          <a:bodyPr wrap="square" lIns="0" tIns="0" rIns="0" bIns="0" rtlCol="0" anchor="t">
            <a:spAutoFit/>
          </a:bodyPr>
          <a:lstStyle/>
          <a:p>
            <a:pPr algn="ctr">
              <a:lnSpc>
                <a:spcPts val="5880"/>
              </a:lnSpc>
            </a:pPr>
            <a:r>
              <a:rPr lang="en-US" sz="4200" b="1" dirty="0">
                <a:solidFill>
                  <a:srgbClr val="FFFFFF"/>
                </a:solidFill>
                <a:latin typeface="Montserrat Bold"/>
                <a:ea typeface="Montserrat Bold"/>
                <a:cs typeface="Montserrat Bold"/>
                <a:sym typeface="Montserrat Bold"/>
              </a:rPr>
              <a:t>Introduction to Cyber Security</a:t>
            </a:r>
          </a:p>
        </p:txBody>
      </p:sp>
      <p:sp>
        <p:nvSpPr>
          <p:cNvPr id="12" name="Freeform 12"/>
          <p:cNvSpPr/>
          <p:nvPr/>
        </p:nvSpPr>
        <p:spPr>
          <a:xfrm>
            <a:off x="16221027" y="898916"/>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794225" y="1028700"/>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FB71F-09D1-837C-EB51-20D4E4D581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27AED9B-9277-D075-4CC4-382FA3DD1299}"/>
              </a:ext>
            </a:extLst>
          </p:cNvPr>
          <p:cNvGrpSpPr/>
          <p:nvPr/>
        </p:nvGrpSpPr>
        <p:grpSpPr>
          <a:xfrm rot="-5400000">
            <a:off x="12040034" y="4540735"/>
            <a:ext cx="10944618" cy="1752231"/>
            <a:chOff x="0" y="0"/>
            <a:chExt cx="2882533" cy="461493"/>
          </a:xfrm>
        </p:grpSpPr>
        <p:sp>
          <p:nvSpPr>
            <p:cNvPr id="3" name="Freeform 3">
              <a:extLst>
                <a:ext uri="{FF2B5EF4-FFF2-40B4-BE49-F238E27FC236}">
                  <a16:creationId xmlns:a16="http://schemas.microsoft.com/office/drawing/2014/main" id="{A14599A7-7C45-2728-ABD6-B42875F94C78}"/>
                </a:ext>
              </a:extLst>
            </p:cNvPr>
            <p:cNvSpPr/>
            <p:nvPr/>
          </p:nvSpPr>
          <p:spPr>
            <a:xfrm>
              <a:off x="0" y="0"/>
              <a:ext cx="2882533" cy="461493"/>
            </a:xfrm>
            <a:custGeom>
              <a:avLst/>
              <a:gdLst/>
              <a:ahLst/>
              <a:cxnLst/>
              <a:rect l="l" t="t" r="r" b="b"/>
              <a:pathLst>
                <a:path w="2882533" h="461493">
                  <a:moveTo>
                    <a:pt x="0" y="0"/>
                  </a:moveTo>
                  <a:lnTo>
                    <a:pt x="2882533" y="0"/>
                  </a:lnTo>
                  <a:lnTo>
                    <a:pt x="2882533" y="461493"/>
                  </a:lnTo>
                  <a:lnTo>
                    <a:pt x="0" y="461493"/>
                  </a:lnTo>
                  <a:close/>
                </a:path>
              </a:pathLst>
            </a:custGeom>
            <a:solidFill>
              <a:srgbClr val="1B294A"/>
            </a:solidFill>
          </p:spPr>
        </p:sp>
        <p:sp>
          <p:nvSpPr>
            <p:cNvPr id="4" name="TextBox 4">
              <a:extLst>
                <a:ext uri="{FF2B5EF4-FFF2-40B4-BE49-F238E27FC236}">
                  <a16:creationId xmlns:a16="http://schemas.microsoft.com/office/drawing/2014/main" id="{7E1CB1C3-019C-AC00-870B-39B03A0F9680}"/>
                </a:ext>
              </a:extLst>
            </p:cNvPr>
            <p:cNvSpPr txBox="1"/>
            <p:nvPr/>
          </p:nvSpPr>
          <p:spPr>
            <a:xfrm>
              <a:off x="0" y="-38100"/>
              <a:ext cx="2882533" cy="499593"/>
            </a:xfrm>
            <a:prstGeom prst="rect">
              <a:avLst/>
            </a:prstGeom>
          </p:spPr>
          <p:txBody>
            <a:bodyPr lIns="50800" tIns="50800" rIns="50800" bIns="50800" rtlCol="0" anchor="ctr"/>
            <a:lstStyle/>
            <a:p>
              <a:pPr algn="l">
                <a:lnSpc>
                  <a:spcPts val="3080"/>
                </a:lnSpc>
              </a:pPr>
              <a:endParaRPr/>
            </a:p>
          </p:txBody>
        </p:sp>
      </p:grpSp>
      <p:grpSp>
        <p:nvGrpSpPr>
          <p:cNvPr id="5" name="Group 5">
            <a:extLst>
              <a:ext uri="{FF2B5EF4-FFF2-40B4-BE49-F238E27FC236}">
                <a16:creationId xmlns:a16="http://schemas.microsoft.com/office/drawing/2014/main" id="{F1A6A60C-AD3B-8093-C88B-398C850F9034}"/>
              </a:ext>
            </a:extLst>
          </p:cNvPr>
          <p:cNvGrpSpPr/>
          <p:nvPr/>
        </p:nvGrpSpPr>
        <p:grpSpPr>
          <a:xfrm>
            <a:off x="-1523511" y="3482897"/>
            <a:ext cx="9412645" cy="4677676"/>
            <a:chOff x="0" y="0"/>
            <a:chExt cx="1073478" cy="533472"/>
          </a:xfrm>
          <a:blipFill dpi="0" rotWithShape="1">
            <a:blip r:embed="rId2">
              <a:alphaModFix amt="89000"/>
            </a:blip>
            <a:srcRect/>
            <a:stretch>
              <a:fillRect b="-10000"/>
            </a:stretch>
          </a:blipFill>
        </p:grpSpPr>
        <p:sp>
          <p:nvSpPr>
            <p:cNvPr id="6" name="Freeform 6">
              <a:extLst>
                <a:ext uri="{FF2B5EF4-FFF2-40B4-BE49-F238E27FC236}">
                  <a16:creationId xmlns:a16="http://schemas.microsoft.com/office/drawing/2014/main" id="{076FAB88-EB80-7C2E-9D1B-2E0457E3AD6A}"/>
                </a:ext>
              </a:extLst>
            </p:cNvPr>
            <p:cNvSpPr/>
            <p:nvPr/>
          </p:nvSpPr>
          <p:spPr>
            <a:xfrm>
              <a:off x="0" y="0"/>
              <a:ext cx="1073478" cy="533472"/>
            </a:xfrm>
            <a:custGeom>
              <a:avLst/>
              <a:gdLst/>
              <a:ahLst/>
              <a:cxnLst/>
              <a:rect l="l" t="t" r="r" b="b"/>
              <a:pathLst>
                <a:path w="1073478" h="533472">
                  <a:moveTo>
                    <a:pt x="18918" y="0"/>
                  </a:moveTo>
                  <a:lnTo>
                    <a:pt x="1054561" y="0"/>
                  </a:lnTo>
                  <a:cubicBezTo>
                    <a:pt x="1059578" y="0"/>
                    <a:pt x="1064390" y="1993"/>
                    <a:pt x="1067937" y="5541"/>
                  </a:cubicBezTo>
                  <a:cubicBezTo>
                    <a:pt x="1071485" y="9089"/>
                    <a:pt x="1073478" y="13900"/>
                    <a:pt x="1073478" y="18918"/>
                  </a:cubicBezTo>
                  <a:lnTo>
                    <a:pt x="1073478" y="514555"/>
                  </a:lnTo>
                  <a:cubicBezTo>
                    <a:pt x="1073478" y="525002"/>
                    <a:pt x="1065009" y="533472"/>
                    <a:pt x="1054561" y="533472"/>
                  </a:cubicBezTo>
                  <a:lnTo>
                    <a:pt x="18918" y="533472"/>
                  </a:lnTo>
                  <a:cubicBezTo>
                    <a:pt x="13900" y="533472"/>
                    <a:pt x="9089" y="531479"/>
                    <a:pt x="5541" y="527931"/>
                  </a:cubicBezTo>
                  <a:cubicBezTo>
                    <a:pt x="1993" y="524384"/>
                    <a:pt x="0" y="519572"/>
                    <a:pt x="0" y="514555"/>
                  </a:cubicBezTo>
                  <a:lnTo>
                    <a:pt x="0" y="18918"/>
                  </a:lnTo>
                  <a:cubicBezTo>
                    <a:pt x="0" y="13900"/>
                    <a:pt x="1993" y="9089"/>
                    <a:pt x="5541" y="5541"/>
                  </a:cubicBezTo>
                  <a:cubicBezTo>
                    <a:pt x="9089" y="1993"/>
                    <a:pt x="13900" y="0"/>
                    <a:pt x="18918" y="0"/>
                  </a:cubicBezTo>
                  <a:close/>
                </a:path>
              </a:pathLst>
            </a:custGeom>
            <a:grpFill/>
          </p:spPr>
        </p:sp>
      </p:grpSp>
      <p:grpSp>
        <p:nvGrpSpPr>
          <p:cNvPr id="7" name="Group 7">
            <a:extLst>
              <a:ext uri="{FF2B5EF4-FFF2-40B4-BE49-F238E27FC236}">
                <a16:creationId xmlns:a16="http://schemas.microsoft.com/office/drawing/2014/main" id="{B43BCBFF-7FD2-E050-A7FD-021BDCE7D84F}"/>
              </a:ext>
            </a:extLst>
          </p:cNvPr>
          <p:cNvGrpSpPr/>
          <p:nvPr/>
        </p:nvGrpSpPr>
        <p:grpSpPr>
          <a:xfrm rot="-5400000">
            <a:off x="3849608" y="-2767461"/>
            <a:ext cx="1024532" cy="9412647"/>
            <a:chOff x="0" y="0"/>
            <a:chExt cx="269836" cy="1923050"/>
          </a:xfrm>
        </p:grpSpPr>
        <p:sp>
          <p:nvSpPr>
            <p:cNvPr id="8" name="Freeform 8">
              <a:extLst>
                <a:ext uri="{FF2B5EF4-FFF2-40B4-BE49-F238E27FC236}">
                  <a16:creationId xmlns:a16="http://schemas.microsoft.com/office/drawing/2014/main" id="{1D11616D-F700-A5C0-A9F5-D8B955006E8D}"/>
                </a:ext>
              </a:extLst>
            </p:cNvPr>
            <p:cNvSpPr/>
            <p:nvPr/>
          </p:nvSpPr>
          <p:spPr>
            <a:xfrm>
              <a:off x="0" y="0"/>
              <a:ext cx="269836" cy="1923050"/>
            </a:xfrm>
            <a:custGeom>
              <a:avLst/>
              <a:gdLst/>
              <a:ahLst/>
              <a:cxnLst/>
              <a:rect l="l" t="t" r="r" b="b"/>
              <a:pathLst>
                <a:path w="269836" h="1923050">
                  <a:moveTo>
                    <a:pt x="120905" y="0"/>
                  </a:moveTo>
                  <a:lnTo>
                    <a:pt x="148931" y="0"/>
                  </a:lnTo>
                  <a:cubicBezTo>
                    <a:pt x="215705" y="0"/>
                    <a:pt x="269836" y="54131"/>
                    <a:pt x="269836" y="120905"/>
                  </a:cubicBezTo>
                  <a:lnTo>
                    <a:pt x="269836" y="1802145"/>
                  </a:lnTo>
                  <a:cubicBezTo>
                    <a:pt x="269836" y="1868919"/>
                    <a:pt x="215705" y="1923050"/>
                    <a:pt x="148931" y="1923050"/>
                  </a:cubicBezTo>
                  <a:lnTo>
                    <a:pt x="120905" y="1923050"/>
                  </a:lnTo>
                  <a:cubicBezTo>
                    <a:pt x="54131" y="1923050"/>
                    <a:pt x="0" y="1868919"/>
                    <a:pt x="0" y="1802145"/>
                  </a:cubicBezTo>
                  <a:lnTo>
                    <a:pt x="0" y="120905"/>
                  </a:lnTo>
                  <a:cubicBezTo>
                    <a:pt x="0" y="54131"/>
                    <a:pt x="54131" y="0"/>
                    <a:pt x="120905" y="0"/>
                  </a:cubicBezTo>
                  <a:close/>
                </a:path>
              </a:pathLst>
            </a:custGeom>
            <a:solidFill>
              <a:srgbClr val="1B294A"/>
            </a:solidFill>
          </p:spPr>
        </p:sp>
        <p:sp>
          <p:nvSpPr>
            <p:cNvPr id="9" name="TextBox 9">
              <a:extLst>
                <a:ext uri="{FF2B5EF4-FFF2-40B4-BE49-F238E27FC236}">
                  <a16:creationId xmlns:a16="http://schemas.microsoft.com/office/drawing/2014/main" id="{2971BE4E-5478-FCA5-DD93-BCEF44455398}"/>
                </a:ext>
              </a:extLst>
            </p:cNvPr>
            <p:cNvSpPr txBox="1"/>
            <p:nvPr/>
          </p:nvSpPr>
          <p:spPr>
            <a:xfrm>
              <a:off x="0" y="-38100"/>
              <a:ext cx="269836" cy="1961150"/>
            </a:xfrm>
            <a:prstGeom prst="rect">
              <a:avLst/>
            </a:prstGeom>
          </p:spPr>
          <p:txBody>
            <a:bodyPr lIns="50800" tIns="50800" rIns="50800" bIns="50800" rtlCol="0" anchor="ctr"/>
            <a:lstStyle/>
            <a:p>
              <a:pPr algn="l">
                <a:lnSpc>
                  <a:spcPts val="3080"/>
                </a:lnSpc>
              </a:pPr>
              <a:endParaRPr/>
            </a:p>
          </p:txBody>
        </p:sp>
      </p:grpSp>
      <p:sp>
        <p:nvSpPr>
          <p:cNvPr id="10" name="Freeform 10">
            <a:extLst>
              <a:ext uri="{FF2B5EF4-FFF2-40B4-BE49-F238E27FC236}">
                <a16:creationId xmlns:a16="http://schemas.microsoft.com/office/drawing/2014/main" id="{9A2546C0-1122-427B-E0FB-60A0A1E71055}"/>
              </a:ext>
            </a:extLst>
          </p:cNvPr>
          <p:cNvSpPr/>
          <p:nvPr/>
        </p:nvSpPr>
        <p:spPr>
          <a:xfrm>
            <a:off x="793084" y="9427398"/>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F7EA4DA0-BD1B-9E59-C554-21FD48464D1C}"/>
              </a:ext>
            </a:extLst>
          </p:cNvPr>
          <p:cNvSpPr/>
          <p:nvPr/>
        </p:nvSpPr>
        <p:spPr>
          <a:xfrm>
            <a:off x="15094370" y="769132"/>
            <a:ext cx="1038273" cy="259568"/>
          </a:xfrm>
          <a:custGeom>
            <a:avLst/>
            <a:gdLst/>
            <a:ahLst/>
            <a:cxnLst/>
            <a:rect l="l" t="t" r="r" b="b"/>
            <a:pathLst>
              <a:path w="1038273" h="259568">
                <a:moveTo>
                  <a:pt x="0" y="0"/>
                </a:moveTo>
                <a:lnTo>
                  <a:pt x="1038274" y="0"/>
                </a:lnTo>
                <a:lnTo>
                  <a:pt x="1038274"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B91B61E5-B621-DE3E-28B3-7F4992ADFDAC}"/>
              </a:ext>
            </a:extLst>
          </p:cNvPr>
          <p:cNvSpPr txBox="1"/>
          <p:nvPr/>
        </p:nvSpPr>
        <p:spPr>
          <a:xfrm>
            <a:off x="286232" y="1598724"/>
            <a:ext cx="8610602"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Roles of Calculus in </a:t>
            </a:r>
            <a:r>
              <a:rPr lang="en-US" sz="3699" b="1" dirty="0" err="1">
                <a:solidFill>
                  <a:srgbClr val="FFFFFF"/>
                </a:solidFill>
                <a:latin typeface="Montserrat Bold"/>
                <a:ea typeface="Montserrat Bold"/>
                <a:cs typeface="Montserrat Bold"/>
                <a:sym typeface="Montserrat Bold"/>
              </a:rPr>
              <a:t>CyberSecurity</a:t>
            </a:r>
            <a:endParaRPr lang="en-US" sz="3699" b="1" dirty="0">
              <a:solidFill>
                <a:srgbClr val="FFFFFF"/>
              </a:solidFill>
              <a:latin typeface="Montserrat Bold"/>
              <a:ea typeface="Montserrat Bold"/>
              <a:cs typeface="Montserrat Bold"/>
              <a:sym typeface="Montserrat Bold"/>
            </a:endParaRPr>
          </a:p>
        </p:txBody>
      </p:sp>
      <p:sp>
        <p:nvSpPr>
          <p:cNvPr id="14" name="TextBox 14">
            <a:extLst>
              <a:ext uri="{FF2B5EF4-FFF2-40B4-BE49-F238E27FC236}">
                <a16:creationId xmlns:a16="http://schemas.microsoft.com/office/drawing/2014/main" id="{5D7E45CC-5B7B-AF91-A712-F9D59D339899}"/>
              </a:ext>
            </a:extLst>
          </p:cNvPr>
          <p:cNvSpPr txBox="1"/>
          <p:nvPr/>
        </p:nvSpPr>
        <p:spPr>
          <a:xfrm>
            <a:off x="9918283" y="1980949"/>
            <a:ext cx="5695224" cy="1553448"/>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Normal network traffic increases slowly. During attacks like DDoS, traffic increases extremely fast. Calculus uses derivatives to measure how fast traffic changes.</a:t>
            </a:r>
          </a:p>
        </p:txBody>
      </p:sp>
      <p:sp>
        <p:nvSpPr>
          <p:cNvPr id="17" name="TextBox 17">
            <a:extLst>
              <a:ext uri="{FF2B5EF4-FFF2-40B4-BE49-F238E27FC236}">
                <a16:creationId xmlns:a16="http://schemas.microsoft.com/office/drawing/2014/main" id="{FECBF185-8617-D4E6-A964-B1B157657ED6}"/>
              </a:ext>
            </a:extLst>
          </p:cNvPr>
          <p:cNvSpPr txBox="1"/>
          <p:nvPr/>
        </p:nvSpPr>
        <p:spPr>
          <a:xfrm>
            <a:off x="9918283" y="1042615"/>
            <a:ext cx="5695224" cy="938334"/>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Detecting Unusual Network Traffic Patterns</a:t>
            </a:r>
          </a:p>
        </p:txBody>
      </p:sp>
      <mc:AlternateContent xmlns:mc="http://schemas.openxmlformats.org/markup-compatibility/2006" xmlns:a14="http://schemas.microsoft.com/office/drawing/2010/main">
        <mc:Choice Requires="a14">
          <p:sp>
            <p:nvSpPr>
              <p:cNvPr id="12" name="TextBox 14">
                <a:extLst>
                  <a:ext uri="{FF2B5EF4-FFF2-40B4-BE49-F238E27FC236}">
                    <a16:creationId xmlns:a16="http://schemas.microsoft.com/office/drawing/2014/main" id="{01E9EB13-3DDC-AAA7-803B-FAE2EC0ABA7B}"/>
                  </a:ext>
                </a:extLst>
              </p:cNvPr>
              <p:cNvSpPr txBox="1"/>
              <p:nvPr/>
            </p:nvSpPr>
            <p:spPr>
              <a:xfrm>
                <a:off x="9918282" y="5199156"/>
                <a:ext cx="5695224" cy="3538597"/>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Example:</a:t>
                </a:r>
              </a:p>
              <a:p>
                <a:pPr algn="just">
                  <a:lnSpc>
                    <a:spcPts val="3080"/>
                  </a:lnSpc>
                </a:pPr>
                <a:r>
                  <a:rPr lang="en-US" sz="2200" dirty="0">
                    <a:solidFill>
                      <a:srgbClr val="777879"/>
                    </a:solidFill>
                    <a:latin typeface="Lato"/>
                    <a:ea typeface="Lato"/>
                    <a:cs typeface="Lato"/>
                    <a:sym typeface="Lato"/>
                  </a:rPr>
                  <a:t>Given Traffic Function is</a:t>
                </a:r>
              </a:p>
              <a:p>
                <a:pPr algn="just">
                  <a:lnSpc>
                    <a:spcPts val="3080"/>
                  </a:lnSpc>
                </a:pPr>
                <a:r>
                  <a:rPr lang="en-US" sz="2200" dirty="0">
                    <a:solidFill>
                      <a:srgbClr val="777879"/>
                    </a:solidFill>
                    <a:latin typeface="Lato"/>
                    <a:ea typeface="Lato"/>
                    <a:cs typeface="Lato"/>
                    <a:sym typeface="Lato"/>
                  </a:rPr>
                  <a:t>P(t) = </a:t>
                </a:r>
                <a14:m>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4</m:t>
                    </m:r>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𝑡</m:t>
                        </m:r>
                      </m:e>
                      <m:sup>
                        <m:r>
                          <a:rPr lang="en-US" sz="2200" b="0" i="1" smtClean="0">
                            <a:solidFill>
                              <a:srgbClr val="777879"/>
                            </a:solidFill>
                            <a:latin typeface="Cambria Math" panose="02040503050406030204" pitchFamily="18" charset="0"/>
                            <a:ea typeface="Lato"/>
                            <a:cs typeface="Lato"/>
                            <a:sym typeface="Lato"/>
                          </a:rPr>
                          <m:t>2</m:t>
                        </m:r>
                      </m:sup>
                    </m:sSup>
                  </m:oMath>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Its derivative for Rate of Traffic is</a:t>
                </a:r>
              </a:p>
              <a:p>
                <a:pPr algn="just">
                  <a:lnSpc>
                    <a:spcPts val="3080"/>
                  </a:lnSpc>
                </a:pPr>
                <a:r>
                  <a:rPr lang="en-US" sz="2200" dirty="0">
                    <a:solidFill>
                      <a:srgbClr val="777879"/>
                    </a:solidFill>
                    <a:latin typeface="Lato"/>
                    <a:ea typeface="Lato"/>
                    <a:cs typeface="Lato"/>
                    <a:sym typeface="Lato"/>
                  </a:rPr>
                  <a:t>P’(t) = 8t</a:t>
                </a:r>
              </a:p>
              <a:p>
                <a:pPr algn="just">
                  <a:lnSpc>
                    <a:spcPts val="3080"/>
                  </a:lnSpc>
                </a:pPr>
                <a:r>
                  <a:rPr lang="en-US" sz="2200" dirty="0">
                    <a:solidFill>
                      <a:srgbClr val="777879"/>
                    </a:solidFill>
                    <a:latin typeface="Lato"/>
                    <a:ea typeface="Lato"/>
                    <a:cs typeface="Lato"/>
                    <a:sym typeface="Lato"/>
                  </a:rPr>
                  <a:t>At t = 2, P’(t) = 16 which is normal</a:t>
                </a:r>
              </a:p>
              <a:p>
                <a:pPr algn="just">
                  <a:lnSpc>
                    <a:spcPts val="3080"/>
                  </a:lnSpc>
                </a:pPr>
                <a:r>
                  <a:rPr lang="en-US" sz="2200" dirty="0">
                    <a:solidFill>
                      <a:srgbClr val="777879"/>
                    </a:solidFill>
                    <a:latin typeface="Lato"/>
                    <a:ea typeface="Lato"/>
                    <a:cs typeface="Lato"/>
                    <a:sym typeface="Lato"/>
                  </a:rPr>
                  <a:t>At t = 10, P’(t) = 80, this traffic spike is suspicious. A Sudden Spike shows suspicious traffic flow.</a:t>
                </a:r>
              </a:p>
            </p:txBody>
          </p:sp>
        </mc:Choice>
        <mc:Fallback xmlns="">
          <p:sp>
            <p:nvSpPr>
              <p:cNvPr id="12" name="TextBox 14">
                <a:extLst>
                  <a:ext uri="{FF2B5EF4-FFF2-40B4-BE49-F238E27FC236}">
                    <a16:creationId xmlns:a16="http://schemas.microsoft.com/office/drawing/2014/main" id="{01E9EB13-3DDC-AAA7-803B-FAE2EC0ABA7B}"/>
                  </a:ext>
                </a:extLst>
              </p:cNvPr>
              <p:cNvSpPr txBox="1">
                <a:spLocks noRot="1" noChangeAspect="1" noMove="1" noResize="1" noEditPoints="1" noAdjustHandles="1" noChangeArrowheads="1" noChangeShapeType="1" noTextEdit="1"/>
              </p:cNvSpPr>
              <p:nvPr/>
            </p:nvSpPr>
            <p:spPr>
              <a:xfrm>
                <a:off x="9918282" y="5199156"/>
                <a:ext cx="5695224" cy="3538597"/>
              </a:xfrm>
              <a:prstGeom prst="rect">
                <a:avLst/>
              </a:prstGeom>
              <a:blipFill>
                <a:blip r:embed="rId5"/>
                <a:stretch>
                  <a:fillRect l="-2998" t="-1897" r="-2998" b="-3966"/>
                </a:stretch>
              </a:blipFill>
            </p:spPr>
            <p:txBody>
              <a:bodyPr/>
              <a:lstStyle/>
              <a:p>
                <a:r>
                  <a:rPr lang="en-US">
                    <a:noFill/>
                  </a:rPr>
                  <a:t> </a:t>
                </a:r>
              </a:p>
            </p:txBody>
          </p:sp>
        </mc:Fallback>
      </mc:AlternateContent>
    </p:spTree>
    <p:extLst>
      <p:ext uri="{BB962C8B-B14F-4D97-AF65-F5344CB8AC3E}">
        <p14:creationId xmlns:p14="http://schemas.microsoft.com/office/powerpoint/2010/main" val="24291858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D49CC-9C34-9E00-AA8E-010B1DFB11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710ED0-C980-0B2C-E203-CE27365A1D45}"/>
              </a:ext>
            </a:extLst>
          </p:cNvPr>
          <p:cNvGrpSpPr/>
          <p:nvPr/>
        </p:nvGrpSpPr>
        <p:grpSpPr>
          <a:xfrm rot="-5400000">
            <a:off x="12040034" y="4540735"/>
            <a:ext cx="10944618" cy="1752231"/>
            <a:chOff x="0" y="0"/>
            <a:chExt cx="2882533" cy="461493"/>
          </a:xfrm>
        </p:grpSpPr>
        <p:sp>
          <p:nvSpPr>
            <p:cNvPr id="3" name="Freeform 3">
              <a:extLst>
                <a:ext uri="{FF2B5EF4-FFF2-40B4-BE49-F238E27FC236}">
                  <a16:creationId xmlns:a16="http://schemas.microsoft.com/office/drawing/2014/main" id="{4780AFA3-8755-26AC-A111-7CADC6F4F1C9}"/>
                </a:ext>
              </a:extLst>
            </p:cNvPr>
            <p:cNvSpPr/>
            <p:nvPr/>
          </p:nvSpPr>
          <p:spPr>
            <a:xfrm>
              <a:off x="0" y="0"/>
              <a:ext cx="2882533" cy="461493"/>
            </a:xfrm>
            <a:custGeom>
              <a:avLst/>
              <a:gdLst/>
              <a:ahLst/>
              <a:cxnLst/>
              <a:rect l="l" t="t" r="r" b="b"/>
              <a:pathLst>
                <a:path w="2882533" h="461493">
                  <a:moveTo>
                    <a:pt x="0" y="0"/>
                  </a:moveTo>
                  <a:lnTo>
                    <a:pt x="2882533" y="0"/>
                  </a:lnTo>
                  <a:lnTo>
                    <a:pt x="2882533" y="461493"/>
                  </a:lnTo>
                  <a:lnTo>
                    <a:pt x="0" y="461493"/>
                  </a:lnTo>
                  <a:close/>
                </a:path>
              </a:pathLst>
            </a:custGeom>
            <a:solidFill>
              <a:srgbClr val="1B294A"/>
            </a:solidFill>
          </p:spPr>
        </p:sp>
        <p:sp>
          <p:nvSpPr>
            <p:cNvPr id="4" name="TextBox 4">
              <a:extLst>
                <a:ext uri="{FF2B5EF4-FFF2-40B4-BE49-F238E27FC236}">
                  <a16:creationId xmlns:a16="http://schemas.microsoft.com/office/drawing/2014/main" id="{0003CFCB-184C-0D5D-C146-1B68F7683517}"/>
                </a:ext>
              </a:extLst>
            </p:cNvPr>
            <p:cNvSpPr txBox="1"/>
            <p:nvPr/>
          </p:nvSpPr>
          <p:spPr>
            <a:xfrm>
              <a:off x="0" y="-38100"/>
              <a:ext cx="2882533" cy="499593"/>
            </a:xfrm>
            <a:prstGeom prst="rect">
              <a:avLst/>
            </a:prstGeom>
          </p:spPr>
          <p:txBody>
            <a:bodyPr lIns="50800" tIns="50800" rIns="50800" bIns="50800" rtlCol="0" anchor="ctr"/>
            <a:lstStyle/>
            <a:p>
              <a:pPr algn="l">
                <a:lnSpc>
                  <a:spcPts val="3080"/>
                </a:lnSpc>
              </a:pPr>
              <a:endParaRPr/>
            </a:p>
          </p:txBody>
        </p:sp>
      </p:grpSp>
      <p:grpSp>
        <p:nvGrpSpPr>
          <p:cNvPr id="5" name="Group 5">
            <a:extLst>
              <a:ext uri="{FF2B5EF4-FFF2-40B4-BE49-F238E27FC236}">
                <a16:creationId xmlns:a16="http://schemas.microsoft.com/office/drawing/2014/main" id="{2889CCD3-5A41-3C86-258F-920414F2D44C}"/>
              </a:ext>
            </a:extLst>
          </p:cNvPr>
          <p:cNvGrpSpPr/>
          <p:nvPr/>
        </p:nvGrpSpPr>
        <p:grpSpPr>
          <a:xfrm>
            <a:off x="-1523511" y="3482897"/>
            <a:ext cx="9412645" cy="4677676"/>
            <a:chOff x="0" y="0"/>
            <a:chExt cx="1073478" cy="533472"/>
          </a:xfrm>
          <a:blipFill dpi="0" rotWithShape="1">
            <a:blip r:embed="rId2">
              <a:alphaModFix amt="89000"/>
            </a:blip>
            <a:srcRect/>
            <a:stretch>
              <a:fillRect b="-10000"/>
            </a:stretch>
          </a:blipFill>
        </p:grpSpPr>
        <p:sp>
          <p:nvSpPr>
            <p:cNvPr id="6" name="Freeform 6">
              <a:extLst>
                <a:ext uri="{FF2B5EF4-FFF2-40B4-BE49-F238E27FC236}">
                  <a16:creationId xmlns:a16="http://schemas.microsoft.com/office/drawing/2014/main" id="{B8AC679C-3021-9952-AD3B-436E30560797}"/>
                </a:ext>
              </a:extLst>
            </p:cNvPr>
            <p:cNvSpPr/>
            <p:nvPr/>
          </p:nvSpPr>
          <p:spPr>
            <a:xfrm>
              <a:off x="0" y="0"/>
              <a:ext cx="1073478" cy="533472"/>
            </a:xfrm>
            <a:custGeom>
              <a:avLst/>
              <a:gdLst/>
              <a:ahLst/>
              <a:cxnLst/>
              <a:rect l="l" t="t" r="r" b="b"/>
              <a:pathLst>
                <a:path w="1073478" h="533472">
                  <a:moveTo>
                    <a:pt x="18918" y="0"/>
                  </a:moveTo>
                  <a:lnTo>
                    <a:pt x="1054561" y="0"/>
                  </a:lnTo>
                  <a:cubicBezTo>
                    <a:pt x="1059578" y="0"/>
                    <a:pt x="1064390" y="1993"/>
                    <a:pt x="1067937" y="5541"/>
                  </a:cubicBezTo>
                  <a:cubicBezTo>
                    <a:pt x="1071485" y="9089"/>
                    <a:pt x="1073478" y="13900"/>
                    <a:pt x="1073478" y="18918"/>
                  </a:cubicBezTo>
                  <a:lnTo>
                    <a:pt x="1073478" y="514555"/>
                  </a:lnTo>
                  <a:cubicBezTo>
                    <a:pt x="1073478" y="525002"/>
                    <a:pt x="1065009" y="533472"/>
                    <a:pt x="1054561" y="533472"/>
                  </a:cubicBezTo>
                  <a:lnTo>
                    <a:pt x="18918" y="533472"/>
                  </a:lnTo>
                  <a:cubicBezTo>
                    <a:pt x="13900" y="533472"/>
                    <a:pt x="9089" y="531479"/>
                    <a:pt x="5541" y="527931"/>
                  </a:cubicBezTo>
                  <a:cubicBezTo>
                    <a:pt x="1993" y="524384"/>
                    <a:pt x="0" y="519572"/>
                    <a:pt x="0" y="514555"/>
                  </a:cubicBezTo>
                  <a:lnTo>
                    <a:pt x="0" y="18918"/>
                  </a:lnTo>
                  <a:cubicBezTo>
                    <a:pt x="0" y="13900"/>
                    <a:pt x="1993" y="9089"/>
                    <a:pt x="5541" y="5541"/>
                  </a:cubicBezTo>
                  <a:cubicBezTo>
                    <a:pt x="9089" y="1993"/>
                    <a:pt x="13900" y="0"/>
                    <a:pt x="18918" y="0"/>
                  </a:cubicBezTo>
                  <a:close/>
                </a:path>
              </a:pathLst>
            </a:custGeom>
            <a:grpFill/>
          </p:spPr>
        </p:sp>
      </p:grpSp>
      <p:grpSp>
        <p:nvGrpSpPr>
          <p:cNvPr id="7" name="Group 7">
            <a:extLst>
              <a:ext uri="{FF2B5EF4-FFF2-40B4-BE49-F238E27FC236}">
                <a16:creationId xmlns:a16="http://schemas.microsoft.com/office/drawing/2014/main" id="{C8DD76E4-B421-DBA0-AFD9-982301D00AA0}"/>
              </a:ext>
            </a:extLst>
          </p:cNvPr>
          <p:cNvGrpSpPr/>
          <p:nvPr/>
        </p:nvGrpSpPr>
        <p:grpSpPr>
          <a:xfrm rot="-5400000">
            <a:off x="3849608" y="-2767461"/>
            <a:ext cx="1024532" cy="9412647"/>
            <a:chOff x="0" y="0"/>
            <a:chExt cx="269836" cy="1923050"/>
          </a:xfrm>
        </p:grpSpPr>
        <p:sp>
          <p:nvSpPr>
            <p:cNvPr id="8" name="Freeform 8">
              <a:extLst>
                <a:ext uri="{FF2B5EF4-FFF2-40B4-BE49-F238E27FC236}">
                  <a16:creationId xmlns:a16="http://schemas.microsoft.com/office/drawing/2014/main" id="{8FF289E9-0952-90FD-E00C-B881BDD0DA3C}"/>
                </a:ext>
              </a:extLst>
            </p:cNvPr>
            <p:cNvSpPr/>
            <p:nvPr/>
          </p:nvSpPr>
          <p:spPr>
            <a:xfrm>
              <a:off x="0" y="0"/>
              <a:ext cx="269836" cy="1923050"/>
            </a:xfrm>
            <a:custGeom>
              <a:avLst/>
              <a:gdLst/>
              <a:ahLst/>
              <a:cxnLst/>
              <a:rect l="l" t="t" r="r" b="b"/>
              <a:pathLst>
                <a:path w="269836" h="1923050">
                  <a:moveTo>
                    <a:pt x="120905" y="0"/>
                  </a:moveTo>
                  <a:lnTo>
                    <a:pt x="148931" y="0"/>
                  </a:lnTo>
                  <a:cubicBezTo>
                    <a:pt x="215705" y="0"/>
                    <a:pt x="269836" y="54131"/>
                    <a:pt x="269836" y="120905"/>
                  </a:cubicBezTo>
                  <a:lnTo>
                    <a:pt x="269836" y="1802145"/>
                  </a:lnTo>
                  <a:cubicBezTo>
                    <a:pt x="269836" y="1868919"/>
                    <a:pt x="215705" y="1923050"/>
                    <a:pt x="148931" y="1923050"/>
                  </a:cubicBezTo>
                  <a:lnTo>
                    <a:pt x="120905" y="1923050"/>
                  </a:lnTo>
                  <a:cubicBezTo>
                    <a:pt x="54131" y="1923050"/>
                    <a:pt x="0" y="1868919"/>
                    <a:pt x="0" y="1802145"/>
                  </a:cubicBezTo>
                  <a:lnTo>
                    <a:pt x="0" y="120905"/>
                  </a:lnTo>
                  <a:cubicBezTo>
                    <a:pt x="0" y="54131"/>
                    <a:pt x="54131" y="0"/>
                    <a:pt x="120905" y="0"/>
                  </a:cubicBezTo>
                  <a:close/>
                </a:path>
              </a:pathLst>
            </a:custGeom>
            <a:solidFill>
              <a:srgbClr val="1B294A"/>
            </a:solidFill>
          </p:spPr>
        </p:sp>
        <p:sp>
          <p:nvSpPr>
            <p:cNvPr id="9" name="TextBox 9">
              <a:extLst>
                <a:ext uri="{FF2B5EF4-FFF2-40B4-BE49-F238E27FC236}">
                  <a16:creationId xmlns:a16="http://schemas.microsoft.com/office/drawing/2014/main" id="{19EB4185-B20E-DEE8-D551-C9476AC6607B}"/>
                </a:ext>
              </a:extLst>
            </p:cNvPr>
            <p:cNvSpPr txBox="1"/>
            <p:nvPr/>
          </p:nvSpPr>
          <p:spPr>
            <a:xfrm>
              <a:off x="0" y="-38100"/>
              <a:ext cx="269836" cy="1961150"/>
            </a:xfrm>
            <a:prstGeom prst="rect">
              <a:avLst/>
            </a:prstGeom>
          </p:spPr>
          <p:txBody>
            <a:bodyPr lIns="50800" tIns="50800" rIns="50800" bIns="50800" rtlCol="0" anchor="ctr"/>
            <a:lstStyle/>
            <a:p>
              <a:pPr algn="l">
                <a:lnSpc>
                  <a:spcPts val="3080"/>
                </a:lnSpc>
              </a:pPr>
              <a:endParaRPr/>
            </a:p>
          </p:txBody>
        </p:sp>
      </p:grpSp>
      <p:sp>
        <p:nvSpPr>
          <p:cNvPr id="10" name="Freeform 10">
            <a:extLst>
              <a:ext uri="{FF2B5EF4-FFF2-40B4-BE49-F238E27FC236}">
                <a16:creationId xmlns:a16="http://schemas.microsoft.com/office/drawing/2014/main" id="{615B99D1-33C6-B2D0-12AF-78A4F018DF55}"/>
              </a:ext>
            </a:extLst>
          </p:cNvPr>
          <p:cNvSpPr/>
          <p:nvPr/>
        </p:nvSpPr>
        <p:spPr>
          <a:xfrm>
            <a:off x="793084" y="9427398"/>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968AAA56-64E2-0795-E47B-E087A6BA5D76}"/>
              </a:ext>
            </a:extLst>
          </p:cNvPr>
          <p:cNvSpPr/>
          <p:nvPr/>
        </p:nvSpPr>
        <p:spPr>
          <a:xfrm>
            <a:off x="15094370" y="769132"/>
            <a:ext cx="1038273" cy="259568"/>
          </a:xfrm>
          <a:custGeom>
            <a:avLst/>
            <a:gdLst/>
            <a:ahLst/>
            <a:cxnLst/>
            <a:rect l="l" t="t" r="r" b="b"/>
            <a:pathLst>
              <a:path w="1038273" h="259568">
                <a:moveTo>
                  <a:pt x="0" y="0"/>
                </a:moveTo>
                <a:lnTo>
                  <a:pt x="1038274" y="0"/>
                </a:lnTo>
                <a:lnTo>
                  <a:pt x="1038274"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9C0B9CDF-1145-1E50-3275-5641C61E7370}"/>
              </a:ext>
            </a:extLst>
          </p:cNvPr>
          <p:cNvSpPr txBox="1"/>
          <p:nvPr/>
        </p:nvSpPr>
        <p:spPr>
          <a:xfrm>
            <a:off x="286232" y="1598724"/>
            <a:ext cx="8610602"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Roles of Calculus in </a:t>
            </a:r>
            <a:r>
              <a:rPr lang="en-US" sz="3699" b="1" dirty="0" err="1">
                <a:solidFill>
                  <a:srgbClr val="FFFFFF"/>
                </a:solidFill>
                <a:latin typeface="Montserrat Bold"/>
                <a:ea typeface="Montserrat Bold"/>
                <a:cs typeface="Montserrat Bold"/>
                <a:sym typeface="Montserrat Bold"/>
              </a:rPr>
              <a:t>CyberSecurity</a:t>
            </a:r>
            <a:endParaRPr lang="en-US" sz="3699" b="1" dirty="0">
              <a:solidFill>
                <a:srgbClr val="FFFFFF"/>
              </a:solidFill>
              <a:latin typeface="Montserrat Bold"/>
              <a:ea typeface="Montserrat Bold"/>
              <a:cs typeface="Montserrat Bold"/>
              <a:sym typeface="Montserrat Bold"/>
            </a:endParaRPr>
          </a:p>
        </p:txBody>
      </p:sp>
      <p:sp>
        <p:nvSpPr>
          <p:cNvPr id="15" name="TextBox 15">
            <a:extLst>
              <a:ext uri="{FF2B5EF4-FFF2-40B4-BE49-F238E27FC236}">
                <a16:creationId xmlns:a16="http://schemas.microsoft.com/office/drawing/2014/main" id="{265DEA87-0F4B-EBFC-44F7-51E52E7CC138}"/>
              </a:ext>
            </a:extLst>
          </p:cNvPr>
          <p:cNvSpPr txBox="1"/>
          <p:nvPr/>
        </p:nvSpPr>
        <p:spPr>
          <a:xfrm>
            <a:off x="9918283" y="1581965"/>
            <a:ext cx="5695224" cy="2345963"/>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Cyber attacks often follow patterns:</a:t>
            </a:r>
          </a:p>
          <a:p>
            <a:pPr marL="342900" indent="-342900" algn="just">
              <a:lnSpc>
                <a:spcPts val="3080"/>
              </a:lnSpc>
              <a:buFont typeface="Arial" panose="020B0604020202020204" pitchFamily="34" charset="0"/>
              <a:buChar char="•"/>
            </a:pPr>
            <a:r>
              <a:rPr lang="en-US" sz="2200" dirty="0">
                <a:solidFill>
                  <a:srgbClr val="777879"/>
                </a:solidFill>
                <a:latin typeface="Lato"/>
                <a:ea typeface="Lato"/>
                <a:cs typeface="Lato"/>
                <a:sym typeface="Lato"/>
              </a:rPr>
              <a:t>Gradual probing</a:t>
            </a:r>
          </a:p>
          <a:p>
            <a:pPr marL="342900" indent="-342900" algn="just">
              <a:lnSpc>
                <a:spcPts val="3080"/>
              </a:lnSpc>
              <a:buFont typeface="Arial" panose="020B0604020202020204" pitchFamily="34" charset="0"/>
              <a:buChar char="•"/>
            </a:pPr>
            <a:r>
              <a:rPr lang="en-US" sz="2200" dirty="0">
                <a:solidFill>
                  <a:srgbClr val="777879"/>
                </a:solidFill>
                <a:latin typeface="Lato"/>
                <a:ea typeface="Lato"/>
                <a:cs typeface="Lato"/>
                <a:sym typeface="Lato"/>
              </a:rPr>
              <a:t>Sudden escalation</a:t>
            </a:r>
          </a:p>
          <a:p>
            <a:pPr marL="342900" indent="-342900" algn="just">
              <a:lnSpc>
                <a:spcPts val="3080"/>
              </a:lnSpc>
              <a:buFont typeface="Arial" panose="020B0604020202020204" pitchFamily="34" charset="0"/>
              <a:buChar char="•"/>
            </a:pPr>
            <a:r>
              <a:rPr lang="en-US" sz="2200" dirty="0">
                <a:solidFill>
                  <a:srgbClr val="777879"/>
                </a:solidFill>
                <a:latin typeface="Lato"/>
                <a:ea typeface="Lato"/>
                <a:cs typeface="Lato"/>
                <a:sym typeface="Lato"/>
              </a:rPr>
              <a:t>Repeated attempts</a:t>
            </a:r>
          </a:p>
          <a:p>
            <a:pPr algn="just">
              <a:lnSpc>
                <a:spcPts val="3080"/>
              </a:lnSpc>
            </a:pPr>
            <a:r>
              <a:rPr lang="en-US" sz="2200" dirty="0">
                <a:solidFill>
                  <a:srgbClr val="777879"/>
                </a:solidFill>
                <a:latin typeface="Lato"/>
                <a:ea typeface="Lato"/>
                <a:cs typeface="Lato"/>
                <a:sym typeface="Lato"/>
              </a:rPr>
              <a:t>Calculus helps analyze how attack intensity changes over time.</a:t>
            </a:r>
          </a:p>
        </p:txBody>
      </p:sp>
      <p:sp>
        <p:nvSpPr>
          <p:cNvPr id="18" name="TextBox 18">
            <a:extLst>
              <a:ext uri="{FF2B5EF4-FFF2-40B4-BE49-F238E27FC236}">
                <a16:creationId xmlns:a16="http://schemas.microsoft.com/office/drawing/2014/main" id="{9933E200-550F-6EF9-AFCB-25460A6043AB}"/>
              </a:ext>
            </a:extLst>
          </p:cNvPr>
          <p:cNvSpPr txBox="1"/>
          <p:nvPr/>
        </p:nvSpPr>
        <p:spPr>
          <a:xfrm>
            <a:off x="9918283" y="1025769"/>
            <a:ext cx="5695224"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Analyzing Attack Behavior</a:t>
            </a:r>
          </a:p>
        </p:txBody>
      </p:sp>
      <mc:AlternateContent xmlns:mc="http://schemas.openxmlformats.org/markup-compatibility/2006" xmlns:a14="http://schemas.microsoft.com/office/drawing/2010/main">
        <mc:Choice Requires="a14">
          <p:sp>
            <p:nvSpPr>
              <p:cNvPr id="12" name="TextBox 15">
                <a:extLst>
                  <a:ext uri="{FF2B5EF4-FFF2-40B4-BE49-F238E27FC236}">
                    <a16:creationId xmlns:a16="http://schemas.microsoft.com/office/drawing/2014/main" id="{F7CE3C8B-D31B-62EE-3661-E0B4A5C397C8}"/>
                  </a:ext>
                </a:extLst>
              </p:cNvPr>
              <p:cNvSpPr txBox="1"/>
              <p:nvPr/>
            </p:nvSpPr>
            <p:spPr>
              <a:xfrm>
                <a:off x="9914686" y="4801855"/>
                <a:ext cx="5695224" cy="3538597"/>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Attack Attempts:</a:t>
                </a:r>
              </a:p>
              <a:p>
                <a:pPr algn="just">
                  <a:lnSpc>
                    <a:spcPts val="3080"/>
                  </a:lnSpc>
                </a:pPr>
                <a:r>
                  <a:rPr lang="en-US" sz="2200" dirty="0">
                    <a:solidFill>
                      <a:srgbClr val="777879"/>
                    </a:solidFill>
                    <a:latin typeface="Lato"/>
                    <a:ea typeface="Lato"/>
                    <a:cs typeface="Lato"/>
                    <a:sym typeface="Lato"/>
                  </a:rPr>
                  <a:t>A(t) = </a:t>
                </a:r>
                <a14:m>
                  <m:oMath xmlns:m="http://schemas.openxmlformats.org/officeDocument/2006/math">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𝑡</m:t>
                        </m:r>
                      </m:e>
                      <m:sup>
                        <m:r>
                          <a:rPr lang="en-US" sz="2200" b="0" i="1" smtClean="0">
                            <a:solidFill>
                              <a:srgbClr val="777879"/>
                            </a:solidFill>
                            <a:latin typeface="Cambria Math" panose="02040503050406030204" pitchFamily="18" charset="0"/>
                            <a:ea typeface="Lato"/>
                            <a:cs typeface="Lato"/>
                            <a:sym typeface="Lato"/>
                          </a:rPr>
                          <m:t>3</m:t>
                        </m:r>
                      </m:sup>
                    </m:sSup>
                  </m:oMath>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Its derivative for rate of Attack Attempts will be</a:t>
                </a:r>
              </a:p>
              <a:p>
                <a:pPr algn="just">
                  <a:lnSpc>
                    <a:spcPts val="3080"/>
                  </a:lnSpc>
                </a:pPr>
                <a:r>
                  <a:rPr lang="en-US" sz="2200" dirty="0">
                    <a:solidFill>
                      <a:srgbClr val="777879"/>
                    </a:solidFill>
                    <a:latin typeface="Lato"/>
                    <a:ea typeface="Lato"/>
                    <a:cs typeface="Lato"/>
                    <a:sym typeface="Lato"/>
                  </a:rPr>
                  <a:t>A’(t) = </a:t>
                </a:r>
                <a14:m>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3</m:t>
                    </m:r>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𝑡</m:t>
                        </m:r>
                      </m:e>
                      <m:sup>
                        <m:r>
                          <a:rPr lang="en-US" sz="2200" b="0" i="1" smtClean="0">
                            <a:solidFill>
                              <a:srgbClr val="777879"/>
                            </a:solidFill>
                            <a:latin typeface="Cambria Math" panose="02040503050406030204" pitchFamily="18" charset="0"/>
                            <a:ea typeface="Lato"/>
                            <a:cs typeface="Lato"/>
                            <a:sym typeface="Lato"/>
                          </a:rPr>
                          <m:t>2</m:t>
                        </m:r>
                      </m:sup>
                    </m:sSup>
                  </m:oMath>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Growth Rate Increases Rapidly -&gt; Attack is escalating</a:t>
                </a:r>
              </a:p>
              <a:p>
                <a:pPr algn="just">
                  <a:lnSpc>
                    <a:spcPts val="3080"/>
                  </a:lnSpc>
                </a:pPr>
                <a:r>
                  <a:rPr lang="en-US" sz="2200" dirty="0">
                    <a:solidFill>
                      <a:srgbClr val="777879"/>
                    </a:solidFill>
                    <a:latin typeface="Lato"/>
                    <a:ea typeface="Lato"/>
                    <a:cs typeface="Lato"/>
                    <a:sym typeface="Lato"/>
                  </a:rPr>
                  <a:t>Security Systems respond faster as the rate increases</a:t>
                </a:r>
              </a:p>
            </p:txBody>
          </p:sp>
        </mc:Choice>
        <mc:Fallback xmlns="">
          <p:sp>
            <p:nvSpPr>
              <p:cNvPr id="12" name="TextBox 15">
                <a:extLst>
                  <a:ext uri="{FF2B5EF4-FFF2-40B4-BE49-F238E27FC236}">
                    <a16:creationId xmlns:a16="http://schemas.microsoft.com/office/drawing/2014/main" id="{F7CE3C8B-D31B-62EE-3661-E0B4A5C397C8}"/>
                  </a:ext>
                </a:extLst>
              </p:cNvPr>
              <p:cNvSpPr txBox="1">
                <a:spLocks noRot="1" noChangeAspect="1" noMove="1" noResize="1" noEditPoints="1" noAdjustHandles="1" noChangeArrowheads="1" noChangeShapeType="1" noTextEdit="1"/>
              </p:cNvSpPr>
              <p:nvPr/>
            </p:nvSpPr>
            <p:spPr>
              <a:xfrm>
                <a:off x="9914686" y="4801855"/>
                <a:ext cx="5695224" cy="3538597"/>
              </a:xfrm>
              <a:prstGeom prst="rect">
                <a:avLst/>
              </a:prstGeom>
              <a:blipFill>
                <a:blip r:embed="rId5"/>
                <a:stretch>
                  <a:fillRect l="-2995" t="-2069" r="-2888" b="-3966"/>
                </a:stretch>
              </a:blipFill>
            </p:spPr>
            <p:txBody>
              <a:bodyPr/>
              <a:lstStyle/>
              <a:p>
                <a:r>
                  <a:rPr lang="en-US">
                    <a:noFill/>
                  </a:rPr>
                  <a:t> </a:t>
                </a:r>
              </a:p>
            </p:txBody>
          </p:sp>
        </mc:Fallback>
      </mc:AlternateContent>
    </p:spTree>
    <p:extLst>
      <p:ext uri="{BB962C8B-B14F-4D97-AF65-F5344CB8AC3E}">
        <p14:creationId xmlns:p14="http://schemas.microsoft.com/office/powerpoint/2010/main" val="24533404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B07DA-F707-ADAE-8FC6-4BB48933610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C2F88F-DBB1-AFDF-043E-C468C11DA5C7}"/>
              </a:ext>
            </a:extLst>
          </p:cNvPr>
          <p:cNvGrpSpPr/>
          <p:nvPr/>
        </p:nvGrpSpPr>
        <p:grpSpPr>
          <a:xfrm rot="-5400000">
            <a:off x="12040034" y="4540735"/>
            <a:ext cx="10944618" cy="1752231"/>
            <a:chOff x="0" y="0"/>
            <a:chExt cx="2882533" cy="461493"/>
          </a:xfrm>
        </p:grpSpPr>
        <p:sp>
          <p:nvSpPr>
            <p:cNvPr id="3" name="Freeform 3">
              <a:extLst>
                <a:ext uri="{FF2B5EF4-FFF2-40B4-BE49-F238E27FC236}">
                  <a16:creationId xmlns:a16="http://schemas.microsoft.com/office/drawing/2014/main" id="{14428B01-7750-A232-949C-9D8EE53396F0}"/>
                </a:ext>
              </a:extLst>
            </p:cNvPr>
            <p:cNvSpPr/>
            <p:nvPr/>
          </p:nvSpPr>
          <p:spPr>
            <a:xfrm>
              <a:off x="0" y="0"/>
              <a:ext cx="2882533" cy="461493"/>
            </a:xfrm>
            <a:custGeom>
              <a:avLst/>
              <a:gdLst/>
              <a:ahLst/>
              <a:cxnLst/>
              <a:rect l="l" t="t" r="r" b="b"/>
              <a:pathLst>
                <a:path w="2882533" h="461493">
                  <a:moveTo>
                    <a:pt x="0" y="0"/>
                  </a:moveTo>
                  <a:lnTo>
                    <a:pt x="2882533" y="0"/>
                  </a:lnTo>
                  <a:lnTo>
                    <a:pt x="2882533" y="461493"/>
                  </a:lnTo>
                  <a:lnTo>
                    <a:pt x="0" y="461493"/>
                  </a:lnTo>
                  <a:close/>
                </a:path>
              </a:pathLst>
            </a:custGeom>
            <a:solidFill>
              <a:srgbClr val="1B294A"/>
            </a:solidFill>
          </p:spPr>
        </p:sp>
        <p:sp>
          <p:nvSpPr>
            <p:cNvPr id="4" name="TextBox 4">
              <a:extLst>
                <a:ext uri="{FF2B5EF4-FFF2-40B4-BE49-F238E27FC236}">
                  <a16:creationId xmlns:a16="http://schemas.microsoft.com/office/drawing/2014/main" id="{74B1CDEC-0025-8BFA-875F-AF337D656899}"/>
                </a:ext>
              </a:extLst>
            </p:cNvPr>
            <p:cNvSpPr txBox="1"/>
            <p:nvPr/>
          </p:nvSpPr>
          <p:spPr>
            <a:xfrm>
              <a:off x="0" y="-38100"/>
              <a:ext cx="2882533" cy="499593"/>
            </a:xfrm>
            <a:prstGeom prst="rect">
              <a:avLst/>
            </a:prstGeom>
          </p:spPr>
          <p:txBody>
            <a:bodyPr lIns="50800" tIns="50800" rIns="50800" bIns="50800" rtlCol="0" anchor="ctr"/>
            <a:lstStyle/>
            <a:p>
              <a:pPr algn="l">
                <a:lnSpc>
                  <a:spcPts val="3080"/>
                </a:lnSpc>
              </a:pPr>
              <a:endParaRPr/>
            </a:p>
          </p:txBody>
        </p:sp>
      </p:grpSp>
      <p:grpSp>
        <p:nvGrpSpPr>
          <p:cNvPr id="5" name="Group 5">
            <a:extLst>
              <a:ext uri="{FF2B5EF4-FFF2-40B4-BE49-F238E27FC236}">
                <a16:creationId xmlns:a16="http://schemas.microsoft.com/office/drawing/2014/main" id="{C47CDE1D-79B5-F0C6-AE5E-B61C8026279B}"/>
              </a:ext>
            </a:extLst>
          </p:cNvPr>
          <p:cNvGrpSpPr/>
          <p:nvPr/>
        </p:nvGrpSpPr>
        <p:grpSpPr>
          <a:xfrm>
            <a:off x="-1523511" y="3482897"/>
            <a:ext cx="9412645" cy="4677676"/>
            <a:chOff x="0" y="0"/>
            <a:chExt cx="1073478" cy="533472"/>
          </a:xfrm>
          <a:blipFill dpi="0" rotWithShape="1">
            <a:blip r:embed="rId2">
              <a:alphaModFix amt="89000"/>
            </a:blip>
            <a:srcRect/>
            <a:stretch>
              <a:fillRect b="-10000"/>
            </a:stretch>
          </a:blipFill>
        </p:grpSpPr>
        <p:sp>
          <p:nvSpPr>
            <p:cNvPr id="6" name="Freeform 6">
              <a:extLst>
                <a:ext uri="{FF2B5EF4-FFF2-40B4-BE49-F238E27FC236}">
                  <a16:creationId xmlns:a16="http://schemas.microsoft.com/office/drawing/2014/main" id="{C2A412B5-73BF-7028-F417-373DABD6CE0D}"/>
                </a:ext>
              </a:extLst>
            </p:cNvPr>
            <p:cNvSpPr/>
            <p:nvPr/>
          </p:nvSpPr>
          <p:spPr>
            <a:xfrm>
              <a:off x="0" y="0"/>
              <a:ext cx="1073478" cy="533472"/>
            </a:xfrm>
            <a:custGeom>
              <a:avLst/>
              <a:gdLst/>
              <a:ahLst/>
              <a:cxnLst/>
              <a:rect l="l" t="t" r="r" b="b"/>
              <a:pathLst>
                <a:path w="1073478" h="533472">
                  <a:moveTo>
                    <a:pt x="18918" y="0"/>
                  </a:moveTo>
                  <a:lnTo>
                    <a:pt x="1054561" y="0"/>
                  </a:lnTo>
                  <a:cubicBezTo>
                    <a:pt x="1059578" y="0"/>
                    <a:pt x="1064390" y="1993"/>
                    <a:pt x="1067937" y="5541"/>
                  </a:cubicBezTo>
                  <a:cubicBezTo>
                    <a:pt x="1071485" y="9089"/>
                    <a:pt x="1073478" y="13900"/>
                    <a:pt x="1073478" y="18918"/>
                  </a:cubicBezTo>
                  <a:lnTo>
                    <a:pt x="1073478" y="514555"/>
                  </a:lnTo>
                  <a:cubicBezTo>
                    <a:pt x="1073478" y="525002"/>
                    <a:pt x="1065009" y="533472"/>
                    <a:pt x="1054561" y="533472"/>
                  </a:cubicBezTo>
                  <a:lnTo>
                    <a:pt x="18918" y="533472"/>
                  </a:lnTo>
                  <a:cubicBezTo>
                    <a:pt x="13900" y="533472"/>
                    <a:pt x="9089" y="531479"/>
                    <a:pt x="5541" y="527931"/>
                  </a:cubicBezTo>
                  <a:cubicBezTo>
                    <a:pt x="1993" y="524384"/>
                    <a:pt x="0" y="519572"/>
                    <a:pt x="0" y="514555"/>
                  </a:cubicBezTo>
                  <a:lnTo>
                    <a:pt x="0" y="18918"/>
                  </a:lnTo>
                  <a:cubicBezTo>
                    <a:pt x="0" y="13900"/>
                    <a:pt x="1993" y="9089"/>
                    <a:pt x="5541" y="5541"/>
                  </a:cubicBezTo>
                  <a:cubicBezTo>
                    <a:pt x="9089" y="1993"/>
                    <a:pt x="13900" y="0"/>
                    <a:pt x="18918" y="0"/>
                  </a:cubicBezTo>
                  <a:close/>
                </a:path>
              </a:pathLst>
            </a:custGeom>
            <a:grpFill/>
          </p:spPr>
        </p:sp>
      </p:grpSp>
      <p:grpSp>
        <p:nvGrpSpPr>
          <p:cNvPr id="7" name="Group 7">
            <a:extLst>
              <a:ext uri="{FF2B5EF4-FFF2-40B4-BE49-F238E27FC236}">
                <a16:creationId xmlns:a16="http://schemas.microsoft.com/office/drawing/2014/main" id="{6F60139F-32DD-9DFE-E752-6E7CD0DF3D92}"/>
              </a:ext>
            </a:extLst>
          </p:cNvPr>
          <p:cNvGrpSpPr/>
          <p:nvPr/>
        </p:nvGrpSpPr>
        <p:grpSpPr>
          <a:xfrm rot="-5400000">
            <a:off x="3849608" y="-2767461"/>
            <a:ext cx="1024532" cy="9412647"/>
            <a:chOff x="0" y="0"/>
            <a:chExt cx="269836" cy="1923050"/>
          </a:xfrm>
        </p:grpSpPr>
        <p:sp>
          <p:nvSpPr>
            <p:cNvPr id="8" name="Freeform 8">
              <a:extLst>
                <a:ext uri="{FF2B5EF4-FFF2-40B4-BE49-F238E27FC236}">
                  <a16:creationId xmlns:a16="http://schemas.microsoft.com/office/drawing/2014/main" id="{4B255127-1B60-FC8E-7190-BE2EF2209DFD}"/>
                </a:ext>
              </a:extLst>
            </p:cNvPr>
            <p:cNvSpPr/>
            <p:nvPr/>
          </p:nvSpPr>
          <p:spPr>
            <a:xfrm>
              <a:off x="0" y="0"/>
              <a:ext cx="269836" cy="1923050"/>
            </a:xfrm>
            <a:custGeom>
              <a:avLst/>
              <a:gdLst/>
              <a:ahLst/>
              <a:cxnLst/>
              <a:rect l="l" t="t" r="r" b="b"/>
              <a:pathLst>
                <a:path w="269836" h="1923050">
                  <a:moveTo>
                    <a:pt x="120905" y="0"/>
                  </a:moveTo>
                  <a:lnTo>
                    <a:pt x="148931" y="0"/>
                  </a:lnTo>
                  <a:cubicBezTo>
                    <a:pt x="215705" y="0"/>
                    <a:pt x="269836" y="54131"/>
                    <a:pt x="269836" y="120905"/>
                  </a:cubicBezTo>
                  <a:lnTo>
                    <a:pt x="269836" y="1802145"/>
                  </a:lnTo>
                  <a:cubicBezTo>
                    <a:pt x="269836" y="1868919"/>
                    <a:pt x="215705" y="1923050"/>
                    <a:pt x="148931" y="1923050"/>
                  </a:cubicBezTo>
                  <a:lnTo>
                    <a:pt x="120905" y="1923050"/>
                  </a:lnTo>
                  <a:cubicBezTo>
                    <a:pt x="54131" y="1923050"/>
                    <a:pt x="0" y="1868919"/>
                    <a:pt x="0" y="1802145"/>
                  </a:cubicBezTo>
                  <a:lnTo>
                    <a:pt x="0" y="120905"/>
                  </a:lnTo>
                  <a:cubicBezTo>
                    <a:pt x="0" y="54131"/>
                    <a:pt x="54131" y="0"/>
                    <a:pt x="120905" y="0"/>
                  </a:cubicBezTo>
                  <a:close/>
                </a:path>
              </a:pathLst>
            </a:custGeom>
            <a:solidFill>
              <a:srgbClr val="1B294A"/>
            </a:solidFill>
          </p:spPr>
        </p:sp>
        <p:sp>
          <p:nvSpPr>
            <p:cNvPr id="9" name="TextBox 9">
              <a:extLst>
                <a:ext uri="{FF2B5EF4-FFF2-40B4-BE49-F238E27FC236}">
                  <a16:creationId xmlns:a16="http://schemas.microsoft.com/office/drawing/2014/main" id="{44224171-EC77-DE43-9854-53D23EE05BA0}"/>
                </a:ext>
              </a:extLst>
            </p:cNvPr>
            <p:cNvSpPr txBox="1"/>
            <p:nvPr/>
          </p:nvSpPr>
          <p:spPr>
            <a:xfrm>
              <a:off x="0" y="-38100"/>
              <a:ext cx="269836" cy="1961150"/>
            </a:xfrm>
            <a:prstGeom prst="rect">
              <a:avLst/>
            </a:prstGeom>
          </p:spPr>
          <p:txBody>
            <a:bodyPr lIns="50800" tIns="50800" rIns="50800" bIns="50800" rtlCol="0" anchor="ctr"/>
            <a:lstStyle/>
            <a:p>
              <a:pPr algn="l">
                <a:lnSpc>
                  <a:spcPts val="3080"/>
                </a:lnSpc>
              </a:pPr>
              <a:endParaRPr/>
            </a:p>
          </p:txBody>
        </p:sp>
      </p:grpSp>
      <p:sp>
        <p:nvSpPr>
          <p:cNvPr id="10" name="Freeform 10">
            <a:extLst>
              <a:ext uri="{FF2B5EF4-FFF2-40B4-BE49-F238E27FC236}">
                <a16:creationId xmlns:a16="http://schemas.microsoft.com/office/drawing/2014/main" id="{5941A6ED-27F4-76E8-6F12-2038F7102D04}"/>
              </a:ext>
            </a:extLst>
          </p:cNvPr>
          <p:cNvSpPr/>
          <p:nvPr/>
        </p:nvSpPr>
        <p:spPr>
          <a:xfrm>
            <a:off x="793084" y="9427398"/>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29F220F3-2F35-7A57-06E9-29A1D715663E}"/>
              </a:ext>
            </a:extLst>
          </p:cNvPr>
          <p:cNvSpPr/>
          <p:nvPr/>
        </p:nvSpPr>
        <p:spPr>
          <a:xfrm>
            <a:off x="15094370" y="769132"/>
            <a:ext cx="1038273" cy="259568"/>
          </a:xfrm>
          <a:custGeom>
            <a:avLst/>
            <a:gdLst/>
            <a:ahLst/>
            <a:cxnLst/>
            <a:rect l="l" t="t" r="r" b="b"/>
            <a:pathLst>
              <a:path w="1038273" h="259568">
                <a:moveTo>
                  <a:pt x="0" y="0"/>
                </a:moveTo>
                <a:lnTo>
                  <a:pt x="1038274" y="0"/>
                </a:lnTo>
                <a:lnTo>
                  <a:pt x="1038274"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3F5E0F81-B4A5-2FE0-BF0B-70E433E748AF}"/>
              </a:ext>
            </a:extLst>
          </p:cNvPr>
          <p:cNvSpPr txBox="1"/>
          <p:nvPr/>
        </p:nvSpPr>
        <p:spPr>
          <a:xfrm>
            <a:off x="286232" y="1598724"/>
            <a:ext cx="8610602"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Roles of Calculus in </a:t>
            </a:r>
            <a:r>
              <a:rPr lang="en-US" sz="3699" b="1" dirty="0" err="1">
                <a:solidFill>
                  <a:srgbClr val="FFFFFF"/>
                </a:solidFill>
                <a:latin typeface="Montserrat Bold"/>
                <a:ea typeface="Montserrat Bold"/>
                <a:cs typeface="Montserrat Bold"/>
                <a:sym typeface="Montserrat Bold"/>
              </a:rPr>
              <a:t>CyberSecurity</a:t>
            </a:r>
            <a:endParaRPr lang="en-US" sz="3699" b="1" dirty="0">
              <a:solidFill>
                <a:srgbClr val="FFFFFF"/>
              </a:solidFill>
              <a:latin typeface="Montserrat Bold"/>
              <a:ea typeface="Montserrat Bold"/>
              <a:cs typeface="Montserrat Bold"/>
              <a:sym typeface="Montserrat Bold"/>
            </a:endParaRPr>
          </a:p>
        </p:txBody>
      </p:sp>
      <p:sp>
        <p:nvSpPr>
          <p:cNvPr id="16" name="TextBox 16">
            <a:extLst>
              <a:ext uri="{FF2B5EF4-FFF2-40B4-BE49-F238E27FC236}">
                <a16:creationId xmlns:a16="http://schemas.microsoft.com/office/drawing/2014/main" id="{00A6DD29-3703-A3C0-751B-F84AD18A6C9A}"/>
              </a:ext>
            </a:extLst>
          </p:cNvPr>
          <p:cNvSpPr txBox="1"/>
          <p:nvPr/>
        </p:nvSpPr>
        <p:spPr>
          <a:xfrm>
            <a:off x="9918283" y="1598724"/>
            <a:ext cx="5695224" cy="2345963"/>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Encryption must be:</a:t>
            </a:r>
          </a:p>
          <a:p>
            <a:pPr marL="342900" indent="-342900" algn="just">
              <a:lnSpc>
                <a:spcPts val="3080"/>
              </a:lnSpc>
              <a:buFont typeface="Arial" panose="020B0604020202020204" pitchFamily="34" charset="0"/>
              <a:buChar char="•"/>
            </a:pPr>
            <a:r>
              <a:rPr lang="en-US" sz="2200" dirty="0">
                <a:solidFill>
                  <a:srgbClr val="777879"/>
                </a:solidFill>
                <a:latin typeface="Lato"/>
                <a:ea typeface="Lato"/>
                <a:cs typeface="Lato"/>
                <a:sym typeface="Lato"/>
              </a:rPr>
              <a:t>Secure</a:t>
            </a:r>
          </a:p>
          <a:p>
            <a:pPr marL="342900" indent="-342900" algn="just">
              <a:lnSpc>
                <a:spcPts val="3080"/>
              </a:lnSpc>
              <a:buFont typeface="Arial" panose="020B0604020202020204" pitchFamily="34" charset="0"/>
              <a:buChar char="•"/>
            </a:pPr>
            <a:r>
              <a:rPr lang="en-US" sz="2200" dirty="0">
                <a:solidFill>
                  <a:srgbClr val="777879"/>
                </a:solidFill>
                <a:latin typeface="Lato"/>
                <a:ea typeface="Lato"/>
                <a:cs typeface="Lato"/>
                <a:sym typeface="Lato"/>
              </a:rPr>
              <a:t>Fast</a:t>
            </a:r>
          </a:p>
          <a:p>
            <a:pPr marL="342900" indent="-342900" algn="just">
              <a:lnSpc>
                <a:spcPts val="3080"/>
              </a:lnSpc>
              <a:buFont typeface="Arial" panose="020B0604020202020204" pitchFamily="34" charset="0"/>
              <a:buChar char="•"/>
            </a:pPr>
            <a:r>
              <a:rPr lang="en-US" sz="2200" dirty="0">
                <a:solidFill>
                  <a:srgbClr val="777879"/>
                </a:solidFill>
                <a:latin typeface="Lato"/>
                <a:ea typeface="Lato"/>
                <a:cs typeface="Lato"/>
                <a:sym typeface="Lato"/>
              </a:rPr>
              <a:t>Low on resource usage</a:t>
            </a:r>
          </a:p>
          <a:p>
            <a:pPr algn="just">
              <a:lnSpc>
                <a:spcPts val="3080"/>
              </a:lnSpc>
            </a:pPr>
            <a:r>
              <a:rPr lang="en-US" sz="2200" dirty="0">
                <a:solidFill>
                  <a:srgbClr val="777879"/>
                </a:solidFill>
                <a:latin typeface="Lato"/>
                <a:ea typeface="Lato"/>
                <a:cs typeface="Lato"/>
                <a:sym typeface="Lato"/>
              </a:rPr>
              <a:t>Calculus is used to optimize performance by minimizing computation time or energy.</a:t>
            </a:r>
          </a:p>
        </p:txBody>
      </p:sp>
      <p:sp>
        <p:nvSpPr>
          <p:cNvPr id="19" name="TextBox 19">
            <a:extLst>
              <a:ext uri="{FF2B5EF4-FFF2-40B4-BE49-F238E27FC236}">
                <a16:creationId xmlns:a16="http://schemas.microsoft.com/office/drawing/2014/main" id="{28E82D80-8911-DADE-7384-B3950CD208C1}"/>
              </a:ext>
            </a:extLst>
          </p:cNvPr>
          <p:cNvSpPr txBox="1"/>
          <p:nvPr/>
        </p:nvSpPr>
        <p:spPr>
          <a:xfrm>
            <a:off x="9918283" y="1033033"/>
            <a:ext cx="5695224"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Computer Graphics</a:t>
            </a:r>
          </a:p>
        </p:txBody>
      </p:sp>
      <mc:AlternateContent xmlns:mc="http://schemas.openxmlformats.org/markup-compatibility/2006" xmlns:a14="http://schemas.microsoft.com/office/drawing/2010/main">
        <mc:Choice Requires="a14">
          <p:sp>
            <p:nvSpPr>
              <p:cNvPr id="12" name="TextBox 16">
                <a:extLst>
                  <a:ext uri="{FF2B5EF4-FFF2-40B4-BE49-F238E27FC236}">
                    <a16:creationId xmlns:a16="http://schemas.microsoft.com/office/drawing/2014/main" id="{28005CD0-D861-AE19-0953-7154959B148F}"/>
                  </a:ext>
                </a:extLst>
              </p:cNvPr>
              <p:cNvSpPr txBox="1"/>
              <p:nvPr/>
            </p:nvSpPr>
            <p:spPr>
              <a:xfrm>
                <a:off x="9932271" y="4648753"/>
                <a:ext cx="5695224" cy="3538597"/>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Example:</a:t>
                </a:r>
              </a:p>
              <a:p>
                <a:pPr algn="just">
                  <a:lnSpc>
                    <a:spcPts val="3080"/>
                  </a:lnSpc>
                </a:pPr>
                <a:r>
                  <a:rPr lang="en-US" sz="2200" dirty="0">
                    <a:solidFill>
                      <a:srgbClr val="777879"/>
                    </a:solidFill>
                    <a:latin typeface="Lato"/>
                    <a:ea typeface="Lato"/>
                    <a:cs typeface="Lato"/>
                    <a:sym typeface="Lato"/>
                  </a:rPr>
                  <a:t>Encryption Cost:</a:t>
                </a:r>
              </a:p>
              <a:p>
                <a:pPr algn="just">
                  <a:lnSpc>
                    <a:spcPts val="3080"/>
                  </a:lnSpc>
                </a:pPr>
                <a:r>
                  <a:rPr lang="en-US" sz="2200" dirty="0">
                    <a:solidFill>
                      <a:srgbClr val="777879"/>
                    </a:solidFill>
                    <a:latin typeface="Lato"/>
                    <a:ea typeface="Lato"/>
                    <a:cs typeface="Lato"/>
                    <a:sym typeface="Lato"/>
                  </a:rPr>
                  <a:t>C(x) = </a:t>
                </a:r>
                <a14:m>
                  <m:oMath xmlns:m="http://schemas.openxmlformats.org/officeDocument/2006/math">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𝑥</m:t>
                        </m:r>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−6</m:t>
                    </m:r>
                    <m:r>
                      <a:rPr lang="en-US" sz="2200" b="0" i="1" smtClean="0">
                        <a:solidFill>
                          <a:srgbClr val="777879"/>
                        </a:solidFill>
                        <a:latin typeface="Cambria Math" panose="02040503050406030204" pitchFamily="18" charset="0"/>
                        <a:ea typeface="Lato"/>
                        <a:cs typeface="Lato"/>
                        <a:sym typeface="Lato"/>
                      </a:rPr>
                      <m:t>𝑥</m:t>
                    </m:r>
                    <m:r>
                      <a:rPr lang="en-US" sz="2200" b="0" i="1" smtClean="0">
                        <a:solidFill>
                          <a:srgbClr val="777879"/>
                        </a:solidFill>
                        <a:latin typeface="Cambria Math" panose="02040503050406030204" pitchFamily="18" charset="0"/>
                        <a:ea typeface="Lato"/>
                        <a:cs typeface="Lato"/>
                        <a:sym typeface="Lato"/>
                      </a:rPr>
                      <m:t>+10</m:t>
                    </m:r>
                  </m:oMath>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Its Derivative for Minimum cost of Encryption will be</a:t>
                </a:r>
              </a:p>
              <a:p>
                <a:pPr algn="just">
                  <a:lnSpc>
                    <a:spcPts val="3080"/>
                  </a:lnSpc>
                </a:pPr>
                <a:r>
                  <a:rPr lang="en-US" sz="2200" dirty="0">
                    <a:solidFill>
                      <a:srgbClr val="777879"/>
                    </a:solidFill>
                    <a:latin typeface="Lato"/>
                    <a:ea typeface="Lato"/>
                    <a:cs typeface="Lato"/>
                    <a:sym typeface="Lato"/>
                  </a:rPr>
                  <a:t>C’(x) = 2x - 6</a:t>
                </a:r>
              </a:p>
              <a:p>
                <a:pPr algn="just">
                  <a:lnSpc>
                    <a:spcPts val="3080"/>
                  </a:lnSpc>
                </a:pPr>
                <a:r>
                  <a:rPr lang="en-US" sz="2200" dirty="0">
                    <a:solidFill>
                      <a:srgbClr val="777879"/>
                    </a:solidFill>
                    <a:latin typeface="Lato"/>
                    <a:ea typeface="Lato"/>
                    <a:cs typeface="Lato"/>
                    <a:sym typeface="Lato"/>
                  </a:rPr>
                  <a:t>For Minimum cost, C’(x) = 0</a:t>
                </a:r>
              </a:p>
              <a:p>
                <a:pPr algn="just">
                  <a:lnSpc>
                    <a:spcPts val="3080"/>
                  </a:lnSpc>
                </a:pPr>
                <a:r>
                  <a:rPr lang="en-US" sz="2200" dirty="0">
                    <a:solidFill>
                      <a:srgbClr val="777879"/>
                    </a:solidFill>
                    <a:latin typeface="Lato"/>
                    <a:ea typeface="Lato"/>
                    <a:cs typeface="Lato"/>
                    <a:sym typeface="Lato"/>
                  </a:rPr>
                  <a:t>0 = 2x – 6</a:t>
                </a:r>
              </a:p>
              <a:p>
                <a:pPr algn="just">
                  <a:lnSpc>
                    <a:spcPts val="3080"/>
                  </a:lnSpc>
                </a:pPr>
                <a:r>
                  <a:rPr lang="en-US" sz="2200" dirty="0">
                    <a:solidFill>
                      <a:srgbClr val="777879"/>
                    </a:solidFill>
                    <a:latin typeface="Lato"/>
                    <a:ea typeface="Lato"/>
                    <a:cs typeface="Lato"/>
                    <a:sym typeface="Lato"/>
                  </a:rPr>
                  <a:t>x = 3</a:t>
                </a:r>
              </a:p>
            </p:txBody>
          </p:sp>
        </mc:Choice>
        <mc:Fallback xmlns="">
          <p:sp>
            <p:nvSpPr>
              <p:cNvPr id="12" name="TextBox 16">
                <a:extLst>
                  <a:ext uri="{FF2B5EF4-FFF2-40B4-BE49-F238E27FC236}">
                    <a16:creationId xmlns:a16="http://schemas.microsoft.com/office/drawing/2014/main" id="{28005CD0-D861-AE19-0953-7154959B148F}"/>
                  </a:ext>
                </a:extLst>
              </p:cNvPr>
              <p:cNvSpPr txBox="1">
                <a:spLocks noRot="1" noChangeAspect="1" noMove="1" noResize="1" noEditPoints="1" noAdjustHandles="1" noChangeArrowheads="1" noChangeShapeType="1" noTextEdit="1"/>
              </p:cNvSpPr>
              <p:nvPr/>
            </p:nvSpPr>
            <p:spPr>
              <a:xfrm>
                <a:off x="9932271" y="4648753"/>
                <a:ext cx="5695224" cy="3538597"/>
              </a:xfrm>
              <a:prstGeom prst="rect">
                <a:avLst/>
              </a:prstGeom>
              <a:blipFill>
                <a:blip r:embed="rId5"/>
                <a:stretch>
                  <a:fillRect l="-2995" t="-2069" r="-2888" b="-3966"/>
                </a:stretch>
              </a:blipFill>
            </p:spPr>
            <p:txBody>
              <a:bodyPr/>
              <a:lstStyle/>
              <a:p>
                <a:r>
                  <a:rPr lang="en-US">
                    <a:noFill/>
                  </a:rPr>
                  <a:t> </a:t>
                </a:r>
              </a:p>
            </p:txBody>
          </p:sp>
        </mc:Fallback>
      </mc:AlternateContent>
    </p:spTree>
    <p:extLst>
      <p:ext uri="{BB962C8B-B14F-4D97-AF65-F5344CB8AC3E}">
        <p14:creationId xmlns:p14="http://schemas.microsoft.com/office/powerpoint/2010/main" val="41178131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EFD6D-5247-5C15-7025-ADAEA24D07A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00170AE-A111-4570-A6C9-F2C28B60B368}"/>
              </a:ext>
            </a:extLst>
          </p:cNvPr>
          <p:cNvGrpSpPr/>
          <p:nvPr/>
        </p:nvGrpSpPr>
        <p:grpSpPr>
          <a:xfrm>
            <a:off x="-110133" y="0"/>
            <a:ext cx="18655036" cy="4424724"/>
            <a:chOff x="0" y="0"/>
            <a:chExt cx="2127540" cy="504624"/>
          </a:xfrm>
          <a:blipFill>
            <a:blip r:embed="rId2">
              <a:alphaModFix amt="89000"/>
            </a:blip>
            <a:stretch>
              <a:fillRect/>
            </a:stretch>
          </a:blipFill>
        </p:grpSpPr>
        <p:sp>
          <p:nvSpPr>
            <p:cNvPr id="3" name="Freeform 3">
              <a:extLst>
                <a:ext uri="{FF2B5EF4-FFF2-40B4-BE49-F238E27FC236}">
                  <a16:creationId xmlns:a16="http://schemas.microsoft.com/office/drawing/2014/main" id="{4570101D-679D-AE72-569C-29A2038E477D}"/>
                </a:ext>
              </a:extLst>
            </p:cNvPr>
            <p:cNvSpPr/>
            <p:nvPr/>
          </p:nvSpPr>
          <p:spPr>
            <a:xfrm>
              <a:off x="0" y="0"/>
              <a:ext cx="2127540" cy="504624"/>
            </a:xfrm>
            <a:custGeom>
              <a:avLst/>
              <a:gdLst/>
              <a:ahLst/>
              <a:cxnLst/>
              <a:rect l="l" t="t" r="r" b="b"/>
              <a:pathLst>
                <a:path w="2127540" h="504624">
                  <a:moveTo>
                    <a:pt x="9545" y="0"/>
                  </a:moveTo>
                  <a:lnTo>
                    <a:pt x="2117995" y="0"/>
                  </a:lnTo>
                  <a:cubicBezTo>
                    <a:pt x="2120526" y="0"/>
                    <a:pt x="2122954" y="1006"/>
                    <a:pt x="2124744" y="2796"/>
                  </a:cubicBezTo>
                  <a:cubicBezTo>
                    <a:pt x="2126534" y="4586"/>
                    <a:pt x="2127540" y="7014"/>
                    <a:pt x="2127540" y="9545"/>
                  </a:cubicBezTo>
                  <a:lnTo>
                    <a:pt x="2127540" y="495079"/>
                  </a:lnTo>
                  <a:cubicBezTo>
                    <a:pt x="2127540" y="497610"/>
                    <a:pt x="2126534" y="500038"/>
                    <a:pt x="2124744" y="501828"/>
                  </a:cubicBezTo>
                  <a:cubicBezTo>
                    <a:pt x="2122954" y="503618"/>
                    <a:pt x="2120526" y="504624"/>
                    <a:pt x="2117995" y="504624"/>
                  </a:cubicBezTo>
                  <a:lnTo>
                    <a:pt x="9545" y="504624"/>
                  </a:lnTo>
                  <a:cubicBezTo>
                    <a:pt x="4273" y="504624"/>
                    <a:pt x="0" y="500350"/>
                    <a:pt x="0" y="495079"/>
                  </a:cubicBezTo>
                  <a:lnTo>
                    <a:pt x="0" y="9545"/>
                  </a:lnTo>
                  <a:cubicBezTo>
                    <a:pt x="0" y="4273"/>
                    <a:pt x="4273" y="0"/>
                    <a:pt x="9545" y="0"/>
                  </a:cubicBezTo>
                  <a:close/>
                </a:path>
              </a:pathLst>
            </a:custGeom>
            <a:grpFill/>
          </p:spPr>
        </p:sp>
      </p:grpSp>
      <p:grpSp>
        <p:nvGrpSpPr>
          <p:cNvPr id="4" name="Group 4">
            <a:extLst>
              <a:ext uri="{FF2B5EF4-FFF2-40B4-BE49-F238E27FC236}">
                <a16:creationId xmlns:a16="http://schemas.microsoft.com/office/drawing/2014/main" id="{7D6C5EC3-C243-20FB-85AB-5360D3E1D3D1}"/>
              </a:ext>
            </a:extLst>
          </p:cNvPr>
          <p:cNvGrpSpPr/>
          <p:nvPr/>
        </p:nvGrpSpPr>
        <p:grpSpPr>
          <a:xfrm>
            <a:off x="-246888" y="44330"/>
            <a:ext cx="18781776" cy="4424724"/>
            <a:chOff x="0" y="0"/>
            <a:chExt cx="4946641" cy="1165359"/>
          </a:xfrm>
        </p:grpSpPr>
        <p:sp>
          <p:nvSpPr>
            <p:cNvPr id="5" name="Freeform 5">
              <a:extLst>
                <a:ext uri="{FF2B5EF4-FFF2-40B4-BE49-F238E27FC236}">
                  <a16:creationId xmlns:a16="http://schemas.microsoft.com/office/drawing/2014/main" id="{62AF2072-5A46-83EC-F6E3-DFA0B723044E}"/>
                </a:ext>
              </a:extLst>
            </p:cNvPr>
            <p:cNvSpPr/>
            <p:nvPr/>
          </p:nvSpPr>
          <p:spPr>
            <a:xfrm>
              <a:off x="0" y="0"/>
              <a:ext cx="4946641" cy="1165359"/>
            </a:xfrm>
            <a:custGeom>
              <a:avLst/>
              <a:gdLst/>
              <a:ahLst/>
              <a:cxnLst/>
              <a:rect l="l" t="t" r="r" b="b"/>
              <a:pathLst>
                <a:path w="4946641" h="1165359">
                  <a:moveTo>
                    <a:pt x="9481" y="0"/>
                  </a:moveTo>
                  <a:lnTo>
                    <a:pt x="4937160" y="0"/>
                  </a:lnTo>
                  <a:cubicBezTo>
                    <a:pt x="4939674" y="0"/>
                    <a:pt x="4942086" y="999"/>
                    <a:pt x="4943864" y="2777"/>
                  </a:cubicBezTo>
                  <a:cubicBezTo>
                    <a:pt x="4945642" y="4555"/>
                    <a:pt x="4946641" y="6966"/>
                    <a:pt x="4946641" y="9481"/>
                  </a:cubicBezTo>
                  <a:lnTo>
                    <a:pt x="4946641" y="1155879"/>
                  </a:lnTo>
                  <a:cubicBezTo>
                    <a:pt x="4946641" y="1158393"/>
                    <a:pt x="4945642" y="1160805"/>
                    <a:pt x="4943864" y="1162583"/>
                  </a:cubicBezTo>
                  <a:cubicBezTo>
                    <a:pt x="4942086" y="1164361"/>
                    <a:pt x="4939674" y="1165359"/>
                    <a:pt x="4937160" y="1165359"/>
                  </a:cubicBezTo>
                  <a:lnTo>
                    <a:pt x="9481" y="1165359"/>
                  </a:lnTo>
                  <a:cubicBezTo>
                    <a:pt x="6966" y="1165359"/>
                    <a:pt x="4555" y="1164361"/>
                    <a:pt x="2777" y="1162583"/>
                  </a:cubicBezTo>
                  <a:cubicBezTo>
                    <a:pt x="999" y="1160805"/>
                    <a:pt x="0" y="1158393"/>
                    <a:pt x="0" y="1155879"/>
                  </a:cubicBezTo>
                  <a:lnTo>
                    <a:pt x="0" y="9481"/>
                  </a:lnTo>
                  <a:cubicBezTo>
                    <a:pt x="0" y="6966"/>
                    <a:pt x="999" y="4555"/>
                    <a:pt x="2777" y="2777"/>
                  </a:cubicBezTo>
                  <a:cubicBezTo>
                    <a:pt x="4555" y="999"/>
                    <a:pt x="6966" y="0"/>
                    <a:pt x="9481" y="0"/>
                  </a:cubicBezTo>
                  <a:close/>
                </a:path>
              </a:pathLst>
            </a:custGeom>
            <a:solidFill>
              <a:srgbClr val="1B294A">
                <a:alpha val="53725"/>
              </a:srgbClr>
            </a:solidFill>
          </p:spPr>
        </p:sp>
        <p:sp>
          <p:nvSpPr>
            <p:cNvPr id="6" name="TextBox 6">
              <a:extLst>
                <a:ext uri="{FF2B5EF4-FFF2-40B4-BE49-F238E27FC236}">
                  <a16:creationId xmlns:a16="http://schemas.microsoft.com/office/drawing/2014/main" id="{B0609363-D029-9D8F-470C-8E5C27EC8B25}"/>
                </a:ext>
              </a:extLst>
            </p:cNvPr>
            <p:cNvSpPr txBox="1"/>
            <p:nvPr/>
          </p:nvSpPr>
          <p:spPr>
            <a:xfrm>
              <a:off x="0" y="-38100"/>
              <a:ext cx="4946641" cy="1203459"/>
            </a:xfrm>
            <a:prstGeom prst="rect">
              <a:avLst/>
            </a:prstGeom>
          </p:spPr>
          <p:txBody>
            <a:bodyPr lIns="50800" tIns="50800" rIns="50800" bIns="50800" rtlCol="0" anchor="ctr"/>
            <a:lstStyle/>
            <a:p>
              <a:pPr algn="ctr">
                <a:lnSpc>
                  <a:spcPts val="3080"/>
                </a:lnSpc>
              </a:pPr>
              <a:endParaRPr/>
            </a:p>
          </p:txBody>
        </p:sp>
      </p:grpSp>
      <p:grpSp>
        <p:nvGrpSpPr>
          <p:cNvPr id="18" name="Group 18">
            <a:extLst>
              <a:ext uri="{FF2B5EF4-FFF2-40B4-BE49-F238E27FC236}">
                <a16:creationId xmlns:a16="http://schemas.microsoft.com/office/drawing/2014/main" id="{741BB1E8-514F-D533-F116-FEBE99827B2C}"/>
              </a:ext>
            </a:extLst>
          </p:cNvPr>
          <p:cNvGrpSpPr/>
          <p:nvPr/>
        </p:nvGrpSpPr>
        <p:grpSpPr>
          <a:xfrm>
            <a:off x="5773697" y="9680872"/>
            <a:ext cx="6887375" cy="752794"/>
            <a:chOff x="0" y="0"/>
            <a:chExt cx="1813959" cy="198267"/>
          </a:xfrm>
        </p:grpSpPr>
        <p:sp>
          <p:nvSpPr>
            <p:cNvPr id="19" name="Freeform 19">
              <a:extLst>
                <a:ext uri="{FF2B5EF4-FFF2-40B4-BE49-F238E27FC236}">
                  <a16:creationId xmlns:a16="http://schemas.microsoft.com/office/drawing/2014/main" id="{7988552A-AADB-913F-5B29-66B0C2E9884A}"/>
                </a:ext>
              </a:extLst>
            </p:cNvPr>
            <p:cNvSpPr/>
            <p:nvPr/>
          </p:nvSpPr>
          <p:spPr>
            <a:xfrm>
              <a:off x="0" y="0"/>
              <a:ext cx="1813959" cy="198267"/>
            </a:xfrm>
            <a:custGeom>
              <a:avLst/>
              <a:gdLst/>
              <a:ahLst/>
              <a:cxnLst/>
              <a:rect l="l" t="t" r="r" b="b"/>
              <a:pathLst>
                <a:path w="1813959" h="198267">
                  <a:moveTo>
                    <a:pt x="0" y="0"/>
                  </a:moveTo>
                  <a:lnTo>
                    <a:pt x="1813959" y="0"/>
                  </a:lnTo>
                  <a:lnTo>
                    <a:pt x="1813959" y="198267"/>
                  </a:lnTo>
                  <a:lnTo>
                    <a:pt x="0" y="198267"/>
                  </a:lnTo>
                  <a:close/>
                </a:path>
              </a:pathLst>
            </a:custGeom>
            <a:solidFill>
              <a:srgbClr val="1B294A"/>
            </a:solidFill>
          </p:spPr>
        </p:sp>
        <p:sp>
          <p:nvSpPr>
            <p:cNvPr id="20" name="TextBox 20">
              <a:extLst>
                <a:ext uri="{FF2B5EF4-FFF2-40B4-BE49-F238E27FC236}">
                  <a16:creationId xmlns:a16="http://schemas.microsoft.com/office/drawing/2014/main" id="{CD474E7B-3383-1EE9-5B24-9D0A942A18E1}"/>
                </a:ext>
              </a:extLst>
            </p:cNvPr>
            <p:cNvSpPr txBox="1"/>
            <p:nvPr/>
          </p:nvSpPr>
          <p:spPr>
            <a:xfrm>
              <a:off x="0" y="-38100"/>
              <a:ext cx="1813959" cy="236367"/>
            </a:xfrm>
            <a:prstGeom prst="rect">
              <a:avLst/>
            </a:prstGeom>
          </p:spPr>
          <p:txBody>
            <a:bodyPr lIns="50800" tIns="50800" rIns="50800" bIns="50800" rtlCol="0" anchor="ctr"/>
            <a:lstStyle/>
            <a:p>
              <a:pPr algn="ctr">
                <a:lnSpc>
                  <a:spcPts val="3080"/>
                </a:lnSpc>
              </a:pPr>
              <a:endParaRPr/>
            </a:p>
          </p:txBody>
        </p:sp>
      </p:grpSp>
      <p:sp>
        <p:nvSpPr>
          <p:cNvPr id="22" name="TextBox 11">
            <a:extLst>
              <a:ext uri="{FF2B5EF4-FFF2-40B4-BE49-F238E27FC236}">
                <a16:creationId xmlns:a16="http://schemas.microsoft.com/office/drawing/2014/main" id="{B9C3B335-B502-9673-1694-99CA68ADCF53}"/>
              </a:ext>
            </a:extLst>
          </p:cNvPr>
          <p:cNvSpPr txBox="1"/>
          <p:nvPr/>
        </p:nvSpPr>
        <p:spPr>
          <a:xfrm>
            <a:off x="2807350" y="2406517"/>
            <a:ext cx="12820067" cy="1192634"/>
          </a:xfrm>
          <a:prstGeom prst="rect">
            <a:avLst/>
          </a:prstGeom>
        </p:spPr>
        <p:txBody>
          <a:bodyPr wrap="square" lIns="0" tIns="0" rIns="0" bIns="0" rtlCol="0" anchor="t">
            <a:spAutoFit/>
          </a:bodyPr>
          <a:lstStyle/>
          <a:p>
            <a:pPr algn="just">
              <a:lnSpc>
                <a:spcPts val="3080"/>
              </a:lnSpc>
            </a:pPr>
            <a:r>
              <a:rPr lang="en-US" sz="2800" b="1" dirty="0">
                <a:solidFill>
                  <a:schemeClr val="bg1"/>
                </a:solidFill>
                <a:latin typeface="AlexandriaFLF" panose="02000603070000020004" pitchFamily="2" charset="0"/>
                <a:ea typeface="Lato"/>
                <a:cs typeface="Lato"/>
                <a:sym typeface="Lato"/>
              </a:rPr>
              <a:t>In real-world systems like banking apps, email services, and social media platforms, millions of actions happen every minute. Cyber security systems continuously monitor this activity to protect users.</a:t>
            </a:r>
            <a:endParaRPr lang="en-US" sz="2400" b="1" dirty="0">
              <a:solidFill>
                <a:schemeClr val="bg1"/>
              </a:solidFill>
              <a:latin typeface="AlexandriaFLF" panose="02000603070000020004" pitchFamily="2" charset="0"/>
              <a:ea typeface="Lato"/>
              <a:cs typeface="Lato"/>
              <a:sym typeface="Lato"/>
            </a:endParaRPr>
          </a:p>
        </p:txBody>
      </p:sp>
      <p:sp>
        <p:nvSpPr>
          <p:cNvPr id="23" name="TextBox 10">
            <a:extLst>
              <a:ext uri="{FF2B5EF4-FFF2-40B4-BE49-F238E27FC236}">
                <a16:creationId xmlns:a16="http://schemas.microsoft.com/office/drawing/2014/main" id="{EB509F53-9FEE-CE20-FB68-1BF89BB34376}"/>
              </a:ext>
            </a:extLst>
          </p:cNvPr>
          <p:cNvSpPr txBox="1"/>
          <p:nvPr/>
        </p:nvSpPr>
        <p:spPr>
          <a:xfrm>
            <a:off x="4256005" y="1320485"/>
            <a:ext cx="9922756" cy="700513"/>
          </a:xfrm>
          <a:prstGeom prst="rect">
            <a:avLst/>
          </a:prstGeom>
        </p:spPr>
        <p:txBody>
          <a:bodyPr wrap="square" lIns="0" tIns="0" rIns="0" bIns="0" rtlCol="0" anchor="t">
            <a:spAutoFit/>
          </a:bodyPr>
          <a:lstStyle/>
          <a:p>
            <a:pPr algn="ctr">
              <a:lnSpc>
                <a:spcPts val="5880"/>
              </a:lnSpc>
            </a:pPr>
            <a:r>
              <a:rPr lang="en-US" sz="4200" b="1" dirty="0">
                <a:solidFill>
                  <a:schemeClr val="bg1"/>
                </a:solidFill>
                <a:latin typeface="Montserrat Bold"/>
                <a:ea typeface="Montserrat Bold"/>
                <a:cs typeface="Montserrat Bold"/>
                <a:sym typeface="Montserrat Bold"/>
              </a:rPr>
              <a:t>Real Life </a:t>
            </a:r>
            <a:r>
              <a:rPr lang="en-US" sz="4200" b="1" dirty="0" err="1">
                <a:solidFill>
                  <a:schemeClr val="bg1"/>
                </a:solidFill>
                <a:latin typeface="Montserrat Bold"/>
                <a:ea typeface="Montserrat Bold"/>
                <a:cs typeface="Montserrat Bold"/>
                <a:sym typeface="Montserrat Bold"/>
              </a:rPr>
              <a:t>CyberSecurity</a:t>
            </a:r>
            <a:r>
              <a:rPr lang="en-US" sz="4200" b="1" dirty="0">
                <a:solidFill>
                  <a:schemeClr val="bg1"/>
                </a:solidFill>
                <a:latin typeface="Montserrat Bold"/>
                <a:ea typeface="Montserrat Bold"/>
                <a:cs typeface="Montserrat Bold"/>
                <a:sym typeface="Montserrat Bold"/>
              </a:rPr>
              <a:t> Examples</a:t>
            </a:r>
          </a:p>
        </p:txBody>
      </p:sp>
      <p:sp>
        <p:nvSpPr>
          <p:cNvPr id="29" name="Rectangle: Rounded Corners 28">
            <a:extLst>
              <a:ext uri="{FF2B5EF4-FFF2-40B4-BE49-F238E27FC236}">
                <a16:creationId xmlns:a16="http://schemas.microsoft.com/office/drawing/2014/main" id="{EE6D7672-BB17-5903-FAB2-239FF5C531D5}"/>
              </a:ext>
            </a:extLst>
          </p:cNvPr>
          <p:cNvSpPr/>
          <p:nvPr/>
        </p:nvSpPr>
        <p:spPr>
          <a:xfrm>
            <a:off x="851138" y="5142280"/>
            <a:ext cx="16876181" cy="397966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folder Vector Icons free download in SVG, PNG Format">
            <a:extLst>
              <a:ext uri="{FF2B5EF4-FFF2-40B4-BE49-F238E27FC236}">
                <a16:creationId xmlns:a16="http://schemas.microsoft.com/office/drawing/2014/main" id="{392A8C6E-85DE-0AA9-A9C4-8260F2841AB9}"/>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60681" y="6252548"/>
            <a:ext cx="3695324" cy="3695324"/>
          </a:xfrm>
          <a:prstGeom prst="rect">
            <a:avLst/>
          </a:prstGeom>
          <a:noFill/>
        </p:spPr>
      </p:pic>
      <p:sp>
        <p:nvSpPr>
          <p:cNvPr id="34" name="TextBox 33">
            <a:extLst>
              <a:ext uri="{FF2B5EF4-FFF2-40B4-BE49-F238E27FC236}">
                <a16:creationId xmlns:a16="http://schemas.microsoft.com/office/drawing/2014/main" id="{91125654-116C-4004-3542-875B4B209F4B}"/>
              </a:ext>
            </a:extLst>
          </p:cNvPr>
          <p:cNvSpPr txBox="1"/>
          <p:nvPr/>
        </p:nvSpPr>
        <p:spPr>
          <a:xfrm>
            <a:off x="956951" y="7507464"/>
            <a:ext cx="2853049" cy="1569660"/>
          </a:xfrm>
          <a:prstGeom prst="rect">
            <a:avLst/>
          </a:prstGeom>
          <a:noFill/>
        </p:spPr>
        <p:txBody>
          <a:bodyPr wrap="square" rtlCol="0">
            <a:spAutoFit/>
          </a:bodyPr>
          <a:lstStyle/>
          <a:p>
            <a:r>
              <a:rPr lang="en-US" sz="3200" dirty="0">
                <a:latin typeface="Arial Black" panose="020B0A04020102020204" pitchFamily="34" charset="0"/>
              </a:rPr>
              <a:t>Login Attempts Monitoring</a:t>
            </a:r>
          </a:p>
        </p:txBody>
      </p:sp>
      <p:sp>
        <p:nvSpPr>
          <p:cNvPr id="38" name="TextBox 37">
            <a:extLst>
              <a:ext uri="{FF2B5EF4-FFF2-40B4-BE49-F238E27FC236}">
                <a16:creationId xmlns:a16="http://schemas.microsoft.com/office/drawing/2014/main" id="{CDA3DD3B-5AF8-D5A3-9B40-B6762EF48CCD}"/>
              </a:ext>
            </a:extLst>
          </p:cNvPr>
          <p:cNvSpPr txBox="1"/>
          <p:nvPr/>
        </p:nvSpPr>
        <p:spPr>
          <a:xfrm>
            <a:off x="4546462" y="5386579"/>
            <a:ext cx="4922559" cy="3139321"/>
          </a:xfrm>
          <a:prstGeom prst="rect">
            <a:avLst/>
          </a:prstGeom>
          <a:noFill/>
        </p:spPr>
        <p:txBody>
          <a:bodyPr wrap="square" rtlCol="0">
            <a:spAutoFit/>
          </a:bodyPr>
          <a:lstStyle/>
          <a:p>
            <a:pPr marL="285750" indent="-285750">
              <a:buFont typeface="Arial" panose="020B0604020202020204" pitchFamily="34" charset="0"/>
              <a:buChar char="•"/>
            </a:pPr>
            <a:r>
              <a:rPr lang="en-US" sz="2200" dirty="0"/>
              <a:t>Normal users log in a few times per day</a:t>
            </a:r>
          </a:p>
          <a:p>
            <a:pPr marL="285750" indent="-285750">
              <a:buFont typeface="Arial" panose="020B0604020202020204" pitchFamily="34" charset="0"/>
              <a:buChar char="•"/>
            </a:pPr>
            <a:r>
              <a:rPr lang="en-US" sz="2200" dirty="0"/>
              <a:t>Hackers may try hundreds of logins per minute</a:t>
            </a:r>
          </a:p>
          <a:p>
            <a:pPr marL="285750" indent="-285750">
              <a:buFont typeface="Arial" panose="020B0604020202020204" pitchFamily="34" charset="0"/>
              <a:buChar char="•"/>
            </a:pPr>
            <a:r>
              <a:rPr lang="en-US" sz="2200" dirty="0"/>
              <a:t>Systems plot login attempts on a graph over time</a:t>
            </a:r>
          </a:p>
          <a:p>
            <a:pPr marL="285750" indent="-285750">
              <a:buFont typeface="Arial" panose="020B0604020202020204" pitchFamily="34" charset="0"/>
              <a:buChar char="•"/>
            </a:pPr>
            <a:r>
              <a:rPr lang="en-US" sz="2200" dirty="0"/>
              <a:t>A sudden spike indicates a brute-force attack</a:t>
            </a:r>
          </a:p>
          <a:p>
            <a:endParaRPr lang="en-US" sz="2200" dirty="0"/>
          </a:p>
        </p:txBody>
      </p:sp>
      <p:sp>
        <p:nvSpPr>
          <p:cNvPr id="45" name="TextBox 44">
            <a:extLst>
              <a:ext uri="{FF2B5EF4-FFF2-40B4-BE49-F238E27FC236}">
                <a16:creationId xmlns:a16="http://schemas.microsoft.com/office/drawing/2014/main" id="{60B2B310-56D5-4A7C-B6F2-F29B605D6E39}"/>
              </a:ext>
            </a:extLst>
          </p:cNvPr>
          <p:cNvSpPr txBox="1"/>
          <p:nvPr/>
        </p:nvSpPr>
        <p:spPr>
          <a:xfrm>
            <a:off x="981818" y="6821678"/>
            <a:ext cx="2853049" cy="461665"/>
          </a:xfrm>
          <a:prstGeom prst="rect">
            <a:avLst/>
          </a:prstGeom>
          <a:noFill/>
        </p:spPr>
        <p:txBody>
          <a:bodyPr wrap="square" rtlCol="0">
            <a:spAutoFit/>
          </a:bodyPr>
          <a:lstStyle/>
          <a:p>
            <a:r>
              <a:rPr lang="en-US" sz="2400" dirty="0">
                <a:latin typeface="Arial Black" panose="020B0A04020102020204" pitchFamily="34" charset="0"/>
              </a:rPr>
              <a:t>1</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0F9A39-F8C6-BE40-3839-26FF3D7DAFBC}"/>
                  </a:ext>
                </a:extLst>
              </p:cNvPr>
              <p:cNvSpPr txBox="1"/>
              <p:nvPr/>
            </p:nvSpPr>
            <p:spPr>
              <a:xfrm>
                <a:off x="10199792" y="5375385"/>
                <a:ext cx="6792808" cy="2800767"/>
              </a:xfrm>
              <a:prstGeom prst="rect">
                <a:avLst/>
              </a:prstGeom>
              <a:noFill/>
            </p:spPr>
            <p:txBody>
              <a:bodyPr wrap="square" rtlCol="0">
                <a:spAutoFit/>
              </a:bodyPr>
              <a:lstStyle/>
              <a:p>
                <a:r>
                  <a:rPr lang="en-US" sz="2200" dirty="0"/>
                  <a:t>Example:</a:t>
                </a:r>
              </a:p>
              <a:p>
                <a:r>
                  <a:rPr lang="en-US" sz="2200" dirty="0"/>
                  <a:t>Normal Behavior: A User logs in 2-3 times per Hour</a:t>
                </a:r>
              </a:p>
              <a:p>
                <a:r>
                  <a:rPr lang="en-US" sz="2200" dirty="0"/>
                  <a:t>Attack Behavior: 100 Login Attempts in 1 minute</a:t>
                </a:r>
              </a:p>
              <a:p>
                <a:r>
                  <a:rPr lang="en-US" sz="2200" dirty="0"/>
                  <a:t>This is shown on a graph as a sudden spike</a:t>
                </a:r>
              </a:p>
              <a:p>
                <a:r>
                  <a:rPr lang="en-US" sz="2200" dirty="0"/>
                  <a:t>Using Calculus, let Login Attempts be:	L(t) = </a:t>
                </a:r>
                <a14:m>
                  <m:oMath xmlns:m="http://schemas.openxmlformats.org/officeDocument/2006/math">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𝑡</m:t>
                        </m:r>
                      </m:e>
                      <m:sup>
                        <m:r>
                          <a:rPr lang="en-US" sz="2200" b="0" i="1" smtClean="0">
                            <a:latin typeface="Cambria Math" panose="02040503050406030204" pitchFamily="18" charset="0"/>
                          </a:rPr>
                          <m:t>2</m:t>
                        </m:r>
                      </m:sup>
                    </m:sSup>
                  </m:oMath>
                </a14:m>
                <a:endParaRPr lang="en-US" sz="2200" b="0" dirty="0"/>
              </a:p>
              <a:p>
                <a:r>
                  <a:rPr lang="en-US" sz="2200" dirty="0"/>
                  <a:t>By Derivative, rate of Login Attempts:	L’(t) = 2t</a:t>
                </a:r>
              </a:p>
              <a:p>
                <a:r>
                  <a:rPr lang="en-US" sz="2200" dirty="0"/>
                  <a:t>At large t, the rate increases quickly -&gt; suspicious activity detected</a:t>
                </a:r>
              </a:p>
            </p:txBody>
          </p:sp>
        </mc:Choice>
        <mc:Fallback xmlns="">
          <p:sp>
            <p:nvSpPr>
              <p:cNvPr id="7" name="TextBox 6">
                <a:extLst>
                  <a:ext uri="{FF2B5EF4-FFF2-40B4-BE49-F238E27FC236}">
                    <a16:creationId xmlns:a16="http://schemas.microsoft.com/office/drawing/2014/main" id="{FC0F9A39-F8C6-BE40-3839-26FF3D7DAFBC}"/>
                  </a:ext>
                </a:extLst>
              </p:cNvPr>
              <p:cNvSpPr txBox="1">
                <a:spLocks noRot="1" noChangeAspect="1" noMove="1" noResize="1" noEditPoints="1" noAdjustHandles="1" noChangeArrowheads="1" noChangeShapeType="1" noTextEdit="1"/>
              </p:cNvSpPr>
              <p:nvPr/>
            </p:nvSpPr>
            <p:spPr>
              <a:xfrm>
                <a:off x="10199792" y="5375385"/>
                <a:ext cx="6792808" cy="2800767"/>
              </a:xfrm>
              <a:prstGeom prst="rect">
                <a:avLst/>
              </a:prstGeom>
              <a:blipFill>
                <a:blip r:embed="rId5"/>
                <a:stretch>
                  <a:fillRect l="-1166" t="-1525" b="-3486"/>
                </a:stretch>
              </a:blipFill>
            </p:spPr>
            <p:txBody>
              <a:bodyPr/>
              <a:lstStyle/>
              <a:p>
                <a:r>
                  <a:rPr lang="en-US">
                    <a:noFill/>
                  </a:rPr>
                  <a:t> </a:t>
                </a:r>
              </a:p>
            </p:txBody>
          </p:sp>
        </mc:Fallback>
      </mc:AlternateContent>
    </p:spTree>
    <p:extLst>
      <p:ext uri="{BB962C8B-B14F-4D97-AF65-F5344CB8AC3E}">
        <p14:creationId xmlns:p14="http://schemas.microsoft.com/office/powerpoint/2010/main" val="762151599"/>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CA053-59CA-839C-D4E3-BEF2C76FB2F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4D3C302-5DE0-9ABF-DEE8-AB265D058078}"/>
              </a:ext>
            </a:extLst>
          </p:cNvPr>
          <p:cNvGrpSpPr/>
          <p:nvPr/>
        </p:nvGrpSpPr>
        <p:grpSpPr>
          <a:xfrm>
            <a:off x="-110133" y="0"/>
            <a:ext cx="18655036" cy="4424724"/>
            <a:chOff x="0" y="0"/>
            <a:chExt cx="2127540" cy="504624"/>
          </a:xfrm>
          <a:blipFill>
            <a:blip r:embed="rId2">
              <a:alphaModFix amt="89000"/>
            </a:blip>
            <a:stretch>
              <a:fillRect/>
            </a:stretch>
          </a:blipFill>
        </p:grpSpPr>
        <p:sp>
          <p:nvSpPr>
            <p:cNvPr id="3" name="Freeform 3">
              <a:extLst>
                <a:ext uri="{FF2B5EF4-FFF2-40B4-BE49-F238E27FC236}">
                  <a16:creationId xmlns:a16="http://schemas.microsoft.com/office/drawing/2014/main" id="{3E43FB01-D400-9C9C-1132-6B272796B7C9}"/>
                </a:ext>
              </a:extLst>
            </p:cNvPr>
            <p:cNvSpPr/>
            <p:nvPr/>
          </p:nvSpPr>
          <p:spPr>
            <a:xfrm>
              <a:off x="0" y="0"/>
              <a:ext cx="2127540" cy="504624"/>
            </a:xfrm>
            <a:custGeom>
              <a:avLst/>
              <a:gdLst/>
              <a:ahLst/>
              <a:cxnLst/>
              <a:rect l="l" t="t" r="r" b="b"/>
              <a:pathLst>
                <a:path w="2127540" h="504624">
                  <a:moveTo>
                    <a:pt x="9545" y="0"/>
                  </a:moveTo>
                  <a:lnTo>
                    <a:pt x="2117995" y="0"/>
                  </a:lnTo>
                  <a:cubicBezTo>
                    <a:pt x="2120526" y="0"/>
                    <a:pt x="2122954" y="1006"/>
                    <a:pt x="2124744" y="2796"/>
                  </a:cubicBezTo>
                  <a:cubicBezTo>
                    <a:pt x="2126534" y="4586"/>
                    <a:pt x="2127540" y="7014"/>
                    <a:pt x="2127540" y="9545"/>
                  </a:cubicBezTo>
                  <a:lnTo>
                    <a:pt x="2127540" y="495079"/>
                  </a:lnTo>
                  <a:cubicBezTo>
                    <a:pt x="2127540" y="497610"/>
                    <a:pt x="2126534" y="500038"/>
                    <a:pt x="2124744" y="501828"/>
                  </a:cubicBezTo>
                  <a:cubicBezTo>
                    <a:pt x="2122954" y="503618"/>
                    <a:pt x="2120526" y="504624"/>
                    <a:pt x="2117995" y="504624"/>
                  </a:cubicBezTo>
                  <a:lnTo>
                    <a:pt x="9545" y="504624"/>
                  </a:lnTo>
                  <a:cubicBezTo>
                    <a:pt x="4273" y="504624"/>
                    <a:pt x="0" y="500350"/>
                    <a:pt x="0" y="495079"/>
                  </a:cubicBezTo>
                  <a:lnTo>
                    <a:pt x="0" y="9545"/>
                  </a:lnTo>
                  <a:cubicBezTo>
                    <a:pt x="0" y="4273"/>
                    <a:pt x="4273" y="0"/>
                    <a:pt x="9545" y="0"/>
                  </a:cubicBezTo>
                  <a:close/>
                </a:path>
              </a:pathLst>
            </a:custGeom>
            <a:grpFill/>
          </p:spPr>
        </p:sp>
      </p:grpSp>
      <p:grpSp>
        <p:nvGrpSpPr>
          <p:cNvPr id="4" name="Group 4">
            <a:extLst>
              <a:ext uri="{FF2B5EF4-FFF2-40B4-BE49-F238E27FC236}">
                <a16:creationId xmlns:a16="http://schemas.microsoft.com/office/drawing/2014/main" id="{E291136C-8214-4222-9E00-73158BFAC6CD}"/>
              </a:ext>
            </a:extLst>
          </p:cNvPr>
          <p:cNvGrpSpPr/>
          <p:nvPr/>
        </p:nvGrpSpPr>
        <p:grpSpPr>
          <a:xfrm>
            <a:off x="-246888" y="44330"/>
            <a:ext cx="18781776" cy="4424724"/>
            <a:chOff x="0" y="0"/>
            <a:chExt cx="4946641" cy="1165359"/>
          </a:xfrm>
        </p:grpSpPr>
        <p:sp>
          <p:nvSpPr>
            <p:cNvPr id="5" name="Freeform 5">
              <a:extLst>
                <a:ext uri="{FF2B5EF4-FFF2-40B4-BE49-F238E27FC236}">
                  <a16:creationId xmlns:a16="http://schemas.microsoft.com/office/drawing/2014/main" id="{808D56D0-4638-6588-DB19-CB5DDB03728A}"/>
                </a:ext>
              </a:extLst>
            </p:cNvPr>
            <p:cNvSpPr/>
            <p:nvPr/>
          </p:nvSpPr>
          <p:spPr>
            <a:xfrm>
              <a:off x="0" y="0"/>
              <a:ext cx="4946641" cy="1165359"/>
            </a:xfrm>
            <a:custGeom>
              <a:avLst/>
              <a:gdLst/>
              <a:ahLst/>
              <a:cxnLst/>
              <a:rect l="l" t="t" r="r" b="b"/>
              <a:pathLst>
                <a:path w="4946641" h="1165359">
                  <a:moveTo>
                    <a:pt x="9481" y="0"/>
                  </a:moveTo>
                  <a:lnTo>
                    <a:pt x="4937160" y="0"/>
                  </a:lnTo>
                  <a:cubicBezTo>
                    <a:pt x="4939674" y="0"/>
                    <a:pt x="4942086" y="999"/>
                    <a:pt x="4943864" y="2777"/>
                  </a:cubicBezTo>
                  <a:cubicBezTo>
                    <a:pt x="4945642" y="4555"/>
                    <a:pt x="4946641" y="6966"/>
                    <a:pt x="4946641" y="9481"/>
                  </a:cubicBezTo>
                  <a:lnTo>
                    <a:pt x="4946641" y="1155879"/>
                  </a:lnTo>
                  <a:cubicBezTo>
                    <a:pt x="4946641" y="1158393"/>
                    <a:pt x="4945642" y="1160805"/>
                    <a:pt x="4943864" y="1162583"/>
                  </a:cubicBezTo>
                  <a:cubicBezTo>
                    <a:pt x="4942086" y="1164361"/>
                    <a:pt x="4939674" y="1165359"/>
                    <a:pt x="4937160" y="1165359"/>
                  </a:cubicBezTo>
                  <a:lnTo>
                    <a:pt x="9481" y="1165359"/>
                  </a:lnTo>
                  <a:cubicBezTo>
                    <a:pt x="6966" y="1165359"/>
                    <a:pt x="4555" y="1164361"/>
                    <a:pt x="2777" y="1162583"/>
                  </a:cubicBezTo>
                  <a:cubicBezTo>
                    <a:pt x="999" y="1160805"/>
                    <a:pt x="0" y="1158393"/>
                    <a:pt x="0" y="1155879"/>
                  </a:cubicBezTo>
                  <a:lnTo>
                    <a:pt x="0" y="9481"/>
                  </a:lnTo>
                  <a:cubicBezTo>
                    <a:pt x="0" y="6966"/>
                    <a:pt x="999" y="4555"/>
                    <a:pt x="2777" y="2777"/>
                  </a:cubicBezTo>
                  <a:cubicBezTo>
                    <a:pt x="4555" y="999"/>
                    <a:pt x="6966" y="0"/>
                    <a:pt x="9481" y="0"/>
                  </a:cubicBezTo>
                  <a:close/>
                </a:path>
              </a:pathLst>
            </a:custGeom>
            <a:solidFill>
              <a:srgbClr val="1B294A">
                <a:alpha val="53725"/>
              </a:srgbClr>
            </a:solidFill>
          </p:spPr>
        </p:sp>
        <p:sp>
          <p:nvSpPr>
            <p:cNvPr id="6" name="TextBox 6">
              <a:extLst>
                <a:ext uri="{FF2B5EF4-FFF2-40B4-BE49-F238E27FC236}">
                  <a16:creationId xmlns:a16="http://schemas.microsoft.com/office/drawing/2014/main" id="{B465BC8B-A2D6-1AE5-EF15-5C7D085ED355}"/>
                </a:ext>
              </a:extLst>
            </p:cNvPr>
            <p:cNvSpPr txBox="1"/>
            <p:nvPr/>
          </p:nvSpPr>
          <p:spPr>
            <a:xfrm>
              <a:off x="0" y="-38100"/>
              <a:ext cx="4946641" cy="1203459"/>
            </a:xfrm>
            <a:prstGeom prst="rect">
              <a:avLst/>
            </a:prstGeom>
          </p:spPr>
          <p:txBody>
            <a:bodyPr lIns="50800" tIns="50800" rIns="50800" bIns="50800" rtlCol="0" anchor="ctr"/>
            <a:lstStyle/>
            <a:p>
              <a:pPr algn="ctr">
                <a:lnSpc>
                  <a:spcPts val="3080"/>
                </a:lnSpc>
              </a:pPr>
              <a:endParaRPr/>
            </a:p>
          </p:txBody>
        </p:sp>
      </p:grpSp>
      <p:grpSp>
        <p:nvGrpSpPr>
          <p:cNvPr id="18" name="Group 18">
            <a:extLst>
              <a:ext uri="{FF2B5EF4-FFF2-40B4-BE49-F238E27FC236}">
                <a16:creationId xmlns:a16="http://schemas.microsoft.com/office/drawing/2014/main" id="{128A7CEF-0C69-47FB-CA22-3897AFA99D08}"/>
              </a:ext>
            </a:extLst>
          </p:cNvPr>
          <p:cNvGrpSpPr/>
          <p:nvPr/>
        </p:nvGrpSpPr>
        <p:grpSpPr>
          <a:xfrm>
            <a:off x="5773697" y="9680872"/>
            <a:ext cx="6887375" cy="752794"/>
            <a:chOff x="0" y="0"/>
            <a:chExt cx="1813959" cy="198267"/>
          </a:xfrm>
        </p:grpSpPr>
        <p:sp>
          <p:nvSpPr>
            <p:cNvPr id="19" name="Freeform 19">
              <a:extLst>
                <a:ext uri="{FF2B5EF4-FFF2-40B4-BE49-F238E27FC236}">
                  <a16:creationId xmlns:a16="http://schemas.microsoft.com/office/drawing/2014/main" id="{88181E02-8E77-076F-5F2C-51EB8FA3916F}"/>
                </a:ext>
              </a:extLst>
            </p:cNvPr>
            <p:cNvSpPr/>
            <p:nvPr/>
          </p:nvSpPr>
          <p:spPr>
            <a:xfrm>
              <a:off x="0" y="0"/>
              <a:ext cx="1813959" cy="198267"/>
            </a:xfrm>
            <a:custGeom>
              <a:avLst/>
              <a:gdLst/>
              <a:ahLst/>
              <a:cxnLst/>
              <a:rect l="l" t="t" r="r" b="b"/>
              <a:pathLst>
                <a:path w="1813959" h="198267">
                  <a:moveTo>
                    <a:pt x="0" y="0"/>
                  </a:moveTo>
                  <a:lnTo>
                    <a:pt x="1813959" y="0"/>
                  </a:lnTo>
                  <a:lnTo>
                    <a:pt x="1813959" y="198267"/>
                  </a:lnTo>
                  <a:lnTo>
                    <a:pt x="0" y="198267"/>
                  </a:lnTo>
                  <a:close/>
                </a:path>
              </a:pathLst>
            </a:custGeom>
            <a:solidFill>
              <a:srgbClr val="1B294A"/>
            </a:solidFill>
          </p:spPr>
        </p:sp>
        <p:sp>
          <p:nvSpPr>
            <p:cNvPr id="20" name="TextBox 20">
              <a:extLst>
                <a:ext uri="{FF2B5EF4-FFF2-40B4-BE49-F238E27FC236}">
                  <a16:creationId xmlns:a16="http://schemas.microsoft.com/office/drawing/2014/main" id="{A35F768A-F136-4FDB-8049-4F3FC60A5AF7}"/>
                </a:ext>
              </a:extLst>
            </p:cNvPr>
            <p:cNvSpPr txBox="1"/>
            <p:nvPr/>
          </p:nvSpPr>
          <p:spPr>
            <a:xfrm>
              <a:off x="0" y="-38100"/>
              <a:ext cx="1813959" cy="236367"/>
            </a:xfrm>
            <a:prstGeom prst="rect">
              <a:avLst/>
            </a:prstGeom>
          </p:spPr>
          <p:txBody>
            <a:bodyPr lIns="50800" tIns="50800" rIns="50800" bIns="50800" rtlCol="0" anchor="ctr"/>
            <a:lstStyle/>
            <a:p>
              <a:pPr algn="ctr">
                <a:lnSpc>
                  <a:spcPts val="3080"/>
                </a:lnSpc>
              </a:pPr>
              <a:endParaRPr/>
            </a:p>
          </p:txBody>
        </p:sp>
      </p:grpSp>
      <p:sp>
        <p:nvSpPr>
          <p:cNvPr id="22" name="TextBox 11">
            <a:extLst>
              <a:ext uri="{FF2B5EF4-FFF2-40B4-BE49-F238E27FC236}">
                <a16:creationId xmlns:a16="http://schemas.microsoft.com/office/drawing/2014/main" id="{5FBEBD35-6EF6-ABA6-239A-E57E91FFE395}"/>
              </a:ext>
            </a:extLst>
          </p:cNvPr>
          <p:cNvSpPr txBox="1"/>
          <p:nvPr/>
        </p:nvSpPr>
        <p:spPr>
          <a:xfrm>
            <a:off x="2807350" y="2406517"/>
            <a:ext cx="12820067" cy="1192634"/>
          </a:xfrm>
          <a:prstGeom prst="rect">
            <a:avLst/>
          </a:prstGeom>
        </p:spPr>
        <p:txBody>
          <a:bodyPr wrap="square" lIns="0" tIns="0" rIns="0" bIns="0" rtlCol="0" anchor="t">
            <a:spAutoFit/>
          </a:bodyPr>
          <a:lstStyle/>
          <a:p>
            <a:pPr algn="just">
              <a:lnSpc>
                <a:spcPts val="3080"/>
              </a:lnSpc>
            </a:pPr>
            <a:r>
              <a:rPr lang="en-US" sz="2800" b="1" dirty="0">
                <a:solidFill>
                  <a:schemeClr val="bg1"/>
                </a:solidFill>
                <a:latin typeface="AlexandriaFLF" panose="02000603070000020004" pitchFamily="2" charset="0"/>
                <a:ea typeface="Lato"/>
                <a:cs typeface="Lato"/>
                <a:sym typeface="Lato"/>
              </a:rPr>
              <a:t>In real-world systems like banking apps, email services, and social media platforms, millions of actions happen every minute. Cyber security systems continuously monitor this activity to protect users.</a:t>
            </a:r>
            <a:endParaRPr lang="en-US" sz="2400" b="1" dirty="0">
              <a:solidFill>
                <a:schemeClr val="bg1"/>
              </a:solidFill>
              <a:latin typeface="AlexandriaFLF" panose="02000603070000020004" pitchFamily="2" charset="0"/>
              <a:ea typeface="Lato"/>
              <a:cs typeface="Lato"/>
              <a:sym typeface="Lato"/>
            </a:endParaRPr>
          </a:p>
        </p:txBody>
      </p:sp>
      <p:sp>
        <p:nvSpPr>
          <p:cNvPr id="23" name="TextBox 10">
            <a:extLst>
              <a:ext uri="{FF2B5EF4-FFF2-40B4-BE49-F238E27FC236}">
                <a16:creationId xmlns:a16="http://schemas.microsoft.com/office/drawing/2014/main" id="{5466AA42-6BCB-D3DD-F303-825EA6630673}"/>
              </a:ext>
            </a:extLst>
          </p:cNvPr>
          <p:cNvSpPr txBox="1"/>
          <p:nvPr/>
        </p:nvSpPr>
        <p:spPr>
          <a:xfrm>
            <a:off x="4256005" y="1320485"/>
            <a:ext cx="9922756" cy="700513"/>
          </a:xfrm>
          <a:prstGeom prst="rect">
            <a:avLst/>
          </a:prstGeom>
        </p:spPr>
        <p:txBody>
          <a:bodyPr wrap="square" lIns="0" tIns="0" rIns="0" bIns="0" rtlCol="0" anchor="t">
            <a:spAutoFit/>
          </a:bodyPr>
          <a:lstStyle/>
          <a:p>
            <a:pPr algn="ctr">
              <a:lnSpc>
                <a:spcPts val="5880"/>
              </a:lnSpc>
            </a:pPr>
            <a:r>
              <a:rPr lang="en-US" sz="4200" b="1" dirty="0">
                <a:solidFill>
                  <a:schemeClr val="bg1"/>
                </a:solidFill>
                <a:latin typeface="Montserrat Bold"/>
                <a:ea typeface="Montserrat Bold"/>
                <a:cs typeface="Montserrat Bold"/>
                <a:sym typeface="Montserrat Bold"/>
              </a:rPr>
              <a:t>Real Life </a:t>
            </a:r>
            <a:r>
              <a:rPr lang="en-US" sz="4200" b="1" dirty="0" err="1">
                <a:solidFill>
                  <a:schemeClr val="bg1"/>
                </a:solidFill>
                <a:latin typeface="Montserrat Bold"/>
                <a:ea typeface="Montserrat Bold"/>
                <a:cs typeface="Montserrat Bold"/>
                <a:sym typeface="Montserrat Bold"/>
              </a:rPr>
              <a:t>CyberSecurity</a:t>
            </a:r>
            <a:r>
              <a:rPr lang="en-US" sz="4200" b="1" dirty="0">
                <a:solidFill>
                  <a:schemeClr val="bg1"/>
                </a:solidFill>
                <a:latin typeface="Montserrat Bold"/>
                <a:ea typeface="Montserrat Bold"/>
                <a:cs typeface="Montserrat Bold"/>
                <a:sym typeface="Montserrat Bold"/>
              </a:rPr>
              <a:t> Examples</a:t>
            </a:r>
          </a:p>
        </p:txBody>
      </p:sp>
      <p:sp>
        <p:nvSpPr>
          <p:cNvPr id="28" name="Rectangle: Rounded Corners 27">
            <a:extLst>
              <a:ext uri="{FF2B5EF4-FFF2-40B4-BE49-F238E27FC236}">
                <a16:creationId xmlns:a16="http://schemas.microsoft.com/office/drawing/2014/main" id="{A0911512-FE51-0419-1F82-02751517F82C}"/>
              </a:ext>
            </a:extLst>
          </p:cNvPr>
          <p:cNvSpPr/>
          <p:nvPr/>
        </p:nvSpPr>
        <p:spPr>
          <a:xfrm>
            <a:off x="838200" y="5143501"/>
            <a:ext cx="16479159" cy="3979666"/>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2" descr="folder Vector Icons free download in SVG, PNG Format">
            <a:extLst>
              <a:ext uri="{FF2B5EF4-FFF2-40B4-BE49-F238E27FC236}">
                <a16:creationId xmlns:a16="http://schemas.microsoft.com/office/drawing/2014/main" id="{4FAA0E83-8ED2-21F1-4FE6-8BFE27AB6712}"/>
              </a:ext>
            </a:extLst>
          </p:cNvPr>
          <p:cNvPicPr>
            <a:picLocks noChangeAspect="1" noChangeArrowheads="1"/>
          </p:cNvPicPr>
          <p:nvPr/>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536350" y="6252548"/>
            <a:ext cx="3695324" cy="3695324"/>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C3A5657C-B3F0-A6AE-3F25-4E726D8B7CC4}"/>
              </a:ext>
            </a:extLst>
          </p:cNvPr>
          <p:cNvSpPr txBox="1"/>
          <p:nvPr/>
        </p:nvSpPr>
        <p:spPr>
          <a:xfrm>
            <a:off x="916463" y="7507464"/>
            <a:ext cx="2935098" cy="1569660"/>
          </a:xfrm>
          <a:prstGeom prst="rect">
            <a:avLst/>
          </a:prstGeom>
          <a:noFill/>
        </p:spPr>
        <p:txBody>
          <a:bodyPr wrap="square" rtlCol="0">
            <a:spAutoFit/>
          </a:bodyPr>
          <a:lstStyle/>
          <a:p>
            <a:r>
              <a:rPr lang="en-US" sz="3200" dirty="0">
                <a:latin typeface="Arial Black" panose="020B0A04020102020204" pitchFamily="34" charset="0"/>
              </a:rPr>
              <a:t>Transaction Data Monitoring</a:t>
            </a:r>
          </a:p>
        </p:txBody>
      </p:sp>
      <p:sp>
        <p:nvSpPr>
          <p:cNvPr id="41" name="TextBox 40">
            <a:extLst>
              <a:ext uri="{FF2B5EF4-FFF2-40B4-BE49-F238E27FC236}">
                <a16:creationId xmlns:a16="http://schemas.microsoft.com/office/drawing/2014/main" id="{EDDC7760-2B24-361B-7720-4284834B8E37}"/>
              </a:ext>
            </a:extLst>
          </p:cNvPr>
          <p:cNvSpPr txBox="1"/>
          <p:nvPr/>
        </p:nvSpPr>
        <p:spPr>
          <a:xfrm>
            <a:off x="4533524" y="5331302"/>
            <a:ext cx="5258856"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Transactions usually follow a predictable pattern</a:t>
            </a:r>
          </a:p>
          <a:p>
            <a:pPr marL="285750" indent="-285750">
              <a:buFont typeface="Arial" panose="020B0604020202020204" pitchFamily="34" charset="0"/>
              <a:buChar char="•"/>
            </a:pPr>
            <a:r>
              <a:rPr lang="en-US" sz="2400" dirty="0"/>
              <a:t>Sudden large transfers or rapid repeated transactions are suspicious</a:t>
            </a:r>
          </a:p>
          <a:p>
            <a:pPr marL="285750" indent="-285750">
              <a:buFont typeface="Arial" panose="020B0604020202020204" pitchFamily="34" charset="0"/>
              <a:buChar char="•"/>
            </a:pPr>
            <a:r>
              <a:rPr lang="en-US" sz="2400" dirty="0"/>
              <a:t>Calculus helps analyze the rate of change of transaction amounts</a:t>
            </a:r>
          </a:p>
          <a:p>
            <a:endParaRPr lang="en-US" sz="2400" dirty="0"/>
          </a:p>
        </p:txBody>
      </p:sp>
      <p:sp>
        <p:nvSpPr>
          <p:cNvPr id="46" name="TextBox 45">
            <a:extLst>
              <a:ext uri="{FF2B5EF4-FFF2-40B4-BE49-F238E27FC236}">
                <a16:creationId xmlns:a16="http://schemas.microsoft.com/office/drawing/2014/main" id="{66D5C7D3-92FB-2594-1CCA-7FE67D0D67CB}"/>
              </a:ext>
            </a:extLst>
          </p:cNvPr>
          <p:cNvSpPr txBox="1"/>
          <p:nvPr/>
        </p:nvSpPr>
        <p:spPr>
          <a:xfrm>
            <a:off x="970641" y="6791373"/>
            <a:ext cx="2853049" cy="461665"/>
          </a:xfrm>
          <a:prstGeom prst="rect">
            <a:avLst/>
          </a:prstGeom>
          <a:noFill/>
        </p:spPr>
        <p:txBody>
          <a:bodyPr wrap="square" rtlCol="0">
            <a:spAutoFit/>
          </a:bodyPr>
          <a:lstStyle/>
          <a:p>
            <a:r>
              <a:rPr lang="en-US" sz="2400" dirty="0">
                <a:latin typeface="Arial Black" panose="020B0A04020102020204" pitchFamily="34" charset="0"/>
              </a:rPr>
              <a:t>2</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DFFE8D2-ABA2-31AB-CD22-7F5A446243A6}"/>
                  </a:ext>
                </a:extLst>
              </p:cNvPr>
              <p:cNvSpPr txBox="1"/>
              <p:nvPr/>
            </p:nvSpPr>
            <p:spPr>
              <a:xfrm>
                <a:off x="10094230" y="5331302"/>
                <a:ext cx="6822170" cy="3139321"/>
              </a:xfrm>
              <a:prstGeom prst="rect">
                <a:avLst/>
              </a:prstGeom>
              <a:noFill/>
            </p:spPr>
            <p:txBody>
              <a:bodyPr wrap="square" rtlCol="0">
                <a:spAutoFit/>
              </a:bodyPr>
              <a:lstStyle/>
              <a:p>
                <a:r>
                  <a:rPr lang="en-US" sz="2200" dirty="0"/>
                  <a:t>Example:</a:t>
                </a:r>
              </a:p>
              <a:p>
                <a:r>
                  <a:rPr lang="en-US" sz="2200" dirty="0"/>
                  <a:t>Normal Transactions: One Transaction of 500$ per day</a:t>
                </a:r>
              </a:p>
              <a:p>
                <a:r>
                  <a:rPr lang="en-US" sz="2200" dirty="0"/>
                  <a:t>Suspicious behavior: 10 transactions of 500$ within 2 minutes</a:t>
                </a:r>
              </a:p>
              <a:p>
                <a:r>
                  <a:rPr lang="en-US" sz="2200" dirty="0"/>
                  <a:t>Let Transaction function be:	</a:t>
                </a:r>
                <a14:m>
                  <m:oMath xmlns:m="http://schemas.openxmlformats.org/officeDocument/2006/math">
                    <m:r>
                      <a:rPr lang="en-US" sz="2200" b="0" i="1" smtClean="0">
                        <a:latin typeface="Cambria Math" panose="02040503050406030204" pitchFamily="18" charset="0"/>
                      </a:rPr>
                      <m:t>𝑇</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𝑥</m:t>
                        </m:r>
                      </m:e>
                    </m:d>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𝑥</m:t>
                        </m:r>
                      </m:e>
                      <m:sup>
                        <m:r>
                          <a:rPr lang="en-US" sz="2200" b="0" i="1" smtClean="0">
                            <a:latin typeface="Cambria Math" panose="02040503050406030204" pitchFamily="18" charset="0"/>
                          </a:rPr>
                          <m:t>2</m:t>
                        </m:r>
                      </m:sup>
                    </m:sSup>
                    <m:r>
                      <a:rPr lang="en-US" sz="2200" b="0" i="1" smtClean="0">
                        <a:latin typeface="Cambria Math" panose="02040503050406030204" pitchFamily="18" charset="0"/>
                      </a:rPr>
                      <m:t>−2</m:t>
                    </m:r>
                  </m:oMath>
                </a14:m>
                <a:endParaRPr lang="en-US" sz="2200" b="0" dirty="0"/>
              </a:p>
              <a:p>
                <a:r>
                  <a:rPr lang="en-US" sz="2200" dirty="0"/>
                  <a:t>Then by derivative, the rate of transaction will be:	T’(x) = 2x</a:t>
                </a:r>
              </a:p>
              <a:p>
                <a:pPr marL="342900" indent="-342900">
                  <a:buFont typeface="Arial" panose="020B0604020202020204" pitchFamily="34" charset="0"/>
                  <a:buChar char="•"/>
                </a:pPr>
                <a:r>
                  <a:rPr lang="en-US" sz="2200" dirty="0"/>
                  <a:t>Rapid increase in Transaction frequency triggers alert</a:t>
                </a:r>
              </a:p>
              <a:p>
                <a:pPr marL="342900" indent="-342900">
                  <a:buFont typeface="Arial" panose="020B0604020202020204" pitchFamily="34" charset="0"/>
                  <a:buChar char="•"/>
                </a:pPr>
                <a:r>
                  <a:rPr lang="en-US" sz="2200" dirty="0"/>
                  <a:t>Systems block the account automatically</a:t>
                </a:r>
              </a:p>
            </p:txBody>
          </p:sp>
        </mc:Choice>
        <mc:Fallback xmlns="">
          <p:sp>
            <p:nvSpPr>
              <p:cNvPr id="7" name="TextBox 6">
                <a:extLst>
                  <a:ext uri="{FF2B5EF4-FFF2-40B4-BE49-F238E27FC236}">
                    <a16:creationId xmlns:a16="http://schemas.microsoft.com/office/drawing/2014/main" id="{CDFFE8D2-ABA2-31AB-CD22-7F5A446243A6}"/>
                  </a:ext>
                </a:extLst>
              </p:cNvPr>
              <p:cNvSpPr txBox="1">
                <a:spLocks noRot="1" noChangeAspect="1" noMove="1" noResize="1" noEditPoints="1" noAdjustHandles="1" noChangeArrowheads="1" noChangeShapeType="1" noTextEdit="1"/>
              </p:cNvSpPr>
              <p:nvPr/>
            </p:nvSpPr>
            <p:spPr>
              <a:xfrm>
                <a:off x="10094230" y="5331302"/>
                <a:ext cx="6822170" cy="3139321"/>
              </a:xfrm>
              <a:prstGeom prst="rect">
                <a:avLst/>
              </a:prstGeom>
              <a:blipFill>
                <a:blip r:embed="rId5"/>
                <a:stretch>
                  <a:fillRect l="-1162" t="-1359" b="-2913"/>
                </a:stretch>
              </a:blipFill>
            </p:spPr>
            <p:txBody>
              <a:bodyPr/>
              <a:lstStyle/>
              <a:p>
                <a:r>
                  <a:rPr lang="en-US">
                    <a:noFill/>
                  </a:rPr>
                  <a:t> </a:t>
                </a:r>
              </a:p>
            </p:txBody>
          </p:sp>
        </mc:Fallback>
      </mc:AlternateContent>
    </p:spTree>
    <p:extLst>
      <p:ext uri="{BB962C8B-B14F-4D97-AF65-F5344CB8AC3E}">
        <p14:creationId xmlns:p14="http://schemas.microsoft.com/office/powerpoint/2010/main" val="3515377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6CAAB-33EB-5688-FA90-76B3F624558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EAD33DA-08DB-F785-D99F-5F336569DA93}"/>
              </a:ext>
            </a:extLst>
          </p:cNvPr>
          <p:cNvGrpSpPr/>
          <p:nvPr/>
        </p:nvGrpSpPr>
        <p:grpSpPr>
          <a:xfrm>
            <a:off x="-110133" y="0"/>
            <a:ext cx="18655036" cy="4424724"/>
            <a:chOff x="0" y="0"/>
            <a:chExt cx="2127540" cy="504624"/>
          </a:xfrm>
          <a:blipFill>
            <a:blip r:embed="rId2">
              <a:alphaModFix amt="89000"/>
            </a:blip>
            <a:stretch>
              <a:fillRect/>
            </a:stretch>
          </a:blipFill>
        </p:grpSpPr>
        <p:sp>
          <p:nvSpPr>
            <p:cNvPr id="3" name="Freeform 3">
              <a:extLst>
                <a:ext uri="{FF2B5EF4-FFF2-40B4-BE49-F238E27FC236}">
                  <a16:creationId xmlns:a16="http://schemas.microsoft.com/office/drawing/2014/main" id="{20223465-003D-A9D8-1B4C-CEE1A8C7FB8E}"/>
                </a:ext>
              </a:extLst>
            </p:cNvPr>
            <p:cNvSpPr/>
            <p:nvPr/>
          </p:nvSpPr>
          <p:spPr>
            <a:xfrm>
              <a:off x="0" y="0"/>
              <a:ext cx="2127540" cy="504624"/>
            </a:xfrm>
            <a:custGeom>
              <a:avLst/>
              <a:gdLst/>
              <a:ahLst/>
              <a:cxnLst/>
              <a:rect l="l" t="t" r="r" b="b"/>
              <a:pathLst>
                <a:path w="2127540" h="504624">
                  <a:moveTo>
                    <a:pt x="9545" y="0"/>
                  </a:moveTo>
                  <a:lnTo>
                    <a:pt x="2117995" y="0"/>
                  </a:lnTo>
                  <a:cubicBezTo>
                    <a:pt x="2120526" y="0"/>
                    <a:pt x="2122954" y="1006"/>
                    <a:pt x="2124744" y="2796"/>
                  </a:cubicBezTo>
                  <a:cubicBezTo>
                    <a:pt x="2126534" y="4586"/>
                    <a:pt x="2127540" y="7014"/>
                    <a:pt x="2127540" y="9545"/>
                  </a:cubicBezTo>
                  <a:lnTo>
                    <a:pt x="2127540" y="495079"/>
                  </a:lnTo>
                  <a:cubicBezTo>
                    <a:pt x="2127540" y="497610"/>
                    <a:pt x="2126534" y="500038"/>
                    <a:pt x="2124744" y="501828"/>
                  </a:cubicBezTo>
                  <a:cubicBezTo>
                    <a:pt x="2122954" y="503618"/>
                    <a:pt x="2120526" y="504624"/>
                    <a:pt x="2117995" y="504624"/>
                  </a:cubicBezTo>
                  <a:lnTo>
                    <a:pt x="9545" y="504624"/>
                  </a:lnTo>
                  <a:cubicBezTo>
                    <a:pt x="4273" y="504624"/>
                    <a:pt x="0" y="500350"/>
                    <a:pt x="0" y="495079"/>
                  </a:cubicBezTo>
                  <a:lnTo>
                    <a:pt x="0" y="9545"/>
                  </a:lnTo>
                  <a:cubicBezTo>
                    <a:pt x="0" y="4273"/>
                    <a:pt x="4273" y="0"/>
                    <a:pt x="9545" y="0"/>
                  </a:cubicBezTo>
                  <a:close/>
                </a:path>
              </a:pathLst>
            </a:custGeom>
            <a:grpFill/>
          </p:spPr>
        </p:sp>
      </p:grpSp>
      <p:grpSp>
        <p:nvGrpSpPr>
          <p:cNvPr id="4" name="Group 4">
            <a:extLst>
              <a:ext uri="{FF2B5EF4-FFF2-40B4-BE49-F238E27FC236}">
                <a16:creationId xmlns:a16="http://schemas.microsoft.com/office/drawing/2014/main" id="{4DE75130-9A22-03DD-AAAF-5FE95AC96FD4}"/>
              </a:ext>
            </a:extLst>
          </p:cNvPr>
          <p:cNvGrpSpPr/>
          <p:nvPr/>
        </p:nvGrpSpPr>
        <p:grpSpPr>
          <a:xfrm>
            <a:off x="-246888" y="44330"/>
            <a:ext cx="18781776" cy="4424724"/>
            <a:chOff x="0" y="0"/>
            <a:chExt cx="4946641" cy="1165359"/>
          </a:xfrm>
        </p:grpSpPr>
        <p:sp>
          <p:nvSpPr>
            <p:cNvPr id="5" name="Freeform 5">
              <a:extLst>
                <a:ext uri="{FF2B5EF4-FFF2-40B4-BE49-F238E27FC236}">
                  <a16:creationId xmlns:a16="http://schemas.microsoft.com/office/drawing/2014/main" id="{5CC519EB-F684-5C8E-8C9C-EEF6BA912787}"/>
                </a:ext>
              </a:extLst>
            </p:cNvPr>
            <p:cNvSpPr/>
            <p:nvPr/>
          </p:nvSpPr>
          <p:spPr>
            <a:xfrm>
              <a:off x="0" y="0"/>
              <a:ext cx="4946641" cy="1165359"/>
            </a:xfrm>
            <a:custGeom>
              <a:avLst/>
              <a:gdLst/>
              <a:ahLst/>
              <a:cxnLst/>
              <a:rect l="l" t="t" r="r" b="b"/>
              <a:pathLst>
                <a:path w="4946641" h="1165359">
                  <a:moveTo>
                    <a:pt x="9481" y="0"/>
                  </a:moveTo>
                  <a:lnTo>
                    <a:pt x="4937160" y="0"/>
                  </a:lnTo>
                  <a:cubicBezTo>
                    <a:pt x="4939674" y="0"/>
                    <a:pt x="4942086" y="999"/>
                    <a:pt x="4943864" y="2777"/>
                  </a:cubicBezTo>
                  <a:cubicBezTo>
                    <a:pt x="4945642" y="4555"/>
                    <a:pt x="4946641" y="6966"/>
                    <a:pt x="4946641" y="9481"/>
                  </a:cubicBezTo>
                  <a:lnTo>
                    <a:pt x="4946641" y="1155879"/>
                  </a:lnTo>
                  <a:cubicBezTo>
                    <a:pt x="4946641" y="1158393"/>
                    <a:pt x="4945642" y="1160805"/>
                    <a:pt x="4943864" y="1162583"/>
                  </a:cubicBezTo>
                  <a:cubicBezTo>
                    <a:pt x="4942086" y="1164361"/>
                    <a:pt x="4939674" y="1165359"/>
                    <a:pt x="4937160" y="1165359"/>
                  </a:cubicBezTo>
                  <a:lnTo>
                    <a:pt x="9481" y="1165359"/>
                  </a:lnTo>
                  <a:cubicBezTo>
                    <a:pt x="6966" y="1165359"/>
                    <a:pt x="4555" y="1164361"/>
                    <a:pt x="2777" y="1162583"/>
                  </a:cubicBezTo>
                  <a:cubicBezTo>
                    <a:pt x="999" y="1160805"/>
                    <a:pt x="0" y="1158393"/>
                    <a:pt x="0" y="1155879"/>
                  </a:cubicBezTo>
                  <a:lnTo>
                    <a:pt x="0" y="9481"/>
                  </a:lnTo>
                  <a:cubicBezTo>
                    <a:pt x="0" y="6966"/>
                    <a:pt x="999" y="4555"/>
                    <a:pt x="2777" y="2777"/>
                  </a:cubicBezTo>
                  <a:cubicBezTo>
                    <a:pt x="4555" y="999"/>
                    <a:pt x="6966" y="0"/>
                    <a:pt x="9481" y="0"/>
                  </a:cubicBezTo>
                  <a:close/>
                </a:path>
              </a:pathLst>
            </a:custGeom>
            <a:solidFill>
              <a:srgbClr val="1B294A">
                <a:alpha val="53725"/>
              </a:srgbClr>
            </a:solidFill>
          </p:spPr>
        </p:sp>
        <p:sp>
          <p:nvSpPr>
            <p:cNvPr id="6" name="TextBox 6">
              <a:extLst>
                <a:ext uri="{FF2B5EF4-FFF2-40B4-BE49-F238E27FC236}">
                  <a16:creationId xmlns:a16="http://schemas.microsoft.com/office/drawing/2014/main" id="{542E3918-1E33-22DA-DD32-FB06773897F6}"/>
                </a:ext>
              </a:extLst>
            </p:cNvPr>
            <p:cNvSpPr txBox="1"/>
            <p:nvPr/>
          </p:nvSpPr>
          <p:spPr>
            <a:xfrm>
              <a:off x="0" y="-38100"/>
              <a:ext cx="4946641" cy="1203459"/>
            </a:xfrm>
            <a:prstGeom prst="rect">
              <a:avLst/>
            </a:prstGeom>
          </p:spPr>
          <p:txBody>
            <a:bodyPr lIns="50800" tIns="50800" rIns="50800" bIns="50800" rtlCol="0" anchor="ctr"/>
            <a:lstStyle/>
            <a:p>
              <a:pPr algn="ctr">
                <a:lnSpc>
                  <a:spcPts val="3080"/>
                </a:lnSpc>
              </a:pPr>
              <a:endParaRPr/>
            </a:p>
          </p:txBody>
        </p:sp>
      </p:grpSp>
      <p:grpSp>
        <p:nvGrpSpPr>
          <p:cNvPr id="18" name="Group 18">
            <a:extLst>
              <a:ext uri="{FF2B5EF4-FFF2-40B4-BE49-F238E27FC236}">
                <a16:creationId xmlns:a16="http://schemas.microsoft.com/office/drawing/2014/main" id="{5938DE15-758C-77FA-EA4C-167F2F3670B9}"/>
              </a:ext>
            </a:extLst>
          </p:cNvPr>
          <p:cNvGrpSpPr/>
          <p:nvPr/>
        </p:nvGrpSpPr>
        <p:grpSpPr>
          <a:xfrm>
            <a:off x="5773697" y="9680872"/>
            <a:ext cx="6887375" cy="752794"/>
            <a:chOff x="0" y="0"/>
            <a:chExt cx="1813959" cy="198267"/>
          </a:xfrm>
        </p:grpSpPr>
        <p:sp>
          <p:nvSpPr>
            <p:cNvPr id="19" name="Freeform 19">
              <a:extLst>
                <a:ext uri="{FF2B5EF4-FFF2-40B4-BE49-F238E27FC236}">
                  <a16:creationId xmlns:a16="http://schemas.microsoft.com/office/drawing/2014/main" id="{035E64F7-1F9A-E7FB-D81D-FED53436D7B3}"/>
                </a:ext>
              </a:extLst>
            </p:cNvPr>
            <p:cNvSpPr/>
            <p:nvPr/>
          </p:nvSpPr>
          <p:spPr>
            <a:xfrm>
              <a:off x="0" y="0"/>
              <a:ext cx="1813959" cy="198267"/>
            </a:xfrm>
            <a:custGeom>
              <a:avLst/>
              <a:gdLst/>
              <a:ahLst/>
              <a:cxnLst/>
              <a:rect l="l" t="t" r="r" b="b"/>
              <a:pathLst>
                <a:path w="1813959" h="198267">
                  <a:moveTo>
                    <a:pt x="0" y="0"/>
                  </a:moveTo>
                  <a:lnTo>
                    <a:pt x="1813959" y="0"/>
                  </a:lnTo>
                  <a:lnTo>
                    <a:pt x="1813959" y="198267"/>
                  </a:lnTo>
                  <a:lnTo>
                    <a:pt x="0" y="198267"/>
                  </a:lnTo>
                  <a:close/>
                </a:path>
              </a:pathLst>
            </a:custGeom>
            <a:solidFill>
              <a:srgbClr val="1B294A"/>
            </a:solidFill>
          </p:spPr>
        </p:sp>
        <p:sp>
          <p:nvSpPr>
            <p:cNvPr id="20" name="TextBox 20">
              <a:extLst>
                <a:ext uri="{FF2B5EF4-FFF2-40B4-BE49-F238E27FC236}">
                  <a16:creationId xmlns:a16="http://schemas.microsoft.com/office/drawing/2014/main" id="{37C31B49-5F47-59D3-0B10-07B05362354C}"/>
                </a:ext>
              </a:extLst>
            </p:cNvPr>
            <p:cNvSpPr txBox="1"/>
            <p:nvPr/>
          </p:nvSpPr>
          <p:spPr>
            <a:xfrm>
              <a:off x="0" y="-38100"/>
              <a:ext cx="1813959" cy="236367"/>
            </a:xfrm>
            <a:prstGeom prst="rect">
              <a:avLst/>
            </a:prstGeom>
          </p:spPr>
          <p:txBody>
            <a:bodyPr lIns="50800" tIns="50800" rIns="50800" bIns="50800" rtlCol="0" anchor="ctr"/>
            <a:lstStyle/>
            <a:p>
              <a:pPr algn="ctr">
                <a:lnSpc>
                  <a:spcPts val="3080"/>
                </a:lnSpc>
              </a:pPr>
              <a:endParaRPr/>
            </a:p>
          </p:txBody>
        </p:sp>
      </p:grpSp>
      <p:sp>
        <p:nvSpPr>
          <p:cNvPr id="22" name="TextBox 11">
            <a:extLst>
              <a:ext uri="{FF2B5EF4-FFF2-40B4-BE49-F238E27FC236}">
                <a16:creationId xmlns:a16="http://schemas.microsoft.com/office/drawing/2014/main" id="{D232E4C7-DAA0-1D9C-4071-8171DC6BD4C3}"/>
              </a:ext>
            </a:extLst>
          </p:cNvPr>
          <p:cNvSpPr txBox="1"/>
          <p:nvPr/>
        </p:nvSpPr>
        <p:spPr>
          <a:xfrm>
            <a:off x="2807350" y="2406517"/>
            <a:ext cx="12820067" cy="1192634"/>
          </a:xfrm>
          <a:prstGeom prst="rect">
            <a:avLst/>
          </a:prstGeom>
        </p:spPr>
        <p:txBody>
          <a:bodyPr wrap="square" lIns="0" tIns="0" rIns="0" bIns="0" rtlCol="0" anchor="t">
            <a:spAutoFit/>
          </a:bodyPr>
          <a:lstStyle/>
          <a:p>
            <a:pPr algn="just">
              <a:lnSpc>
                <a:spcPts val="3080"/>
              </a:lnSpc>
            </a:pPr>
            <a:r>
              <a:rPr lang="en-US" sz="2800" b="1" dirty="0">
                <a:solidFill>
                  <a:schemeClr val="bg1"/>
                </a:solidFill>
                <a:latin typeface="AlexandriaFLF" panose="02000603070000020004" pitchFamily="2" charset="0"/>
                <a:ea typeface="Lato"/>
                <a:cs typeface="Lato"/>
                <a:sym typeface="Lato"/>
              </a:rPr>
              <a:t>In real-world systems like banking apps, email services, and social media platforms, millions of actions happen every minute. Cyber security systems continuously monitor this activity to protect users.</a:t>
            </a:r>
            <a:endParaRPr lang="en-US" sz="2400" b="1" dirty="0">
              <a:solidFill>
                <a:schemeClr val="bg1"/>
              </a:solidFill>
              <a:latin typeface="AlexandriaFLF" panose="02000603070000020004" pitchFamily="2" charset="0"/>
              <a:ea typeface="Lato"/>
              <a:cs typeface="Lato"/>
              <a:sym typeface="Lato"/>
            </a:endParaRPr>
          </a:p>
        </p:txBody>
      </p:sp>
      <p:sp>
        <p:nvSpPr>
          <p:cNvPr id="23" name="TextBox 10">
            <a:extLst>
              <a:ext uri="{FF2B5EF4-FFF2-40B4-BE49-F238E27FC236}">
                <a16:creationId xmlns:a16="http://schemas.microsoft.com/office/drawing/2014/main" id="{34603AE3-A86F-9B35-C4F0-12CFA438C493}"/>
              </a:ext>
            </a:extLst>
          </p:cNvPr>
          <p:cNvSpPr txBox="1"/>
          <p:nvPr/>
        </p:nvSpPr>
        <p:spPr>
          <a:xfrm>
            <a:off x="4256005" y="1320485"/>
            <a:ext cx="9922756" cy="700513"/>
          </a:xfrm>
          <a:prstGeom prst="rect">
            <a:avLst/>
          </a:prstGeom>
        </p:spPr>
        <p:txBody>
          <a:bodyPr wrap="square" lIns="0" tIns="0" rIns="0" bIns="0" rtlCol="0" anchor="t">
            <a:spAutoFit/>
          </a:bodyPr>
          <a:lstStyle/>
          <a:p>
            <a:pPr algn="ctr">
              <a:lnSpc>
                <a:spcPts val="5880"/>
              </a:lnSpc>
            </a:pPr>
            <a:r>
              <a:rPr lang="en-US" sz="4200" b="1" dirty="0">
                <a:solidFill>
                  <a:schemeClr val="bg1"/>
                </a:solidFill>
                <a:latin typeface="Montserrat Bold"/>
                <a:ea typeface="Montserrat Bold"/>
                <a:cs typeface="Montserrat Bold"/>
                <a:sym typeface="Montserrat Bold"/>
              </a:rPr>
              <a:t>Real Life </a:t>
            </a:r>
            <a:r>
              <a:rPr lang="en-US" sz="4200" b="1" dirty="0" err="1">
                <a:solidFill>
                  <a:schemeClr val="bg1"/>
                </a:solidFill>
                <a:latin typeface="Montserrat Bold"/>
                <a:ea typeface="Montserrat Bold"/>
                <a:cs typeface="Montserrat Bold"/>
                <a:sym typeface="Montserrat Bold"/>
              </a:rPr>
              <a:t>CyberSecurity</a:t>
            </a:r>
            <a:r>
              <a:rPr lang="en-US" sz="4200" b="1" dirty="0">
                <a:solidFill>
                  <a:schemeClr val="bg1"/>
                </a:solidFill>
                <a:latin typeface="Montserrat Bold"/>
                <a:ea typeface="Montserrat Bold"/>
                <a:cs typeface="Montserrat Bold"/>
                <a:sym typeface="Montserrat Bold"/>
              </a:rPr>
              <a:t> Examples</a:t>
            </a:r>
          </a:p>
        </p:txBody>
      </p:sp>
      <p:sp>
        <p:nvSpPr>
          <p:cNvPr id="27" name="Rectangle: Rounded Corners 26">
            <a:extLst>
              <a:ext uri="{FF2B5EF4-FFF2-40B4-BE49-F238E27FC236}">
                <a16:creationId xmlns:a16="http://schemas.microsoft.com/office/drawing/2014/main" id="{99C2B1B7-273E-7B79-D33B-080991180C2F}"/>
              </a:ext>
            </a:extLst>
          </p:cNvPr>
          <p:cNvSpPr/>
          <p:nvPr/>
        </p:nvSpPr>
        <p:spPr>
          <a:xfrm>
            <a:off x="668185" y="5142280"/>
            <a:ext cx="16846466" cy="3979665"/>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2" descr="folder Vector Icons free download in SVG, PNG Format">
            <a:extLst>
              <a:ext uri="{FF2B5EF4-FFF2-40B4-BE49-F238E27FC236}">
                <a16:creationId xmlns:a16="http://schemas.microsoft.com/office/drawing/2014/main" id="{5FE256C0-6B40-FC87-C19D-5EBA6DF2548C}"/>
              </a:ext>
            </a:extLst>
          </p:cNvPr>
          <p:cNvPicPr>
            <a:picLocks noChangeAspect="1" noChangeArrowheads="1"/>
          </p:cNvPicPr>
          <p:nvPr/>
        </p:nvPicPr>
        <p:blipFill>
          <a:blip r:embed="rId3">
            <a:duotone>
              <a:prstClr val="black"/>
              <a:schemeClr val="accent2">
                <a:tint val="45000"/>
                <a:satMod val="400000"/>
              </a:schemeClr>
            </a:duotone>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368880" y="6252548"/>
            <a:ext cx="3695324" cy="3695324"/>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FE60CBFF-9923-42C9-6554-D98F9D7B1A63}"/>
              </a:ext>
            </a:extLst>
          </p:cNvPr>
          <p:cNvSpPr txBox="1"/>
          <p:nvPr/>
        </p:nvSpPr>
        <p:spPr>
          <a:xfrm>
            <a:off x="830132" y="7512280"/>
            <a:ext cx="2772820" cy="1754326"/>
          </a:xfrm>
          <a:prstGeom prst="rect">
            <a:avLst/>
          </a:prstGeom>
          <a:noFill/>
        </p:spPr>
        <p:txBody>
          <a:bodyPr wrap="square" rtlCol="0">
            <a:spAutoFit/>
          </a:bodyPr>
          <a:lstStyle/>
          <a:p>
            <a:r>
              <a:rPr lang="en-US" sz="3600" b="1" dirty="0">
                <a:latin typeface="Arial Black" panose="020B0A04020102020204" pitchFamily="34" charset="0"/>
              </a:rPr>
              <a:t>Detecting Abnormal Behavior</a:t>
            </a:r>
          </a:p>
        </p:txBody>
      </p:sp>
      <p:sp>
        <p:nvSpPr>
          <p:cNvPr id="43" name="TextBox 42">
            <a:extLst>
              <a:ext uri="{FF2B5EF4-FFF2-40B4-BE49-F238E27FC236}">
                <a16:creationId xmlns:a16="http://schemas.microsoft.com/office/drawing/2014/main" id="{941801D0-F6AD-106E-9D31-0C2D4B16FFA3}"/>
              </a:ext>
            </a:extLst>
          </p:cNvPr>
          <p:cNvSpPr txBox="1"/>
          <p:nvPr/>
        </p:nvSpPr>
        <p:spPr>
          <a:xfrm>
            <a:off x="4363509" y="5331235"/>
            <a:ext cx="5008755" cy="2462213"/>
          </a:xfrm>
          <a:prstGeom prst="rect">
            <a:avLst/>
          </a:prstGeom>
          <a:noFill/>
        </p:spPr>
        <p:txBody>
          <a:bodyPr wrap="square" rtlCol="0">
            <a:spAutoFit/>
          </a:bodyPr>
          <a:lstStyle/>
          <a:p>
            <a:pPr marL="285750" indent="-285750">
              <a:buFont typeface="Arial" panose="020B0604020202020204" pitchFamily="34" charset="0"/>
              <a:buChar char="•"/>
            </a:pPr>
            <a:r>
              <a:rPr lang="en-US" sz="2200" dirty="0"/>
              <a:t>Graphs show normal vs abnormal behavior clearly</a:t>
            </a:r>
          </a:p>
          <a:p>
            <a:pPr marL="285750" indent="-285750">
              <a:buFont typeface="Arial" panose="020B0604020202020204" pitchFamily="34" charset="0"/>
              <a:buChar char="•"/>
            </a:pPr>
            <a:r>
              <a:rPr lang="en-US" sz="2200" dirty="0"/>
              <a:t>Derivatives detect how fast activity changes</a:t>
            </a:r>
          </a:p>
          <a:p>
            <a:pPr marL="285750" indent="-285750">
              <a:buFont typeface="Arial" panose="020B0604020202020204" pitchFamily="34" charset="0"/>
              <a:buChar char="•"/>
            </a:pPr>
            <a:r>
              <a:rPr lang="en-US" sz="2200" dirty="0"/>
              <a:t>Irregular patterns trigger security alerts automatically</a:t>
            </a:r>
          </a:p>
          <a:p>
            <a:endParaRPr lang="en-US" sz="2200" dirty="0"/>
          </a:p>
        </p:txBody>
      </p:sp>
      <p:sp>
        <p:nvSpPr>
          <p:cNvPr id="47" name="TextBox 46">
            <a:extLst>
              <a:ext uri="{FF2B5EF4-FFF2-40B4-BE49-F238E27FC236}">
                <a16:creationId xmlns:a16="http://schemas.microsoft.com/office/drawing/2014/main" id="{CDAD98AE-CB07-6C36-F98A-849C8E9DC485}"/>
              </a:ext>
            </a:extLst>
          </p:cNvPr>
          <p:cNvSpPr txBox="1"/>
          <p:nvPr/>
        </p:nvSpPr>
        <p:spPr>
          <a:xfrm>
            <a:off x="773349" y="6820791"/>
            <a:ext cx="2853049" cy="461665"/>
          </a:xfrm>
          <a:prstGeom prst="rect">
            <a:avLst/>
          </a:prstGeom>
          <a:noFill/>
        </p:spPr>
        <p:txBody>
          <a:bodyPr wrap="square" rtlCol="0">
            <a:spAutoFit/>
          </a:bodyPr>
          <a:lstStyle/>
          <a:p>
            <a:r>
              <a:rPr lang="en-US" sz="2400" dirty="0">
                <a:latin typeface="Arial Black" panose="020B0A04020102020204" pitchFamily="34" charset="0"/>
              </a:rPr>
              <a:t>3</a:t>
            </a:r>
          </a:p>
        </p:txBody>
      </p:sp>
      <p:pic>
        <p:nvPicPr>
          <p:cNvPr id="8" name="Picture 7">
            <a:extLst>
              <a:ext uri="{FF2B5EF4-FFF2-40B4-BE49-F238E27FC236}">
                <a16:creationId xmlns:a16="http://schemas.microsoft.com/office/drawing/2014/main" id="{0E79EBF6-38EE-EC3C-3F20-82993233C64A}"/>
              </a:ext>
            </a:extLst>
          </p:cNvPr>
          <p:cNvPicPr>
            <a:picLocks noChangeAspect="1"/>
          </p:cNvPicPr>
          <p:nvPr/>
        </p:nvPicPr>
        <p:blipFill>
          <a:blip r:embed="rId5"/>
          <a:stretch>
            <a:fillRect/>
          </a:stretch>
        </p:blipFill>
        <p:spPr>
          <a:xfrm>
            <a:off x="14554201" y="4925900"/>
            <a:ext cx="3758242" cy="4340706"/>
          </a:xfrm>
          <a:prstGeom prst="rect">
            <a:avLst/>
          </a:prstGeom>
        </p:spPr>
      </p:pic>
      <p:sp>
        <p:nvSpPr>
          <p:cNvPr id="9" name="TextBox 8">
            <a:extLst>
              <a:ext uri="{FF2B5EF4-FFF2-40B4-BE49-F238E27FC236}">
                <a16:creationId xmlns:a16="http://schemas.microsoft.com/office/drawing/2014/main" id="{232C54AB-2587-170B-433B-12B2C345CE37}"/>
              </a:ext>
            </a:extLst>
          </p:cNvPr>
          <p:cNvSpPr txBox="1"/>
          <p:nvPr/>
        </p:nvSpPr>
        <p:spPr>
          <a:xfrm>
            <a:off x="9829801" y="5361101"/>
            <a:ext cx="4724400" cy="2800767"/>
          </a:xfrm>
          <a:prstGeom prst="rect">
            <a:avLst/>
          </a:prstGeom>
          <a:noFill/>
        </p:spPr>
        <p:txBody>
          <a:bodyPr wrap="square" rtlCol="0">
            <a:spAutoFit/>
          </a:bodyPr>
          <a:lstStyle/>
          <a:p>
            <a:r>
              <a:rPr lang="en-US" sz="2200" dirty="0"/>
              <a:t>Example:</a:t>
            </a:r>
          </a:p>
          <a:p>
            <a:r>
              <a:rPr lang="en-US" sz="2200" dirty="0"/>
              <a:t>Normal Activity Forms a smooth curve on a graph.</a:t>
            </a:r>
          </a:p>
          <a:p>
            <a:r>
              <a:rPr lang="en-US" sz="2200" dirty="0"/>
              <a:t>Attack behavior forms:</a:t>
            </a:r>
          </a:p>
          <a:p>
            <a:pPr marL="457200" indent="-457200">
              <a:buAutoNum type="arabicPeriod"/>
            </a:pPr>
            <a:r>
              <a:rPr lang="en-US" sz="2200" dirty="0"/>
              <a:t>Sharp Peaks</a:t>
            </a:r>
          </a:p>
          <a:p>
            <a:pPr marL="457200" indent="-457200">
              <a:buAutoNum type="arabicPeriod"/>
            </a:pPr>
            <a:r>
              <a:rPr lang="en-US" sz="2200" dirty="0"/>
              <a:t>Sudden Jumps</a:t>
            </a:r>
          </a:p>
          <a:p>
            <a:r>
              <a:rPr lang="en-US" sz="2200" dirty="0"/>
              <a:t>These Irregular Patterns are detected using derivatives</a:t>
            </a:r>
          </a:p>
        </p:txBody>
      </p:sp>
    </p:spTree>
    <p:extLst>
      <p:ext uri="{BB962C8B-B14F-4D97-AF65-F5344CB8AC3E}">
        <p14:creationId xmlns:p14="http://schemas.microsoft.com/office/powerpoint/2010/main" val="934979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4FDD4-1A39-CE12-A07B-49C040BA50B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D018132-2A1C-00D0-629D-128B099C8AB5}"/>
              </a:ext>
            </a:extLst>
          </p:cNvPr>
          <p:cNvGrpSpPr/>
          <p:nvPr/>
        </p:nvGrpSpPr>
        <p:grpSpPr>
          <a:xfrm>
            <a:off x="-110133" y="0"/>
            <a:ext cx="18655036" cy="4424724"/>
            <a:chOff x="0" y="0"/>
            <a:chExt cx="2127540" cy="504624"/>
          </a:xfrm>
          <a:blipFill>
            <a:blip r:embed="rId2">
              <a:alphaModFix amt="89000"/>
            </a:blip>
            <a:stretch>
              <a:fillRect/>
            </a:stretch>
          </a:blipFill>
        </p:grpSpPr>
        <p:sp>
          <p:nvSpPr>
            <p:cNvPr id="3" name="Freeform 3">
              <a:extLst>
                <a:ext uri="{FF2B5EF4-FFF2-40B4-BE49-F238E27FC236}">
                  <a16:creationId xmlns:a16="http://schemas.microsoft.com/office/drawing/2014/main" id="{8FFE3FBD-5B8E-AA0C-BF33-0CE7E0FB65A0}"/>
                </a:ext>
              </a:extLst>
            </p:cNvPr>
            <p:cNvSpPr/>
            <p:nvPr/>
          </p:nvSpPr>
          <p:spPr>
            <a:xfrm>
              <a:off x="0" y="0"/>
              <a:ext cx="2127540" cy="504624"/>
            </a:xfrm>
            <a:custGeom>
              <a:avLst/>
              <a:gdLst/>
              <a:ahLst/>
              <a:cxnLst/>
              <a:rect l="l" t="t" r="r" b="b"/>
              <a:pathLst>
                <a:path w="2127540" h="504624">
                  <a:moveTo>
                    <a:pt x="9545" y="0"/>
                  </a:moveTo>
                  <a:lnTo>
                    <a:pt x="2117995" y="0"/>
                  </a:lnTo>
                  <a:cubicBezTo>
                    <a:pt x="2120526" y="0"/>
                    <a:pt x="2122954" y="1006"/>
                    <a:pt x="2124744" y="2796"/>
                  </a:cubicBezTo>
                  <a:cubicBezTo>
                    <a:pt x="2126534" y="4586"/>
                    <a:pt x="2127540" y="7014"/>
                    <a:pt x="2127540" y="9545"/>
                  </a:cubicBezTo>
                  <a:lnTo>
                    <a:pt x="2127540" y="495079"/>
                  </a:lnTo>
                  <a:cubicBezTo>
                    <a:pt x="2127540" y="497610"/>
                    <a:pt x="2126534" y="500038"/>
                    <a:pt x="2124744" y="501828"/>
                  </a:cubicBezTo>
                  <a:cubicBezTo>
                    <a:pt x="2122954" y="503618"/>
                    <a:pt x="2120526" y="504624"/>
                    <a:pt x="2117995" y="504624"/>
                  </a:cubicBezTo>
                  <a:lnTo>
                    <a:pt x="9545" y="504624"/>
                  </a:lnTo>
                  <a:cubicBezTo>
                    <a:pt x="4273" y="504624"/>
                    <a:pt x="0" y="500350"/>
                    <a:pt x="0" y="495079"/>
                  </a:cubicBezTo>
                  <a:lnTo>
                    <a:pt x="0" y="9545"/>
                  </a:lnTo>
                  <a:cubicBezTo>
                    <a:pt x="0" y="4273"/>
                    <a:pt x="4273" y="0"/>
                    <a:pt x="9545" y="0"/>
                  </a:cubicBezTo>
                  <a:close/>
                </a:path>
              </a:pathLst>
            </a:custGeom>
            <a:grpFill/>
          </p:spPr>
        </p:sp>
      </p:grpSp>
      <p:grpSp>
        <p:nvGrpSpPr>
          <p:cNvPr id="4" name="Group 4">
            <a:extLst>
              <a:ext uri="{FF2B5EF4-FFF2-40B4-BE49-F238E27FC236}">
                <a16:creationId xmlns:a16="http://schemas.microsoft.com/office/drawing/2014/main" id="{81F7A573-F6FB-52A8-6092-90283E4CDA3E}"/>
              </a:ext>
            </a:extLst>
          </p:cNvPr>
          <p:cNvGrpSpPr/>
          <p:nvPr/>
        </p:nvGrpSpPr>
        <p:grpSpPr>
          <a:xfrm>
            <a:off x="-236873" y="54792"/>
            <a:ext cx="18781776" cy="4424724"/>
            <a:chOff x="0" y="0"/>
            <a:chExt cx="4946641" cy="1165359"/>
          </a:xfrm>
        </p:grpSpPr>
        <p:sp>
          <p:nvSpPr>
            <p:cNvPr id="5" name="Freeform 5">
              <a:extLst>
                <a:ext uri="{FF2B5EF4-FFF2-40B4-BE49-F238E27FC236}">
                  <a16:creationId xmlns:a16="http://schemas.microsoft.com/office/drawing/2014/main" id="{A97E0FCF-7A3F-E215-0CD4-6674042E8940}"/>
                </a:ext>
              </a:extLst>
            </p:cNvPr>
            <p:cNvSpPr/>
            <p:nvPr/>
          </p:nvSpPr>
          <p:spPr>
            <a:xfrm>
              <a:off x="0" y="0"/>
              <a:ext cx="4946641" cy="1165359"/>
            </a:xfrm>
            <a:custGeom>
              <a:avLst/>
              <a:gdLst/>
              <a:ahLst/>
              <a:cxnLst/>
              <a:rect l="l" t="t" r="r" b="b"/>
              <a:pathLst>
                <a:path w="4946641" h="1165359">
                  <a:moveTo>
                    <a:pt x="9481" y="0"/>
                  </a:moveTo>
                  <a:lnTo>
                    <a:pt x="4937160" y="0"/>
                  </a:lnTo>
                  <a:cubicBezTo>
                    <a:pt x="4939674" y="0"/>
                    <a:pt x="4942086" y="999"/>
                    <a:pt x="4943864" y="2777"/>
                  </a:cubicBezTo>
                  <a:cubicBezTo>
                    <a:pt x="4945642" y="4555"/>
                    <a:pt x="4946641" y="6966"/>
                    <a:pt x="4946641" y="9481"/>
                  </a:cubicBezTo>
                  <a:lnTo>
                    <a:pt x="4946641" y="1155879"/>
                  </a:lnTo>
                  <a:cubicBezTo>
                    <a:pt x="4946641" y="1158393"/>
                    <a:pt x="4945642" y="1160805"/>
                    <a:pt x="4943864" y="1162583"/>
                  </a:cubicBezTo>
                  <a:cubicBezTo>
                    <a:pt x="4942086" y="1164361"/>
                    <a:pt x="4939674" y="1165359"/>
                    <a:pt x="4937160" y="1165359"/>
                  </a:cubicBezTo>
                  <a:lnTo>
                    <a:pt x="9481" y="1165359"/>
                  </a:lnTo>
                  <a:cubicBezTo>
                    <a:pt x="6966" y="1165359"/>
                    <a:pt x="4555" y="1164361"/>
                    <a:pt x="2777" y="1162583"/>
                  </a:cubicBezTo>
                  <a:cubicBezTo>
                    <a:pt x="999" y="1160805"/>
                    <a:pt x="0" y="1158393"/>
                    <a:pt x="0" y="1155879"/>
                  </a:cubicBezTo>
                  <a:lnTo>
                    <a:pt x="0" y="9481"/>
                  </a:lnTo>
                  <a:cubicBezTo>
                    <a:pt x="0" y="6966"/>
                    <a:pt x="999" y="4555"/>
                    <a:pt x="2777" y="2777"/>
                  </a:cubicBezTo>
                  <a:cubicBezTo>
                    <a:pt x="4555" y="999"/>
                    <a:pt x="6966" y="0"/>
                    <a:pt x="9481" y="0"/>
                  </a:cubicBezTo>
                  <a:close/>
                </a:path>
              </a:pathLst>
            </a:custGeom>
            <a:solidFill>
              <a:srgbClr val="1B294A">
                <a:alpha val="53725"/>
              </a:srgbClr>
            </a:solidFill>
          </p:spPr>
        </p:sp>
        <p:sp>
          <p:nvSpPr>
            <p:cNvPr id="6" name="TextBox 6">
              <a:extLst>
                <a:ext uri="{FF2B5EF4-FFF2-40B4-BE49-F238E27FC236}">
                  <a16:creationId xmlns:a16="http://schemas.microsoft.com/office/drawing/2014/main" id="{C064DE2F-D1E6-31D1-3B58-A56B080E3333}"/>
                </a:ext>
              </a:extLst>
            </p:cNvPr>
            <p:cNvSpPr txBox="1"/>
            <p:nvPr/>
          </p:nvSpPr>
          <p:spPr>
            <a:xfrm>
              <a:off x="0" y="-38100"/>
              <a:ext cx="4946641" cy="1203459"/>
            </a:xfrm>
            <a:prstGeom prst="rect">
              <a:avLst/>
            </a:prstGeom>
          </p:spPr>
          <p:txBody>
            <a:bodyPr lIns="50800" tIns="50800" rIns="50800" bIns="50800" rtlCol="0" anchor="ctr"/>
            <a:lstStyle/>
            <a:p>
              <a:pPr algn="ctr">
                <a:lnSpc>
                  <a:spcPts val="3080"/>
                </a:lnSpc>
              </a:pPr>
              <a:endParaRPr/>
            </a:p>
          </p:txBody>
        </p:sp>
      </p:grpSp>
      <p:grpSp>
        <p:nvGrpSpPr>
          <p:cNvPr id="18" name="Group 18">
            <a:extLst>
              <a:ext uri="{FF2B5EF4-FFF2-40B4-BE49-F238E27FC236}">
                <a16:creationId xmlns:a16="http://schemas.microsoft.com/office/drawing/2014/main" id="{3E4753E6-8DF9-8478-9184-577821AE7D3A}"/>
              </a:ext>
            </a:extLst>
          </p:cNvPr>
          <p:cNvGrpSpPr/>
          <p:nvPr/>
        </p:nvGrpSpPr>
        <p:grpSpPr>
          <a:xfrm>
            <a:off x="5773697" y="9680872"/>
            <a:ext cx="6887375" cy="752794"/>
            <a:chOff x="0" y="0"/>
            <a:chExt cx="1813959" cy="198267"/>
          </a:xfrm>
        </p:grpSpPr>
        <p:sp>
          <p:nvSpPr>
            <p:cNvPr id="19" name="Freeform 19">
              <a:extLst>
                <a:ext uri="{FF2B5EF4-FFF2-40B4-BE49-F238E27FC236}">
                  <a16:creationId xmlns:a16="http://schemas.microsoft.com/office/drawing/2014/main" id="{0357D4C0-556E-9596-90FB-CC0A8E46D0AB}"/>
                </a:ext>
              </a:extLst>
            </p:cNvPr>
            <p:cNvSpPr/>
            <p:nvPr/>
          </p:nvSpPr>
          <p:spPr>
            <a:xfrm>
              <a:off x="0" y="0"/>
              <a:ext cx="1813959" cy="198267"/>
            </a:xfrm>
            <a:custGeom>
              <a:avLst/>
              <a:gdLst/>
              <a:ahLst/>
              <a:cxnLst/>
              <a:rect l="l" t="t" r="r" b="b"/>
              <a:pathLst>
                <a:path w="1813959" h="198267">
                  <a:moveTo>
                    <a:pt x="0" y="0"/>
                  </a:moveTo>
                  <a:lnTo>
                    <a:pt x="1813959" y="0"/>
                  </a:lnTo>
                  <a:lnTo>
                    <a:pt x="1813959" y="198267"/>
                  </a:lnTo>
                  <a:lnTo>
                    <a:pt x="0" y="198267"/>
                  </a:lnTo>
                  <a:close/>
                </a:path>
              </a:pathLst>
            </a:custGeom>
            <a:solidFill>
              <a:srgbClr val="1B294A"/>
            </a:solidFill>
          </p:spPr>
        </p:sp>
        <p:sp>
          <p:nvSpPr>
            <p:cNvPr id="20" name="TextBox 20">
              <a:extLst>
                <a:ext uri="{FF2B5EF4-FFF2-40B4-BE49-F238E27FC236}">
                  <a16:creationId xmlns:a16="http://schemas.microsoft.com/office/drawing/2014/main" id="{58452944-316B-7D6D-3EF7-F22D02B13D4A}"/>
                </a:ext>
              </a:extLst>
            </p:cNvPr>
            <p:cNvSpPr txBox="1"/>
            <p:nvPr/>
          </p:nvSpPr>
          <p:spPr>
            <a:xfrm>
              <a:off x="0" y="-38100"/>
              <a:ext cx="1813959" cy="236367"/>
            </a:xfrm>
            <a:prstGeom prst="rect">
              <a:avLst/>
            </a:prstGeom>
          </p:spPr>
          <p:txBody>
            <a:bodyPr lIns="50800" tIns="50800" rIns="50800" bIns="50800" rtlCol="0" anchor="ctr"/>
            <a:lstStyle/>
            <a:p>
              <a:pPr algn="ctr">
                <a:lnSpc>
                  <a:spcPts val="3080"/>
                </a:lnSpc>
              </a:pPr>
              <a:endParaRPr/>
            </a:p>
          </p:txBody>
        </p:sp>
      </p:grpSp>
      <p:sp>
        <p:nvSpPr>
          <p:cNvPr id="22" name="TextBox 11">
            <a:extLst>
              <a:ext uri="{FF2B5EF4-FFF2-40B4-BE49-F238E27FC236}">
                <a16:creationId xmlns:a16="http://schemas.microsoft.com/office/drawing/2014/main" id="{2F2204BE-6C5C-2261-0802-72576B2DE818}"/>
              </a:ext>
            </a:extLst>
          </p:cNvPr>
          <p:cNvSpPr txBox="1"/>
          <p:nvPr/>
        </p:nvSpPr>
        <p:spPr>
          <a:xfrm>
            <a:off x="2807350" y="2406517"/>
            <a:ext cx="12820067" cy="1192634"/>
          </a:xfrm>
          <a:prstGeom prst="rect">
            <a:avLst/>
          </a:prstGeom>
        </p:spPr>
        <p:txBody>
          <a:bodyPr wrap="square" lIns="0" tIns="0" rIns="0" bIns="0" rtlCol="0" anchor="t">
            <a:spAutoFit/>
          </a:bodyPr>
          <a:lstStyle/>
          <a:p>
            <a:pPr algn="just">
              <a:lnSpc>
                <a:spcPts val="3080"/>
              </a:lnSpc>
            </a:pPr>
            <a:r>
              <a:rPr lang="en-US" sz="2800" b="1" dirty="0">
                <a:solidFill>
                  <a:schemeClr val="bg1"/>
                </a:solidFill>
                <a:latin typeface="AlexandriaFLF" panose="02000603070000020004" pitchFamily="2" charset="0"/>
                <a:ea typeface="Lato"/>
                <a:cs typeface="Lato"/>
                <a:sym typeface="Lato"/>
              </a:rPr>
              <a:t>In Real Life, Calculus and Analytical Geometry play a critical role in every field of life. These are widely used in every field ranging from small fields to large advanced fields.</a:t>
            </a:r>
            <a:endParaRPr lang="en-US" sz="2400" b="1" dirty="0">
              <a:solidFill>
                <a:schemeClr val="bg1"/>
              </a:solidFill>
              <a:latin typeface="AlexandriaFLF" panose="02000603070000020004" pitchFamily="2" charset="0"/>
              <a:ea typeface="Lato"/>
              <a:cs typeface="Lato"/>
              <a:sym typeface="Lato"/>
            </a:endParaRPr>
          </a:p>
        </p:txBody>
      </p:sp>
      <p:sp>
        <p:nvSpPr>
          <p:cNvPr id="23" name="TextBox 10">
            <a:extLst>
              <a:ext uri="{FF2B5EF4-FFF2-40B4-BE49-F238E27FC236}">
                <a16:creationId xmlns:a16="http://schemas.microsoft.com/office/drawing/2014/main" id="{C525CDD0-03EB-6CA0-44F8-D63866ACE8E4}"/>
              </a:ext>
            </a:extLst>
          </p:cNvPr>
          <p:cNvSpPr txBox="1"/>
          <p:nvPr/>
        </p:nvSpPr>
        <p:spPr>
          <a:xfrm>
            <a:off x="4256005" y="1320485"/>
            <a:ext cx="9922756" cy="700513"/>
          </a:xfrm>
          <a:prstGeom prst="rect">
            <a:avLst/>
          </a:prstGeom>
        </p:spPr>
        <p:txBody>
          <a:bodyPr wrap="square" lIns="0" tIns="0" rIns="0" bIns="0" rtlCol="0" anchor="t">
            <a:spAutoFit/>
          </a:bodyPr>
          <a:lstStyle/>
          <a:p>
            <a:pPr algn="ctr">
              <a:lnSpc>
                <a:spcPts val="5880"/>
              </a:lnSpc>
            </a:pPr>
            <a:r>
              <a:rPr lang="en-US" sz="4200" b="1" dirty="0">
                <a:solidFill>
                  <a:schemeClr val="bg1"/>
                </a:solidFill>
                <a:latin typeface="Montserrat Bold"/>
                <a:ea typeface="Montserrat Bold"/>
                <a:cs typeface="Montserrat Bold"/>
                <a:sym typeface="Montserrat Bold"/>
              </a:rPr>
              <a:t>Why These Topics Matter</a:t>
            </a:r>
          </a:p>
        </p:txBody>
      </p:sp>
      <p:sp>
        <p:nvSpPr>
          <p:cNvPr id="29" name="Rectangle: Rounded Corners 28">
            <a:extLst>
              <a:ext uri="{FF2B5EF4-FFF2-40B4-BE49-F238E27FC236}">
                <a16:creationId xmlns:a16="http://schemas.microsoft.com/office/drawing/2014/main" id="{18F293EF-E83A-BD05-DA7F-B3545A5533E4}"/>
              </a:ext>
            </a:extLst>
          </p:cNvPr>
          <p:cNvSpPr/>
          <p:nvPr/>
        </p:nvSpPr>
        <p:spPr>
          <a:xfrm>
            <a:off x="851138" y="5142280"/>
            <a:ext cx="4922559" cy="397966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folder Vector Icons free download in SVG, PNG Format">
            <a:extLst>
              <a:ext uri="{FF2B5EF4-FFF2-40B4-BE49-F238E27FC236}">
                <a16:creationId xmlns:a16="http://schemas.microsoft.com/office/drawing/2014/main" id="{5BFFFCAE-874F-2A6C-16DA-72357E4471FF}"/>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60681" y="6252548"/>
            <a:ext cx="3695324" cy="3695324"/>
          </a:xfrm>
          <a:prstGeom prst="rect">
            <a:avLst/>
          </a:prstGeom>
          <a:noFill/>
        </p:spPr>
      </p:pic>
      <p:sp>
        <p:nvSpPr>
          <p:cNvPr id="34" name="TextBox 33">
            <a:extLst>
              <a:ext uri="{FF2B5EF4-FFF2-40B4-BE49-F238E27FC236}">
                <a16:creationId xmlns:a16="http://schemas.microsoft.com/office/drawing/2014/main" id="{FF165829-5301-FD8F-E6AD-62B77DE5AE04}"/>
              </a:ext>
            </a:extLst>
          </p:cNvPr>
          <p:cNvSpPr txBox="1"/>
          <p:nvPr/>
        </p:nvSpPr>
        <p:spPr>
          <a:xfrm>
            <a:off x="956951" y="7507464"/>
            <a:ext cx="2853049" cy="1384995"/>
          </a:xfrm>
          <a:prstGeom prst="rect">
            <a:avLst/>
          </a:prstGeom>
          <a:noFill/>
        </p:spPr>
        <p:txBody>
          <a:bodyPr wrap="square" rtlCol="0">
            <a:spAutoFit/>
          </a:bodyPr>
          <a:lstStyle/>
          <a:p>
            <a:r>
              <a:rPr lang="en-US" sz="2800" dirty="0">
                <a:latin typeface="Arial Black" panose="020B0A04020102020204" pitchFamily="34" charset="0"/>
              </a:rPr>
              <a:t>Strong Problem Solving Skills</a:t>
            </a:r>
          </a:p>
        </p:txBody>
      </p:sp>
      <p:sp>
        <p:nvSpPr>
          <p:cNvPr id="38" name="TextBox 37">
            <a:extLst>
              <a:ext uri="{FF2B5EF4-FFF2-40B4-BE49-F238E27FC236}">
                <a16:creationId xmlns:a16="http://schemas.microsoft.com/office/drawing/2014/main" id="{074F0D42-9CC3-2E92-72F9-5196624BA05A}"/>
              </a:ext>
            </a:extLst>
          </p:cNvPr>
          <p:cNvSpPr txBox="1"/>
          <p:nvPr/>
        </p:nvSpPr>
        <p:spPr>
          <a:xfrm>
            <a:off x="913941" y="5197072"/>
            <a:ext cx="4922559"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t>They teach logical thinking and step-by-step analysis</a:t>
            </a:r>
          </a:p>
          <a:p>
            <a:pPr marL="285750" indent="-285750">
              <a:buFont typeface="Arial" panose="020B0604020202020204" pitchFamily="34" charset="0"/>
              <a:buChar char="•"/>
            </a:pPr>
            <a:r>
              <a:rPr lang="en-US" sz="2000" dirty="0"/>
              <a:t>Help break complex problems into smaller parts</a:t>
            </a:r>
          </a:p>
          <a:p>
            <a:pPr marL="285750" indent="-285750">
              <a:buFont typeface="Arial" panose="020B0604020202020204" pitchFamily="34" charset="0"/>
              <a:buChar char="•"/>
            </a:pPr>
            <a:r>
              <a:rPr lang="en-US" sz="2000" dirty="0"/>
              <a:t>Improve analytical and reasoning abilities</a:t>
            </a:r>
          </a:p>
        </p:txBody>
      </p:sp>
      <p:sp>
        <p:nvSpPr>
          <p:cNvPr id="45" name="TextBox 44">
            <a:extLst>
              <a:ext uri="{FF2B5EF4-FFF2-40B4-BE49-F238E27FC236}">
                <a16:creationId xmlns:a16="http://schemas.microsoft.com/office/drawing/2014/main" id="{32738015-FB6F-DA8D-07D2-FDD128C163E9}"/>
              </a:ext>
            </a:extLst>
          </p:cNvPr>
          <p:cNvSpPr txBox="1"/>
          <p:nvPr/>
        </p:nvSpPr>
        <p:spPr>
          <a:xfrm>
            <a:off x="981818" y="6821678"/>
            <a:ext cx="2853049" cy="461665"/>
          </a:xfrm>
          <a:prstGeom prst="rect">
            <a:avLst/>
          </a:prstGeom>
          <a:noFill/>
        </p:spPr>
        <p:txBody>
          <a:bodyPr wrap="square" rtlCol="0">
            <a:spAutoFit/>
          </a:bodyPr>
          <a:lstStyle/>
          <a:p>
            <a:r>
              <a:rPr lang="en-US" sz="2400" dirty="0">
                <a:latin typeface="Arial Black" panose="020B0A04020102020204" pitchFamily="34" charset="0"/>
              </a:rPr>
              <a:t>1</a:t>
            </a:r>
          </a:p>
        </p:txBody>
      </p:sp>
      <p:sp>
        <p:nvSpPr>
          <p:cNvPr id="28" name="Rectangle: Rounded Corners 27">
            <a:extLst>
              <a:ext uri="{FF2B5EF4-FFF2-40B4-BE49-F238E27FC236}">
                <a16:creationId xmlns:a16="http://schemas.microsoft.com/office/drawing/2014/main" id="{60129C84-0138-155D-CD66-5B7E3966C9F0}"/>
              </a:ext>
            </a:extLst>
          </p:cNvPr>
          <p:cNvSpPr/>
          <p:nvPr/>
        </p:nvSpPr>
        <p:spPr>
          <a:xfrm>
            <a:off x="6396228" y="5143501"/>
            <a:ext cx="5430273" cy="3979666"/>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2" descr="folder Vector Icons free download in SVG, PNG Format">
            <a:extLst>
              <a:ext uri="{FF2B5EF4-FFF2-40B4-BE49-F238E27FC236}">
                <a16:creationId xmlns:a16="http://schemas.microsoft.com/office/drawing/2014/main" id="{BA83E252-0A5B-2C20-B0B8-0983097806ED}"/>
              </a:ext>
            </a:extLst>
          </p:cNvPr>
          <p:cNvPicPr>
            <a:picLocks noChangeAspect="1" noChangeArrowheads="1"/>
          </p:cNvPicPr>
          <p:nvPr/>
        </p:nvPicPr>
        <p:blipFill>
          <a:blip r:embed="rId5">
            <a:duotone>
              <a:prstClr val="black"/>
              <a:schemeClr val="accent6">
                <a:tint val="45000"/>
                <a:satMod val="400000"/>
              </a:schemeClr>
            </a:duotone>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6094378" y="6252548"/>
            <a:ext cx="3695324" cy="3695324"/>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B1E48063-1335-3A46-60C8-359EBEF582FA}"/>
              </a:ext>
            </a:extLst>
          </p:cNvPr>
          <p:cNvSpPr txBox="1"/>
          <p:nvPr/>
        </p:nvSpPr>
        <p:spPr>
          <a:xfrm>
            <a:off x="6474491" y="7507464"/>
            <a:ext cx="2935098" cy="1384995"/>
          </a:xfrm>
          <a:prstGeom prst="rect">
            <a:avLst/>
          </a:prstGeom>
          <a:noFill/>
        </p:spPr>
        <p:txBody>
          <a:bodyPr wrap="square" rtlCol="0">
            <a:spAutoFit/>
          </a:bodyPr>
          <a:lstStyle/>
          <a:p>
            <a:r>
              <a:rPr lang="en-US" sz="2800" dirty="0">
                <a:latin typeface="Arial Black" panose="020B0A04020102020204" pitchFamily="34" charset="0"/>
              </a:rPr>
              <a:t>Foundation for Advanced Subjects</a:t>
            </a:r>
          </a:p>
        </p:txBody>
      </p:sp>
      <p:sp>
        <p:nvSpPr>
          <p:cNvPr id="41" name="TextBox 40">
            <a:extLst>
              <a:ext uri="{FF2B5EF4-FFF2-40B4-BE49-F238E27FC236}">
                <a16:creationId xmlns:a16="http://schemas.microsoft.com/office/drawing/2014/main" id="{DB679CC0-629F-D308-8850-A4CFCEB1C574}"/>
              </a:ext>
            </a:extLst>
          </p:cNvPr>
          <p:cNvSpPr txBox="1"/>
          <p:nvPr/>
        </p:nvSpPr>
        <p:spPr>
          <a:xfrm>
            <a:off x="6660549" y="5211836"/>
            <a:ext cx="5258856" cy="1938992"/>
          </a:xfrm>
          <a:prstGeom prst="rect">
            <a:avLst/>
          </a:prstGeom>
          <a:noFill/>
        </p:spPr>
        <p:txBody>
          <a:bodyPr wrap="square" rtlCol="0">
            <a:spAutoFit/>
          </a:bodyPr>
          <a:lstStyle/>
          <a:p>
            <a:r>
              <a:rPr lang="en-US" sz="2000" dirty="0"/>
              <a:t>These topics are essential for:</a:t>
            </a:r>
          </a:p>
          <a:p>
            <a:pPr marL="285750" indent="-285750">
              <a:buFont typeface="Arial" panose="020B0604020202020204" pitchFamily="34" charset="0"/>
              <a:buChar char="•"/>
            </a:pPr>
            <a:r>
              <a:rPr lang="en-US" sz="2000" dirty="0"/>
              <a:t>Computer Science</a:t>
            </a:r>
          </a:p>
          <a:p>
            <a:pPr marL="285750" indent="-285750">
              <a:buFont typeface="Arial" panose="020B0604020202020204" pitchFamily="34" charset="0"/>
              <a:buChar char="•"/>
            </a:pPr>
            <a:r>
              <a:rPr lang="en-US" sz="2000" dirty="0"/>
              <a:t>Artificial Intelligence</a:t>
            </a:r>
          </a:p>
          <a:p>
            <a:pPr marL="285750" indent="-285750">
              <a:buFont typeface="Arial" panose="020B0604020202020204" pitchFamily="34" charset="0"/>
              <a:buChar char="•"/>
            </a:pPr>
            <a:r>
              <a:rPr lang="en-US" sz="2000" dirty="0"/>
              <a:t>Data Science</a:t>
            </a:r>
          </a:p>
          <a:p>
            <a:pPr marL="285750" indent="-285750">
              <a:buFont typeface="Arial" panose="020B0604020202020204" pitchFamily="34" charset="0"/>
              <a:buChar char="•"/>
            </a:pPr>
            <a:r>
              <a:rPr lang="en-US" sz="2000" dirty="0"/>
              <a:t>Cyber Security</a:t>
            </a:r>
          </a:p>
          <a:p>
            <a:pPr marL="1200150" lvl="2" indent="-285750">
              <a:buFont typeface="Arial" panose="020B0604020202020204" pitchFamily="34" charset="0"/>
              <a:buChar char="•"/>
            </a:pPr>
            <a:r>
              <a:rPr lang="en-US" sz="2000" dirty="0"/>
              <a:t>Robotics and Engineering</a:t>
            </a:r>
          </a:p>
        </p:txBody>
      </p:sp>
      <p:sp>
        <p:nvSpPr>
          <p:cNvPr id="46" name="TextBox 45">
            <a:extLst>
              <a:ext uri="{FF2B5EF4-FFF2-40B4-BE49-F238E27FC236}">
                <a16:creationId xmlns:a16="http://schemas.microsoft.com/office/drawing/2014/main" id="{CF0DC27A-3C7B-0813-61BB-9909D5453EB6}"/>
              </a:ext>
            </a:extLst>
          </p:cNvPr>
          <p:cNvSpPr txBox="1"/>
          <p:nvPr/>
        </p:nvSpPr>
        <p:spPr>
          <a:xfrm>
            <a:off x="6528669" y="6791373"/>
            <a:ext cx="2853049" cy="461665"/>
          </a:xfrm>
          <a:prstGeom prst="rect">
            <a:avLst/>
          </a:prstGeom>
          <a:noFill/>
        </p:spPr>
        <p:txBody>
          <a:bodyPr wrap="square" rtlCol="0">
            <a:spAutoFit/>
          </a:bodyPr>
          <a:lstStyle/>
          <a:p>
            <a:r>
              <a:rPr lang="en-US" sz="2400" dirty="0">
                <a:latin typeface="Arial Black" panose="020B0A04020102020204" pitchFamily="34" charset="0"/>
              </a:rPr>
              <a:t>2</a:t>
            </a:r>
          </a:p>
        </p:txBody>
      </p:sp>
      <p:sp>
        <p:nvSpPr>
          <p:cNvPr id="8" name="TextBox 7">
            <a:extLst>
              <a:ext uri="{FF2B5EF4-FFF2-40B4-BE49-F238E27FC236}">
                <a16:creationId xmlns:a16="http://schemas.microsoft.com/office/drawing/2014/main" id="{C2560E07-A909-8720-D680-564BA02B85D6}"/>
              </a:ext>
            </a:extLst>
          </p:cNvPr>
          <p:cNvSpPr txBox="1"/>
          <p:nvPr/>
        </p:nvSpPr>
        <p:spPr>
          <a:xfrm>
            <a:off x="9503919" y="7170598"/>
            <a:ext cx="2140403" cy="1938992"/>
          </a:xfrm>
          <a:prstGeom prst="rect">
            <a:avLst/>
          </a:prstGeom>
          <a:noFill/>
        </p:spPr>
        <p:txBody>
          <a:bodyPr wrap="square" rtlCol="0">
            <a:spAutoFit/>
          </a:bodyPr>
          <a:lstStyle/>
          <a:p>
            <a:r>
              <a:rPr lang="en-US" sz="2000" dirty="0"/>
              <a:t>Without calculus and geometry, understanding these fields becomes very difficult.</a:t>
            </a:r>
          </a:p>
        </p:txBody>
      </p:sp>
      <p:sp>
        <p:nvSpPr>
          <p:cNvPr id="27" name="Rectangle: Rounded Corners 26">
            <a:extLst>
              <a:ext uri="{FF2B5EF4-FFF2-40B4-BE49-F238E27FC236}">
                <a16:creationId xmlns:a16="http://schemas.microsoft.com/office/drawing/2014/main" id="{33ADB9AC-69B9-A512-6F0B-0058D5E0DEC1}"/>
              </a:ext>
            </a:extLst>
          </p:cNvPr>
          <p:cNvSpPr/>
          <p:nvPr/>
        </p:nvSpPr>
        <p:spPr>
          <a:xfrm>
            <a:off x="12260706" y="5142280"/>
            <a:ext cx="5070343" cy="3979665"/>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2" descr="folder Vector Icons free download in SVG, PNG Format">
            <a:extLst>
              <a:ext uri="{FF2B5EF4-FFF2-40B4-BE49-F238E27FC236}">
                <a16:creationId xmlns:a16="http://schemas.microsoft.com/office/drawing/2014/main" id="{BC09B10D-D564-6671-A675-E1E6B2E319F9}"/>
              </a:ext>
            </a:extLst>
          </p:cNvPr>
          <p:cNvPicPr>
            <a:picLocks noChangeAspect="1" noChangeArrowheads="1"/>
          </p:cNvPicPr>
          <p:nvPr/>
        </p:nvPicPr>
        <p:blipFill>
          <a:blip r:embed="rId5">
            <a:duotone>
              <a:prstClr val="black"/>
              <a:schemeClr val="accent2">
                <a:tint val="45000"/>
                <a:satMod val="400000"/>
              </a:schemeClr>
            </a:duotone>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11961401" y="6252548"/>
            <a:ext cx="3695324" cy="3695324"/>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380CFACE-1B6D-6874-9DF4-353E0FB54CB0}"/>
              </a:ext>
            </a:extLst>
          </p:cNvPr>
          <p:cNvSpPr txBox="1"/>
          <p:nvPr/>
        </p:nvSpPr>
        <p:spPr>
          <a:xfrm>
            <a:off x="12284152" y="7725147"/>
            <a:ext cx="3055494" cy="954107"/>
          </a:xfrm>
          <a:prstGeom prst="rect">
            <a:avLst/>
          </a:prstGeom>
          <a:noFill/>
        </p:spPr>
        <p:txBody>
          <a:bodyPr wrap="square" rtlCol="0">
            <a:spAutoFit/>
          </a:bodyPr>
          <a:lstStyle/>
          <a:p>
            <a:r>
              <a:rPr lang="en-US" sz="2800" b="1" dirty="0">
                <a:latin typeface="Arial Black" panose="020B0A04020102020204" pitchFamily="34" charset="0"/>
              </a:rPr>
              <a:t>Career Opportunities</a:t>
            </a:r>
          </a:p>
        </p:txBody>
      </p:sp>
      <p:sp>
        <p:nvSpPr>
          <p:cNvPr id="43" name="TextBox 42">
            <a:extLst>
              <a:ext uri="{FF2B5EF4-FFF2-40B4-BE49-F238E27FC236}">
                <a16:creationId xmlns:a16="http://schemas.microsoft.com/office/drawing/2014/main" id="{3663AC40-4D3A-AF80-2C15-737CAC85D8AD}"/>
              </a:ext>
            </a:extLst>
          </p:cNvPr>
          <p:cNvSpPr txBox="1"/>
          <p:nvPr/>
        </p:nvSpPr>
        <p:spPr>
          <a:xfrm>
            <a:off x="12449032" y="5188359"/>
            <a:ext cx="5008755" cy="1938992"/>
          </a:xfrm>
          <a:prstGeom prst="rect">
            <a:avLst/>
          </a:prstGeom>
          <a:noFill/>
        </p:spPr>
        <p:txBody>
          <a:bodyPr wrap="square" rtlCol="0">
            <a:spAutoFit/>
          </a:bodyPr>
          <a:lstStyle/>
          <a:p>
            <a:r>
              <a:rPr lang="en-US" sz="2000" dirty="0"/>
              <a:t>Knowledge of these subjects opens doors to careers such as:</a:t>
            </a:r>
          </a:p>
          <a:p>
            <a:pPr marL="285750" indent="-285750">
              <a:buFont typeface="Arial" panose="020B0604020202020204" pitchFamily="34" charset="0"/>
              <a:buChar char="•"/>
            </a:pPr>
            <a:r>
              <a:rPr lang="en-US" sz="2000" dirty="0"/>
              <a:t>Software Engineer</a:t>
            </a:r>
          </a:p>
          <a:p>
            <a:pPr marL="285750" indent="-285750">
              <a:buFont typeface="Arial" panose="020B0604020202020204" pitchFamily="34" charset="0"/>
              <a:buChar char="•"/>
            </a:pPr>
            <a:r>
              <a:rPr lang="en-US" sz="2000" dirty="0"/>
              <a:t>AI / Machine Learning Engineer</a:t>
            </a:r>
          </a:p>
          <a:p>
            <a:pPr marL="285750" indent="-285750">
              <a:buFont typeface="Arial" panose="020B0604020202020204" pitchFamily="34" charset="0"/>
              <a:buChar char="•"/>
            </a:pPr>
            <a:r>
              <a:rPr lang="en-US" sz="2000" dirty="0"/>
              <a:t>Cyber Security Analyst</a:t>
            </a:r>
          </a:p>
          <a:p>
            <a:pPr marL="1200150" lvl="2" indent="-285750">
              <a:buFont typeface="Arial" panose="020B0604020202020204" pitchFamily="34" charset="0"/>
              <a:buChar char="•"/>
            </a:pPr>
            <a:r>
              <a:rPr lang="en-US" sz="2000" dirty="0"/>
              <a:t>Data Scientist</a:t>
            </a:r>
          </a:p>
        </p:txBody>
      </p:sp>
      <p:sp>
        <p:nvSpPr>
          <p:cNvPr id="47" name="TextBox 46">
            <a:extLst>
              <a:ext uri="{FF2B5EF4-FFF2-40B4-BE49-F238E27FC236}">
                <a16:creationId xmlns:a16="http://schemas.microsoft.com/office/drawing/2014/main" id="{ED3F5192-C1A2-A1C7-89C9-FB75E0E9128A}"/>
              </a:ext>
            </a:extLst>
          </p:cNvPr>
          <p:cNvSpPr txBox="1"/>
          <p:nvPr/>
        </p:nvSpPr>
        <p:spPr>
          <a:xfrm>
            <a:off x="12365870" y="6820791"/>
            <a:ext cx="2853049" cy="461665"/>
          </a:xfrm>
          <a:prstGeom prst="rect">
            <a:avLst/>
          </a:prstGeom>
          <a:noFill/>
        </p:spPr>
        <p:txBody>
          <a:bodyPr wrap="square" rtlCol="0">
            <a:spAutoFit/>
          </a:bodyPr>
          <a:lstStyle/>
          <a:p>
            <a:r>
              <a:rPr lang="en-US" sz="2400" dirty="0">
                <a:latin typeface="Arial Black" panose="020B0A04020102020204" pitchFamily="34" charset="0"/>
              </a:rPr>
              <a:t>3</a:t>
            </a:r>
          </a:p>
        </p:txBody>
      </p:sp>
      <p:sp>
        <p:nvSpPr>
          <p:cNvPr id="9" name="TextBox 8">
            <a:extLst>
              <a:ext uri="{FF2B5EF4-FFF2-40B4-BE49-F238E27FC236}">
                <a16:creationId xmlns:a16="http://schemas.microsoft.com/office/drawing/2014/main" id="{497CCDDF-1325-9445-1C11-E0556183BAB1}"/>
              </a:ext>
            </a:extLst>
          </p:cNvPr>
          <p:cNvSpPr txBox="1"/>
          <p:nvPr/>
        </p:nvSpPr>
        <p:spPr>
          <a:xfrm>
            <a:off x="15439505" y="7175790"/>
            <a:ext cx="1866678"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t>Game and Graphics Developer</a:t>
            </a:r>
          </a:p>
        </p:txBody>
      </p:sp>
    </p:spTree>
    <p:extLst>
      <p:ext uri="{BB962C8B-B14F-4D97-AF65-F5344CB8AC3E}">
        <p14:creationId xmlns:p14="http://schemas.microsoft.com/office/powerpoint/2010/main" val="3366869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8F5EA-F8C1-40CE-D56F-C0E5CE5B450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22BB4DC-EFA6-BF20-4613-0D534D6FF4C7}"/>
              </a:ext>
            </a:extLst>
          </p:cNvPr>
          <p:cNvGrpSpPr/>
          <p:nvPr/>
        </p:nvGrpSpPr>
        <p:grpSpPr>
          <a:xfrm>
            <a:off x="14825179" y="496778"/>
            <a:ext cx="4098804" cy="5169791"/>
            <a:chOff x="0" y="0"/>
            <a:chExt cx="1079520" cy="1361591"/>
          </a:xfrm>
        </p:grpSpPr>
        <p:sp>
          <p:nvSpPr>
            <p:cNvPr id="3" name="Freeform 3">
              <a:extLst>
                <a:ext uri="{FF2B5EF4-FFF2-40B4-BE49-F238E27FC236}">
                  <a16:creationId xmlns:a16="http://schemas.microsoft.com/office/drawing/2014/main" id="{49DC8B4E-1F9C-EAD4-3717-CF3798B1007C}"/>
                </a:ext>
              </a:extLst>
            </p:cNvPr>
            <p:cNvSpPr/>
            <p:nvPr/>
          </p:nvSpPr>
          <p:spPr>
            <a:xfrm>
              <a:off x="0" y="0"/>
              <a:ext cx="1079520" cy="1361591"/>
            </a:xfrm>
            <a:custGeom>
              <a:avLst/>
              <a:gdLst/>
              <a:ahLst/>
              <a:cxnLst/>
              <a:rect l="l" t="t" r="r" b="b"/>
              <a:pathLst>
                <a:path w="1079520" h="1361591">
                  <a:moveTo>
                    <a:pt x="35888" y="0"/>
                  </a:moveTo>
                  <a:lnTo>
                    <a:pt x="1043633" y="0"/>
                  </a:lnTo>
                  <a:cubicBezTo>
                    <a:pt x="1063453" y="0"/>
                    <a:pt x="1079520" y="16067"/>
                    <a:pt x="1079520" y="35888"/>
                  </a:cubicBezTo>
                  <a:lnTo>
                    <a:pt x="1079520" y="1325703"/>
                  </a:lnTo>
                  <a:cubicBezTo>
                    <a:pt x="1079520" y="1345523"/>
                    <a:pt x="1063453" y="1361591"/>
                    <a:pt x="1043633" y="1361591"/>
                  </a:cubicBezTo>
                  <a:lnTo>
                    <a:pt x="35888" y="1361591"/>
                  </a:lnTo>
                  <a:cubicBezTo>
                    <a:pt x="16067" y="1361591"/>
                    <a:pt x="0" y="1345523"/>
                    <a:pt x="0" y="1325703"/>
                  </a:cubicBezTo>
                  <a:lnTo>
                    <a:pt x="0" y="35888"/>
                  </a:lnTo>
                  <a:cubicBezTo>
                    <a:pt x="0" y="16067"/>
                    <a:pt x="16067" y="0"/>
                    <a:pt x="35888" y="0"/>
                  </a:cubicBezTo>
                  <a:close/>
                </a:path>
              </a:pathLst>
            </a:custGeom>
            <a:solidFill>
              <a:srgbClr val="1B294A"/>
            </a:solidFill>
          </p:spPr>
        </p:sp>
        <p:sp>
          <p:nvSpPr>
            <p:cNvPr id="4" name="TextBox 4">
              <a:extLst>
                <a:ext uri="{FF2B5EF4-FFF2-40B4-BE49-F238E27FC236}">
                  <a16:creationId xmlns:a16="http://schemas.microsoft.com/office/drawing/2014/main" id="{5522CE7A-D3F4-C24F-3180-E5C863FB98B9}"/>
                </a:ext>
              </a:extLst>
            </p:cNvPr>
            <p:cNvSpPr txBox="1"/>
            <p:nvPr/>
          </p:nvSpPr>
          <p:spPr>
            <a:xfrm>
              <a:off x="0" y="-38100"/>
              <a:ext cx="1079520" cy="1399691"/>
            </a:xfrm>
            <a:prstGeom prst="rect">
              <a:avLst/>
            </a:prstGeom>
          </p:spPr>
          <p:txBody>
            <a:bodyPr lIns="50800" tIns="50800" rIns="50800" bIns="50800" rtlCol="0" anchor="ctr"/>
            <a:lstStyle/>
            <a:p>
              <a:pPr algn="ctr">
                <a:lnSpc>
                  <a:spcPts val="3080"/>
                </a:lnSpc>
              </a:pPr>
              <a:endParaRPr/>
            </a:p>
          </p:txBody>
        </p:sp>
      </p:grpSp>
      <p:grpSp>
        <p:nvGrpSpPr>
          <p:cNvPr id="5" name="Group 5">
            <a:extLst>
              <a:ext uri="{FF2B5EF4-FFF2-40B4-BE49-F238E27FC236}">
                <a16:creationId xmlns:a16="http://schemas.microsoft.com/office/drawing/2014/main" id="{38081ABC-7A93-A5F8-AFA2-5B61833AA197}"/>
              </a:ext>
            </a:extLst>
          </p:cNvPr>
          <p:cNvGrpSpPr/>
          <p:nvPr/>
        </p:nvGrpSpPr>
        <p:grpSpPr>
          <a:xfrm>
            <a:off x="10150698" y="1028700"/>
            <a:ext cx="8137302" cy="4114800"/>
            <a:chOff x="0" y="0"/>
            <a:chExt cx="628916" cy="318025"/>
          </a:xfrm>
          <a:blipFill>
            <a:blip r:embed="rId2">
              <a:alphaModFix amt="89000"/>
            </a:blip>
            <a:stretch>
              <a:fillRect/>
            </a:stretch>
          </a:blipFill>
        </p:grpSpPr>
        <p:sp>
          <p:nvSpPr>
            <p:cNvPr id="6" name="Freeform 6">
              <a:extLst>
                <a:ext uri="{FF2B5EF4-FFF2-40B4-BE49-F238E27FC236}">
                  <a16:creationId xmlns:a16="http://schemas.microsoft.com/office/drawing/2014/main" id="{E5E71260-F203-BD03-274B-5DEEC94B02AA}"/>
                </a:ext>
              </a:extLst>
            </p:cNvPr>
            <p:cNvSpPr/>
            <p:nvPr/>
          </p:nvSpPr>
          <p:spPr>
            <a:xfrm>
              <a:off x="0" y="0"/>
              <a:ext cx="628916" cy="318025"/>
            </a:xfrm>
            <a:custGeom>
              <a:avLst/>
              <a:gdLst/>
              <a:ahLst/>
              <a:cxnLst/>
              <a:rect l="l" t="t" r="r" b="b"/>
              <a:pathLst>
                <a:path w="628916" h="318025">
                  <a:moveTo>
                    <a:pt x="21882" y="0"/>
                  </a:moveTo>
                  <a:lnTo>
                    <a:pt x="607034" y="0"/>
                  </a:lnTo>
                  <a:cubicBezTo>
                    <a:pt x="619119" y="0"/>
                    <a:pt x="628916" y="9797"/>
                    <a:pt x="628916" y="21882"/>
                  </a:cubicBezTo>
                  <a:lnTo>
                    <a:pt x="628916" y="296142"/>
                  </a:lnTo>
                  <a:cubicBezTo>
                    <a:pt x="628916" y="308228"/>
                    <a:pt x="619119" y="318025"/>
                    <a:pt x="607034" y="318025"/>
                  </a:cubicBezTo>
                  <a:lnTo>
                    <a:pt x="21882" y="318025"/>
                  </a:lnTo>
                  <a:cubicBezTo>
                    <a:pt x="9797" y="318025"/>
                    <a:pt x="0" y="308228"/>
                    <a:pt x="0" y="296142"/>
                  </a:cubicBezTo>
                  <a:lnTo>
                    <a:pt x="0" y="21882"/>
                  </a:lnTo>
                  <a:cubicBezTo>
                    <a:pt x="0" y="9797"/>
                    <a:pt x="9797" y="0"/>
                    <a:pt x="21882" y="0"/>
                  </a:cubicBezTo>
                  <a:close/>
                </a:path>
              </a:pathLst>
            </a:custGeom>
            <a:grpFill/>
          </p:spPr>
        </p:sp>
      </p:grpSp>
      <p:grpSp>
        <p:nvGrpSpPr>
          <p:cNvPr id="7" name="Group 7">
            <a:extLst>
              <a:ext uri="{FF2B5EF4-FFF2-40B4-BE49-F238E27FC236}">
                <a16:creationId xmlns:a16="http://schemas.microsoft.com/office/drawing/2014/main" id="{3589C0CB-EECC-E6C7-0503-59C856B03997}"/>
              </a:ext>
            </a:extLst>
          </p:cNvPr>
          <p:cNvGrpSpPr/>
          <p:nvPr/>
        </p:nvGrpSpPr>
        <p:grpSpPr>
          <a:xfrm rot="-5400000">
            <a:off x="1989639" y="-1123902"/>
            <a:ext cx="1024532" cy="5655661"/>
            <a:chOff x="0" y="0"/>
            <a:chExt cx="269836" cy="1489557"/>
          </a:xfrm>
        </p:grpSpPr>
        <p:sp>
          <p:nvSpPr>
            <p:cNvPr id="8" name="Freeform 8">
              <a:extLst>
                <a:ext uri="{FF2B5EF4-FFF2-40B4-BE49-F238E27FC236}">
                  <a16:creationId xmlns:a16="http://schemas.microsoft.com/office/drawing/2014/main" id="{C649BD0B-D9BA-D490-05C4-AF8BD18ED3EA}"/>
                </a:ext>
              </a:extLst>
            </p:cNvPr>
            <p:cNvSpPr/>
            <p:nvPr/>
          </p:nvSpPr>
          <p:spPr>
            <a:xfrm>
              <a:off x="0" y="0"/>
              <a:ext cx="269836" cy="1489557"/>
            </a:xfrm>
            <a:custGeom>
              <a:avLst/>
              <a:gdLst/>
              <a:ahLst/>
              <a:cxnLst/>
              <a:rect l="l" t="t" r="r" b="b"/>
              <a:pathLst>
                <a:path w="269836" h="1489557">
                  <a:moveTo>
                    <a:pt x="120905" y="0"/>
                  </a:moveTo>
                  <a:lnTo>
                    <a:pt x="148931" y="0"/>
                  </a:lnTo>
                  <a:cubicBezTo>
                    <a:pt x="215705" y="0"/>
                    <a:pt x="269836" y="54131"/>
                    <a:pt x="269836" y="120905"/>
                  </a:cubicBezTo>
                  <a:lnTo>
                    <a:pt x="269836" y="1368652"/>
                  </a:lnTo>
                  <a:cubicBezTo>
                    <a:pt x="269836" y="1435426"/>
                    <a:pt x="215705" y="1489557"/>
                    <a:pt x="148931" y="1489557"/>
                  </a:cubicBezTo>
                  <a:lnTo>
                    <a:pt x="120905" y="1489557"/>
                  </a:lnTo>
                  <a:cubicBezTo>
                    <a:pt x="54131" y="1489557"/>
                    <a:pt x="0" y="1435426"/>
                    <a:pt x="0" y="1368652"/>
                  </a:cubicBezTo>
                  <a:lnTo>
                    <a:pt x="0" y="120905"/>
                  </a:lnTo>
                  <a:cubicBezTo>
                    <a:pt x="0" y="54131"/>
                    <a:pt x="54131" y="0"/>
                    <a:pt x="120905" y="0"/>
                  </a:cubicBezTo>
                  <a:close/>
                </a:path>
              </a:pathLst>
            </a:custGeom>
            <a:solidFill>
              <a:srgbClr val="1B294A"/>
            </a:solidFill>
          </p:spPr>
        </p:sp>
        <p:sp>
          <p:nvSpPr>
            <p:cNvPr id="9" name="TextBox 9">
              <a:extLst>
                <a:ext uri="{FF2B5EF4-FFF2-40B4-BE49-F238E27FC236}">
                  <a16:creationId xmlns:a16="http://schemas.microsoft.com/office/drawing/2014/main" id="{AEF16C11-1BB7-74B9-1F80-8075612EFB02}"/>
                </a:ext>
              </a:extLst>
            </p:cNvPr>
            <p:cNvSpPr txBox="1"/>
            <p:nvPr/>
          </p:nvSpPr>
          <p:spPr>
            <a:xfrm>
              <a:off x="0" y="-38100"/>
              <a:ext cx="269836" cy="1527657"/>
            </a:xfrm>
            <a:prstGeom prst="rect">
              <a:avLst/>
            </a:prstGeom>
          </p:spPr>
          <p:txBody>
            <a:bodyPr lIns="50800" tIns="50800" rIns="50800" bIns="50800" rtlCol="0" anchor="ctr"/>
            <a:lstStyle/>
            <a:p>
              <a:pPr algn="l">
                <a:lnSpc>
                  <a:spcPts val="3080"/>
                </a:lnSpc>
              </a:pPr>
              <a:endParaRPr/>
            </a:p>
          </p:txBody>
        </p:sp>
      </p:grpSp>
      <p:sp>
        <p:nvSpPr>
          <p:cNvPr id="10" name="TextBox 10">
            <a:extLst>
              <a:ext uri="{FF2B5EF4-FFF2-40B4-BE49-F238E27FC236}">
                <a16:creationId xmlns:a16="http://schemas.microsoft.com/office/drawing/2014/main" id="{B3A9349C-6452-322A-AA1F-E138CA856031}"/>
              </a:ext>
            </a:extLst>
          </p:cNvPr>
          <p:cNvSpPr txBox="1"/>
          <p:nvPr/>
        </p:nvSpPr>
        <p:spPr>
          <a:xfrm>
            <a:off x="1294525" y="1349079"/>
            <a:ext cx="4301036" cy="629854"/>
          </a:xfrm>
          <a:prstGeom prst="rect">
            <a:avLst/>
          </a:prstGeom>
        </p:spPr>
        <p:txBody>
          <a:bodyPr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Summary</a:t>
            </a:r>
          </a:p>
        </p:txBody>
      </p:sp>
      <p:sp>
        <p:nvSpPr>
          <p:cNvPr id="11" name="TextBox 11">
            <a:extLst>
              <a:ext uri="{FF2B5EF4-FFF2-40B4-BE49-F238E27FC236}">
                <a16:creationId xmlns:a16="http://schemas.microsoft.com/office/drawing/2014/main" id="{14419F5D-DCF1-8503-5BB2-0A534EF0F5F1}"/>
              </a:ext>
            </a:extLst>
          </p:cNvPr>
          <p:cNvSpPr txBox="1"/>
          <p:nvPr/>
        </p:nvSpPr>
        <p:spPr>
          <a:xfrm>
            <a:off x="1302527" y="2350954"/>
            <a:ext cx="7530780" cy="455295"/>
          </a:xfrm>
          <a:prstGeom prst="rect">
            <a:avLst/>
          </a:prstGeom>
        </p:spPr>
        <p:txBody>
          <a:bodyPr lIns="0" tIns="0" rIns="0" bIns="0" rtlCol="0" anchor="t">
            <a:spAutoFit/>
          </a:bodyPr>
          <a:lstStyle/>
          <a:p>
            <a:pPr algn="l">
              <a:lnSpc>
                <a:spcPts val="3780"/>
              </a:lnSpc>
            </a:pPr>
            <a:r>
              <a:rPr lang="en-US" sz="2700" b="1" dirty="0">
                <a:solidFill>
                  <a:srgbClr val="1B294A"/>
                </a:solidFill>
                <a:latin typeface="Montserrat Bold"/>
                <a:ea typeface="Montserrat Bold"/>
                <a:cs typeface="Montserrat Bold"/>
                <a:sym typeface="Montserrat Bold"/>
              </a:rPr>
              <a:t>Calculus</a:t>
            </a:r>
          </a:p>
        </p:txBody>
      </p:sp>
      <p:sp>
        <p:nvSpPr>
          <p:cNvPr id="12" name="TextBox 12">
            <a:extLst>
              <a:ext uri="{FF2B5EF4-FFF2-40B4-BE49-F238E27FC236}">
                <a16:creationId xmlns:a16="http://schemas.microsoft.com/office/drawing/2014/main" id="{C42192B4-A164-F8DB-A03B-282B43CABFD5}"/>
              </a:ext>
            </a:extLst>
          </p:cNvPr>
          <p:cNvSpPr txBox="1"/>
          <p:nvPr/>
        </p:nvSpPr>
        <p:spPr>
          <a:xfrm>
            <a:off x="10150698" y="5882814"/>
            <a:ext cx="6704780" cy="455295"/>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Analytical Geometry</a:t>
            </a:r>
          </a:p>
        </p:txBody>
      </p:sp>
      <p:sp>
        <p:nvSpPr>
          <p:cNvPr id="13" name="TextBox 13">
            <a:extLst>
              <a:ext uri="{FF2B5EF4-FFF2-40B4-BE49-F238E27FC236}">
                <a16:creationId xmlns:a16="http://schemas.microsoft.com/office/drawing/2014/main" id="{48FE95DF-B576-3A85-DCEC-5AB7C95AE040}"/>
              </a:ext>
            </a:extLst>
          </p:cNvPr>
          <p:cNvSpPr txBox="1"/>
          <p:nvPr/>
        </p:nvSpPr>
        <p:spPr>
          <a:xfrm>
            <a:off x="1294525" y="2894773"/>
            <a:ext cx="7530780" cy="3146502"/>
          </a:xfrm>
          <a:prstGeom prst="rect">
            <a:avLst/>
          </a:prstGeom>
        </p:spPr>
        <p:txBody>
          <a:bodyPr lIns="0" tIns="0" rIns="0" bIns="0" rtlCol="0" anchor="t">
            <a:spAutoFit/>
          </a:bodyPr>
          <a:lstStyle/>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Explains change and motion</a:t>
            </a:r>
          </a:p>
          <a:p>
            <a:pPr algn="just">
              <a:lnSpc>
                <a:spcPts val="3080"/>
              </a:lnSpc>
            </a:pPr>
            <a:r>
              <a:rPr lang="en-US" sz="2400" dirty="0">
                <a:solidFill>
                  <a:srgbClr val="777879"/>
                </a:solidFill>
                <a:latin typeface="Lato"/>
                <a:ea typeface="Lato"/>
                <a:cs typeface="Lato"/>
                <a:sym typeface="Lato"/>
              </a:rPr>
              <a:t>Helps with:</a:t>
            </a:r>
          </a:p>
          <a:p>
            <a:pPr marL="800100" lvl="1"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Speed and acceleration</a:t>
            </a:r>
          </a:p>
          <a:p>
            <a:pPr marL="800100" lvl="1"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Optimization</a:t>
            </a:r>
          </a:p>
          <a:p>
            <a:pPr marL="800100" lvl="1"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Predicting future behavior</a:t>
            </a:r>
          </a:p>
          <a:p>
            <a:pPr algn="just">
              <a:lnSpc>
                <a:spcPts val="3080"/>
              </a:lnSpc>
            </a:pPr>
            <a:r>
              <a:rPr lang="en-US" sz="2400" dirty="0">
                <a:solidFill>
                  <a:srgbClr val="777879"/>
                </a:solidFill>
                <a:latin typeface="Lato"/>
                <a:ea typeface="Lato"/>
                <a:cs typeface="Lato"/>
                <a:sym typeface="Lato"/>
              </a:rPr>
              <a:t>Example: Sudden increase in network traffic → calculus detects attack</a:t>
            </a:r>
          </a:p>
          <a:p>
            <a:pPr algn="just">
              <a:lnSpc>
                <a:spcPts val="3080"/>
              </a:lnSpc>
            </a:pPr>
            <a:r>
              <a:rPr lang="en-US" sz="2400" dirty="0">
                <a:solidFill>
                  <a:srgbClr val="777879"/>
                </a:solidFill>
                <a:latin typeface="Lato"/>
                <a:ea typeface="Lato"/>
                <a:cs typeface="Lato"/>
                <a:sym typeface="Lato"/>
              </a:rPr>
              <a:t>AI model learning → calculus reduces error</a:t>
            </a:r>
          </a:p>
        </p:txBody>
      </p:sp>
      <p:grpSp>
        <p:nvGrpSpPr>
          <p:cNvPr id="14" name="Group 14">
            <a:extLst>
              <a:ext uri="{FF2B5EF4-FFF2-40B4-BE49-F238E27FC236}">
                <a16:creationId xmlns:a16="http://schemas.microsoft.com/office/drawing/2014/main" id="{06BEBAAA-2345-B476-171F-CDABE3E5ACAD}"/>
              </a:ext>
            </a:extLst>
          </p:cNvPr>
          <p:cNvGrpSpPr/>
          <p:nvPr/>
        </p:nvGrpSpPr>
        <p:grpSpPr>
          <a:xfrm>
            <a:off x="-745889" y="8474969"/>
            <a:ext cx="3272804" cy="2498037"/>
            <a:chOff x="0" y="0"/>
            <a:chExt cx="861973" cy="657919"/>
          </a:xfrm>
        </p:grpSpPr>
        <p:sp>
          <p:nvSpPr>
            <p:cNvPr id="15" name="Freeform 15">
              <a:extLst>
                <a:ext uri="{FF2B5EF4-FFF2-40B4-BE49-F238E27FC236}">
                  <a16:creationId xmlns:a16="http://schemas.microsoft.com/office/drawing/2014/main" id="{5F830623-1543-2091-9254-4287DB694E58}"/>
                </a:ext>
              </a:extLst>
            </p:cNvPr>
            <p:cNvSpPr/>
            <p:nvPr/>
          </p:nvSpPr>
          <p:spPr>
            <a:xfrm>
              <a:off x="0" y="0"/>
              <a:ext cx="861973" cy="657919"/>
            </a:xfrm>
            <a:custGeom>
              <a:avLst/>
              <a:gdLst/>
              <a:ahLst/>
              <a:cxnLst/>
              <a:rect l="l" t="t" r="r" b="b"/>
              <a:pathLst>
                <a:path w="861973" h="657919">
                  <a:moveTo>
                    <a:pt x="44945" y="0"/>
                  </a:moveTo>
                  <a:lnTo>
                    <a:pt x="817028" y="0"/>
                  </a:lnTo>
                  <a:cubicBezTo>
                    <a:pt x="828948" y="0"/>
                    <a:pt x="840380" y="4735"/>
                    <a:pt x="848809" y="13164"/>
                  </a:cubicBezTo>
                  <a:cubicBezTo>
                    <a:pt x="857238" y="21593"/>
                    <a:pt x="861973" y="33025"/>
                    <a:pt x="861973" y="44945"/>
                  </a:cubicBezTo>
                  <a:lnTo>
                    <a:pt x="861973" y="612974"/>
                  </a:lnTo>
                  <a:cubicBezTo>
                    <a:pt x="861973" y="624894"/>
                    <a:pt x="857238" y="636326"/>
                    <a:pt x="848809" y="644755"/>
                  </a:cubicBezTo>
                  <a:cubicBezTo>
                    <a:pt x="840380" y="653184"/>
                    <a:pt x="828948" y="657919"/>
                    <a:pt x="817028" y="657919"/>
                  </a:cubicBezTo>
                  <a:lnTo>
                    <a:pt x="44945" y="657919"/>
                  </a:lnTo>
                  <a:cubicBezTo>
                    <a:pt x="33025" y="657919"/>
                    <a:pt x="21593" y="653184"/>
                    <a:pt x="13164" y="644755"/>
                  </a:cubicBezTo>
                  <a:cubicBezTo>
                    <a:pt x="4735" y="636326"/>
                    <a:pt x="0" y="624894"/>
                    <a:pt x="0" y="612974"/>
                  </a:cubicBezTo>
                  <a:lnTo>
                    <a:pt x="0" y="44945"/>
                  </a:lnTo>
                  <a:cubicBezTo>
                    <a:pt x="0" y="33025"/>
                    <a:pt x="4735" y="21593"/>
                    <a:pt x="13164" y="13164"/>
                  </a:cubicBezTo>
                  <a:cubicBezTo>
                    <a:pt x="21593" y="4735"/>
                    <a:pt x="33025" y="0"/>
                    <a:pt x="44945" y="0"/>
                  </a:cubicBezTo>
                  <a:close/>
                </a:path>
              </a:pathLst>
            </a:custGeom>
            <a:solidFill>
              <a:srgbClr val="1B294A"/>
            </a:solidFill>
          </p:spPr>
        </p:sp>
        <p:sp>
          <p:nvSpPr>
            <p:cNvPr id="16" name="TextBox 16">
              <a:extLst>
                <a:ext uri="{FF2B5EF4-FFF2-40B4-BE49-F238E27FC236}">
                  <a16:creationId xmlns:a16="http://schemas.microsoft.com/office/drawing/2014/main" id="{4F909BCC-9B1C-C11F-0662-D0AF00D7062A}"/>
                </a:ext>
              </a:extLst>
            </p:cNvPr>
            <p:cNvSpPr txBox="1"/>
            <p:nvPr/>
          </p:nvSpPr>
          <p:spPr>
            <a:xfrm>
              <a:off x="0" y="-38100"/>
              <a:ext cx="861973" cy="696019"/>
            </a:xfrm>
            <a:prstGeom prst="rect">
              <a:avLst/>
            </a:prstGeom>
          </p:spPr>
          <p:txBody>
            <a:bodyPr lIns="50800" tIns="50800" rIns="50800" bIns="50800" rtlCol="0" anchor="ctr"/>
            <a:lstStyle/>
            <a:p>
              <a:pPr algn="ctr">
                <a:lnSpc>
                  <a:spcPts val="3080"/>
                </a:lnSpc>
              </a:pPr>
              <a:endParaRPr/>
            </a:p>
          </p:txBody>
        </p:sp>
      </p:grpSp>
      <p:grpSp>
        <p:nvGrpSpPr>
          <p:cNvPr id="17" name="Group 17">
            <a:extLst>
              <a:ext uri="{FF2B5EF4-FFF2-40B4-BE49-F238E27FC236}">
                <a16:creationId xmlns:a16="http://schemas.microsoft.com/office/drawing/2014/main" id="{C348316F-9AAF-F35A-95E7-1113D0A130B7}"/>
              </a:ext>
            </a:extLst>
          </p:cNvPr>
          <p:cNvGrpSpPr/>
          <p:nvPr/>
        </p:nvGrpSpPr>
        <p:grpSpPr>
          <a:xfrm>
            <a:off x="-268645" y="6171493"/>
            <a:ext cx="8828124" cy="3502920"/>
            <a:chOff x="0" y="0"/>
            <a:chExt cx="1006816" cy="399495"/>
          </a:xfrm>
          <a:blipFill>
            <a:blip r:embed="rId3">
              <a:alphaModFix amt="89000"/>
            </a:blip>
            <a:stretch>
              <a:fillRect/>
            </a:stretch>
          </a:blipFill>
        </p:grpSpPr>
        <p:sp>
          <p:nvSpPr>
            <p:cNvPr id="18" name="Freeform 18">
              <a:extLst>
                <a:ext uri="{FF2B5EF4-FFF2-40B4-BE49-F238E27FC236}">
                  <a16:creationId xmlns:a16="http://schemas.microsoft.com/office/drawing/2014/main" id="{92580710-7BA3-6D9D-916C-8AF575911798}"/>
                </a:ext>
              </a:extLst>
            </p:cNvPr>
            <p:cNvSpPr/>
            <p:nvPr/>
          </p:nvSpPr>
          <p:spPr>
            <a:xfrm>
              <a:off x="0" y="0"/>
              <a:ext cx="1006816" cy="399495"/>
            </a:xfrm>
            <a:custGeom>
              <a:avLst/>
              <a:gdLst/>
              <a:ahLst/>
              <a:cxnLst/>
              <a:rect l="l" t="t" r="r" b="b"/>
              <a:pathLst>
                <a:path w="1006816" h="399495">
                  <a:moveTo>
                    <a:pt x="20170" y="0"/>
                  </a:moveTo>
                  <a:lnTo>
                    <a:pt x="986646" y="0"/>
                  </a:lnTo>
                  <a:cubicBezTo>
                    <a:pt x="997785" y="0"/>
                    <a:pt x="1006816" y="9030"/>
                    <a:pt x="1006816" y="20170"/>
                  </a:cubicBezTo>
                  <a:lnTo>
                    <a:pt x="1006816" y="379325"/>
                  </a:lnTo>
                  <a:cubicBezTo>
                    <a:pt x="1006816" y="384675"/>
                    <a:pt x="1004691" y="389805"/>
                    <a:pt x="1000908" y="393588"/>
                  </a:cubicBezTo>
                  <a:cubicBezTo>
                    <a:pt x="997126" y="397370"/>
                    <a:pt x="991995" y="399495"/>
                    <a:pt x="986646" y="399495"/>
                  </a:cubicBezTo>
                  <a:lnTo>
                    <a:pt x="20170" y="399495"/>
                  </a:lnTo>
                  <a:cubicBezTo>
                    <a:pt x="9030" y="399495"/>
                    <a:pt x="0" y="390465"/>
                    <a:pt x="0" y="379325"/>
                  </a:cubicBezTo>
                  <a:lnTo>
                    <a:pt x="0" y="20170"/>
                  </a:lnTo>
                  <a:cubicBezTo>
                    <a:pt x="0" y="9030"/>
                    <a:pt x="9030" y="0"/>
                    <a:pt x="20170" y="0"/>
                  </a:cubicBezTo>
                  <a:close/>
                </a:path>
              </a:pathLst>
            </a:custGeom>
            <a:grpFill/>
          </p:spPr>
        </p:sp>
      </p:grpSp>
      <p:sp>
        <p:nvSpPr>
          <p:cNvPr id="19" name="TextBox 19">
            <a:extLst>
              <a:ext uri="{FF2B5EF4-FFF2-40B4-BE49-F238E27FC236}">
                <a16:creationId xmlns:a16="http://schemas.microsoft.com/office/drawing/2014/main" id="{169F725E-F115-0A3A-4846-9BE6AB549664}"/>
              </a:ext>
            </a:extLst>
          </p:cNvPr>
          <p:cNvSpPr txBox="1"/>
          <p:nvPr/>
        </p:nvSpPr>
        <p:spPr>
          <a:xfrm>
            <a:off x="10150698" y="6527911"/>
            <a:ext cx="6704780" cy="3146502"/>
          </a:xfrm>
          <a:prstGeom prst="rect">
            <a:avLst/>
          </a:prstGeom>
        </p:spPr>
        <p:txBody>
          <a:bodyPr lIns="0" tIns="0" rIns="0" bIns="0" rtlCol="0" anchor="t">
            <a:spAutoFit/>
          </a:bodyPr>
          <a:lstStyle/>
          <a:p>
            <a:pPr marL="342900"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Explains shape, space, and position</a:t>
            </a:r>
          </a:p>
          <a:p>
            <a:pPr algn="just">
              <a:lnSpc>
                <a:spcPts val="3080"/>
              </a:lnSpc>
            </a:pPr>
            <a:r>
              <a:rPr lang="en-US" sz="2400" dirty="0">
                <a:solidFill>
                  <a:srgbClr val="777879"/>
                </a:solidFill>
                <a:latin typeface="Lato"/>
                <a:ea typeface="Lato"/>
                <a:cs typeface="Lato"/>
                <a:sym typeface="Lato"/>
              </a:rPr>
              <a:t>Helps with:</a:t>
            </a:r>
          </a:p>
          <a:p>
            <a:pPr marL="800100" lvl="1"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Coordinates</a:t>
            </a:r>
          </a:p>
          <a:p>
            <a:pPr marL="800100" lvl="1"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Graphs</a:t>
            </a:r>
          </a:p>
          <a:p>
            <a:pPr marL="800100" lvl="1" indent="-342900" algn="just">
              <a:lnSpc>
                <a:spcPts val="3080"/>
              </a:lnSpc>
              <a:buFont typeface="Arial" panose="020B0604020202020204" pitchFamily="34" charset="0"/>
              <a:buChar char="•"/>
            </a:pPr>
            <a:r>
              <a:rPr lang="en-US" sz="2400" dirty="0">
                <a:solidFill>
                  <a:srgbClr val="777879"/>
                </a:solidFill>
                <a:latin typeface="Lato"/>
                <a:ea typeface="Lato"/>
                <a:cs typeface="Lato"/>
                <a:sym typeface="Lato"/>
              </a:rPr>
              <a:t>Distance and paths</a:t>
            </a:r>
          </a:p>
          <a:p>
            <a:pPr algn="just">
              <a:lnSpc>
                <a:spcPts val="3080"/>
              </a:lnSpc>
            </a:pPr>
            <a:r>
              <a:rPr lang="en-US" sz="2400" dirty="0">
                <a:solidFill>
                  <a:srgbClr val="777879"/>
                </a:solidFill>
                <a:latin typeface="Lato"/>
                <a:ea typeface="Lato"/>
                <a:cs typeface="Lato"/>
                <a:sym typeface="Lato"/>
              </a:rPr>
              <a:t>Example: GPS finds location using coordinates</a:t>
            </a:r>
          </a:p>
          <a:p>
            <a:pPr algn="just">
              <a:lnSpc>
                <a:spcPts val="3080"/>
              </a:lnSpc>
            </a:pPr>
            <a:r>
              <a:rPr lang="en-US" sz="2400" dirty="0">
                <a:solidFill>
                  <a:srgbClr val="777879"/>
                </a:solidFill>
                <a:latin typeface="Lato"/>
                <a:ea typeface="Lato"/>
                <a:cs typeface="Lato"/>
                <a:sym typeface="Lato"/>
              </a:rPr>
              <a:t>Cyber security maps attack paths using network graphs</a:t>
            </a:r>
          </a:p>
        </p:txBody>
      </p:sp>
    </p:spTree>
    <p:extLst>
      <p:ext uri="{BB962C8B-B14F-4D97-AF65-F5344CB8AC3E}">
        <p14:creationId xmlns:p14="http://schemas.microsoft.com/office/powerpoint/2010/main" val="3552370918"/>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0019B-412E-A85F-5A43-000112ECE0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5CBDBB0-FA6A-1AF2-58CC-84C8596A2971}"/>
              </a:ext>
            </a:extLst>
          </p:cNvPr>
          <p:cNvGrpSpPr/>
          <p:nvPr/>
        </p:nvGrpSpPr>
        <p:grpSpPr>
          <a:xfrm rot="-5400000">
            <a:off x="3221197" y="-2303011"/>
            <a:ext cx="1537481" cy="8631725"/>
            <a:chOff x="0" y="0"/>
            <a:chExt cx="234306" cy="1338006"/>
          </a:xfrm>
        </p:grpSpPr>
        <p:sp>
          <p:nvSpPr>
            <p:cNvPr id="3" name="Freeform 3">
              <a:extLst>
                <a:ext uri="{FF2B5EF4-FFF2-40B4-BE49-F238E27FC236}">
                  <a16:creationId xmlns:a16="http://schemas.microsoft.com/office/drawing/2014/main" id="{06681822-14AE-0902-D7E1-DA6ADCBBD8CE}"/>
                </a:ext>
              </a:extLst>
            </p:cNvPr>
            <p:cNvSpPr/>
            <p:nvPr/>
          </p:nvSpPr>
          <p:spPr>
            <a:xfrm>
              <a:off x="0" y="0"/>
              <a:ext cx="234306" cy="1338006"/>
            </a:xfrm>
            <a:custGeom>
              <a:avLst/>
              <a:gdLst/>
              <a:ahLst/>
              <a:cxnLst/>
              <a:rect l="l" t="t" r="r" b="b"/>
              <a:pathLst>
                <a:path w="234306" h="1338006">
                  <a:moveTo>
                    <a:pt x="117153" y="0"/>
                  </a:moveTo>
                  <a:lnTo>
                    <a:pt x="117153" y="0"/>
                  </a:lnTo>
                  <a:cubicBezTo>
                    <a:pt x="181855" y="0"/>
                    <a:pt x="234306" y="52451"/>
                    <a:pt x="234306" y="117153"/>
                  </a:cubicBezTo>
                  <a:lnTo>
                    <a:pt x="234306" y="1220853"/>
                  </a:lnTo>
                  <a:cubicBezTo>
                    <a:pt x="234306" y="1285555"/>
                    <a:pt x="181855" y="1338006"/>
                    <a:pt x="117153" y="1338006"/>
                  </a:cubicBezTo>
                  <a:lnTo>
                    <a:pt x="117153" y="1338006"/>
                  </a:lnTo>
                  <a:cubicBezTo>
                    <a:pt x="52451" y="1338006"/>
                    <a:pt x="0" y="1285555"/>
                    <a:pt x="0" y="1220853"/>
                  </a:cubicBezTo>
                  <a:lnTo>
                    <a:pt x="0" y="117153"/>
                  </a:lnTo>
                  <a:cubicBezTo>
                    <a:pt x="0" y="52451"/>
                    <a:pt x="52451" y="0"/>
                    <a:pt x="117153" y="0"/>
                  </a:cubicBezTo>
                  <a:close/>
                </a:path>
              </a:pathLst>
            </a:custGeom>
            <a:solidFill>
              <a:srgbClr val="1B294A"/>
            </a:solidFill>
          </p:spPr>
        </p:sp>
        <p:sp>
          <p:nvSpPr>
            <p:cNvPr id="4" name="TextBox 4">
              <a:extLst>
                <a:ext uri="{FF2B5EF4-FFF2-40B4-BE49-F238E27FC236}">
                  <a16:creationId xmlns:a16="http://schemas.microsoft.com/office/drawing/2014/main" id="{8467AC4B-6D73-71BD-177F-A8650A3416FB}"/>
                </a:ext>
              </a:extLst>
            </p:cNvPr>
            <p:cNvSpPr txBox="1"/>
            <p:nvPr/>
          </p:nvSpPr>
          <p:spPr>
            <a:xfrm>
              <a:off x="0" y="-38100"/>
              <a:ext cx="234306" cy="1376106"/>
            </a:xfrm>
            <a:prstGeom prst="rect">
              <a:avLst/>
            </a:prstGeom>
          </p:spPr>
          <p:txBody>
            <a:bodyPr lIns="50800" tIns="50800" rIns="50800" bIns="50800" rtlCol="0" anchor="ctr"/>
            <a:lstStyle/>
            <a:p>
              <a:pPr algn="l">
                <a:lnSpc>
                  <a:spcPts val="3080"/>
                </a:lnSpc>
              </a:pPr>
              <a:endParaRPr/>
            </a:p>
          </p:txBody>
        </p:sp>
      </p:grpSp>
      <p:sp>
        <p:nvSpPr>
          <p:cNvPr id="5" name="Freeform 5">
            <a:extLst>
              <a:ext uri="{FF2B5EF4-FFF2-40B4-BE49-F238E27FC236}">
                <a16:creationId xmlns:a16="http://schemas.microsoft.com/office/drawing/2014/main" id="{33C9AEC8-5850-B235-790E-DE1CC0781AAA}"/>
              </a:ext>
            </a:extLst>
          </p:cNvPr>
          <p:cNvSpPr/>
          <p:nvPr/>
        </p:nvSpPr>
        <p:spPr>
          <a:xfrm>
            <a:off x="1026867" y="2952894"/>
            <a:ext cx="8246293" cy="5761786"/>
          </a:xfrm>
          <a:custGeom>
            <a:avLst/>
            <a:gdLst/>
            <a:ahLst/>
            <a:cxnLst/>
            <a:rect l="l" t="t" r="r" b="b"/>
            <a:pathLst>
              <a:path w="8246293" h="5761786">
                <a:moveTo>
                  <a:pt x="0" y="0"/>
                </a:moveTo>
                <a:lnTo>
                  <a:pt x="8246293" y="0"/>
                </a:lnTo>
                <a:lnTo>
                  <a:pt x="8246293" y="5761786"/>
                </a:lnTo>
                <a:lnTo>
                  <a:pt x="0" y="5761786"/>
                </a:lnTo>
                <a:lnTo>
                  <a:pt x="0" y="0"/>
                </a:lnTo>
                <a:close/>
              </a:path>
            </a:pathLst>
          </a:custGeom>
          <a:blipFill>
            <a:blip r:embed="rId2">
              <a:alphaModFix amt="47000"/>
            </a:blip>
            <a:stretch>
              <a:fillRect t="-42830"/>
            </a:stretch>
          </a:blipFill>
        </p:spPr>
        <p:txBody>
          <a:bodyPr/>
          <a:lstStyle/>
          <a:p>
            <a:endParaRPr lang="en-US"/>
          </a:p>
        </p:txBody>
      </p:sp>
      <p:grpSp>
        <p:nvGrpSpPr>
          <p:cNvPr id="6" name="Group 6">
            <a:extLst>
              <a:ext uri="{FF2B5EF4-FFF2-40B4-BE49-F238E27FC236}">
                <a16:creationId xmlns:a16="http://schemas.microsoft.com/office/drawing/2014/main" id="{E81D1BF2-2384-15C7-AFF2-B1CCE694509E}"/>
              </a:ext>
            </a:extLst>
          </p:cNvPr>
          <p:cNvGrpSpPr/>
          <p:nvPr/>
        </p:nvGrpSpPr>
        <p:grpSpPr>
          <a:xfrm>
            <a:off x="1210561" y="2781593"/>
            <a:ext cx="8062600" cy="5634793"/>
            <a:chOff x="0" y="-47625"/>
            <a:chExt cx="2123483" cy="1484061"/>
          </a:xfrm>
        </p:grpSpPr>
        <p:sp>
          <p:nvSpPr>
            <p:cNvPr id="7" name="Freeform 7">
              <a:extLst>
                <a:ext uri="{FF2B5EF4-FFF2-40B4-BE49-F238E27FC236}">
                  <a16:creationId xmlns:a16="http://schemas.microsoft.com/office/drawing/2014/main" id="{C6D36924-3E12-0D47-6AD9-50247E048521}"/>
                </a:ext>
              </a:extLst>
            </p:cNvPr>
            <p:cNvSpPr/>
            <p:nvPr/>
          </p:nvSpPr>
          <p:spPr>
            <a:xfrm>
              <a:off x="0" y="0"/>
              <a:ext cx="2123483" cy="1436436"/>
            </a:xfrm>
            <a:custGeom>
              <a:avLst/>
              <a:gdLst/>
              <a:ahLst/>
              <a:cxnLst/>
              <a:rect l="l" t="t" r="r" b="b"/>
              <a:pathLst>
                <a:path w="2123483" h="1436436">
                  <a:moveTo>
                    <a:pt x="0" y="0"/>
                  </a:moveTo>
                  <a:lnTo>
                    <a:pt x="2123483" y="0"/>
                  </a:lnTo>
                  <a:lnTo>
                    <a:pt x="2123483" y="1436436"/>
                  </a:lnTo>
                  <a:lnTo>
                    <a:pt x="0" y="1436436"/>
                  </a:lnTo>
                  <a:close/>
                </a:path>
              </a:pathLst>
            </a:custGeom>
            <a:solidFill>
              <a:srgbClr val="FFFFFF"/>
            </a:solidFill>
          </p:spPr>
        </p:sp>
        <p:sp>
          <p:nvSpPr>
            <p:cNvPr id="8" name="TextBox 8">
              <a:extLst>
                <a:ext uri="{FF2B5EF4-FFF2-40B4-BE49-F238E27FC236}">
                  <a16:creationId xmlns:a16="http://schemas.microsoft.com/office/drawing/2014/main" id="{796BE7C6-0D16-BA2B-80BC-EDEEDA17F33A}"/>
                </a:ext>
              </a:extLst>
            </p:cNvPr>
            <p:cNvSpPr txBox="1"/>
            <p:nvPr/>
          </p:nvSpPr>
          <p:spPr>
            <a:xfrm>
              <a:off x="0" y="-47625"/>
              <a:ext cx="2123483" cy="1484061"/>
            </a:xfrm>
            <a:prstGeom prst="rect">
              <a:avLst/>
            </a:prstGeom>
          </p:spPr>
          <p:txBody>
            <a:bodyPr lIns="50800" tIns="50800" rIns="50800" bIns="50800" rtlCol="0" anchor="ctr"/>
            <a:lstStyle/>
            <a:p>
              <a:pPr algn="ctr">
                <a:lnSpc>
                  <a:spcPts val="3080"/>
                </a:lnSpc>
              </a:pPr>
              <a:endParaRPr/>
            </a:p>
          </p:txBody>
        </p:sp>
      </p:grpSp>
      <p:grpSp>
        <p:nvGrpSpPr>
          <p:cNvPr id="9" name="Group 9">
            <a:extLst>
              <a:ext uri="{FF2B5EF4-FFF2-40B4-BE49-F238E27FC236}">
                <a16:creationId xmlns:a16="http://schemas.microsoft.com/office/drawing/2014/main" id="{78DDB59D-334C-CC9F-83DB-85D95CEC3728}"/>
              </a:ext>
            </a:extLst>
          </p:cNvPr>
          <p:cNvGrpSpPr/>
          <p:nvPr/>
        </p:nvGrpSpPr>
        <p:grpSpPr>
          <a:xfrm rot="-5400000">
            <a:off x="10657770" y="3245045"/>
            <a:ext cx="10875274" cy="4385185"/>
            <a:chOff x="0" y="0"/>
            <a:chExt cx="2864270" cy="1154946"/>
          </a:xfrm>
        </p:grpSpPr>
        <p:sp>
          <p:nvSpPr>
            <p:cNvPr id="10" name="Freeform 10">
              <a:extLst>
                <a:ext uri="{FF2B5EF4-FFF2-40B4-BE49-F238E27FC236}">
                  <a16:creationId xmlns:a16="http://schemas.microsoft.com/office/drawing/2014/main" id="{74B3F8D4-B5C5-84E7-E1E9-AF8DAEC27E21}"/>
                </a:ext>
              </a:extLst>
            </p:cNvPr>
            <p:cNvSpPr/>
            <p:nvPr/>
          </p:nvSpPr>
          <p:spPr>
            <a:xfrm>
              <a:off x="0" y="0"/>
              <a:ext cx="2864270" cy="1154946"/>
            </a:xfrm>
            <a:custGeom>
              <a:avLst/>
              <a:gdLst/>
              <a:ahLst/>
              <a:cxnLst/>
              <a:rect l="l" t="t" r="r" b="b"/>
              <a:pathLst>
                <a:path w="2864270" h="1154946">
                  <a:moveTo>
                    <a:pt x="0" y="0"/>
                  </a:moveTo>
                  <a:lnTo>
                    <a:pt x="2864270" y="0"/>
                  </a:lnTo>
                  <a:lnTo>
                    <a:pt x="2864270" y="1154946"/>
                  </a:lnTo>
                  <a:lnTo>
                    <a:pt x="0" y="1154946"/>
                  </a:lnTo>
                  <a:close/>
                </a:path>
              </a:pathLst>
            </a:custGeom>
            <a:solidFill>
              <a:srgbClr val="1B294A"/>
            </a:solidFill>
          </p:spPr>
        </p:sp>
        <p:sp>
          <p:nvSpPr>
            <p:cNvPr id="11" name="TextBox 11">
              <a:extLst>
                <a:ext uri="{FF2B5EF4-FFF2-40B4-BE49-F238E27FC236}">
                  <a16:creationId xmlns:a16="http://schemas.microsoft.com/office/drawing/2014/main" id="{E45D2902-3794-05DA-5BAB-291778F641A1}"/>
                </a:ext>
              </a:extLst>
            </p:cNvPr>
            <p:cNvSpPr txBox="1"/>
            <p:nvPr/>
          </p:nvSpPr>
          <p:spPr>
            <a:xfrm>
              <a:off x="0" y="-38100"/>
              <a:ext cx="2864270" cy="1193046"/>
            </a:xfrm>
            <a:prstGeom prst="rect">
              <a:avLst/>
            </a:prstGeom>
          </p:spPr>
          <p:txBody>
            <a:bodyPr lIns="50800" tIns="50800" rIns="50800" bIns="50800" rtlCol="0" anchor="ctr"/>
            <a:lstStyle/>
            <a:p>
              <a:pPr algn="l">
                <a:lnSpc>
                  <a:spcPts val="3080"/>
                </a:lnSpc>
              </a:pPr>
              <a:endParaRPr/>
            </a:p>
          </p:txBody>
        </p:sp>
      </p:grpSp>
      <p:grpSp>
        <p:nvGrpSpPr>
          <p:cNvPr id="12" name="Group 12">
            <a:extLst>
              <a:ext uri="{FF2B5EF4-FFF2-40B4-BE49-F238E27FC236}">
                <a16:creationId xmlns:a16="http://schemas.microsoft.com/office/drawing/2014/main" id="{AE12E4A9-A1E2-403A-0281-6346B6E27FC0}"/>
              </a:ext>
            </a:extLst>
          </p:cNvPr>
          <p:cNvGrpSpPr/>
          <p:nvPr/>
        </p:nvGrpSpPr>
        <p:grpSpPr>
          <a:xfrm>
            <a:off x="11353622" y="2064995"/>
            <a:ext cx="6934378" cy="5923682"/>
            <a:chOff x="0" y="0"/>
            <a:chExt cx="535945" cy="457830"/>
          </a:xfrm>
          <a:blipFill>
            <a:blip r:embed="rId3">
              <a:alphaModFix amt="89000"/>
            </a:blip>
            <a:stretch>
              <a:fillRect/>
            </a:stretch>
          </a:blipFill>
        </p:grpSpPr>
        <p:sp>
          <p:nvSpPr>
            <p:cNvPr id="13" name="Freeform 13">
              <a:extLst>
                <a:ext uri="{FF2B5EF4-FFF2-40B4-BE49-F238E27FC236}">
                  <a16:creationId xmlns:a16="http://schemas.microsoft.com/office/drawing/2014/main" id="{E0330F0E-DA57-4326-F6B9-B386EC939025}"/>
                </a:ext>
              </a:extLst>
            </p:cNvPr>
            <p:cNvSpPr/>
            <p:nvPr/>
          </p:nvSpPr>
          <p:spPr>
            <a:xfrm>
              <a:off x="0" y="0"/>
              <a:ext cx="535945" cy="457830"/>
            </a:xfrm>
            <a:custGeom>
              <a:avLst/>
              <a:gdLst/>
              <a:ahLst/>
              <a:cxnLst/>
              <a:rect l="l" t="t" r="r" b="b"/>
              <a:pathLst>
                <a:path w="535945" h="457830">
                  <a:moveTo>
                    <a:pt x="25678" y="0"/>
                  </a:moveTo>
                  <a:lnTo>
                    <a:pt x="510266" y="0"/>
                  </a:lnTo>
                  <a:cubicBezTo>
                    <a:pt x="524448" y="0"/>
                    <a:pt x="535945" y="11497"/>
                    <a:pt x="535945" y="25678"/>
                  </a:cubicBezTo>
                  <a:lnTo>
                    <a:pt x="535945" y="432151"/>
                  </a:lnTo>
                  <a:cubicBezTo>
                    <a:pt x="535945" y="446333"/>
                    <a:pt x="524448" y="457830"/>
                    <a:pt x="510266" y="457830"/>
                  </a:cubicBezTo>
                  <a:lnTo>
                    <a:pt x="25678" y="457830"/>
                  </a:lnTo>
                  <a:cubicBezTo>
                    <a:pt x="11497" y="457830"/>
                    <a:pt x="0" y="446333"/>
                    <a:pt x="0" y="432151"/>
                  </a:cubicBezTo>
                  <a:lnTo>
                    <a:pt x="0" y="25678"/>
                  </a:lnTo>
                  <a:cubicBezTo>
                    <a:pt x="0" y="11497"/>
                    <a:pt x="11497" y="0"/>
                    <a:pt x="25678" y="0"/>
                  </a:cubicBezTo>
                  <a:close/>
                </a:path>
              </a:pathLst>
            </a:custGeom>
            <a:grpFill/>
          </p:spPr>
        </p:sp>
      </p:grpSp>
      <p:sp>
        <p:nvSpPr>
          <p:cNvPr id="14" name="Freeform 14">
            <a:extLst>
              <a:ext uri="{FF2B5EF4-FFF2-40B4-BE49-F238E27FC236}">
                <a16:creationId xmlns:a16="http://schemas.microsoft.com/office/drawing/2014/main" id="{7A1C8F90-1CEE-8281-4518-89ADE51F079B}"/>
              </a:ext>
            </a:extLst>
          </p:cNvPr>
          <p:cNvSpPr/>
          <p:nvPr/>
        </p:nvSpPr>
        <p:spPr>
          <a:xfrm>
            <a:off x="12151561" y="898916"/>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646D7BDA-D6A4-2BA3-600D-22512EAB2614}"/>
              </a:ext>
            </a:extLst>
          </p:cNvPr>
          <p:cNvSpPr txBox="1"/>
          <p:nvPr/>
        </p:nvSpPr>
        <p:spPr>
          <a:xfrm>
            <a:off x="1028700" y="1359248"/>
            <a:ext cx="6210300" cy="128419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Calculus and Analytical Geometry Together</a:t>
            </a:r>
          </a:p>
        </p:txBody>
      </p:sp>
      <p:sp>
        <p:nvSpPr>
          <p:cNvPr id="16" name="TextBox 16">
            <a:extLst>
              <a:ext uri="{FF2B5EF4-FFF2-40B4-BE49-F238E27FC236}">
                <a16:creationId xmlns:a16="http://schemas.microsoft.com/office/drawing/2014/main" id="{FBFAFD37-3A1F-B059-A204-943AEDC485DD}"/>
              </a:ext>
            </a:extLst>
          </p:cNvPr>
          <p:cNvSpPr txBox="1"/>
          <p:nvPr/>
        </p:nvSpPr>
        <p:spPr>
          <a:xfrm>
            <a:off x="1371600" y="3028798"/>
            <a:ext cx="7315200" cy="4535793"/>
          </a:xfrm>
          <a:prstGeom prst="rect">
            <a:avLst/>
          </a:prstGeom>
        </p:spPr>
        <p:txBody>
          <a:bodyPr wrap="square" lIns="0" tIns="0" rIns="0" bIns="0" rtlCol="0" anchor="t">
            <a:spAutoFit/>
          </a:bodyPr>
          <a:lstStyle/>
          <a:p>
            <a:pPr marL="345440" lvl="1">
              <a:lnSpc>
                <a:spcPts val="4479"/>
              </a:lnSpc>
            </a:pPr>
            <a:r>
              <a:rPr lang="en-US" sz="2400" dirty="0">
                <a:latin typeface="Bahnschrift Light" panose="020B0502040204020203" pitchFamily="34" charset="0"/>
              </a:rPr>
              <a:t>Calculus and analytical geometry complement each other in real-world systems. Analytical geometry provides a visual and spatial model of the system, while calculus analyzes how activity within that system changes over time. Geometry answers where something is happening, and calculus answers how fast and how abnormal the change is.</a:t>
            </a:r>
            <a:endParaRPr lang="en-US" sz="2400" dirty="0">
              <a:solidFill>
                <a:srgbClr val="1B294A"/>
              </a:solidFill>
              <a:latin typeface="Bahnschrift Light" panose="020B0502040204020203" pitchFamily="34" charset="0"/>
              <a:ea typeface="Lato"/>
              <a:cs typeface="Lato"/>
              <a:sym typeface="Lato"/>
            </a:endParaRPr>
          </a:p>
        </p:txBody>
      </p:sp>
      <p:sp>
        <p:nvSpPr>
          <p:cNvPr id="23" name="Freeform 23">
            <a:extLst>
              <a:ext uri="{FF2B5EF4-FFF2-40B4-BE49-F238E27FC236}">
                <a16:creationId xmlns:a16="http://schemas.microsoft.com/office/drawing/2014/main" id="{6DAC9961-1DD2-1705-19A5-376854E0A8FD}"/>
              </a:ext>
            </a:extLst>
          </p:cNvPr>
          <p:cNvSpPr/>
          <p:nvPr/>
        </p:nvSpPr>
        <p:spPr>
          <a:xfrm>
            <a:off x="691424" y="9378693"/>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34945834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20661-5BC7-1579-F7EE-085AE525391E}"/>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1D2A94E2-6474-8275-E13A-E4B09E2C37B0}"/>
              </a:ext>
            </a:extLst>
          </p:cNvPr>
          <p:cNvPicPr>
            <a:picLocks noChangeAspect="1"/>
          </p:cNvPicPr>
          <p:nvPr/>
        </p:nvPicPr>
        <p:blipFill>
          <a:blip r:embed="rId2"/>
          <a:srcRect t="32792" r="32792"/>
          <a:stretch>
            <a:fillRect/>
          </a:stretch>
        </p:blipFill>
        <p:spPr>
          <a:xfrm>
            <a:off x="3079387" y="6750461"/>
            <a:ext cx="3146653" cy="3172875"/>
          </a:xfrm>
          <a:prstGeom prst="rect">
            <a:avLst/>
          </a:prstGeom>
        </p:spPr>
      </p:pic>
      <p:grpSp>
        <p:nvGrpSpPr>
          <p:cNvPr id="2" name="Group 2">
            <a:extLst>
              <a:ext uri="{FF2B5EF4-FFF2-40B4-BE49-F238E27FC236}">
                <a16:creationId xmlns:a16="http://schemas.microsoft.com/office/drawing/2014/main" id="{795ECD53-D043-ECCD-0316-C503C5F5149B}"/>
              </a:ext>
            </a:extLst>
          </p:cNvPr>
          <p:cNvGrpSpPr/>
          <p:nvPr/>
        </p:nvGrpSpPr>
        <p:grpSpPr>
          <a:xfrm rot="-5400000">
            <a:off x="12040034" y="4540735"/>
            <a:ext cx="10944618" cy="1752231"/>
            <a:chOff x="0" y="0"/>
            <a:chExt cx="2882533" cy="461493"/>
          </a:xfrm>
        </p:grpSpPr>
        <p:sp>
          <p:nvSpPr>
            <p:cNvPr id="3" name="Freeform 3">
              <a:extLst>
                <a:ext uri="{FF2B5EF4-FFF2-40B4-BE49-F238E27FC236}">
                  <a16:creationId xmlns:a16="http://schemas.microsoft.com/office/drawing/2014/main" id="{A2A9F00A-0944-EF0D-981B-E1CAC7D782DD}"/>
                </a:ext>
              </a:extLst>
            </p:cNvPr>
            <p:cNvSpPr/>
            <p:nvPr/>
          </p:nvSpPr>
          <p:spPr>
            <a:xfrm>
              <a:off x="0" y="0"/>
              <a:ext cx="2882533" cy="461493"/>
            </a:xfrm>
            <a:custGeom>
              <a:avLst/>
              <a:gdLst/>
              <a:ahLst/>
              <a:cxnLst/>
              <a:rect l="l" t="t" r="r" b="b"/>
              <a:pathLst>
                <a:path w="2882533" h="461493">
                  <a:moveTo>
                    <a:pt x="0" y="0"/>
                  </a:moveTo>
                  <a:lnTo>
                    <a:pt x="2882533" y="0"/>
                  </a:lnTo>
                  <a:lnTo>
                    <a:pt x="2882533" y="461493"/>
                  </a:lnTo>
                  <a:lnTo>
                    <a:pt x="0" y="461493"/>
                  </a:lnTo>
                  <a:close/>
                </a:path>
              </a:pathLst>
            </a:custGeom>
            <a:solidFill>
              <a:srgbClr val="1B294A"/>
            </a:solidFill>
          </p:spPr>
        </p:sp>
        <p:sp>
          <p:nvSpPr>
            <p:cNvPr id="4" name="TextBox 4">
              <a:extLst>
                <a:ext uri="{FF2B5EF4-FFF2-40B4-BE49-F238E27FC236}">
                  <a16:creationId xmlns:a16="http://schemas.microsoft.com/office/drawing/2014/main" id="{F0DB5BC8-3629-78B9-FB60-720A04C13A33}"/>
                </a:ext>
              </a:extLst>
            </p:cNvPr>
            <p:cNvSpPr txBox="1"/>
            <p:nvPr/>
          </p:nvSpPr>
          <p:spPr>
            <a:xfrm>
              <a:off x="0" y="-38100"/>
              <a:ext cx="2882533" cy="499593"/>
            </a:xfrm>
            <a:prstGeom prst="rect">
              <a:avLst/>
            </a:prstGeom>
          </p:spPr>
          <p:txBody>
            <a:bodyPr lIns="50800" tIns="50800" rIns="50800" bIns="50800" rtlCol="0" anchor="ctr"/>
            <a:lstStyle/>
            <a:p>
              <a:pPr algn="l">
                <a:lnSpc>
                  <a:spcPts val="3080"/>
                </a:lnSpc>
              </a:pPr>
              <a:endParaRPr/>
            </a:p>
          </p:txBody>
        </p:sp>
      </p:grpSp>
      <p:grpSp>
        <p:nvGrpSpPr>
          <p:cNvPr id="7" name="Group 7">
            <a:extLst>
              <a:ext uri="{FF2B5EF4-FFF2-40B4-BE49-F238E27FC236}">
                <a16:creationId xmlns:a16="http://schemas.microsoft.com/office/drawing/2014/main" id="{CDB530E5-8E3D-5F37-AD4A-0E845EA6142C}"/>
              </a:ext>
            </a:extLst>
          </p:cNvPr>
          <p:cNvGrpSpPr/>
          <p:nvPr/>
        </p:nvGrpSpPr>
        <p:grpSpPr>
          <a:xfrm rot="-5400000">
            <a:off x="3633712" y="-3594472"/>
            <a:ext cx="1456325" cy="9412647"/>
            <a:chOff x="0" y="0"/>
            <a:chExt cx="269836" cy="1923050"/>
          </a:xfrm>
        </p:grpSpPr>
        <p:sp>
          <p:nvSpPr>
            <p:cNvPr id="8" name="Freeform 8">
              <a:extLst>
                <a:ext uri="{FF2B5EF4-FFF2-40B4-BE49-F238E27FC236}">
                  <a16:creationId xmlns:a16="http://schemas.microsoft.com/office/drawing/2014/main" id="{6CD34090-43DE-5991-4E46-F6D6D7CDEC8F}"/>
                </a:ext>
              </a:extLst>
            </p:cNvPr>
            <p:cNvSpPr/>
            <p:nvPr/>
          </p:nvSpPr>
          <p:spPr>
            <a:xfrm>
              <a:off x="0" y="0"/>
              <a:ext cx="269836" cy="1923050"/>
            </a:xfrm>
            <a:custGeom>
              <a:avLst/>
              <a:gdLst/>
              <a:ahLst/>
              <a:cxnLst/>
              <a:rect l="l" t="t" r="r" b="b"/>
              <a:pathLst>
                <a:path w="269836" h="1923050">
                  <a:moveTo>
                    <a:pt x="120905" y="0"/>
                  </a:moveTo>
                  <a:lnTo>
                    <a:pt x="148931" y="0"/>
                  </a:lnTo>
                  <a:cubicBezTo>
                    <a:pt x="215705" y="0"/>
                    <a:pt x="269836" y="54131"/>
                    <a:pt x="269836" y="120905"/>
                  </a:cubicBezTo>
                  <a:lnTo>
                    <a:pt x="269836" y="1802145"/>
                  </a:lnTo>
                  <a:cubicBezTo>
                    <a:pt x="269836" y="1868919"/>
                    <a:pt x="215705" y="1923050"/>
                    <a:pt x="148931" y="1923050"/>
                  </a:cubicBezTo>
                  <a:lnTo>
                    <a:pt x="120905" y="1923050"/>
                  </a:lnTo>
                  <a:cubicBezTo>
                    <a:pt x="54131" y="1923050"/>
                    <a:pt x="0" y="1868919"/>
                    <a:pt x="0" y="1802145"/>
                  </a:cubicBezTo>
                  <a:lnTo>
                    <a:pt x="0" y="120905"/>
                  </a:lnTo>
                  <a:cubicBezTo>
                    <a:pt x="0" y="54131"/>
                    <a:pt x="54131" y="0"/>
                    <a:pt x="120905" y="0"/>
                  </a:cubicBezTo>
                  <a:close/>
                </a:path>
              </a:pathLst>
            </a:custGeom>
            <a:solidFill>
              <a:srgbClr val="1B294A"/>
            </a:solidFill>
          </p:spPr>
        </p:sp>
        <p:sp>
          <p:nvSpPr>
            <p:cNvPr id="9" name="TextBox 9">
              <a:extLst>
                <a:ext uri="{FF2B5EF4-FFF2-40B4-BE49-F238E27FC236}">
                  <a16:creationId xmlns:a16="http://schemas.microsoft.com/office/drawing/2014/main" id="{53405A6D-264F-DCA5-58F8-4FBEFB45739C}"/>
                </a:ext>
              </a:extLst>
            </p:cNvPr>
            <p:cNvSpPr txBox="1"/>
            <p:nvPr/>
          </p:nvSpPr>
          <p:spPr>
            <a:xfrm>
              <a:off x="0" y="-38100"/>
              <a:ext cx="269836" cy="1961150"/>
            </a:xfrm>
            <a:prstGeom prst="rect">
              <a:avLst/>
            </a:prstGeom>
          </p:spPr>
          <p:txBody>
            <a:bodyPr lIns="50800" tIns="50800" rIns="50800" bIns="50800" rtlCol="0" anchor="ctr"/>
            <a:lstStyle/>
            <a:p>
              <a:pPr algn="l">
                <a:lnSpc>
                  <a:spcPts val="3080"/>
                </a:lnSpc>
              </a:pPr>
              <a:endParaRPr/>
            </a:p>
          </p:txBody>
        </p:sp>
      </p:grpSp>
      <p:sp>
        <p:nvSpPr>
          <p:cNvPr id="10" name="Freeform 10">
            <a:extLst>
              <a:ext uri="{FF2B5EF4-FFF2-40B4-BE49-F238E27FC236}">
                <a16:creationId xmlns:a16="http://schemas.microsoft.com/office/drawing/2014/main" id="{58224795-7420-0FE0-1BFD-156B93CC7C9B}"/>
              </a:ext>
            </a:extLst>
          </p:cNvPr>
          <p:cNvSpPr/>
          <p:nvPr/>
        </p:nvSpPr>
        <p:spPr>
          <a:xfrm>
            <a:off x="793084" y="9427398"/>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DF5F0DF8-458B-B4CF-625E-8DACD22113BB}"/>
              </a:ext>
            </a:extLst>
          </p:cNvPr>
          <p:cNvSpPr/>
          <p:nvPr/>
        </p:nvSpPr>
        <p:spPr>
          <a:xfrm>
            <a:off x="15094370" y="769132"/>
            <a:ext cx="1038273" cy="259568"/>
          </a:xfrm>
          <a:custGeom>
            <a:avLst/>
            <a:gdLst/>
            <a:ahLst/>
            <a:cxnLst/>
            <a:rect l="l" t="t" r="r" b="b"/>
            <a:pathLst>
              <a:path w="1038273" h="259568">
                <a:moveTo>
                  <a:pt x="0" y="0"/>
                </a:moveTo>
                <a:lnTo>
                  <a:pt x="1038274" y="0"/>
                </a:lnTo>
                <a:lnTo>
                  <a:pt x="1038274" y="259568"/>
                </a:lnTo>
                <a:lnTo>
                  <a:pt x="0" y="2595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363B73D8-356F-32AF-0983-6A16B9432BCE}"/>
              </a:ext>
            </a:extLst>
          </p:cNvPr>
          <p:cNvSpPr txBox="1"/>
          <p:nvPr/>
        </p:nvSpPr>
        <p:spPr>
          <a:xfrm>
            <a:off x="0" y="469752"/>
            <a:ext cx="8610602" cy="1284198"/>
          </a:xfrm>
          <a:prstGeom prst="rect">
            <a:avLst/>
          </a:prstGeom>
        </p:spPr>
        <p:txBody>
          <a:bodyPr wrap="square" lIns="0" tIns="0" rIns="0" bIns="0" rtlCol="0" anchor="t">
            <a:spAutoFit/>
          </a:bodyPr>
          <a:lstStyle/>
          <a:p>
            <a:pPr algn="r">
              <a:lnSpc>
                <a:spcPts val="5179"/>
              </a:lnSpc>
            </a:pPr>
            <a:r>
              <a:rPr lang="en-US" sz="3699" b="1" dirty="0">
                <a:solidFill>
                  <a:srgbClr val="FFFFFF"/>
                </a:solidFill>
                <a:latin typeface="Montserrat Bold"/>
                <a:ea typeface="Montserrat Bold"/>
                <a:cs typeface="Montserrat Bold"/>
                <a:sym typeface="Montserrat Bold"/>
              </a:rPr>
              <a:t>Calculus and Analytical Geometry Together (Example)</a:t>
            </a:r>
          </a:p>
        </p:txBody>
      </p:sp>
      <mc:AlternateContent xmlns:mc="http://schemas.openxmlformats.org/markup-compatibility/2006" xmlns:a14="http://schemas.microsoft.com/office/drawing/2010/main">
        <mc:Choice Requires="a14">
          <p:sp>
            <p:nvSpPr>
              <p:cNvPr id="14" name="TextBox 14">
                <a:extLst>
                  <a:ext uri="{FF2B5EF4-FFF2-40B4-BE49-F238E27FC236}">
                    <a16:creationId xmlns:a16="http://schemas.microsoft.com/office/drawing/2014/main" id="{B7245EBB-5A57-9E56-F0A3-36C8F438D812}"/>
                  </a:ext>
                </a:extLst>
              </p:cNvPr>
              <p:cNvSpPr txBox="1"/>
              <p:nvPr/>
            </p:nvSpPr>
            <p:spPr>
              <a:xfrm>
                <a:off x="8312258" y="3969153"/>
                <a:ext cx="5695224" cy="4333687"/>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Function of the Traffic is given as</a:t>
                </a:r>
              </a:p>
              <a:p>
                <a:pPr algn="just">
                  <a:lnSpc>
                    <a:spcPts val="3080"/>
                  </a:lnSpc>
                </a:pPr>
                <a14:m>
                  <m:oMathPara xmlns:m="http://schemas.openxmlformats.org/officeDocument/2006/math">
                    <m:oMathParaPr>
                      <m:jc m:val="centerGroup"/>
                    </m:oMathParaPr>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𝑃</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𝑡</m:t>
                          </m:r>
                        </m:e>
                      </m:d>
                      <m:r>
                        <a:rPr lang="en-US" sz="2200" b="0" i="1" smtClean="0">
                          <a:solidFill>
                            <a:srgbClr val="777879"/>
                          </a:solidFill>
                          <a:latin typeface="Cambria Math" panose="02040503050406030204" pitchFamily="18" charset="0"/>
                          <a:ea typeface="Lato"/>
                          <a:cs typeface="Lato"/>
                          <a:sym typeface="Lato"/>
                        </a:rPr>
                        <m:t>=3</m:t>
                      </m:r>
                      <m:sSup>
                        <m:sSupPr>
                          <m:ctrlPr>
                            <a:rPr lang="en-US" sz="2200" b="0" i="1" smtClean="0">
                              <a:solidFill>
                                <a:srgbClr val="777879"/>
                              </a:solidFill>
                              <a:latin typeface="Cambria Math" panose="02040503050406030204" pitchFamily="18" charset="0"/>
                              <a:ea typeface="Lato"/>
                              <a:cs typeface="Lato"/>
                              <a:sym typeface="Lato"/>
                            </a:rPr>
                          </m:ctrlPr>
                        </m:sSupPr>
                        <m:e>
                          <m:r>
                            <a:rPr lang="en-US" sz="2200" b="0" i="1" smtClean="0">
                              <a:solidFill>
                                <a:srgbClr val="777879"/>
                              </a:solidFill>
                              <a:latin typeface="Cambria Math" panose="02040503050406030204" pitchFamily="18" charset="0"/>
                              <a:ea typeface="Lato"/>
                              <a:cs typeface="Lato"/>
                              <a:sym typeface="Lato"/>
                            </a:rPr>
                            <m:t>𝑡</m:t>
                          </m:r>
                        </m:e>
                        <m:sup>
                          <m:r>
                            <a:rPr lang="en-US" sz="2200" b="0" i="1" smtClean="0">
                              <a:solidFill>
                                <a:srgbClr val="777879"/>
                              </a:solidFill>
                              <a:latin typeface="Cambria Math" panose="02040503050406030204" pitchFamily="18" charset="0"/>
                              <a:ea typeface="Lato"/>
                              <a:cs typeface="Lato"/>
                              <a:sym typeface="Lato"/>
                            </a:rPr>
                            <m:t>2</m:t>
                          </m:r>
                        </m:sup>
                      </m:sSup>
                    </m:oMath>
                  </m:oMathPara>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Rate of Traffic:</a:t>
                </a:r>
              </a:p>
              <a:p>
                <a:pPr algn="just">
                  <a:lnSpc>
                    <a:spcPts val="3080"/>
                  </a:lnSpc>
                </a:pPr>
                <a14:m>
                  <m:oMathPara xmlns:m="http://schemas.openxmlformats.org/officeDocument/2006/math">
                    <m:oMathParaPr>
                      <m:jc m:val="centerGroup"/>
                    </m:oMathParaPr>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𝑃</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𝑡</m:t>
                          </m:r>
                        </m:e>
                      </m:d>
                      <m:r>
                        <a:rPr lang="en-US" sz="2200" b="0" i="1" smtClean="0">
                          <a:solidFill>
                            <a:srgbClr val="777879"/>
                          </a:solidFill>
                          <a:latin typeface="Cambria Math" panose="02040503050406030204" pitchFamily="18" charset="0"/>
                          <a:ea typeface="Lato"/>
                          <a:cs typeface="Lato"/>
                          <a:sym typeface="Lato"/>
                        </a:rPr>
                        <m:t>=6</m:t>
                      </m:r>
                      <m:r>
                        <a:rPr lang="en-US" sz="2200" b="0" i="1" smtClean="0">
                          <a:solidFill>
                            <a:srgbClr val="777879"/>
                          </a:solidFill>
                          <a:latin typeface="Cambria Math" panose="02040503050406030204" pitchFamily="18" charset="0"/>
                          <a:ea typeface="Lato"/>
                          <a:cs typeface="Lato"/>
                          <a:sym typeface="Lato"/>
                        </a:rPr>
                        <m:t>𝑡</m:t>
                      </m:r>
                    </m:oMath>
                  </m:oMathPara>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At t=1,</a:t>
                </a:r>
              </a:p>
              <a:p>
                <a:pPr algn="just">
                  <a:lnSpc>
                    <a:spcPts val="3080"/>
                  </a:lnSpc>
                </a:pPr>
                <a14:m>
                  <m:oMathPara xmlns:m="http://schemas.openxmlformats.org/officeDocument/2006/math">
                    <m:oMathParaPr>
                      <m:jc m:val="centerGroup"/>
                    </m:oMathParaPr>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𝑃</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1</m:t>
                          </m:r>
                        </m:e>
                      </m:d>
                      <m:r>
                        <a:rPr lang="en-US" sz="2200" b="0" i="1" smtClean="0">
                          <a:solidFill>
                            <a:srgbClr val="777879"/>
                          </a:solidFill>
                          <a:latin typeface="Cambria Math" panose="02040503050406030204" pitchFamily="18" charset="0"/>
                          <a:ea typeface="Lato"/>
                          <a:cs typeface="Lato"/>
                          <a:sym typeface="Lato"/>
                        </a:rPr>
                        <m:t>=6</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𝑁𝑜𝑟𝑚𝑎𝑙</m:t>
                          </m:r>
                          <m:r>
                            <a:rPr lang="en-US" sz="2200" b="0" i="1" smtClean="0">
                              <a:solidFill>
                                <a:srgbClr val="777879"/>
                              </a:solidFill>
                              <a:latin typeface="Cambria Math" panose="02040503050406030204" pitchFamily="18" charset="0"/>
                              <a:ea typeface="Lato"/>
                              <a:cs typeface="Lato"/>
                              <a:sym typeface="Lato"/>
                            </a:rPr>
                            <m:t> </m:t>
                          </m:r>
                          <m:r>
                            <a:rPr lang="en-US" sz="2200" b="0" i="1" smtClean="0">
                              <a:solidFill>
                                <a:srgbClr val="777879"/>
                              </a:solidFill>
                              <a:latin typeface="Cambria Math" panose="02040503050406030204" pitchFamily="18" charset="0"/>
                              <a:ea typeface="Lato"/>
                              <a:cs typeface="Lato"/>
                              <a:sym typeface="Lato"/>
                            </a:rPr>
                            <m:t>𝑇𝑟𝑎𝑓𝑓𝑖𝑐</m:t>
                          </m:r>
                        </m:e>
                      </m:d>
                    </m:oMath>
                  </m:oMathPara>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At t=6,</a:t>
                </a:r>
              </a:p>
              <a:p>
                <a:pPr algn="just">
                  <a:lnSpc>
                    <a:spcPts val="3080"/>
                  </a:lnSpc>
                </a:pPr>
                <a14:m>
                  <m:oMathPara xmlns:m="http://schemas.openxmlformats.org/officeDocument/2006/math">
                    <m:oMathParaPr>
                      <m:jc m:val="centerGroup"/>
                    </m:oMathParaPr>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𝑃</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6</m:t>
                          </m:r>
                        </m:e>
                      </m:d>
                      <m:r>
                        <a:rPr lang="en-US" sz="2200" b="0" i="1" smtClean="0">
                          <a:solidFill>
                            <a:srgbClr val="777879"/>
                          </a:solidFill>
                          <a:latin typeface="Cambria Math" panose="02040503050406030204" pitchFamily="18" charset="0"/>
                          <a:ea typeface="Lato"/>
                          <a:cs typeface="Lato"/>
                          <a:sym typeface="Lato"/>
                        </a:rPr>
                        <m:t>=36 </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𝐴𝑏𝑛𝑜𝑟𝑚𝑎𝑙</m:t>
                          </m:r>
                          <m:r>
                            <a:rPr lang="en-US" sz="2200" b="0" i="1" smtClean="0">
                              <a:solidFill>
                                <a:srgbClr val="777879"/>
                              </a:solidFill>
                              <a:latin typeface="Cambria Math" panose="02040503050406030204" pitchFamily="18" charset="0"/>
                              <a:ea typeface="Lato"/>
                              <a:cs typeface="Lato"/>
                              <a:sym typeface="Lato"/>
                            </a:rPr>
                            <m:t> </m:t>
                          </m:r>
                          <m:r>
                            <a:rPr lang="en-US" sz="2200" b="0" i="1" smtClean="0">
                              <a:solidFill>
                                <a:srgbClr val="777879"/>
                              </a:solidFill>
                              <a:latin typeface="Cambria Math" panose="02040503050406030204" pitchFamily="18" charset="0"/>
                              <a:ea typeface="Lato"/>
                              <a:cs typeface="Lato"/>
                              <a:sym typeface="Lato"/>
                            </a:rPr>
                            <m:t>𝐵𝑒h𝑎𝑣𝑖𝑜𝑟</m:t>
                          </m:r>
                        </m:e>
                      </m:d>
                    </m:oMath>
                  </m:oMathPara>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This sudden spike in the traffic show abnormal activity on the connection between A and B.</a:t>
                </a:r>
              </a:p>
            </p:txBody>
          </p:sp>
        </mc:Choice>
        <mc:Fallback xmlns="">
          <p:sp>
            <p:nvSpPr>
              <p:cNvPr id="14" name="TextBox 14">
                <a:extLst>
                  <a:ext uri="{FF2B5EF4-FFF2-40B4-BE49-F238E27FC236}">
                    <a16:creationId xmlns:a16="http://schemas.microsoft.com/office/drawing/2014/main" id="{B7245EBB-5A57-9E56-F0A3-36C8F438D812}"/>
                  </a:ext>
                </a:extLst>
              </p:cNvPr>
              <p:cNvSpPr txBox="1">
                <a:spLocks noRot="1" noChangeAspect="1" noMove="1" noResize="1" noEditPoints="1" noAdjustHandles="1" noChangeArrowheads="1" noChangeShapeType="1" noTextEdit="1"/>
              </p:cNvSpPr>
              <p:nvPr/>
            </p:nvSpPr>
            <p:spPr>
              <a:xfrm>
                <a:off x="8312258" y="3969153"/>
                <a:ext cx="5695224" cy="4333687"/>
              </a:xfrm>
              <a:prstGeom prst="rect">
                <a:avLst/>
              </a:prstGeom>
              <a:blipFill>
                <a:blip r:embed="rId5"/>
                <a:stretch>
                  <a:fillRect l="-2998" t="-1547" r="-2998" b="-29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5">
                <a:extLst>
                  <a:ext uri="{FF2B5EF4-FFF2-40B4-BE49-F238E27FC236}">
                    <a16:creationId xmlns:a16="http://schemas.microsoft.com/office/drawing/2014/main" id="{644D08E3-2BA6-6DCD-9A98-A4A8A4D4CA2E}"/>
                  </a:ext>
                </a:extLst>
              </p:cNvPr>
              <p:cNvSpPr txBox="1"/>
              <p:nvPr/>
            </p:nvSpPr>
            <p:spPr>
              <a:xfrm>
                <a:off x="1825494" y="4006953"/>
                <a:ext cx="5695224" cy="2743508"/>
              </a:xfrm>
              <a:prstGeom prst="rect">
                <a:avLst/>
              </a:prstGeom>
            </p:spPr>
            <p:txBody>
              <a:bodyPr lIns="0" tIns="0" rIns="0" bIns="0" rtlCol="0" anchor="t">
                <a:spAutoFit/>
              </a:bodyPr>
              <a:lstStyle/>
              <a:p>
                <a:pPr algn="just">
                  <a:lnSpc>
                    <a:spcPts val="3080"/>
                  </a:lnSpc>
                </a:pPr>
                <a:r>
                  <a:rPr lang="en-US" sz="2200" dirty="0">
                    <a:solidFill>
                      <a:srgbClr val="777879"/>
                    </a:solidFill>
                    <a:latin typeface="Lato"/>
                    <a:ea typeface="Lato"/>
                    <a:cs typeface="Lato"/>
                    <a:sym typeface="Lato"/>
                  </a:rPr>
                  <a:t>Suppose the two servers are located at: </a:t>
                </a:r>
              </a:p>
              <a:p>
                <a:pPr algn="just">
                  <a:lnSpc>
                    <a:spcPts val="3080"/>
                  </a:lnSpc>
                </a:pPr>
                <a:r>
                  <a:rPr lang="en-US" sz="2200" dirty="0">
                    <a:solidFill>
                      <a:srgbClr val="777879"/>
                    </a:solidFill>
                    <a:latin typeface="Lato"/>
                    <a:ea typeface="Lato"/>
                    <a:cs typeface="Lato"/>
                    <a:sym typeface="Lato"/>
                  </a:rPr>
                  <a:t>A (1, 2) and B(5, 6)</a:t>
                </a:r>
              </a:p>
              <a:p>
                <a:pPr algn="just">
                  <a:lnSpc>
                    <a:spcPts val="3080"/>
                  </a:lnSpc>
                </a:pPr>
                <a:r>
                  <a:rPr lang="en-US" sz="2200" dirty="0">
                    <a:solidFill>
                      <a:srgbClr val="777879"/>
                    </a:solidFill>
                    <a:latin typeface="Lato"/>
                    <a:ea typeface="Lato"/>
                    <a:cs typeface="Lato"/>
                    <a:sym typeface="Lato"/>
                  </a:rPr>
                  <a:t>Distance between them:</a:t>
                </a:r>
              </a:p>
              <a:p>
                <a:pPr algn="just">
                  <a:lnSpc>
                    <a:spcPts val="3080"/>
                  </a:lnSpc>
                </a:pPr>
                <a14:m>
                  <m:oMathPara xmlns:m="http://schemas.openxmlformats.org/officeDocument/2006/math">
                    <m:oMathParaPr>
                      <m:jc m:val="centerGroup"/>
                    </m:oMathParaPr>
                    <m:oMath xmlns:m="http://schemas.openxmlformats.org/officeDocument/2006/math">
                      <m:r>
                        <a:rPr lang="en-US" sz="2200" b="0" i="1" smtClean="0">
                          <a:solidFill>
                            <a:srgbClr val="777879"/>
                          </a:solidFill>
                          <a:latin typeface="Cambria Math" panose="02040503050406030204" pitchFamily="18" charset="0"/>
                          <a:ea typeface="Lato"/>
                          <a:cs typeface="Lato"/>
                          <a:sym typeface="Lato"/>
                        </a:rPr>
                        <m:t>𝑑</m:t>
                      </m:r>
                      <m:r>
                        <a:rPr lang="en-US" sz="2200" b="0" i="1" smtClean="0">
                          <a:solidFill>
                            <a:srgbClr val="777879"/>
                          </a:solidFill>
                          <a:latin typeface="Cambria Math" panose="02040503050406030204" pitchFamily="18" charset="0"/>
                          <a:ea typeface="Lato"/>
                          <a:cs typeface="Lato"/>
                          <a:sym typeface="Lato"/>
                        </a:rPr>
                        <m:t>=</m:t>
                      </m:r>
                      <m:r>
                        <a:rPr lang="en-US" sz="2200" b="0" i="1" smtClean="0">
                          <a:solidFill>
                            <a:srgbClr val="777879"/>
                          </a:solidFill>
                          <a:latin typeface="Cambria Math" panose="02040503050406030204" pitchFamily="18" charset="0"/>
                          <a:ea typeface="Lato"/>
                          <a:cs typeface="Lato"/>
                          <a:sym typeface="Lato"/>
                        </a:rPr>
                        <m:t>𝑠𝑞𝑟𝑡</m:t>
                      </m:r>
                      <m:r>
                        <a:rPr lang="en-US" sz="2200" b="0" i="1" smtClean="0">
                          <a:solidFill>
                            <a:srgbClr val="777879"/>
                          </a:solidFill>
                          <a:latin typeface="Cambria Math" panose="02040503050406030204" pitchFamily="18" charset="0"/>
                          <a:ea typeface="Lato"/>
                          <a:cs typeface="Lato"/>
                          <a:sym typeface="Lato"/>
                        </a:rPr>
                        <m:t> </m:t>
                      </m:r>
                      <m:d>
                        <m:dPr>
                          <m:ctrlPr>
                            <a:rPr lang="en-US" sz="2200" b="0" i="1" smtClean="0">
                              <a:solidFill>
                                <a:srgbClr val="777879"/>
                              </a:solidFill>
                              <a:latin typeface="Cambria Math" panose="02040503050406030204" pitchFamily="18" charset="0"/>
                              <a:ea typeface="Lato"/>
                              <a:cs typeface="Lato"/>
                              <a:sym typeface="Lato"/>
                            </a:rPr>
                          </m:ctrlPr>
                        </m:dPr>
                        <m:e>
                          <m:sSup>
                            <m:sSupPr>
                              <m:ctrlPr>
                                <a:rPr lang="en-US" sz="2200" b="0" i="1" smtClean="0">
                                  <a:solidFill>
                                    <a:srgbClr val="777879"/>
                                  </a:solidFill>
                                  <a:latin typeface="Cambria Math" panose="02040503050406030204" pitchFamily="18" charset="0"/>
                                  <a:ea typeface="Lato"/>
                                  <a:cs typeface="Lato"/>
                                  <a:sym typeface="Lato"/>
                                </a:rPr>
                              </m:ctrlPr>
                            </m:sSupPr>
                            <m:e>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5−1</m:t>
                                  </m:r>
                                </m:e>
                              </m:d>
                            </m:e>
                            <m:sup>
                              <m:r>
                                <a:rPr lang="en-US" sz="2200" b="0" i="1" smtClean="0">
                                  <a:solidFill>
                                    <a:srgbClr val="777879"/>
                                  </a:solidFill>
                                  <a:latin typeface="Cambria Math" panose="02040503050406030204" pitchFamily="18" charset="0"/>
                                  <a:ea typeface="Lato"/>
                                  <a:cs typeface="Lato"/>
                                  <a:sym typeface="Lato"/>
                                </a:rPr>
                                <m:t>2</m:t>
                              </m:r>
                            </m:sup>
                          </m:sSup>
                          <m:r>
                            <a:rPr lang="en-US" sz="2200" b="0" i="1" smtClean="0">
                              <a:solidFill>
                                <a:srgbClr val="777879"/>
                              </a:solidFill>
                              <a:latin typeface="Cambria Math" panose="02040503050406030204" pitchFamily="18" charset="0"/>
                              <a:ea typeface="Lato"/>
                              <a:cs typeface="Lato"/>
                              <a:sym typeface="Lato"/>
                            </a:rPr>
                            <m:t>+</m:t>
                          </m:r>
                          <m:sSup>
                            <m:sSupPr>
                              <m:ctrlPr>
                                <a:rPr lang="en-US" sz="2200" b="0" i="1" smtClean="0">
                                  <a:solidFill>
                                    <a:srgbClr val="777879"/>
                                  </a:solidFill>
                                  <a:latin typeface="Cambria Math" panose="02040503050406030204" pitchFamily="18" charset="0"/>
                                  <a:ea typeface="Lato"/>
                                  <a:cs typeface="Lato"/>
                                  <a:sym typeface="Lato"/>
                                </a:rPr>
                              </m:ctrlPr>
                            </m:sSupPr>
                            <m:e>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6−2</m:t>
                                  </m:r>
                                </m:e>
                              </m:d>
                            </m:e>
                            <m:sup>
                              <m:r>
                                <a:rPr lang="en-US" sz="2200" b="0" i="1" smtClean="0">
                                  <a:solidFill>
                                    <a:srgbClr val="777879"/>
                                  </a:solidFill>
                                  <a:latin typeface="Cambria Math" panose="02040503050406030204" pitchFamily="18" charset="0"/>
                                  <a:ea typeface="Lato"/>
                                  <a:cs typeface="Lato"/>
                                  <a:sym typeface="Lato"/>
                                </a:rPr>
                                <m:t>2</m:t>
                              </m:r>
                            </m:sup>
                          </m:sSup>
                        </m:e>
                      </m:d>
                      <m:r>
                        <a:rPr lang="en-US" sz="2200" b="0" i="1" smtClean="0">
                          <a:solidFill>
                            <a:srgbClr val="777879"/>
                          </a:solidFill>
                          <a:latin typeface="Cambria Math" panose="02040503050406030204" pitchFamily="18" charset="0"/>
                          <a:ea typeface="Lato"/>
                          <a:cs typeface="Lato"/>
                          <a:sym typeface="Lato"/>
                        </a:rPr>
                        <m:t>=</m:t>
                      </m:r>
                      <m:r>
                        <a:rPr lang="en-US" sz="2200" b="0" i="1" smtClean="0">
                          <a:solidFill>
                            <a:srgbClr val="777879"/>
                          </a:solidFill>
                          <a:latin typeface="Cambria Math" panose="02040503050406030204" pitchFamily="18" charset="0"/>
                          <a:ea typeface="Lato"/>
                          <a:cs typeface="Lato"/>
                          <a:sym typeface="Lato"/>
                        </a:rPr>
                        <m:t>𝑠𝑞𝑟𝑡</m:t>
                      </m:r>
                      <m:d>
                        <m:dPr>
                          <m:ctrlPr>
                            <a:rPr lang="en-US" sz="2200" b="0" i="1" smtClean="0">
                              <a:solidFill>
                                <a:srgbClr val="777879"/>
                              </a:solidFill>
                              <a:latin typeface="Cambria Math" panose="02040503050406030204" pitchFamily="18" charset="0"/>
                              <a:ea typeface="Lato"/>
                              <a:cs typeface="Lato"/>
                              <a:sym typeface="Lato"/>
                            </a:rPr>
                          </m:ctrlPr>
                        </m:dPr>
                        <m:e>
                          <m:r>
                            <a:rPr lang="en-US" sz="2200" b="0" i="1" smtClean="0">
                              <a:solidFill>
                                <a:srgbClr val="777879"/>
                              </a:solidFill>
                              <a:latin typeface="Cambria Math" panose="02040503050406030204" pitchFamily="18" charset="0"/>
                              <a:ea typeface="Lato"/>
                              <a:cs typeface="Lato"/>
                              <a:sym typeface="Lato"/>
                            </a:rPr>
                            <m:t>32</m:t>
                          </m:r>
                        </m:e>
                      </m:d>
                    </m:oMath>
                  </m:oMathPara>
                </a14:m>
                <a:endParaRPr lang="en-US" sz="2200" b="0" dirty="0">
                  <a:solidFill>
                    <a:srgbClr val="777879"/>
                  </a:solidFill>
                  <a:latin typeface="Lato"/>
                  <a:ea typeface="Lato"/>
                  <a:cs typeface="Lato"/>
                  <a:sym typeface="Lato"/>
                </a:endParaRPr>
              </a:p>
              <a:p>
                <a:pPr algn="just">
                  <a:lnSpc>
                    <a:spcPts val="3080"/>
                  </a:lnSpc>
                </a:pPr>
                <a:r>
                  <a:rPr lang="en-US" sz="2200" dirty="0">
                    <a:solidFill>
                      <a:srgbClr val="777879"/>
                    </a:solidFill>
                    <a:latin typeface="Lato"/>
                    <a:ea typeface="Lato"/>
                    <a:cs typeface="Lato"/>
                    <a:sym typeface="Lato"/>
                  </a:rPr>
                  <a:t>This shows where the data is flowing, what will be the speed (Depending on the distance) and how nodes are connected</a:t>
                </a:r>
              </a:p>
            </p:txBody>
          </p:sp>
        </mc:Choice>
        <mc:Fallback xmlns="">
          <p:sp>
            <p:nvSpPr>
              <p:cNvPr id="15" name="TextBox 15">
                <a:extLst>
                  <a:ext uri="{FF2B5EF4-FFF2-40B4-BE49-F238E27FC236}">
                    <a16:creationId xmlns:a16="http://schemas.microsoft.com/office/drawing/2014/main" id="{644D08E3-2BA6-6DCD-9A98-A4A8A4D4CA2E}"/>
                  </a:ext>
                </a:extLst>
              </p:cNvPr>
              <p:cNvSpPr txBox="1">
                <a:spLocks noRot="1" noChangeAspect="1" noMove="1" noResize="1" noEditPoints="1" noAdjustHandles="1" noChangeArrowheads="1" noChangeShapeType="1" noTextEdit="1"/>
              </p:cNvSpPr>
              <p:nvPr/>
            </p:nvSpPr>
            <p:spPr>
              <a:xfrm>
                <a:off x="1825494" y="4006953"/>
                <a:ext cx="5695224" cy="2743508"/>
              </a:xfrm>
              <a:prstGeom prst="rect">
                <a:avLst/>
              </a:prstGeom>
              <a:blipFill>
                <a:blip r:embed="rId6"/>
                <a:stretch>
                  <a:fillRect l="-2995" t="-2444" r="-2888" b="-5333"/>
                </a:stretch>
              </a:blipFill>
            </p:spPr>
            <p:txBody>
              <a:bodyPr/>
              <a:lstStyle/>
              <a:p>
                <a:r>
                  <a:rPr lang="en-US">
                    <a:noFill/>
                  </a:rPr>
                  <a:t> </a:t>
                </a:r>
              </a:p>
            </p:txBody>
          </p:sp>
        </mc:Fallback>
      </mc:AlternateContent>
      <p:sp>
        <p:nvSpPr>
          <p:cNvPr id="17" name="TextBox 17">
            <a:extLst>
              <a:ext uri="{FF2B5EF4-FFF2-40B4-BE49-F238E27FC236}">
                <a16:creationId xmlns:a16="http://schemas.microsoft.com/office/drawing/2014/main" id="{681877BF-211B-1469-382D-E2A2DD36D394}"/>
              </a:ext>
            </a:extLst>
          </p:cNvPr>
          <p:cNvSpPr txBox="1"/>
          <p:nvPr/>
        </p:nvSpPr>
        <p:spPr>
          <a:xfrm>
            <a:off x="8312258" y="3030819"/>
            <a:ext cx="5695224" cy="938334"/>
          </a:xfrm>
          <a:prstGeom prst="rect">
            <a:avLst/>
          </a:prstGeom>
        </p:spPr>
        <p:txBody>
          <a:bodyPr lIns="0" tIns="0" rIns="0" bIns="0" rtlCol="0" anchor="t">
            <a:spAutoFit/>
          </a:bodyPr>
          <a:lstStyle/>
          <a:p>
            <a:pPr algn="l">
              <a:lnSpc>
                <a:spcPts val="3779"/>
              </a:lnSpc>
            </a:pPr>
            <a:r>
              <a:rPr lang="en-US" sz="2700" b="1" dirty="0">
                <a:solidFill>
                  <a:srgbClr val="1B294A"/>
                </a:solidFill>
                <a:latin typeface="Montserrat Bold"/>
                <a:ea typeface="Montserrat Bold"/>
                <a:cs typeface="Montserrat Bold"/>
                <a:sym typeface="Montserrat Bold"/>
              </a:rPr>
              <a:t>Calculus (Detecting Abnormal Traffic)</a:t>
            </a:r>
          </a:p>
        </p:txBody>
      </p:sp>
      <p:sp>
        <p:nvSpPr>
          <p:cNvPr id="18" name="TextBox 18">
            <a:extLst>
              <a:ext uri="{FF2B5EF4-FFF2-40B4-BE49-F238E27FC236}">
                <a16:creationId xmlns:a16="http://schemas.microsoft.com/office/drawing/2014/main" id="{EFCC8A73-A234-33B6-B1AA-076BAE8F541B}"/>
              </a:ext>
            </a:extLst>
          </p:cNvPr>
          <p:cNvSpPr txBox="1"/>
          <p:nvPr/>
        </p:nvSpPr>
        <p:spPr>
          <a:xfrm>
            <a:off x="1825494" y="3026010"/>
            <a:ext cx="5695224" cy="938334"/>
          </a:xfrm>
          <a:prstGeom prst="rect">
            <a:avLst/>
          </a:prstGeom>
        </p:spPr>
        <p:txBody>
          <a:bodyPr lIns="0" tIns="0" rIns="0" bIns="0" rtlCol="0" anchor="t">
            <a:spAutoFit/>
          </a:bodyPr>
          <a:lstStyle/>
          <a:p>
            <a:pPr algn="l">
              <a:lnSpc>
                <a:spcPts val="3779"/>
              </a:lnSpc>
            </a:pPr>
            <a:r>
              <a:rPr lang="en-US" sz="2700" b="1" dirty="0" err="1">
                <a:solidFill>
                  <a:srgbClr val="1B294A"/>
                </a:solidFill>
                <a:latin typeface="Montserrat Bold"/>
                <a:ea typeface="Montserrat Bold"/>
                <a:cs typeface="Montserrat Bold"/>
                <a:sym typeface="Montserrat Bold"/>
              </a:rPr>
              <a:t>Geomertry</a:t>
            </a:r>
            <a:r>
              <a:rPr lang="en-US" sz="2700" b="1" dirty="0">
                <a:solidFill>
                  <a:srgbClr val="1B294A"/>
                </a:solidFill>
                <a:latin typeface="Montserrat Bold"/>
                <a:ea typeface="Montserrat Bold"/>
                <a:cs typeface="Montserrat Bold"/>
                <a:sym typeface="Montserrat Bold"/>
              </a:rPr>
              <a:t> (Mapping the Network)</a:t>
            </a:r>
          </a:p>
        </p:txBody>
      </p:sp>
      <p:sp>
        <p:nvSpPr>
          <p:cNvPr id="12" name="TextBox 15">
            <a:extLst>
              <a:ext uri="{FF2B5EF4-FFF2-40B4-BE49-F238E27FC236}">
                <a16:creationId xmlns:a16="http://schemas.microsoft.com/office/drawing/2014/main" id="{FC886AB4-4168-4BCA-1453-72A04A386259}"/>
              </a:ext>
            </a:extLst>
          </p:cNvPr>
          <p:cNvSpPr txBox="1"/>
          <p:nvPr/>
        </p:nvSpPr>
        <p:spPr>
          <a:xfrm>
            <a:off x="1825494" y="2114762"/>
            <a:ext cx="12181988" cy="755784"/>
          </a:xfrm>
          <a:prstGeom prst="rect">
            <a:avLst/>
          </a:prstGeom>
        </p:spPr>
        <p:txBody>
          <a:bodyPr wrap="square" lIns="0" tIns="0" rIns="0" bIns="0" rtlCol="0" anchor="t">
            <a:spAutoFit/>
          </a:bodyPr>
          <a:lstStyle/>
          <a:p>
            <a:pPr algn="just">
              <a:lnSpc>
                <a:spcPts val="3080"/>
              </a:lnSpc>
            </a:pPr>
            <a:r>
              <a:rPr lang="en-US" sz="2200" dirty="0">
                <a:solidFill>
                  <a:srgbClr val="777879"/>
                </a:solidFill>
                <a:latin typeface="Lato"/>
                <a:ea typeface="Lato"/>
                <a:cs typeface="Lato"/>
                <a:sym typeface="Lato"/>
              </a:rPr>
              <a:t>Suppose we have a network which have two servers. We will define their mapping through Geometry and the rate of traffic through Calculus </a:t>
            </a:r>
          </a:p>
        </p:txBody>
      </p:sp>
    </p:spTree>
    <p:extLst>
      <p:ext uri="{BB962C8B-B14F-4D97-AF65-F5344CB8AC3E}">
        <p14:creationId xmlns:p14="http://schemas.microsoft.com/office/powerpoint/2010/main" val="355361886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00199-2981-C211-E912-87A3A3E1E13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DE6401D-EE8B-1C88-005D-173E2A28048D}"/>
              </a:ext>
            </a:extLst>
          </p:cNvPr>
          <p:cNvGrpSpPr/>
          <p:nvPr/>
        </p:nvGrpSpPr>
        <p:grpSpPr>
          <a:xfrm rot="-5400000">
            <a:off x="1528556" y="-610372"/>
            <a:ext cx="820885" cy="4529846"/>
            <a:chOff x="0" y="0"/>
            <a:chExt cx="234306" cy="1338006"/>
          </a:xfrm>
        </p:grpSpPr>
        <p:sp>
          <p:nvSpPr>
            <p:cNvPr id="3" name="Freeform 3">
              <a:extLst>
                <a:ext uri="{FF2B5EF4-FFF2-40B4-BE49-F238E27FC236}">
                  <a16:creationId xmlns:a16="http://schemas.microsoft.com/office/drawing/2014/main" id="{C24C2577-3699-68C1-BD6D-79C24E621EF5}"/>
                </a:ext>
              </a:extLst>
            </p:cNvPr>
            <p:cNvSpPr/>
            <p:nvPr/>
          </p:nvSpPr>
          <p:spPr>
            <a:xfrm>
              <a:off x="0" y="0"/>
              <a:ext cx="234306" cy="1338006"/>
            </a:xfrm>
            <a:custGeom>
              <a:avLst/>
              <a:gdLst/>
              <a:ahLst/>
              <a:cxnLst/>
              <a:rect l="l" t="t" r="r" b="b"/>
              <a:pathLst>
                <a:path w="234306" h="1338006">
                  <a:moveTo>
                    <a:pt x="117153" y="0"/>
                  </a:moveTo>
                  <a:lnTo>
                    <a:pt x="117153" y="0"/>
                  </a:lnTo>
                  <a:cubicBezTo>
                    <a:pt x="181855" y="0"/>
                    <a:pt x="234306" y="52451"/>
                    <a:pt x="234306" y="117153"/>
                  </a:cubicBezTo>
                  <a:lnTo>
                    <a:pt x="234306" y="1220853"/>
                  </a:lnTo>
                  <a:cubicBezTo>
                    <a:pt x="234306" y="1285555"/>
                    <a:pt x="181855" y="1338006"/>
                    <a:pt x="117153" y="1338006"/>
                  </a:cubicBezTo>
                  <a:lnTo>
                    <a:pt x="117153" y="1338006"/>
                  </a:lnTo>
                  <a:cubicBezTo>
                    <a:pt x="52451" y="1338006"/>
                    <a:pt x="0" y="1285555"/>
                    <a:pt x="0" y="1220853"/>
                  </a:cubicBezTo>
                  <a:lnTo>
                    <a:pt x="0" y="117153"/>
                  </a:lnTo>
                  <a:cubicBezTo>
                    <a:pt x="0" y="52451"/>
                    <a:pt x="52451" y="0"/>
                    <a:pt x="117153" y="0"/>
                  </a:cubicBezTo>
                  <a:close/>
                </a:path>
              </a:pathLst>
            </a:custGeom>
            <a:solidFill>
              <a:srgbClr val="1B294A"/>
            </a:solidFill>
          </p:spPr>
        </p:sp>
        <p:sp>
          <p:nvSpPr>
            <p:cNvPr id="4" name="TextBox 4">
              <a:extLst>
                <a:ext uri="{FF2B5EF4-FFF2-40B4-BE49-F238E27FC236}">
                  <a16:creationId xmlns:a16="http://schemas.microsoft.com/office/drawing/2014/main" id="{08691CA0-C1CC-861E-2F44-6F15AB376A92}"/>
                </a:ext>
              </a:extLst>
            </p:cNvPr>
            <p:cNvSpPr txBox="1"/>
            <p:nvPr/>
          </p:nvSpPr>
          <p:spPr>
            <a:xfrm>
              <a:off x="0" y="-38100"/>
              <a:ext cx="234306" cy="1376106"/>
            </a:xfrm>
            <a:prstGeom prst="rect">
              <a:avLst/>
            </a:prstGeom>
          </p:spPr>
          <p:txBody>
            <a:bodyPr lIns="50800" tIns="50800" rIns="50800" bIns="50800" rtlCol="0" anchor="ctr"/>
            <a:lstStyle/>
            <a:p>
              <a:pPr algn="l">
                <a:lnSpc>
                  <a:spcPts val="3080"/>
                </a:lnSpc>
              </a:pPr>
              <a:endParaRPr/>
            </a:p>
          </p:txBody>
        </p:sp>
      </p:grpSp>
      <p:sp>
        <p:nvSpPr>
          <p:cNvPr id="5" name="Freeform 5">
            <a:extLst>
              <a:ext uri="{FF2B5EF4-FFF2-40B4-BE49-F238E27FC236}">
                <a16:creationId xmlns:a16="http://schemas.microsoft.com/office/drawing/2014/main" id="{87F98A19-308E-F610-EA00-F9A2962144A4}"/>
              </a:ext>
            </a:extLst>
          </p:cNvPr>
          <p:cNvSpPr/>
          <p:nvPr/>
        </p:nvSpPr>
        <p:spPr>
          <a:xfrm>
            <a:off x="1026867" y="2952894"/>
            <a:ext cx="8246293" cy="5761786"/>
          </a:xfrm>
          <a:custGeom>
            <a:avLst/>
            <a:gdLst/>
            <a:ahLst/>
            <a:cxnLst/>
            <a:rect l="l" t="t" r="r" b="b"/>
            <a:pathLst>
              <a:path w="8246293" h="5761786">
                <a:moveTo>
                  <a:pt x="0" y="0"/>
                </a:moveTo>
                <a:lnTo>
                  <a:pt x="8246293" y="0"/>
                </a:lnTo>
                <a:lnTo>
                  <a:pt x="8246293" y="5761786"/>
                </a:lnTo>
                <a:lnTo>
                  <a:pt x="0" y="5761786"/>
                </a:lnTo>
                <a:lnTo>
                  <a:pt x="0" y="0"/>
                </a:lnTo>
                <a:close/>
              </a:path>
            </a:pathLst>
          </a:custGeom>
          <a:blipFill>
            <a:blip r:embed="rId2">
              <a:alphaModFix amt="47000"/>
            </a:blip>
            <a:stretch>
              <a:fillRect t="-42830"/>
            </a:stretch>
          </a:blipFill>
        </p:spPr>
        <p:txBody>
          <a:bodyPr/>
          <a:lstStyle/>
          <a:p>
            <a:endParaRPr lang="en-US"/>
          </a:p>
        </p:txBody>
      </p:sp>
      <p:grpSp>
        <p:nvGrpSpPr>
          <p:cNvPr id="6" name="Group 6">
            <a:extLst>
              <a:ext uri="{FF2B5EF4-FFF2-40B4-BE49-F238E27FC236}">
                <a16:creationId xmlns:a16="http://schemas.microsoft.com/office/drawing/2014/main" id="{539C9812-A612-4827-01DA-753D79081DCC}"/>
              </a:ext>
            </a:extLst>
          </p:cNvPr>
          <p:cNvGrpSpPr/>
          <p:nvPr/>
        </p:nvGrpSpPr>
        <p:grpSpPr>
          <a:xfrm>
            <a:off x="1210561" y="2781593"/>
            <a:ext cx="8062600" cy="5634793"/>
            <a:chOff x="0" y="-47625"/>
            <a:chExt cx="2123483" cy="1484061"/>
          </a:xfrm>
        </p:grpSpPr>
        <p:sp>
          <p:nvSpPr>
            <p:cNvPr id="7" name="Freeform 7">
              <a:extLst>
                <a:ext uri="{FF2B5EF4-FFF2-40B4-BE49-F238E27FC236}">
                  <a16:creationId xmlns:a16="http://schemas.microsoft.com/office/drawing/2014/main" id="{DB62686F-5FEB-95D6-397A-A21744D73047}"/>
                </a:ext>
              </a:extLst>
            </p:cNvPr>
            <p:cNvSpPr/>
            <p:nvPr/>
          </p:nvSpPr>
          <p:spPr>
            <a:xfrm>
              <a:off x="0" y="0"/>
              <a:ext cx="2123483" cy="1436436"/>
            </a:xfrm>
            <a:custGeom>
              <a:avLst/>
              <a:gdLst/>
              <a:ahLst/>
              <a:cxnLst/>
              <a:rect l="l" t="t" r="r" b="b"/>
              <a:pathLst>
                <a:path w="2123483" h="1436436">
                  <a:moveTo>
                    <a:pt x="0" y="0"/>
                  </a:moveTo>
                  <a:lnTo>
                    <a:pt x="2123483" y="0"/>
                  </a:lnTo>
                  <a:lnTo>
                    <a:pt x="2123483" y="1436436"/>
                  </a:lnTo>
                  <a:lnTo>
                    <a:pt x="0" y="1436436"/>
                  </a:lnTo>
                  <a:close/>
                </a:path>
              </a:pathLst>
            </a:custGeom>
            <a:solidFill>
              <a:srgbClr val="FFFFFF"/>
            </a:solidFill>
          </p:spPr>
        </p:sp>
        <p:sp>
          <p:nvSpPr>
            <p:cNvPr id="8" name="TextBox 8">
              <a:extLst>
                <a:ext uri="{FF2B5EF4-FFF2-40B4-BE49-F238E27FC236}">
                  <a16:creationId xmlns:a16="http://schemas.microsoft.com/office/drawing/2014/main" id="{6D90736C-DACF-22F5-ADEF-C4040D55C306}"/>
                </a:ext>
              </a:extLst>
            </p:cNvPr>
            <p:cNvSpPr txBox="1"/>
            <p:nvPr/>
          </p:nvSpPr>
          <p:spPr>
            <a:xfrm>
              <a:off x="0" y="-47625"/>
              <a:ext cx="2123483" cy="1484061"/>
            </a:xfrm>
            <a:prstGeom prst="rect">
              <a:avLst/>
            </a:prstGeom>
          </p:spPr>
          <p:txBody>
            <a:bodyPr lIns="50800" tIns="50800" rIns="50800" bIns="50800" rtlCol="0" anchor="ctr"/>
            <a:lstStyle/>
            <a:p>
              <a:pPr algn="ctr">
                <a:lnSpc>
                  <a:spcPts val="3080"/>
                </a:lnSpc>
              </a:pPr>
              <a:endParaRPr/>
            </a:p>
          </p:txBody>
        </p:sp>
      </p:grpSp>
      <p:grpSp>
        <p:nvGrpSpPr>
          <p:cNvPr id="9" name="Group 9">
            <a:extLst>
              <a:ext uri="{FF2B5EF4-FFF2-40B4-BE49-F238E27FC236}">
                <a16:creationId xmlns:a16="http://schemas.microsoft.com/office/drawing/2014/main" id="{5B0D1749-C2E8-1B2B-6292-8796D5230897}"/>
              </a:ext>
            </a:extLst>
          </p:cNvPr>
          <p:cNvGrpSpPr/>
          <p:nvPr/>
        </p:nvGrpSpPr>
        <p:grpSpPr>
          <a:xfrm rot="-5400000">
            <a:off x="10657770" y="3245045"/>
            <a:ext cx="10875274" cy="4385185"/>
            <a:chOff x="0" y="0"/>
            <a:chExt cx="2864270" cy="1154946"/>
          </a:xfrm>
        </p:grpSpPr>
        <p:sp>
          <p:nvSpPr>
            <p:cNvPr id="10" name="Freeform 10">
              <a:extLst>
                <a:ext uri="{FF2B5EF4-FFF2-40B4-BE49-F238E27FC236}">
                  <a16:creationId xmlns:a16="http://schemas.microsoft.com/office/drawing/2014/main" id="{605C49E7-19B4-3415-B78C-107E7270141A}"/>
                </a:ext>
              </a:extLst>
            </p:cNvPr>
            <p:cNvSpPr/>
            <p:nvPr/>
          </p:nvSpPr>
          <p:spPr>
            <a:xfrm>
              <a:off x="0" y="0"/>
              <a:ext cx="2864270" cy="1154946"/>
            </a:xfrm>
            <a:custGeom>
              <a:avLst/>
              <a:gdLst/>
              <a:ahLst/>
              <a:cxnLst/>
              <a:rect l="l" t="t" r="r" b="b"/>
              <a:pathLst>
                <a:path w="2864270" h="1154946">
                  <a:moveTo>
                    <a:pt x="0" y="0"/>
                  </a:moveTo>
                  <a:lnTo>
                    <a:pt x="2864270" y="0"/>
                  </a:lnTo>
                  <a:lnTo>
                    <a:pt x="2864270" y="1154946"/>
                  </a:lnTo>
                  <a:lnTo>
                    <a:pt x="0" y="1154946"/>
                  </a:lnTo>
                  <a:close/>
                </a:path>
              </a:pathLst>
            </a:custGeom>
            <a:solidFill>
              <a:srgbClr val="1B294A"/>
            </a:solidFill>
          </p:spPr>
        </p:sp>
        <p:sp>
          <p:nvSpPr>
            <p:cNvPr id="11" name="TextBox 11">
              <a:extLst>
                <a:ext uri="{FF2B5EF4-FFF2-40B4-BE49-F238E27FC236}">
                  <a16:creationId xmlns:a16="http://schemas.microsoft.com/office/drawing/2014/main" id="{2968FE36-AAE4-5A39-A88B-E7983CA592AE}"/>
                </a:ext>
              </a:extLst>
            </p:cNvPr>
            <p:cNvSpPr txBox="1"/>
            <p:nvPr/>
          </p:nvSpPr>
          <p:spPr>
            <a:xfrm>
              <a:off x="0" y="-38100"/>
              <a:ext cx="2864270" cy="1193046"/>
            </a:xfrm>
            <a:prstGeom prst="rect">
              <a:avLst/>
            </a:prstGeom>
          </p:spPr>
          <p:txBody>
            <a:bodyPr lIns="50800" tIns="50800" rIns="50800" bIns="50800" rtlCol="0" anchor="ctr"/>
            <a:lstStyle/>
            <a:p>
              <a:pPr algn="l">
                <a:lnSpc>
                  <a:spcPts val="3080"/>
                </a:lnSpc>
              </a:pPr>
              <a:endParaRPr/>
            </a:p>
          </p:txBody>
        </p:sp>
      </p:grpSp>
      <p:grpSp>
        <p:nvGrpSpPr>
          <p:cNvPr id="12" name="Group 12">
            <a:extLst>
              <a:ext uri="{FF2B5EF4-FFF2-40B4-BE49-F238E27FC236}">
                <a16:creationId xmlns:a16="http://schemas.microsoft.com/office/drawing/2014/main" id="{C6BE40C6-BCE1-F3EF-DC5E-9606AA99B66F}"/>
              </a:ext>
            </a:extLst>
          </p:cNvPr>
          <p:cNvGrpSpPr/>
          <p:nvPr/>
        </p:nvGrpSpPr>
        <p:grpSpPr>
          <a:xfrm>
            <a:off x="11353622" y="2064995"/>
            <a:ext cx="6934378" cy="5923682"/>
            <a:chOff x="0" y="0"/>
            <a:chExt cx="535945" cy="457830"/>
          </a:xfrm>
        </p:grpSpPr>
        <p:sp>
          <p:nvSpPr>
            <p:cNvPr id="13" name="Freeform 13">
              <a:extLst>
                <a:ext uri="{FF2B5EF4-FFF2-40B4-BE49-F238E27FC236}">
                  <a16:creationId xmlns:a16="http://schemas.microsoft.com/office/drawing/2014/main" id="{FF6FA6E0-5F36-60C9-CF75-B45D76C26EE3}"/>
                </a:ext>
              </a:extLst>
            </p:cNvPr>
            <p:cNvSpPr/>
            <p:nvPr/>
          </p:nvSpPr>
          <p:spPr>
            <a:xfrm>
              <a:off x="0" y="0"/>
              <a:ext cx="535945" cy="457830"/>
            </a:xfrm>
            <a:custGeom>
              <a:avLst/>
              <a:gdLst/>
              <a:ahLst/>
              <a:cxnLst/>
              <a:rect l="l" t="t" r="r" b="b"/>
              <a:pathLst>
                <a:path w="535945" h="457830">
                  <a:moveTo>
                    <a:pt x="25678" y="0"/>
                  </a:moveTo>
                  <a:lnTo>
                    <a:pt x="510266" y="0"/>
                  </a:lnTo>
                  <a:cubicBezTo>
                    <a:pt x="524448" y="0"/>
                    <a:pt x="535945" y="11497"/>
                    <a:pt x="535945" y="25678"/>
                  </a:cubicBezTo>
                  <a:lnTo>
                    <a:pt x="535945" y="432151"/>
                  </a:lnTo>
                  <a:cubicBezTo>
                    <a:pt x="535945" y="446333"/>
                    <a:pt x="524448" y="457830"/>
                    <a:pt x="510266" y="457830"/>
                  </a:cubicBezTo>
                  <a:lnTo>
                    <a:pt x="25678" y="457830"/>
                  </a:lnTo>
                  <a:cubicBezTo>
                    <a:pt x="11497" y="457830"/>
                    <a:pt x="0" y="446333"/>
                    <a:pt x="0" y="432151"/>
                  </a:cubicBezTo>
                  <a:lnTo>
                    <a:pt x="0" y="25678"/>
                  </a:lnTo>
                  <a:cubicBezTo>
                    <a:pt x="0" y="11497"/>
                    <a:pt x="11497" y="0"/>
                    <a:pt x="25678" y="0"/>
                  </a:cubicBezTo>
                  <a:close/>
                </a:path>
              </a:pathLst>
            </a:custGeom>
            <a:blipFill>
              <a:blip r:embed="rId3"/>
              <a:stretch>
                <a:fillRect l="-13988" r="-13988"/>
              </a:stretch>
            </a:blipFill>
          </p:spPr>
        </p:sp>
      </p:grpSp>
      <p:sp>
        <p:nvSpPr>
          <p:cNvPr id="14" name="Freeform 14">
            <a:extLst>
              <a:ext uri="{FF2B5EF4-FFF2-40B4-BE49-F238E27FC236}">
                <a16:creationId xmlns:a16="http://schemas.microsoft.com/office/drawing/2014/main" id="{DDC33515-AF35-2C18-5CD2-586A850B6937}"/>
              </a:ext>
            </a:extLst>
          </p:cNvPr>
          <p:cNvSpPr/>
          <p:nvPr/>
        </p:nvSpPr>
        <p:spPr>
          <a:xfrm>
            <a:off x="12151561" y="898916"/>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a:extLst>
              <a:ext uri="{FF2B5EF4-FFF2-40B4-BE49-F238E27FC236}">
                <a16:creationId xmlns:a16="http://schemas.microsoft.com/office/drawing/2014/main" id="{700256A9-C4C3-0B0A-7DEE-3F11D097B2EC}"/>
              </a:ext>
            </a:extLst>
          </p:cNvPr>
          <p:cNvSpPr txBox="1"/>
          <p:nvPr/>
        </p:nvSpPr>
        <p:spPr>
          <a:xfrm>
            <a:off x="533400" y="1319298"/>
            <a:ext cx="6210300" cy="617348"/>
          </a:xfrm>
          <a:prstGeom prst="rect">
            <a:avLst/>
          </a:prstGeom>
        </p:spPr>
        <p:txBody>
          <a:bodyPr wrap="square" lIns="0" tIns="0" rIns="0" bIns="0" rtlCol="0" anchor="t">
            <a:spAutoFit/>
          </a:bodyPr>
          <a:lstStyle/>
          <a:p>
            <a:pPr algn="l">
              <a:lnSpc>
                <a:spcPts val="5179"/>
              </a:lnSpc>
            </a:pPr>
            <a:r>
              <a:rPr lang="en-US" sz="3699" b="1" dirty="0">
                <a:solidFill>
                  <a:srgbClr val="FFFFFF"/>
                </a:solidFill>
                <a:latin typeface="Montserrat Bold"/>
                <a:ea typeface="Montserrat Bold"/>
                <a:cs typeface="Montserrat Bold"/>
                <a:sym typeface="Montserrat Bold"/>
              </a:rPr>
              <a:t>References</a:t>
            </a:r>
          </a:p>
        </p:txBody>
      </p:sp>
      <p:sp>
        <p:nvSpPr>
          <p:cNvPr id="16" name="TextBox 16">
            <a:extLst>
              <a:ext uri="{FF2B5EF4-FFF2-40B4-BE49-F238E27FC236}">
                <a16:creationId xmlns:a16="http://schemas.microsoft.com/office/drawing/2014/main" id="{FBEC9E60-A940-1B99-5C43-D2C42E66F53C}"/>
              </a:ext>
            </a:extLst>
          </p:cNvPr>
          <p:cNvSpPr txBox="1"/>
          <p:nvPr/>
        </p:nvSpPr>
        <p:spPr>
          <a:xfrm>
            <a:off x="1371600" y="3028798"/>
            <a:ext cx="7315200" cy="2804550"/>
          </a:xfrm>
          <a:prstGeom prst="rect">
            <a:avLst/>
          </a:prstGeom>
        </p:spPr>
        <p:txBody>
          <a:bodyPr wrap="square" lIns="0" tIns="0" rIns="0" bIns="0" rtlCol="0" anchor="t">
            <a:spAutoFit/>
          </a:bodyPr>
          <a:lstStyle/>
          <a:p>
            <a:pPr marL="688340" lvl="1" indent="-342900">
              <a:lnSpc>
                <a:spcPts val="4479"/>
              </a:lnSpc>
              <a:buFont typeface="Arial" panose="020B0604020202020204" pitchFamily="34" charset="0"/>
              <a:buChar char="•"/>
            </a:pPr>
            <a:r>
              <a:rPr lang="en-US" sz="2400" dirty="0">
                <a:latin typeface="Bahnschrift Light" panose="020B0502040204020203" pitchFamily="34" charset="0"/>
              </a:rPr>
              <a:t>Stewart, J. Calculus: Early Transcendentals</a:t>
            </a:r>
          </a:p>
          <a:p>
            <a:pPr marL="688340" lvl="1" indent="-342900">
              <a:lnSpc>
                <a:spcPts val="4479"/>
              </a:lnSpc>
              <a:buFont typeface="Arial" panose="020B0604020202020204" pitchFamily="34" charset="0"/>
              <a:buChar char="•"/>
            </a:pPr>
            <a:r>
              <a:rPr lang="en-US" sz="2400" dirty="0">
                <a:latin typeface="Bahnschrift Light" panose="020B0502040204020203" pitchFamily="34" charset="0"/>
              </a:rPr>
              <a:t>Thomas, G. Calculus</a:t>
            </a:r>
          </a:p>
          <a:p>
            <a:pPr marL="688340" lvl="1" indent="-342900">
              <a:lnSpc>
                <a:spcPts val="4479"/>
              </a:lnSpc>
              <a:buFont typeface="Arial" panose="020B0604020202020204" pitchFamily="34" charset="0"/>
              <a:buChar char="•"/>
            </a:pPr>
            <a:r>
              <a:rPr lang="en-US" sz="2400" dirty="0">
                <a:latin typeface="Bahnschrift Light" panose="020B0502040204020203" pitchFamily="34" charset="0"/>
              </a:rPr>
              <a:t>Anton, H. Elementary Linear Algebra</a:t>
            </a:r>
          </a:p>
          <a:p>
            <a:pPr marL="688340" lvl="1" indent="-342900">
              <a:lnSpc>
                <a:spcPts val="4479"/>
              </a:lnSpc>
              <a:buFont typeface="Arial" panose="020B0604020202020204" pitchFamily="34" charset="0"/>
              <a:buChar char="•"/>
            </a:pPr>
            <a:r>
              <a:rPr lang="en-US" sz="2400" dirty="0">
                <a:latin typeface="Bahnschrift Light" panose="020B0502040204020203" pitchFamily="34" charset="0"/>
              </a:rPr>
              <a:t>Khan Academy (Calculus &amp; Analytical Geometry)</a:t>
            </a:r>
          </a:p>
          <a:p>
            <a:pPr marL="688340" lvl="1" indent="-342900">
              <a:lnSpc>
                <a:spcPts val="4479"/>
              </a:lnSpc>
              <a:buFont typeface="Arial" panose="020B0604020202020204" pitchFamily="34" charset="0"/>
              <a:buChar char="•"/>
            </a:pPr>
            <a:r>
              <a:rPr lang="en-US" sz="2400" dirty="0">
                <a:latin typeface="Bahnschrift Light" panose="020B0502040204020203" pitchFamily="34" charset="0"/>
              </a:rPr>
              <a:t>NIST Cyber Security Resources</a:t>
            </a:r>
          </a:p>
        </p:txBody>
      </p:sp>
      <p:sp>
        <p:nvSpPr>
          <p:cNvPr id="23" name="Freeform 23">
            <a:extLst>
              <a:ext uri="{FF2B5EF4-FFF2-40B4-BE49-F238E27FC236}">
                <a16:creationId xmlns:a16="http://schemas.microsoft.com/office/drawing/2014/main" id="{D53EB7F6-9E66-BA88-E20C-DD8A0B06C08B}"/>
              </a:ext>
            </a:extLst>
          </p:cNvPr>
          <p:cNvSpPr/>
          <p:nvPr/>
        </p:nvSpPr>
        <p:spPr>
          <a:xfrm>
            <a:off x="691424" y="9378693"/>
            <a:ext cx="1038273" cy="259568"/>
          </a:xfrm>
          <a:custGeom>
            <a:avLst/>
            <a:gdLst/>
            <a:ahLst/>
            <a:cxnLst/>
            <a:rect l="l" t="t" r="r" b="b"/>
            <a:pathLst>
              <a:path w="1038273" h="259568">
                <a:moveTo>
                  <a:pt x="0" y="0"/>
                </a:moveTo>
                <a:lnTo>
                  <a:pt x="1038273" y="0"/>
                </a:lnTo>
                <a:lnTo>
                  <a:pt x="1038273" y="259568"/>
                </a:lnTo>
                <a:lnTo>
                  <a:pt x="0" y="2595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1720146013"/>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496" y="6570902"/>
            <a:ext cx="7669889" cy="4169631"/>
          </a:xfrm>
          <a:custGeom>
            <a:avLst/>
            <a:gdLst/>
            <a:ahLst/>
            <a:cxnLst/>
            <a:rect l="l" t="t" r="r" b="b"/>
            <a:pathLst>
              <a:path w="7669889" h="4169631">
                <a:moveTo>
                  <a:pt x="0" y="0"/>
                </a:moveTo>
                <a:lnTo>
                  <a:pt x="7669889" y="0"/>
                </a:lnTo>
                <a:lnTo>
                  <a:pt x="7669889" y="4169631"/>
                </a:lnTo>
                <a:lnTo>
                  <a:pt x="0" y="41696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1135085" y="0"/>
            <a:ext cx="7495136" cy="4074629"/>
          </a:xfrm>
          <a:custGeom>
            <a:avLst/>
            <a:gdLst/>
            <a:ahLst/>
            <a:cxnLst/>
            <a:rect l="l" t="t" r="r" b="b"/>
            <a:pathLst>
              <a:path w="7495136" h="4074629">
                <a:moveTo>
                  <a:pt x="7495136" y="4074629"/>
                </a:moveTo>
                <a:lnTo>
                  <a:pt x="0" y="4074629"/>
                </a:lnTo>
                <a:lnTo>
                  <a:pt x="0" y="0"/>
                </a:lnTo>
                <a:lnTo>
                  <a:pt x="7495136" y="0"/>
                </a:lnTo>
                <a:lnTo>
                  <a:pt x="7495136" y="407462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030578" y="4242975"/>
            <a:ext cx="8226844" cy="1282320"/>
          </a:xfrm>
          <a:prstGeom prst="rect">
            <a:avLst/>
          </a:prstGeom>
        </p:spPr>
        <p:txBody>
          <a:bodyPr lIns="0" tIns="0" rIns="0" bIns="0" rtlCol="0" anchor="t">
            <a:spAutoFit/>
          </a:bodyPr>
          <a:lstStyle/>
          <a:p>
            <a:pPr algn="ctr">
              <a:lnSpc>
                <a:spcPts val="10167"/>
              </a:lnSpc>
            </a:pPr>
            <a:r>
              <a:rPr lang="en-US" sz="8199">
                <a:solidFill>
                  <a:srgbClr val="1B294A"/>
                </a:solidFill>
                <a:latin typeface="Archivo Black"/>
                <a:ea typeface="Archivo Black"/>
                <a:cs typeface="Archivo Black"/>
                <a:sym typeface="Archivo Black"/>
              </a:rPr>
              <a:t>THANK YOU!</a:t>
            </a:r>
          </a:p>
        </p:txBody>
      </p:sp>
      <p:sp>
        <p:nvSpPr>
          <p:cNvPr id="5" name="TextBox 5"/>
          <p:cNvSpPr txBox="1"/>
          <p:nvPr/>
        </p:nvSpPr>
        <p:spPr>
          <a:xfrm>
            <a:off x="5333194" y="5458621"/>
            <a:ext cx="7621612" cy="547304"/>
          </a:xfrm>
          <a:prstGeom prst="rect">
            <a:avLst/>
          </a:prstGeom>
        </p:spPr>
        <p:txBody>
          <a:bodyPr lIns="0" tIns="0" rIns="0" bIns="0" rtlCol="0" anchor="t">
            <a:spAutoFit/>
          </a:bodyPr>
          <a:lstStyle/>
          <a:p>
            <a:pPr algn="ctr">
              <a:lnSpc>
                <a:spcPts val="4480"/>
              </a:lnSpc>
            </a:pPr>
            <a:r>
              <a:rPr lang="en-US" sz="3200">
                <a:solidFill>
                  <a:srgbClr val="1B294A"/>
                </a:solidFill>
                <a:latin typeface="Lato"/>
                <a:ea typeface="Lato"/>
                <a:cs typeface="Lato"/>
                <a:sym typeface="Lato"/>
              </a:rPr>
              <a:t>For your attention</a:t>
            </a:r>
          </a:p>
        </p:txBody>
      </p:sp>
      <p:grpSp>
        <p:nvGrpSpPr>
          <p:cNvPr id="6" name="Group 6"/>
          <p:cNvGrpSpPr/>
          <p:nvPr/>
        </p:nvGrpSpPr>
        <p:grpSpPr>
          <a:xfrm>
            <a:off x="6547275" y="9258300"/>
            <a:ext cx="11893526" cy="798082"/>
            <a:chOff x="0" y="0"/>
            <a:chExt cx="3132451" cy="210194"/>
          </a:xfrm>
        </p:grpSpPr>
        <p:sp>
          <p:nvSpPr>
            <p:cNvPr id="7" name="Freeform 7"/>
            <p:cNvSpPr/>
            <p:nvPr/>
          </p:nvSpPr>
          <p:spPr>
            <a:xfrm>
              <a:off x="0" y="0"/>
              <a:ext cx="3132451" cy="210194"/>
            </a:xfrm>
            <a:custGeom>
              <a:avLst/>
              <a:gdLst/>
              <a:ahLst/>
              <a:cxnLst/>
              <a:rect l="l" t="t" r="r" b="b"/>
              <a:pathLst>
                <a:path w="3132451" h="210194">
                  <a:moveTo>
                    <a:pt x="0" y="0"/>
                  </a:moveTo>
                  <a:lnTo>
                    <a:pt x="3132451" y="0"/>
                  </a:lnTo>
                  <a:lnTo>
                    <a:pt x="3132451" y="210194"/>
                  </a:lnTo>
                  <a:lnTo>
                    <a:pt x="0" y="210194"/>
                  </a:lnTo>
                  <a:close/>
                </a:path>
              </a:pathLst>
            </a:custGeom>
            <a:solidFill>
              <a:srgbClr val="1B294A"/>
            </a:solidFill>
          </p:spPr>
        </p:sp>
        <p:sp>
          <p:nvSpPr>
            <p:cNvPr id="8" name="TextBox 8"/>
            <p:cNvSpPr txBox="1"/>
            <p:nvPr/>
          </p:nvSpPr>
          <p:spPr>
            <a:xfrm>
              <a:off x="0" y="-38100"/>
              <a:ext cx="3132451" cy="248294"/>
            </a:xfrm>
            <a:prstGeom prst="rect">
              <a:avLst/>
            </a:prstGeom>
          </p:spPr>
          <p:txBody>
            <a:bodyPr lIns="50800" tIns="50800" rIns="50800" bIns="50800" rtlCol="0" anchor="ctr"/>
            <a:lstStyle/>
            <a:p>
              <a:pPr algn="ctr">
                <a:lnSpc>
                  <a:spcPts val="3080"/>
                </a:lnSpc>
              </a:pPr>
              <a:endParaRPr/>
            </a:p>
          </p:txBody>
        </p:sp>
      </p:grpSp>
      <p:sp>
        <p:nvSpPr>
          <p:cNvPr id="10" name="TextBox 27">
            <a:extLst>
              <a:ext uri="{FF2B5EF4-FFF2-40B4-BE49-F238E27FC236}">
                <a16:creationId xmlns:a16="http://schemas.microsoft.com/office/drawing/2014/main" id="{73D5477A-EDE8-1A87-68BB-1C606F475623}"/>
              </a:ext>
            </a:extLst>
          </p:cNvPr>
          <p:cNvSpPr txBox="1"/>
          <p:nvPr/>
        </p:nvSpPr>
        <p:spPr>
          <a:xfrm>
            <a:off x="9536554" y="9454881"/>
            <a:ext cx="7441735" cy="404919"/>
          </a:xfrm>
          <a:prstGeom prst="rect">
            <a:avLst/>
          </a:prstGeom>
        </p:spPr>
        <p:txBody>
          <a:bodyPr lIns="0" tIns="0" rIns="0" bIns="0" rtlCol="0" anchor="t">
            <a:spAutoFit/>
          </a:bodyPr>
          <a:lstStyle/>
          <a:p>
            <a:pPr algn="r">
              <a:lnSpc>
                <a:spcPts val="3499"/>
              </a:lnSpc>
            </a:pPr>
            <a:r>
              <a:rPr lang="en-US" sz="2499" dirty="0">
                <a:solidFill>
                  <a:srgbClr val="FFFFFF"/>
                </a:solidFill>
                <a:latin typeface="Lato"/>
                <a:ea typeface="Lato"/>
                <a:cs typeface="Lato"/>
                <a:sym typeface="Lato"/>
              </a:rPr>
              <a:t>BSCYS-F24B | Air University </a:t>
            </a:r>
          </a:p>
        </p:txBody>
      </p:sp>
    </p:spTree>
  </p:cSld>
  <p:clrMapOvr>
    <a:masterClrMapping/>
  </p:clrMapOvr>
  <p:transition spd="slow">
    <p:push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616</TotalTime>
  <Words>1801</Words>
  <Application>Microsoft Office PowerPoint</Application>
  <PresentationFormat>Custom</PresentationFormat>
  <Paragraphs>242</Paragraphs>
  <Slides>24</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AlexandriaFLF</vt:lpstr>
      <vt:lpstr>Cambria Math</vt:lpstr>
      <vt:lpstr>Lato</vt:lpstr>
      <vt:lpstr>Calibri</vt:lpstr>
      <vt:lpstr>Arial Black</vt:lpstr>
      <vt:lpstr>Arial</vt:lpstr>
      <vt:lpstr>Bahnschrift Light</vt:lpstr>
      <vt:lpstr>Lato Bold</vt:lpstr>
      <vt:lpstr>Aptos</vt:lpstr>
      <vt:lpstr>Montserrat Bold</vt:lpstr>
      <vt:lpstr>Archivo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Calculus in daily life and CyberSecurity</dc:title>
  <dc:creator>Mika-5379</dc:creator>
  <cp:lastModifiedBy>AD4</cp:lastModifiedBy>
  <cp:revision>72</cp:revision>
  <dcterms:created xsi:type="dcterms:W3CDTF">2006-08-16T00:00:00Z</dcterms:created>
  <dcterms:modified xsi:type="dcterms:W3CDTF">2025-12-22T03:17:43Z</dcterms:modified>
  <dc:identifier>DAG7pnsYvLU</dc:identifier>
</cp:coreProperties>
</file>